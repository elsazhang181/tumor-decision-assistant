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1" r:id="rId1"/>
    <p:sldMasterId id="2147484012" r:id="rId2"/>
    <p:sldMasterId id="2147484016" r:id="rId3"/>
    <p:sldMasterId id="2147484019" r:id="rId4"/>
  </p:sldMasterIdLst>
  <p:notesMasterIdLst>
    <p:notesMasterId r:id="rId40"/>
  </p:notesMasterIdLst>
  <p:sldIdLst>
    <p:sldId id="846" r:id="rId5"/>
    <p:sldId id="847" r:id="rId6"/>
    <p:sldId id="848" r:id="rId7"/>
    <p:sldId id="866" r:id="rId8"/>
    <p:sldId id="850" r:id="rId9"/>
    <p:sldId id="851" r:id="rId10"/>
    <p:sldId id="852" r:id="rId11"/>
    <p:sldId id="853" r:id="rId12"/>
    <p:sldId id="868" r:id="rId13"/>
    <p:sldId id="854" r:id="rId14"/>
    <p:sldId id="855" r:id="rId15"/>
    <p:sldId id="858" r:id="rId16"/>
    <p:sldId id="859" r:id="rId17"/>
    <p:sldId id="861" r:id="rId18"/>
    <p:sldId id="862" r:id="rId19"/>
    <p:sldId id="869" r:id="rId20"/>
    <p:sldId id="863" r:id="rId21"/>
    <p:sldId id="864" r:id="rId22"/>
    <p:sldId id="865" r:id="rId23"/>
    <p:sldId id="826" r:id="rId24"/>
    <p:sldId id="879" r:id="rId25"/>
    <p:sldId id="885" r:id="rId26"/>
    <p:sldId id="777" r:id="rId27"/>
    <p:sldId id="886" r:id="rId28"/>
    <p:sldId id="883" r:id="rId29"/>
    <p:sldId id="830" r:id="rId30"/>
    <p:sldId id="796" r:id="rId31"/>
    <p:sldId id="839" r:id="rId32"/>
    <p:sldId id="840" r:id="rId33"/>
    <p:sldId id="841" r:id="rId34"/>
    <p:sldId id="842" r:id="rId35"/>
    <p:sldId id="843" r:id="rId36"/>
    <p:sldId id="870" r:id="rId37"/>
    <p:sldId id="871" r:id="rId38"/>
    <p:sldId id="872" r:id="rId39"/>
  </p:sldIdLst>
  <p:sldSz cx="9144000" cy="6858000" type="screen4x3"/>
  <p:notesSz cx="6858000" cy="9144000"/>
  <p:custDataLst>
    <p:tags r:id="rId41"/>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华文楷体" panose="0201060004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华文楷体" panose="0201060004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华文楷体" panose="0201060004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华文楷体" panose="0201060004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华文楷体" panose="0201060004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华文楷体" panose="0201060004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华文楷体" panose="0201060004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华文楷体" panose="0201060004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华文楷体"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442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 amy" initials=".a" lastIdx="7" clrIdx="6">
    <p:extLst/>
  </p:cmAuthor>
  <p:cmAuthor id="1" name="Cherry W" initials="CW" lastIdx="19" clrIdx="0">
    <p:extLst/>
  </p:cmAuthor>
  <p:cmAuthor id="8" name="janny313" initials="j" lastIdx="27" clrIdx="7"/>
  <p:cmAuthor id="2" name="Janny" initials="J" lastIdx="15" clrIdx="1">
    <p:extLst/>
  </p:cmAuthor>
  <p:cmAuthor id="3" name="Mary" initials="M" lastIdx="5" clrIdx="2">
    <p:extLst/>
  </p:cmAuthor>
  <p:cmAuthor id="4" name="Administrator" initials="A" lastIdx="8" clrIdx="3">
    <p:extLst/>
  </p:cmAuthor>
  <p:cmAuthor id="5" name="Admin" initials="A" lastIdx="32" clrIdx="4">
    <p:extLst/>
  </p:cmAuthor>
  <p:cmAuthor id="6" name="2012dnd.com" initials="2" lastIdx="14" clrIdx="5">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DEEE3"/>
    <a:srgbClr val="108638"/>
    <a:srgbClr val="0066CC"/>
    <a:srgbClr val="BFBFBF"/>
    <a:srgbClr val="000000"/>
    <a:srgbClr val="7F7F7F"/>
    <a:srgbClr val="16BC4D"/>
    <a:srgbClr val="F7FAFD"/>
    <a:srgbClr val="BABABA"/>
    <a:srgbClr val="A8C9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41" autoAdjust="0"/>
    <p:restoredTop sz="94424" autoAdjust="0"/>
  </p:normalViewPr>
  <p:slideViewPr>
    <p:cSldViewPr>
      <p:cViewPr varScale="1">
        <p:scale>
          <a:sx n="113" d="100"/>
          <a:sy n="113" d="100"/>
        </p:scale>
        <p:origin x="696" y="90"/>
      </p:cViewPr>
      <p:guideLst>
        <p:guide orient="horz" pos="2160"/>
        <p:guide pos="4423"/>
      </p:guideLst>
    </p:cSldViewPr>
  </p:slideViewPr>
  <p:notesTextViewPr>
    <p:cViewPr>
      <p:scale>
        <a:sx n="100" d="100"/>
        <a:sy n="100" d="100"/>
      </p:scale>
      <p:origin x="0" y="0"/>
    </p:cViewPr>
  </p:notesTextViewPr>
  <p:sorterViewPr>
    <p:cViewPr>
      <p:scale>
        <a:sx n="100" d="100"/>
        <a:sy n="100" d="100"/>
      </p:scale>
      <p:origin x="0" y="0"/>
    </p:cViewPr>
  </p:sorterViewPr>
  <p:gridSpacing cx="72033" cy="72033"/>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a:ea typeface="宋体" panose="02010600030101010101" pitchFamily="2" charset="-122"/>
              </a:defRPr>
            </a:lvl1pPr>
          </a:lstStyle>
          <a:p>
            <a:pPr>
              <a:defRPr/>
            </a:pPr>
            <a:fld id="{3C61A9AF-03BF-43F4-8105-00767B26D075}" type="datetime1">
              <a:rPr lang="zh-CN" altLang="en-US"/>
              <a:pPr>
                <a:defRPr/>
              </a:pPr>
              <a:t>2020/3/31 Tuesday</a:t>
            </a:fld>
            <a:endParaRPr lang="en-US" altLang="zh-CN"/>
          </a:p>
        </p:txBody>
      </p:sp>
      <p:sp>
        <p:nvSpPr>
          <p:cNvPr id="2052"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a:ea typeface="+mn-ea"/>
              </a:rPr>
              <a:t>单击此处编辑母版文本样式</a:t>
            </a:r>
          </a:p>
          <a:p>
            <a:pPr>
              <a:defRPr/>
            </a:pPr>
            <a:r>
              <a:rPr lang="zh-CN" altLang="en-US">
                <a:ea typeface="+mn-ea"/>
              </a:rPr>
              <a:t>第二级</a:t>
            </a:r>
          </a:p>
          <a:p>
            <a:pPr>
              <a:defRPr/>
            </a:pPr>
            <a:r>
              <a:rPr lang="zh-CN" altLang="en-US">
                <a:ea typeface="+mn-ea"/>
              </a:rPr>
              <a:t>第三级</a:t>
            </a:r>
          </a:p>
          <a:p>
            <a:pPr>
              <a:defRPr/>
            </a:pPr>
            <a:r>
              <a:rPr lang="zh-CN" altLang="en-US">
                <a:ea typeface="+mn-ea"/>
              </a:rPr>
              <a:t>第四级</a:t>
            </a:r>
          </a:p>
          <a:p>
            <a:pPr>
              <a:defRPr/>
            </a:pPr>
            <a:r>
              <a:rPr lang="zh-CN" altLang="en-US">
                <a:ea typeface="+mn-ea"/>
              </a:rPr>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a:ea typeface="宋体" panose="02010600030101010101" pitchFamily="2" charset="-122"/>
              </a:defRPr>
            </a:lvl1pPr>
          </a:lstStyle>
          <a:p>
            <a:pPr>
              <a:defRPr/>
            </a:pPr>
            <a:fld id="{3B800FDA-C860-4B0E-8281-6D67F021416F}" type="slidenum">
              <a:rPr lang="zh-CN" altLang="en-US"/>
              <a:pPr>
                <a:defRPr/>
              </a:pPr>
              <a:t>‹#›</a:t>
            </a:fld>
            <a:endParaRPr lang="en-US" altLang="zh-CN"/>
          </a:p>
        </p:txBody>
      </p:sp>
    </p:spTree>
    <p:extLst>
      <p:ext uri="{BB962C8B-B14F-4D97-AF65-F5344CB8AC3E}">
        <p14:creationId xmlns:p14="http://schemas.microsoft.com/office/powerpoint/2010/main" val="2214905441"/>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5"/>
          </p:nvPr>
        </p:nvSpPr>
        <p:spPr/>
        <p:txBody>
          <a:bodyPr/>
          <a:lstStyle/>
          <a:p>
            <a:pPr>
              <a:defRPr/>
            </a:pPr>
            <a:fld id="{3B800FDA-C860-4B0E-8281-6D67F021416F}" type="slidenum">
              <a:rPr lang="zh-CN" altLang="en-US" smtClean="0">
                <a:solidFill>
                  <a:srgbClr val="000000"/>
                </a:solidFill>
              </a:rPr>
              <a:pPr>
                <a:defRPr/>
              </a:pPr>
              <a:t>1</a:t>
            </a:fld>
            <a:endParaRPr lang="en-US" altLang="zh-CN">
              <a:solidFill>
                <a:srgbClr val="000000"/>
              </a:solidFill>
            </a:endParaRPr>
          </a:p>
        </p:txBody>
      </p:sp>
    </p:spTree>
    <p:extLst>
      <p:ext uri="{BB962C8B-B14F-4D97-AF65-F5344CB8AC3E}">
        <p14:creationId xmlns:p14="http://schemas.microsoft.com/office/powerpoint/2010/main" val="1943493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a:t>
            </a:fld>
            <a:endParaRPr lang="en-US" altLang="zh-CN">
              <a:solidFill>
                <a:srgbClr val="000000"/>
              </a:solidFill>
            </a:endParaRPr>
          </a:p>
        </p:txBody>
      </p:sp>
    </p:spTree>
    <p:extLst>
      <p:ext uri="{BB962C8B-B14F-4D97-AF65-F5344CB8AC3E}">
        <p14:creationId xmlns:p14="http://schemas.microsoft.com/office/powerpoint/2010/main" val="832155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9D68815A-8065-436A-A2AD-027304EC9FA0}" type="slidenum">
              <a:rPr lang="zh-CN" altLang="en-US" smtClean="0">
                <a:solidFill>
                  <a:prstClr val="black"/>
                </a:solidFill>
                <a:latin typeface="Calibri" panose="020F0502020204030204"/>
              </a:rPr>
              <a:pPr/>
              <a:t>3</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215076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a:defRPr/>
            </a:pPr>
            <a:fld id="{3C61A9AF-03BF-43F4-8105-00767B26D075}" type="datetime1">
              <a:rPr lang="zh-CN" altLang="en-US">
                <a:solidFill>
                  <a:srgbClr val="000000"/>
                </a:solidFill>
                <a:latin typeface="Calibri" panose="020F0502020204030204"/>
              </a:rPr>
              <a:pPr>
                <a:defRPr/>
              </a:pPr>
              <a:t>2020/3/31 Tuesday</a:t>
            </a:fld>
            <a:endParaRPr lang="en-US" altLang="zh-CN">
              <a:solidFill>
                <a:srgbClr val="000000"/>
              </a:solidFill>
              <a:latin typeface="Calibri" panose="020F0502020204030204"/>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a:solidFill>
                  <a:srgbClr val="000000"/>
                </a:solidFill>
                <a:latin typeface="Calibri" panose="020F0502020204030204"/>
              </a:rPr>
              <a:pPr>
                <a:defRPr/>
              </a:pPr>
              <a:t>4</a:t>
            </a:fld>
            <a:endParaRPr lang="en-US" altLang="zh-CN">
              <a:solidFill>
                <a:srgbClr val="000000"/>
              </a:solidFill>
              <a:latin typeface="Calibri" panose="020F0502020204030204"/>
            </a:endParaRPr>
          </a:p>
        </p:txBody>
      </p:sp>
    </p:spTree>
    <p:extLst>
      <p:ext uri="{BB962C8B-B14F-4D97-AF65-F5344CB8AC3E}">
        <p14:creationId xmlns:p14="http://schemas.microsoft.com/office/powerpoint/2010/main" val="1676467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latin typeface="Calibri" panose="020F0502020204030204"/>
              </a:rPr>
              <a:pPr>
                <a:defRPr/>
              </a:pPr>
              <a:t>2020/3/31 Tuesday</a:t>
            </a:fld>
            <a:endParaRPr lang="en-US" altLang="zh-CN">
              <a:solidFill>
                <a:srgbClr val="000000"/>
              </a:solidFill>
              <a:latin typeface="Calibri" panose="020F0502020204030204"/>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latin typeface="Calibri" panose="020F0502020204030204"/>
              </a:rPr>
              <a:pPr>
                <a:defRPr/>
              </a:pPr>
              <a:t>5</a:t>
            </a:fld>
            <a:endParaRPr lang="en-US" altLang="zh-CN">
              <a:solidFill>
                <a:srgbClr val="000000"/>
              </a:solidFill>
              <a:latin typeface="Calibri" panose="020F0502020204030204"/>
            </a:endParaRPr>
          </a:p>
        </p:txBody>
      </p:sp>
    </p:spTree>
    <p:extLst>
      <p:ext uri="{BB962C8B-B14F-4D97-AF65-F5344CB8AC3E}">
        <p14:creationId xmlns:p14="http://schemas.microsoft.com/office/powerpoint/2010/main" val="994958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6</a:t>
            </a:fld>
            <a:endParaRPr lang="en-US" altLang="zh-CN">
              <a:solidFill>
                <a:srgbClr val="000000"/>
              </a:solidFill>
            </a:endParaRPr>
          </a:p>
        </p:txBody>
      </p:sp>
    </p:spTree>
    <p:extLst>
      <p:ext uri="{BB962C8B-B14F-4D97-AF65-F5344CB8AC3E}">
        <p14:creationId xmlns:p14="http://schemas.microsoft.com/office/powerpoint/2010/main" val="826000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a:solidFill>
                  <a:srgbClr val="000000"/>
                </a:solidFill>
                <a:latin typeface="Calibri" panose="020F0502020204030204"/>
              </a:rPr>
              <a:pPr>
                <a:defRPr/>
              </a:pPr>
              <a:t>2020/3/31 Tuesday</a:t>
            </a:fld>
            <a:endParaRPr lang="en-US" altLang="zh-CN">
              <a:solidFill>
                <a:srgbClr val="000000"/>
              </a:solidFill>
              <a:latin typeface="Calibri" panose="020F0502020204030204"/>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a:solidFill>
                  <a:srgbClr val="000000"/>
                </a:solidFill>
                <a:latin typeface="Calibri" panose="020F0502020204030204"/>
              </a:rPr>
              <a:pPr>
                <a:defRPr/>
              </a:pPr>
              <a:t>7</a:t>
            </a:fld>
            <a:endParaRPr lang="en-US" altLang="zh-CN">
              <a:solidFill>
                <a:srgbClr val="000000"/>
              </a:solidFill>
              <a:latin typeface="Calibri" panose="020F0502020204030204"/>
            </a:endParaRPr>
          </a:p>
        </p:txBody>
      </p:sp>
    </p:spTree>
    <p:extLst>
      <p:ext uri="{BB962C8B-B14F-4D97-AF65-F5344CB8AC3E}">
        <p14:creationId xmlns:p14="http://schemas.microsoft.com/office/powerpoint/2010/main" val="1446004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8</a:t>
            </a:fld>
            <a:endParaRPr lang="en-US" altLang="zh-CN">
              <a:solidFill>
                <a:srgbClr val="000000"/>
              </a:solidFill>
            </a:endParaRPr>
          </a:p>
        </p:txBody>
      </p:sp>
    </p:spTree>
    <p:extLst>
      <p:ext uri="{BB962C8B-B14F-4D97-AF65-F5344CB8AC3E}">
        <p14:creationId xmlns:p14="http://schemas.microsoft.com/office/powerpoint/2010/main" val="28152408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9</a:t>
            </a:fld>
            <a:endParaRPr lang="en-US" altLang="zh-CN"/>
          </a:p>
        </p:txBody>
      </p:sp>
    </p:spTree>
    <p:extLst>
      <p:ext uri="{BB962C8B-B14F-4D97-AF65-F5344CB8AC3E}">
        <p14:creationId xmlns:p14="http://schemas.microsoft.com/office/powerpoint/2010/main" val="1076806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10</a:t>
            </a:fld>
            <a:endParaRPr lang="en-US" altLang="zh-CN">
              <a:solidFill>
                <a:srgbClr val="000000"/>
              </a:solidFill>
            </a:endParaRPr>
          </a:p>
        </p:txBody>
      </p:sp>
    </p:spTree>
    <p:extLst>
      <p:ext uri="{BB962C8B-B14F-4D97-AF65-F5344CB8AC3E}">
        <p14:creationId xmlns:p14="http://schemas.microsoft.com/office/powerpoint/2010/main" val="49777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11</a:t>
            </a:fld>
            <a:endParaRPr lang="en-US" altLang="zh-CN">
              <a:solidFill>
                <a:srgbClr val="000000"/>
              </a:solidFill>
            </a:endParaRPr>
          </a:p>
        </p:txBody>
      </p:sp>
    </p:spTree>
    <p:extLst>
      <p:ext uri="{BB962C8B-B14F-4D97-AF65-F5344CB8AC3E}">
        <p14:creationId xmlns:p14="http://schemas.microsoft.com/office/powerpoint/2010/main" val="3331115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12</a:t>
            </a:fld>
            <a:endParaRPr lang="en-US" altLang="zh-CN">
              <a:solidFill>
                <a:srgbClr val="000000"/>
              </a:solidFill>
            </a:endParaRPr>
          </a:p>
        </p:txBody>
      </p:sp>
    </p:spTree>
    <p:extLst>
      <p:ext uri="{BB962C8B-B14F-4D97-AF65-F5344CB8AC3E}">
        <p14:creationId xmlns:p14="http://schemas.microsoft.com/office/powerpoint/2010/main" val="1990196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13</a:t>
            </a:fld>
            <a:endParaRPr lang="en-US" altLang="zh-CN">
              <a:solidFill>
                <a:srgbClr val="000000"/>
              </a:solidFill>
            </a:endParaRPr>
          </a:p>
        </p:txBody>
      </p:sp>
    </p:spTree>
    <p:extLst>
      <p:ext uri="{BB962C8B-B14F-4D97-AF65-F5344CB8AC3E}">
        <p14:creationId xmlns:p14="http://schemas.microsoft.com/office/powerpoint/2010/main" val="339266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14</a:t>
            </a:fld>
            <a:endParaRPr lang="en-US" altLang="zh-CN">
              <a:solidFill>
                <a:srgbClr val="000000"/>
              </a:solidFill>
            </a:endParaRPr>
          </a:p>
        </p:txBody>
      </p:sp>
    </p:spTree>
    <p:extLst>
      <p:ext uri="{BB962C8B-B14F-4D97-AF65-F5344CB8AC3E}">
        <p14:creationId xmlns:p14="http://schemas.microsoft.com/office/powerpoint/2010/main" val="2382065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7AAC1161-E2B8-408C-AF77-3DC74BDFA305}" type="slidenum">
              <a:rPr lang="zh-CN" altLang="en-US" smtClean="0">
                <a:solidFill>
                  <a:prstClr val="black"/>
                </a:solidFill>
                <a:latin typeface="Calibri" panose="020F0502020204030204"/>
              </a:rPr>
              <a:pPr/>
              <a:t>15</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1080819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16</a:t>
            </a:fld>
            <a:endParaRPr lang="en-US" altLang="zh-CN"/>
          </a:p>
        </p:txBody>
      </p:sp>
    </p:spTree>
    <p:extLst>
      <p:ext uri="{BB962C8B-B14F-4D97-AF65-F5344CB8AC3E}">
        <p14:creationId xmlns:p14="http://schemas.microsoft.com/office/powerpoint/2010/main" val="2045677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17</a:t>
            </a:fld>
            <a:endParaRPr lang="en-US" altLang="zh-CN">
              <a:solidFill>
                <a:srgbClr val="000000"/>
              </a:solidFill>
            </a:endParaRPr>
          </a:p>
        </p:txBody>
      </p:sp>
    </p:spTree>
    <p:extLst>
      <p:ext uri="{BB962C8B-B14F-4D97-AF65-F5344CB8AC3E}">
        <p14:creationId xmlns:p14="http://schemas.microsoft.com/office/powerpoint/2010/main" val="285468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18</a:t>
            </a:fld>
            <a:endParaRPr lang="en-US" altLang="zh-CN">
              <a:solidFill>
                <a:srgbClr val="000000"/>
              </a:solidFill>
            </a:endParaRPr>
          </a:p>
        </p:txBody>
      </p:sp>
    </p:spTree>
    <p:extLst>
      <p:ext uri="{BB962C8B-B14F-4D97-AF65-F5344CB8AC3E}">
        <p14:creationId xmlns:p14="http://schemas.microsoft.com/office/powerpoint/2010/main" val="1136908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19</a:t>
            </a:fld>
            <a:endParaRPr lang="en-US" altLang="zh-CN">
              <a:solidFill>
                <a:srgbClr val="000000"/>
              </a:solidFill>
            </a:endParaRPr>
          </a:p>
        </p:txBody>
      </p:sp>
    </p:spTree>
    <p:extLst>
      <p:ext uri="{BB962C8B-B14F-4D97-AF65-F5344CB8AC3E}">
        <p14:creationId xmlns:p14="http://schemas.microsoft.com/office/powerpoint/2010/main" val="3139492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C61A9AF-03BF-43F4-8105-00767B26D075}" type="datetime1">
              <a:rPr kumimoji="0" lang="zh-CN" altLang="en-US" sz="1800" b="0" i="0" u="none" strike="noStrike" kern="1200" cap="none" spc="0" normalizeH="0" baseline="0" noProof="0" smtClean="0">
                <a:ln>
                  <a:noFill/>
                </a:ln>
                <a:solidFill>
                  <a:srgbClr val="000000"/>
                </a:solidFill>
                <a:effectLst/>
                <a:uLnTx/>
                <a:uFillTx/>
                <a:latin typeface="Calibri" panose="020F0502020204030204"/>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2020/3/31 Tuesday</a:t>
            </a:fld>
            <a:endParaRPr kumimoji="0" lang="en-US"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3B800FDA-C860-4B0E-8281-6D67F021416F}" type="slidenum">
              <a:rPr kumimoji="0" lang="zh-CN" altLang="en-US" sz="1800" b="0" i="0" u="none" strike="noStrike" kern="1200" cap="none" spc="0" normalizeH="0" baseline="0" noProof="0" smtClean="0">
                <a:ln>
                  <a:noFill/>
                </a:ln>
                <a:solidFill>
                  <a:srgbClr val="000000"/>
                </a:solidFill>
                <a:effectLst/>
                <a:uLnTx/>
                <a:uFillTx/>
                <a:latin typeface="Calibri" panose="020F0502020204030204"/>
                <a:ea typeface="宋体" panose="02010600030101010101" pitchFamily="2" charset="-122"/>
                <a:cs typeface="+mn-cs"/>
              </a:rPr>
              <a:pPr marL="0" marR="0" lvl="0" indent="0" algn="l" defTabSz="914400" rtl="0" eaLnBrk="1" fontAlgn="base" latinLnBrk="0" hangingPunct="1">
                <a:lnSpc>
                  <a:spcPct val="100000"/>
                </a:lnSpc>
                <a:spcBef>
                  <a:spcPct val="0"/>
                </a:spcBef>
                <a:spcAft>
                  <a:spcPct val="0"/>
                </a:spcAft>
                <a:buClrTx/>
                <a:buSzTx/>
                <a:buFontTx/>
                <a:buNone/>
                <a:tabLst/>
                <a:defRPr/>
              </a:pPr>
              <a:t>20</a:t>
            </a:fld>
            <a:endParaRPr kumimoji="0" lang="en-US" altLang="zh-CN" sz="1800" b="0" i="0" u="none" strike="noStrike" kern="1200" cap="none" spc="0" normalizeH="0" baseline="0" noProof="0">
              <a:ln>
                <a:noFill/>
              </a:ln>
              <a:solidFill>
                <a:srgbClr val="000000"/>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707999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21</a:t>
            </a:fld>
            <a:endParaRPr lang="en-US" altLang="zh-CN">
              <a:solidFill>
                <a:srgbClr val="000000"/>
              </a:solidFill>
            </a:endParaRPr>
          </a:p>
        </p:txBody>
      </p:sp>
    </p:spTree>
    <p:extLst>
      <p:ext uri="{BB962C8B-B14F-4D97-AF65-F5344CB8AC3E}">
        <p14:creationId xmlns:p14="http://schemas.microsoft.com/office/powerpoint/2010/main" val="7683345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22</a:t>
            </a:fld>
            <a:endParaRPr lang="en-US" altLang="zh-CN">
              <a:solidFill>
                <a:srgbClr val="000000"/>
              </a:solidFill>
            </a:endParaRPr>
          </a:p>
        </p:txBody>
      </p:sp>
    </p:spTree>
    <p:extLst>
      <p:ext uri="{BB962C8B-B14F-4D97-AF65-F5344CB8AC3E}">
        <p14:creationId xmlns:p14="http://schemas.microsoft.com/office/powerpoint/2010/main" val="2790786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23</a:t>
            </a:fld>
            <a:endParaRPr lang="en-US" altLang="zh-CN"/>
          </a:p>
        </p:txBody>
      </p:sp>
    </p:spTree>
    <p:extLst>
      <p:ext uri="{BB962C8B-B14F-4D97-AF65-F5344CB8AC3E}">
        <p14:creationId xmlns:p14="http://schemas.microsoft.com/office/powerpoint/2010/main" val="19882047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24</a:t>
            </a:fld>
            <a:endParaRPr lang="en-US" altLang="zh-CN">
              <a:solidFill>
                <a:srgbClr val="000000"/>
              </a:solidFill>
            </a:endParaRPr>
          </a:p>
        </p:txBody>
      </p:sp>
    </p:spTree>
    <p:extLst>
      <p:ext uri="{BB962C8B-B14F-4D97-AF65-F5344CB8AC3E}">
        <p14:creationId xmlns:p14="http://schemas.microsoft.com/office/powerpoint/2010/main" val="1293264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25</a:t>
            </a:fld>
            <a:endParaRPr lang="en-US" altLang="zh-CN">
              <a:solidFill>
                <a:srgbClr val="000000"/>
              </a:solidFill>
            </a:endParaRPr>
          </a:p>
        </p:txBody>
      </p:sp>
    </p:spTree>
    <p:extLst>
      <p:ext uri="{BB962C8B-B14F-4D97-AF65-F5344CB8AC3E}">
        <p14:creationId xmlns:p14="http://schemas.microsoft.com/office/powerpoint/2010/main" val="40925418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26</a:t>
            </a:fld>
            <a:endParaRPr lang="en-US" altLang="zh-CN">
              <a:solidFill>
                <a:srgbClr val="000000"/>
              </a:solidFill>
            </a:endParaRPr>
          </a:p>
        </p:txBody>
      </p:sp>
    </p:spTree>
    <p:extLst>
      <p:ext uri="{BB962C8B-B14F-4D97-AF65-F5344CB8AC3E}">
        <p14:creationId xmlns:p14="http://schemas.microsoft.com/office/powerpoint/2010/main" val="1442036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27</a:t>
            </a:fld>
            <a:endParaRPr lang="en-US" altLang="zh-CN"/>
          </a:p>
        </p:txBody>
      </p:sp>
    </p:spTree>
    <p:extLst>
      <p:ext uri="{BB962C8B-B14F-4D97-AF65-F5344CB8AC3E}">
        <p14:creationId xmlns:p14="http://schemas.microsoft.com/office/powerpoint/2010/main" val="3860418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7AAC1161-E2B8-408C-AF77-3DC74BDFA305}" type="slidenum">
              <a:rPr lang="zh-CN" altLang="en-US" smtClean="0">
                <a:solidFill>
                  <a:prstClr val="black"/>
                </a:solidFill>
                <a:latin typeface="Calibri" panose="020F0502020204030204"/>
              </a:rPr>
              <a:pPr/>
              <a:t>28</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2410490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7AAC1161-E2B8-408C-AF77-3DC74BDFA305}" type="slidenum">
              <a:rPr lang="zh-CN" altLang="en-US" smtClean="0">
                <a:solidFill>
                  <a:prstClr val="black"/>
                </a:solidFill>
                <a:latin typeface="Calibri" panose="020F0502020204030204"/>
              </a:rPr>
              <a:pPr/>
              <a:t>29</a:t>
            </a:fld>
            <a:endParaRPr lang="zh-CN" altLang="en-US">
              <a:solidFill>
                <a:prstClr val="black"/>
              </a:solidFill>
              <a:latin typeface="Calibri" panose="020F0502020204030204"/>
            </a:endParaRPr>
          </a:p>
        </p:txBody>
      </p:sp>
    </p:spTree>
    <p:extLst>
      <p:ext uri="{BB962C8B-B14F-4D97-AF65-F5344CB8AC3E}">
        <p14:creationId xmlns:p14="http://schemas.microsoft.com/office/powerpoint/2010/main" val="30902732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latin typeface="Calibri" panose="020F0502020204030204"/>
              </a:rPr>
              <a:pPr>
                <a:defRPr/>
              </a:pPr>
              <a:t>2020/3/31 Tuesday</a:t>
            </a:fld>
            <a:endParaRPr lang="en-US" altLang="zh-CN">
              <a:solidFill>
                <a:srgbClr val="000000"/>
              </a:solidFill>
              <a:latin typeface="Calibri" panose="020F0502020204030204"/>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latin typeface="Calibri" panose="020F0502020204030204"/>
              </a:rPr>
              <a:pPr>
                <a:defRPr/>
              </a:pPr>
              <a:t>30</a:t>
            </a:fld>
            <a:endParaRPr lang="en-US" altLang="zh-CN">
              <a:solidFill>
                <a:srgbClr val="000000"/>
              </a:solidFill>
              <a:latin typeface="Calibri" panose="020F0502020204030204"/>
            </a:endParaRPr>
          </a:p>
        </p:txBody>
      </p:sp>
    </p:spTree>
    <p:extLst>
      <p:ext uri="{BB962C8B-B14F-4D97-AF65-F5344CB8AC3E}">
        <p14:creationId xmlns:p14="http://schemas.microsoft.com/office/powerpoint/2010/main" val="8686008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
        <p:nvSpPr>
          <p:cNvPr id="4" name="灯片编号占位符 3"/>
          <p:cNvSpPr>
            <a:spLocks noGrp="1"/>
          </p:cNvSpPr>
          <p:nvPr>
            <p:ph type="sldNum" sz="quarter" idx="5"/>
          </p:nvPr>
        </p:nvSpPr>
        <p:spPr/>
        <p:txBody>
          <a:bodyPr/>
          <a:lstStyle/>
          <a:p>
            <a:fld id="{529CF9DD-6B15-44DC-AFB0-3A01AA8D8A00}" type="slidenum">
              <a:rPr lang="zh-CN" altLang="en-US" smtClean="0">
                <a:solidFill>
                  <a:prstClr val="black"/>
                </a:solidFill>
                <a:latin typeface="Calibri"/>
              </a:rPr>
              <a:pPr/>
              <a:t>31</a:t>
            </a:fld>
            <a:endParaRPr lang="zh-CN" altLang="en-US">
              <a:solidFill>
                <a:prstClr val="black"/>
              </a:solidFill>
              <a:latin typeface="Calibri"/>
            </a:endParaRPr>
          </a:p>
        </p:txBody>
      </p:sp>
    </p:spTree>
    <p:extLst>
      <p:ext uri="{BB962C8B-B14F-4D97-AF65-F5344CB8AC3E}">
        <p14:creationId xmlns:p14="http://schemas.microsoft.com/office/powerpoint/2010/main" val="39787667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solidFill>
                  <a:srgbClr val="000000"/>
                </a:solidFill>
              </a:rPr>
              <a:pPr>
                <a:defRPr/>
              </a:pPr>
              <a:t>2020/3/31 Tuesday</a:t>
            </a:fld>
            <a:endParaRPr lang="en-US" altLang="zh-CN">
              <a:solidFill>
                <a:srgbClr val="000000"/>
              </a:solidFill>
            </a:endParaRPr>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solidFill>
                  <a:srgbClr val="000000"/>
                </a:solidFill>
              </a:rPr>
              <a:pPr>
                <a:defRPr/>
              </a:pPr>
              <a:t>32</a:t>
            </a:fld>
            <a:endParaRPr lang="en-US" altLang="zh-CN">
              <a:solidFill>
                <a:srgbClr val="000000"/>
              </a:solidFill>
            </a:endParaRPr>
          </a:p>
        </p:txBody>
      </p:sp>
    </p:spTree>
    <p:extLst>
      <p:ext uri="{BB962C8B-B14F-4D97-AF65-F5344CB8AC3E}">
        <p14:creationId xmlns:p14="http://schemas.microsoft.com/office/powerpoint/2010/main" val="8946753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33</a:t>
            </a:fld>
            <a:endParaRPr lang="en-US" altLang="zh-CN"/>
          </a:p>
        </p:txBody>
      </p:sp>
    </p:spTree>
    <p:extLst>
      <p:ext uri="{BB962C8B-B14F-4D97-AF65-F5344CB8AC3E}">
        <p14:creationId xmlns:p14="http://schemas.microsoft.com/office/powerpoint/2010/main" val="2975188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34</a:t>
            </a:fld>
            <a:endParaRPr lang="en-US" altLang="zh-CN"/>
          </a:p>
        </p:txBody>
      </p:sp>
    </p:spTree>
    <p:extLst>
      <p:ext uri="{BB962C8B-B14F-4D97-AF65-F5344CB8AC3E}">
        <p14:creationId xmlns:p14="http://schemas.microsoft.com/office/powerpoint/2010/main" val="20367616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a:defRPr/>
            </a:pPr>
            <a:fld id="{3C61A9AF-03BF-43F4-8105-00767B26D075}" type="datetime1">
              <a:rPr lang="zh-CN" altLang="en-US" smtClean="0"/>
              <a:pPr>
                <a:defRPr/>
              </a:pPr>
              <a:t>2020/3/31 Tuesday</a:t>
            </a:fld>
            <a:endParaRPr lang="en-US" altLang="zh-CN"/>
          </a:p>
        </p:txBody>
      </p:sp>
      <p:sp>
        <p:nvSpPr>
          <p:cNvPr id="5" name="灯片编号占位符 4"/>
          <p:cNvSpPr>
            <a:spLocks noGrp="1"/>
          </p:cNvSpPr>
          <p:nvPr>
            <p:ph type="sldNum" sz="quarter" idx="11"/>
          </p:nvPr>
        </p:nvSpPr>
        <p:spPr/>
        <p:txBody>
          <a:bodyPr/>
          <a:lstStyle/>
          <a:p>
            <a:pPr>
              <a:defRPr/>
            </a:pPr>
            <a:fld id="{3B800FDA-C860-4B0E-8281-6D67F021416F}" type="slidenum">
              <a:rPr lang="zh-CN" altLang="en-US" smtClean="0"/>
              <a:pPr>
                <a:defRPr/>
              </a:pPr>
              <a:t>35</a:t>
            </a:fld>
            <a:endParaRPr lang="en-US" altLang="zh-CN"/>
          </a:p>
        </p:txBody>
      </p:sp>
    </p:spTree>
    <p:extLst>
      <p:ext uri="{BB962C8B-B14F-4D97-AF65-F5344CB8AC3E}">
        <p14:creationId xmlns:p14="http://schemas.microsoft.com/office/powerpoint/2010/main" val="3875969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22000" y="50400"/>
            <a:ext cx="7886700" cy="1144800"/>
          </a:xfrm>
        </p:spPr>
        <p:txBody>
          <a:bodyPr/>
          <a:lstStyle>
            <a:lvl1pPr>
              <a:lnSpc>
                <a:spcPct val="100000"/>
              </a:lnSpc>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EAF8B22-7FA8-4AF5-B205-B3846B6AB803}" type="datetimeFigureOut">
              <a:rPr lang="zh-CN" altLang="en-US" smtClean="0">
                <a:solidFill>
                  <a:prstClr val="black">
                    <a:tint val="75000"/>
                  </a:prstClr>
                </a:solidFill>
              </a:rPr>
              <a:pPr/>
              <a:t>2020/3/31 Tuesday</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3B25A26F-E331-414B-A9B5-EE43C09B7FC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55218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EAF8B22-7FA8-4AF5-B205-B3846B6AB803}" type="datetimeFigureOut">
              <a:rPr lang="zh-CN" altLang="en-US" smtClean="0">
                <a:solidFill>
                  <a:prstClr val="black">
                    <a:tint val="75000"/>
                  </a:prstClr>
                </a:solidFill>
              </a:rPr>
              <a:pPr/>
              <a:t>2020/3/31 Tuesday</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3B25A26F-E331-414B-A9B5-EE43C09B7FC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0054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22000" y="50400"/>
            <a:ext cx="7886700" cy="1144800"/>
          </a:xfrm>
        </p:spPr>
        <p:txBody>
          <a:bodyPr/>
          <a:lstStyle>
            <a:lvl1pPr>
              <a:lnSpc>
                <a:spcPct val="100000"/>
              </a:lnSpc>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EAF8B22-7FA8-4AF5-B205-B3846B6AB803}" type="datetimeFigureOut">
              <a:rPr lang="zh-CN" altLang="en-US" smtClean="0">
                <a:solidFill>
                  <a:prstClr val="black">
                    <a:tint val="75000"/>
                  </a:prstClr>
                </a:solidFill>
              </a:rPr>
              <a:pPr/>
              <a:t>2020/3/31 Tuesday</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3B25A26F-E331-414B-A9B5-EE43C09B7FC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50481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22000" y="50400"/>
            <a:ext cx="7886700" cy="1144800"/>
          </a:xfrm>
        </p:spPr>
        <p:txBody>
          <a:bodyPr/>
          <a:lstStyle>
            <a:lvl1pPr>
              <a:lnSpc>
                <a:spcPct val="100000"/>
              </a:lnSpc>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EAF8B22-7FA8-4AF5-B205-B3846B6AB803}" type="datetimeFigureOut">
              <a:rPr lang="zh-CN" altLang="en-US" smtClean="0">
                <a:solidFill>
                  <a:prstClr val="black">
                    <a:tint val="75000"/>
                  </a:prstClr>
                </a:solidFill>
              </a:rPr>
              <a:pPr/>
              <a:t>2020/3/31 Tuesday</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3B25A26F-E331-414B-A9B5-EE43C09B7FC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63060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522000" y="50400"/>
            <a:ext cx="7886700" cy="1144800"/>
          </a:xfrm>
        </p:spPr>
        <p:txBody>
          <a:bodyPr/>
          <a:lstStyle>
            <a:lvl1pPr>
              <a:lnSpc>
                <a:spcPct val="100000"/>
              </a:lnSpc>
              <a:defRPr/>
            </a:lvl1p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EAF8B22-7FA8-4AF5-B205-B3846B6AB803}" type="datetimeFigureOut">
              <a:rPr lang="zh-CN" altLang="en-US" smtClean="0">
                <a:solidFill>
                  <a:prstClr val="black">
                    <a:tint val="75000"/>
                  </a:prstClr>
                </a:solidFill>
              </a:rPr>
              <a:pPr/>
              <a:t>2020/3/31 Tuesday</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3B25A26F-E331-414B-A9B5-EE43C09B7FC1}"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97162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graphicFrame>
        <p:nvGraphicFramePr>
          <p:cNvPr id="9" name="对象 8"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84" name="think-cell 幻灯片" r:id="rId4" imgW="270" imgH="270" progId="TCLayout.ActiveDocument.1">
                  <p:embed/>
                </p:oleObj>
              </mc:Choice>
              <mc:Fallback>
                <p:oleObj name="think-cell 幻灯片" r:id="rId4" imgW="270" imgH="270" progId="TCLayout.ActiveDocument.1">
                  <p:embed/>
                  <p:pic>
                    <p:nvPicPr>
                      <p:cNvPr id="9" name="对象 8"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标题 1"/>
          <p:cNvSpPr>
            <a:spLocks noGrp="1"/>
          </p:cNvSpPr>
          <p:nvPr>
            <p:ph type="title"/>
          </p:nvPr>
        </p:nvSpPr>
        <p:spPr/>
        <p:txBody>
          <a:bodyPr>
            <a:normAutofit/>
          </a:bodyPr>
          <a:lstStyle>
            <a:lvl1pPr>
              <a:defRPr sz="3200">
                <a:solidFill>
                  <a:schemeClr val="tx1">
                    <a:lumMod val="75000"/>
                    <a:lumOff val="25000"/>
                  </a:schemeClr>
                </a:solidFill>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742BDA4-A3BB-4524-8347-4FE00C4504BB}" type="datetimeFigureOut">
              <a:rPr lang="zh-CN" altLang="en-US" smtClean="0"/>
              <a:pPr/>
              <a:t>2020/3/31 Tuesday</a:t>
            </a:fld>
            <a:endParaRPr lang="zh-CN" altLang="en-US"/>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C6C754D0-3C9C-4B72-8BB3-88ECCA31E9F3}" type="slidenum">
              <a:rPr lang="zh-CN" altLang="en-US" smtClean="0"/>
              <a:pPr/>
              <a:t>‹#›</a:t>
            </a:fld>
            <a:endParaRPr lang="zh-CN" altLang="en-US"/>
          </a:p>
        </p:txBody>
      </p:sp>
    </p:spTree>
    <p:extLst>
      <p:ext uri="{BB962C8B-B14F-4D97-AF65-F5344CB8AC3E}">
        <p14:creationId xmlns:p14="http://schemas.microsoft.com/office/powerpoint/2010/main" val="2451134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000" y="50400"/>
            <a:ext cx="7886700" cy="11448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fld id="{BEAF8B22-7FA8-4AF5-B205-B3846B6AB803}" type="datetimeFigureOut">
              <a:rPr lang="zh-CN" altLang="en-US" smtClean="0">
                <a:solidFill>
                  <a:prstClr val="black">
                    <a:tint val="75000"/>
                  </a:prstClr>
                </a:solidFill>
                <a:latin typeface="Microsoft YaHei"/>
                <a:ea typeface="Microsoft YaHei"/>
              </a:rPr>
              <a:pPr eaLnBrk="1" fontAlgn="auto" hangingPunct="1">
                <a:spcBef>
                  <a:spcPts val="0"/>
                </a:spcBef>
                <a:spcAft>
                  <a:spcPts val="0"/>
                </a:spcAft>
              </a:pPr>
              <a:t>2020/3/31 Tuesday</a:t>
            </a:fld>
            <a:endParaRPr lang="zh-CN" altLang="en-US">
              <a:solidFill>
                <a:prstClr val="black">
                  <a:tint val="75000"/>
                </a:prstClr>
              </a:solidFill>
              <a:latin typeface="Microsoft YaHei"/>
              <a:ea typeface="Microsoft YaHei"/>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Microsoft YaHei"/>
              <a:ea typeface="Microsoft YaHei"/>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spcBef>
                <a:spcPts val="0"/>
              </a:spcBef>
              <a:spcAft>
                <a:spcPts val="0"/>
              </a:spcAft>
            </a:pPr>
            <a:fld id="{3B25A26F-E331-414B-A9B5-EE43C09B7FC1}" type="slidenum">
              <a:rPr lang="zh-CN" altLang="en-US" smtClean="0">
                <a:solidFill>
                  <a:prstClr val="black">
                    <a:tint val="75000"/>
                  </a:prstClr>
                </a:solidFill>
                <a:latin typeface="Microsoft YaHei"/>
                <a:ea typeface="Microsoft YaHei"/>
              </a:rPr>
              <a:pPr eaLnBrk="1" fontAlgn="auto" hangingPunct="1">
                <a:spcBef>
                  <a:spcPts val="0"/>
                </a:spcBef>
                <a:spcAft>
                  <a:spcPts val="0"/>
                </a:spcAft>
              </a:pPr>
              <a:t>‹#›</a:t>
            </a:fld>
            <a:endParaRPr lang="zh-CN" altLang="en-US">
              <a:solidFill>
                <a:prstClr val="black">
                  <a:tint val="75000"/>
                </a:prstClr>
              </a:solidFill>
              <a:latin typeface="Microsoft YaHei"/>
              <a:ea typeface="Microsoft YaHei"/>
            </a:endParaRPr>
          </a:p>
        </p:txBody>
      </p:sp>
      <p:pic>
        <p:nvPicPr>
          <p:cNvPr id="9" name="图片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27252" y="299507"/>
            <a:ext cx="601365" cy="315383"/>
          </a:xfrm>
          <a:prstGeom prst="rect">
            <a:avLst/>
          </a:prstGeom>
        </p:spPr>
      </p:pic>
    </p:spTree>
    <p:extLst>
      <p:ext uri="{BB962C8B-B14F-4D97-AF65-F5344CB8AC3E}">
        <p14:creationId xmlns:p14="http://schemas.microsoft.com/office/powerpoint/2010/main" val="2987963473"/>
      </p:ext>
    </p:extLst>
  </p:cSld>
  <p:clrMap bg1="lt1" tx1="dk1" bg2="lt2" tx2="dk2" accent1="accent1" accent2="accent2" accent3="accent3" accent4="accent4" accent5="accent5" accent6="accent6" hlink="hlink" folHlink="folHlink"/>
  <p:sldLayoutIdLst>
    <p:sldLayoutId id="2147483843" r:id="rId1"/>
    <p:sldLayoutId id="2147483844" r:id="rId2"/>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000" y="97200"/>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fld id="{BEAF8B22-7FA8-4AF5-B205-B3846B6AB803}" type="datetimeFigureOut">
              <a:rPr lang="zh-CN" altLang="en-US" smtClean="0">
                <a:solidFill>
                  <a:prstClr val="black">
                    <a:tint val="75000"/>
                  </a:prstClr>
                </a:solidFill>
                <a:latin typeface="微软雅黑"/>
                <a:ea typeface="微软雅黑"/>
              </a:rPr>
              <a:pPr eaLnBrk="1" fontAlgn="auto" hangingPunct="1">
                <a:spcBef>
                  <a:spcPts val="0"/>
                </a:spcBef>
                <a:spcAft>
                  <a:spcPts val="0"/>
                </a:spcAft>
              </a:pPr>
              <a:t>2020/3/31 Tuesday</a:t>
            </a:fld>
            <a:endParaRPr lang="zh-CN" altLang="en-US">
              <a:solidFill>
                <a:prstClr val="black">
                  <a:tint val="75000"/>
                </a:prstClr>
              </a:solidFill>
              <a:latin typeface="微软雅黑"/>
              <a:ea typeface="微软雅黑"/>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微软雅黑"/>
              <a:ea typeface="微软雅黑"/>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spcBef>
                <a:spcPts val="0"/>
              </a:spcBef>
              <a:spcAft>
                <a:spcPts val="0"/>
              </a:spcAft>
            </a:pPr>
            <a:fld id="{3B25A26F-E331-414B-A9B5-EE43C09B7FC1}" type="slidenum">
              <a:rPr lang="zh-CN" altLang="en-US" smtClean="0">
                <a:solidFill>
                  <a:prstClr val="black">
                    <a:tint val="75000"/>
                  </a:prstClr>
                </a:solidFill>
                <a:latin typeface="微软雅黑"/>
                <a:ea typeface="微软雅黑"/>
              </a:rPr>
              <a:pPr eaLnBrk="1" fontAlgn="auto" hangingPunct="1">
                <a:spcBef>
                  <a:spcPts val="0"/>
                </a:spcBef>
                <a:spcAft>
                  <a:spcPts val="0"/>
                </a:spcAft>
              </a:pPr>
              <a:t>‹#›</a:t>
            </a:fld>
            <a:endParaRPr lang="zh-CN" altLang="en-US">
              <a:solidFill>
                <a:prstClr val="black">
                  <a:tint val="75000"/>
                </a:prstClr>
              </a:solidFill>
              <a:latin typeface="微软雅黑"/>
              <a:ea typeface="微软雅黑"/>
            </a:endParaRP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7252" y="299507"/>
            <a:ext cx="601365" cy="315383"/>
          </a:xfrm>
          <a:prstGeom prst="rect">
            <a:avLst/>
          </a:prstGeom>
        </p:spPr>
      </p:pic>
    </p:spTree>
    <p:extLst>
      <p:ext uri="{BB962C8B-B14F-4D97-AF65-F5344CB8AC3E}">
        <p14:creationId xmlns:p14="http://schemas.microsoft.com/office/powerpoint/2010/main" val="797879373"/>
      </p:ext>
    </p:extLst>
  </p:cSld>
  <p:clrMap bg1="lt1" tx1="dk1" bg2="lt2" tx2="dk2" accent1="accent1" accent2="accent2" accent3="accent3" accent4="accent4" accent5="accent5" accent6="accent6" hlink="hlink" folHlink="folHlink"/>
  <p:sldLayoutIdLst>
    <p:sldLayoutId id="2147484013" r:id="rId1"/>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000" y="50400"/>
            <a:ext cx="7886700" cy="11448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fld id="{BEAF8B22-7FA8-4AF5-B205-B3846B6AB803}" type="datetimeFigureOut">
              <a:rPr lang="zh-CN" altLang="en-US" smtClean="0">
                <a:solidFill>
                  <a:prstClr val="black">
                    <a:tint val="75000"/>
                  </a:prstClr>
                </a:solidFill>
                <a:latin typeface="Microsoft YaHei"/>
                <a:ea typeface="Microsoft YaHei"/>
              </a:rPr>
              <a:pPr eaLnBrk="1" fontAlgn="auto" hangingPunct="1">
                <a:spcBef>
                  <a:spcPts val="0"/>
                </a:spcBef>
                <a:spcAft>
                  <a:spcPts val="0"/>
                </a:spcAft>
              </a:pPr>
              <a:t>2020/3/31 Tuesday</a:t>
            </a:fld>
            <a:endParaRPr lang="zh-CN" altLang="en-US">
              <a:solidFill>
                <a:prstClr val="black">
                  <a:tint val="75000"/>
                </a:prstClr>
              </a:solidFill>
              <a:latin typeface="Microsoft YaHei"/>
              <a:ea typeface="Microsoft YaHei"/>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Microsoft YaHei"/>
              <a:ea typeface="Microsoft YaHei"/>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spcBef>
                <a:spcPts val="0"/>
              </a:spcBef>
              <a:spcAft>
                <a:spcPts val="0"/>
              </a:spcAft>
            </a:pPr>
            <a:fld id="{3B25A26F-E331-414B-A9B5-EE43C09B7FC1}" type="slidenum">
              <a:rPr lang="zh-CN" altLang="en-US" smtClean="0">
                <a:solidFill>
                  <a:prstClr val="black">
                    <a:tint val="75000"/>
                  </a:prstClr>
                </a:solidFill>
                <a:latin typeface="Microsoft YaHei"/>
                <a:ea typeface="Microsoft YaHei"/>
              </a:rPr>
              <a:pPr eaLnBrk="1" fontAlgn="auto" hangingPunct="1">
                <a:spcBef>
                  <a:spcPts val="0"/>
                </a:spcBef>
                <a:spcAft>
                  <a:spcPts val="0"/>
                </a:spcAft>
              </a:pPr>
              <a:t>‹#›</a:t>
            </a:fld>
            <a:endParaRPr lang="zh-CN" altLang="en-US">
              <a:solidFill>
                <a:prstClr val="black">
                  <a:tint val="75000"/>
                </a:prstClr>
              </a:solidFill>
              <a:latin typeface="Microsoft YaHei"/>
              <a:ea typeface="Microsoft YaHei"/>
            </a:endParaRP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27252" y="299507"/>
            <a:ext cx="601365" cy="315383"/>
          </a:xfrm>
          <a:prstGeom prst="rect">
            <a:avLst/>
          </a:prstGeom>
        </p:spPr>
      </p:pic>
    </p:spTree>
    <p:extLst>
      <p:ext uri="{BB962C8B-B14F-4D97-AF65-F5344CB8AC3E}">
        <p14:creationId xmlns:p14="http://schemas.microsoft.com/office/powerpoint/2010/main" val="1681524824"/>
      </p:ext>
    </p:extLst>
  </p:cSld>
  <p:clrMap bg1="lt1" tx1="dk1" bg2="lt2" tx2="dk2" accent1="accent1" accent2="accent2" accent3="accent3" accent4="accent4" accent5="accent5" accent6="accent6" hlink="hlink" folHlink="folHlink"/>
  <p:sldLayoutIdLst>
    <p:sldLayoutId id="2147484017" r:id="rId1"/>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000" y="50400"/>
            <a:ext cx="7886700" cy="11448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1" fontAlgn="auto" hangingPunct="1">
              <a:spcBef>
                <a:spcPts val="0"/>
              </a:spcBef>
              <a:spcAft>
                <a:spcPts val="0"/>
              </a:spcAft>
            </a:pPr>
            <a:fld id="{BEAF8B22-7FA8-4AF5-B205-B3846B6AB803}" type="datetimeFigureOut">
              <a:rPr lang="zh-CN" altLang="en-US" smtClean="0">
                <a:solidFill>
                  <a:prstClr val="black">
                    <a:tint val="75000"/>
                  </a:prstClr>
                </a:solidFill>
                <a:latin typeface="Microsoft YaHei"/>
                <a:ea typeface="Microsoft YaHei"/>
              </a:rPr>
              <a:pPr eaLnBrk="1" fontAlgn="auto" hangingPunct="1">
                <a:spcBef>
                  <a:spcPts val="0"/>
                </a:spcBef>
                <a:spcAft>
                  <a:spcPts val="0"/>
                </a:spcAft>
              </a:pPr>
              <a:t>2020/3/31 Tuesday</a:t>
            </a:fld>
            <a:endParaRPr lang="zh-CN" altLang="en-US">
              <a:solidFill>
                <a:prstClr val="black">
                  <a:tint val="75000"/>
                </a:prstClr>
              </a:solidFill>
              <a:latin typeface="Microsoft YaHei"/>
              <a:ea typeface="Microsoft YaHei"/>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1" fontAlgn="auto" hangingPunct="1">
              <a:spcBef>
                <a:spcPts val="0"/>
              </a:spcBef>
              <a:spcAft>
                <a:spcPts val="0"/>
              </a:spcAft>
            </a:pPr>
            <a:endParaRPr lang="zh-CN" altLang="en-US">
              <a:solidFill>
                <a:prstClr val="black">
                  <a:tint val="75000"/>
                </a:prstClr>
              </a:solidFill>
              <a:latin typeface="Microsoft YaHei"/>
              <a:ea typeface="Microsoft YaHei"/>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1" fontAlgn="auto" hangingPunct="1">
              <a:spcBef>
                <a:spcPts val="0"/>
              </a:spcBef>
              <a:spcAft>
                <a:spcPts val="0"/>
              </a:spcAft>
            </a:pPr>
            <a:fld id="{3B25A26F-E331-414B-A9B5-EE43C09B7FC1}" type="slidenum">
              <a:rPr lang="zh-CN" altLang="en-US" smtClean="0">
                <a:solidFill>
                  <a:prstClr val="black">
                    <a:tint val="75000"/>
                  </a:prstClr>
                </a:solidFill>
                <a:latin typeface="Microsoft YaHei"/>
                <a:ea typeface="Microsoft YaHei"/>
              </a:rPr>
              <a:pPr eaLnBrk="1" fontAlgn="auto" hangingPunct="1">
                <a:spcBef>
                  <a:spcPts val="0"/>
                </a:spcBef>
                <a:spcAft>
                  <a:spcPts val="0"/>
                </a:spcAft>
              </a:pPr>
              <a:t>‹#›</a:t>
            </a:fld>
            <a:endParaRPr lang="zh-CN" altLang="en-US">
              <a:solidFill>
                <a:prstClr val="black">
                  <a:tint val="75000"/>
                </a:prstClr>
              </a:solidFill>
              <a:latin typeface="Microsoft YaHei"/>
              <a:ea typeface="Microsoft YaHei"/>
            </a:endParaRPr>
          </a:p>
        </p:txBody>
      </p:sp>
      <p:pic>
        <p:nvPicPr>
          <p:cNvPr id="9" name="图片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27252" y="299507"/>
            <a:ext cx="601365" cy="315383"/>
          </a:xfrm>
          <a:prstGeom prst="rect">
            <a:avLst/>
          </a:prstGeom>
        </p:spPr>
      </p:pic>
    </p:spTree>
    <p:extLst>
      <p:ext uri="{BB962C8B-B14F-4D97-AF65-F5344CB8AC3E}">
        <p14:creationId xmlns:p14="http://schemas.microsoft.com/office/powerpoint/2010/main" val="3700303411"/>
      </p:ext>
    </p:extLst>
  </p:cSld>
  <p:clrMap bg1="lt1" tx1="dk1" bg2="lt2" tx2="dk2" accent1="accent1" accent2="accent2" accent3="accent3" accent4="accent4" accent5="accent5" accent6="accent6" hlink="hlink" folHlink="folHlink"/>
  <p:sldLayoutIdLst>
    <p:sldLayoutId id="2147484020" r:id="rId1"/>
    <p:sldLayoutId id="2147484021" r:id="rId2"/>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F5FAD53-85A9-4B87-B84C-979297EFD175}"/>
              </a:ext>
            </a:extLst>
          </p:cNvPr>
          <p:cNvSpPr>
            <a:spLocks noGrp="1"/>
          </p:cNvSpPr>
          <p:nvPr>
            <p:ph type="title"/>
          </p:nvPr>
        </p:nvSpPr>
        <p:spPr>
          <a:xfrm>
            <a:off x="628650" y="2492571"/>
            <a:ext cx="7886700" cy="1144800"/>
          </a:xfrm>
        </p:spPr>
        <p:txBody>
          <a:bodyPr>
            <a:normAutofit/>
          </a:bodyPr>
          <a:lstStyle/>
          <a:p>
            <a:pPr algn="ctr"/>
            <a:r>
              <a:rPr lang="en-US" altLang="zh-CN" sz="4000" dirty="0">
                <a:solidFill>
                  <a:srgbClr val="108638"/>
                </a:solidFill>
                <a:effectLst>
                  <a:outerShdw blurRad="63500" sx="102000" sy="102000" algn="ctr" rotWithShape="0">
                    <a:prstClr val="black">
                      <a:alpha val="40000"/>
                    </a:prstClr>
                  </a:outerShdw>
                </a:effectLst>
              </a:rPr>
              <a:t>CRC</a:t>
            </a:r>
            <a:r>
              <a:rPr lang="zh-CN" altLang="en-US" sz="4000" dirty="0">
                <a:solidFill>
                  <a:srgbClr val="108638"/>
                </a:solidFill>
                <a:effectLst>
                  <a:outerShdw blurRad="63500" sx="102000" sy="102000" algn="ctr" rotWithShape="0">
                    <a:prstClr val="black">
                      <a:alpha val="40000"/>
                    </a:prstClr>
                  </a:outerShdw>
                </a:effectLst>
              </a:rPr>
              <a:t>患者手</a:t>
            </a:r>
            <a:r>
              <a:rPr lang="en-US" altLang="zh-CN" sz="4000" dirty="0">
                <a:solidFill>
                  <a:srgbClr val="108638"/>
                </a:solidFill>
                <a:effectLst>
                  <a:outerShdw blurRad="63500" sx="102000" sy="102000" algn="ctr" rotWithShape="0">
                    <a:prstClr val="black">
                      <a:alpha val="40000"/>
                    </a:prstClr>
                  </a:outerShdw>
                </a:effectLst>
              </a:rPr>
              <a:t>-</a:t>
            </a:r>
            <a:r>
              <a:rPr lang="zh-CN" altLang="en-US" sz="4000" dirty="0">
                <a:solidFill>
                  <a:srgbClr val="108638"/>
                </a:solidFill>
                <a:effectLst>
                  <a:outerShdw blurRad="63500" sx="102000" sy="102000" algn="ctr" rotWithShape="0">
                    <a:prstClr val="black">
                      <a:alpha val="40000"/>
                    </a:prstClr>
                  </a:outerShdw>
                </a:effectLst>
              </a:rPr>
              <a:t>足综合征的管理</a:t>
            </a:r>
          </a:p>
        </p:txBody>
      </p:sp>
      <p:sp>
        <p:nvSpPr>
          <p:cNvPr id="3" name="矩形 2"/>
          <p:cNvSpPr/>
          <p:nvPr/>
        </p:nvSpPr>
        <p:spPr>
          <a:xfrm>
            <a:off x="-38112" y="6526419"/>
            <a:ext cx="6983010" cy="246221"/>
          </a:xfrm>
          <a:prstGeom prst="rect">
            <a:avLst/>
          </a:prstGeom>
        </p:spPr>
        <p:txBody>
          <a:bodyPr wrap="square">
            <a:spAutoFit/>
          </a:bodyPr>
          <a:lstStyle/>
          <a:p>
            <a:r>
              <a:rPr lang="zh-CN" altLang="en-US" sz="1000" dirty="0">
                <a:latin typeface="微软雅黑 Light" panose="020B0502040204020203" pitchFamily="34" charset="-122"/>
                <a:ea typeface="微软雅黑 Light" panose="020B0502040204020203" pitchFamily="34" charset="-122"/>
              </a:rPr>
              <a:t>本资料为仅用于学术会议或活动的专业资料，旨在促进医药信息的沟通和交流，仅供医疗卫生专业人士参考。</a:t>
            </a:r>
          </a:p>
        </p:txBody>
      </p:sp>
      <p:sp>
        <p:nvSpPr>
          <p:cNvPr id="4" name="矩形 3"/>
          <p:cNvSpPr/>
          <p:nvPr/>
        </p:nvSpPr>
        <p:spPr>
          <a:xfrm>
            <a:off x="6732990" y="6526418"/>
            <a:ext cx="2446504" cy="246221"/>
          </a:xfrm>
          <a:prstGeom prst="rect">
            <a:avLst/>
          </a:prstGeom>
        </p:spPr>
        <p:txBody>
          <a:bodyPr wrap="none">
            <a:spAutoFit/>
          </a:bodyPr>
          <a:lstStyle/>
          <a:p>
            <a:r>
              <a:rPr lang="zh-CN" altLang="en-US" sz="1000" dirty="0">
                <a:latin typeface="微软雅黑 Light" panose="020B0502040204020203" pitchFamily="34" charset="-122"/>
                <a:ea typeface="微软雅黑 Light" panose="020B0502040204020203" pitchFamily="34" charset="-122"/>
              </a:rPr>
              <a:t>P-XLD-2020.03-243 Valid Until 2022.03</a:t>
            </a:r>
          </a:p>
        </p:txBody>
      </p:sp>
    </p:spTree>
    <p:extLst>
      <p:ext uri="{BB962C8B-B14F-4D97-AF65-F5344CB8AC3E}">
        <p14:creationId xmlns:p14="http://schemas.microsoft.com/office/powerpoint/2010/main" val="3617301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pSp>
        <p:nvGrpSpPr>
          <p:cNvPr id="12" name="组合 11"/>
          <p:cNvGrpSpPr/>
          <p:nvPr/>
        </p:nvGrpSpPr>
        <p:grpSpPr>
          <a:xfrm>
            <a:off x="746539" y="1346632"/>
            <a:ext cx="7395089" cy="4298053"/>
            <a:chOff x="746539" y="1346632"/>
            <a:chExt cx="7395089" cy="4298053"/>
          </a:xfrm>
        </p:grpSpPr>
        <p:pic>
          <p:nvPicPr>
            <p:cNvPr id="11" name="图片 10"/>
            <p:cNvPicPr>
              <a:picLocks noChangeAspect="1"/>
            </p:cNvPicPr>
            <p:nvPr/>
          </p:nvPicPr>
          <p:blipFill>
            <a:blip r:embed="rId3"/>
            <a:stretch>
              <a:fillRect/>
            </a:stretch>
          </p:blipFill>
          <p:spPr>
            <a:xfrm>
              <a:off x="746539" y="1346632"/>
              <a:ext cx="7395089" cy="4298053"/>
            </a:xfrm>
            <a:prstGeom prst="rect">
              <a:avLst/>
            </a:prstGeom>
          </p:spPr>
        </p:pic>
        <p:grpSp>
          <p:nvGrpSpPr>
            <p:cNvPr id="10" name="组合 9"/>
            <p:cNvGrpSpPr/>
            <p:nvPr/>
          </p:nvGrpSpPr>
          <p:grpSpPr>
            <a:xfrm>
              <a:off x="1934234" y="1653886"/>
              <a:ext cx="3714222" cy="3632031"/>
              <a:chOff x="1934234" y="1653886"/>
              <a:chExt cx="3714222" cy="3632031"/>
            </a:xfrm>
          </p:grpSpPr>
          <p:sp>
            <p:nvSpPr>
              <p:cNvPr id="7" name="矩形 6"/>
              <p:cNvSpPr/>
              <p:nvPr/>
            </p:nvSpPr>
            <p:spPr>
              <a:xfrm>
                <a:off x="1934234" y="1653886"/>
                <a:ext cx="3486724" cy="430887"/>
              </a:xfrm>
              <a:prstGeom prst="rect">
                <a:avLst/>
              </a:prstGeom>
            </p:spPr>
            <p:txBody>
              <a:bodyPr wrap="none" anchor="ctr">
                <a:spAutoFit/>
              </a:bodyPr>
              <a:lstStyle/>
              <a:p>
                <a:r>
                  <a:rPr lang="zh-CN" altLang="en-US" sz="2200" b="1" dirty="0">
                    <a:solidFill>
                      <a:prstClr val="black"/>
                    </a:solidFill>
                    <a:latin typeface="Microsoft YaHei"/>
                    <a:ea typeface="Microsoft YaHei"/>
                  </a:rPr>
                  <a:t>手</a:t>
                </a:r>
                <a:r>
                  <a:rPr lang="en-US" altLang="zh-CN" sz="2200" b="1" dirty="0">
                    <a:solidFill>
                      <a:prstClr val="black"/>
                    </a:solidFill>
                    <a:latin typeface="Microsoft YaHei"/>
                    <a:ea typeface="Microsoft YaHei"/>
                  </a:rPr>
                  <a:t>-</a:t>
                </a:r>
                <a:r>
                  <a:rPr lang="zh-CN" altLang="en-US" sz="2200" b="1" dirty="0">
                    <a:solidFill>
                      <a:prstClr val="black"/>
                    </a:solidFill>
                    <a:latin typeface="Microsoft YaHei"/>
                    <a:ea typeface="Microsoft YaHei"/>
                  </a:rPr>
                  <a:t>足综合征（</a:t>
                </a:r>
                <a:r>
                  <a:rPr lang="en-US" altLang="zh-CN" sz="2200" b="1" dirty="0">
                    <a:solidFill>
                      <a:prstClr val="black"/>
                    </a:solidFill>
                    <a:latin typeface="Microsoft YaHei"/>
                    <a:ea typeface="Microsoft YaHei"/>
                  </a:rPr>
                  <a:t>HFS</a:t>
                </a:r>
                <a:r>
                  <a:rPr lang="zh-CN" altLang="en-US" sz="2200" b="1" dirty="0">
                    <a:solidFill>
                      <a:prstClr val="black"/>
                    </a:solidFill>
                    <a:latin typeface="Microsoft YaHei"/>
                    <a:ea typeface="Microsoft YaHei"/>
                  </a:rPr>
                  <a:t>） 概述</a:t>
                </a:r>
                <a:endParaRPr lang="en-US" altLang="zh-CN" sz="2200" b="1" dirty="0">
                  <a:solidFill>
                    <a:prstClr val="black"/>
                  </a:solidFill>
                  <a:latin typeface="Microsoft YaHei"/>
                  <a:ea typeface="Microsoft YaHei"/>
                </a:endParaRPr>
              </a:p>
            </p:txBody>
          </p:sp>
          <p:sp>
            <p:nvSpPr>
              <p:cNvPr id="28" name="矩形 27"/>
              <p:cNvSpPr/>
              <p:nvPr/>
            </p:nvSpPr>
            <p:spPr>
              <a:xfrm>
                <a:off x="1934234" y="3254458"/>
                <a:ext cx="3714222" cy="430887"/>
              </a:xfrm>
              <a:prstGeom prst="rect">
                <a:avLst/>
              </a:prstGeom>
            </p:spPr>
            <p:txBody>
              <a:bodyPr wrap="none" anchor="ctr">
                <a:spAutoFit/>
              </a:bodyPr>
              <a:lstStyle/>
              <a:p>
                <a:r>
                  <a:rPr lang="zh-CN" altLang="en-US" sz="2200" b="1" dirty="0">
                    <a:solidFill>
                      <a:srgbClr val="BFBFBF"/>
                    </a:solidFill>
                    <a:latin typeface="Microsoft YaHei"/>
                    <a:ea typeface="Microsoft YaHei"/>
                  </a:rPr>
                  <a:t>卡培他滨 </a:t>
                </a:r>
                <a:r>
                  <a:rPr lang="en-US" altLang="zh-CN" sz="2200" b="1" dirty="0">
                    <a:solidFill>
                      <a:srgbClr val="BFBFBF"/>
                    </a:solidFill>
                    <a:latin typeface="Microsoft YaHei"/>
                    <a:ea typeface="Microsoft YaHei"/>
                  </a:rPr>
                  <a:t>&amp; CRC</a:t>
                </a:r>
                <a:r>
                  <a:rPr lang="zh-CN" altLang="en-US" sz="2200" b="1" dirty="0">
                    <a:solidFill>
                      <a:srgbClr val="BFBFBF"/>
                    </a:solidFill>
                    <a:latin typeface="Microsoft YaHei"/>
                    <a:ea typeface="Microsoft YaHei"/>
                  </a:rPr>
                  <a:t>患者的</a:t>
                </a:r>
                <a:r>
                  <a:rPr lang="en-US" altLang="zh-CN" sz="2200" b="1" dirty="0">
                    <a:solidFill>
                      <a:srgbClr val="BFBFBF"/>
                    </a:solidFill>
                    <a:latin typeface="Microsoft YaHei"/>
                    <a:ea typeface="Microsoft YaHei"/>
                  </a:rPr>
                  <a:t>HFS</a:t>
                </a:r>
              </a:p>
            </p:txBody>
          </p:sp>
          <p:sp>
            <p:nvSpPr>
              <p:cNvPr id="29" name="矩形 28"/>
              <p:cNvSpPr/>
              <p:nvPr/>
            </p:nvSpPr>
            <p:spPr>
              <a:xfrm>
                <a:off x="1934234" y="4855030"/>
                <a:ext cx="2997808" cy="430887"/>
              </a:xfrm>
              <a:prstGeom prst="rect">
                <a:avLst/>
              </a:prstGeom>
            </p:spPr>
            <p:txBody>
              <a:bodyPr wrap="none" anchor="ctr">
                <a:spAutoFit/>
              </a:bodyPr>
              <a:lstStyle/>
              <a:p>
                <a:r>
                  <a:rPr lang="en-US" altLang="zh-CN" sz="2200" b="1" dirty="0" smtClean="0">
                    <a:solidFill>
                      <a:srgbClr val="BFBFBF"/>
                    </a:solidFill>
                    <a:latin typeface="Microsoft YaHei"/>
                    <a:ea typeface="Microsoft YaHei"/>
                  </a:rPr>
                  <a:t>HFS</a:t>
                </a:r>
                <a:r>
                  <a:rPr lang="zh-CN" altLang="en-US" sz="2200" b="1" dirty="0">
                    <a:solidFill>
                      <a:srgbClr val="BFBFBF"/>
                    </a:solidFill>
                    <a:latin typeface="Microsoft YaHei"/>
                    <a:ea typeface="Microsoft YaHei"/>
                  </a:rPr>
                  <a:t>的防治和处理建议</a:t>
                </a:r>
              </a:p>
            </p:txBody>
          </p:sp>
        </p:grpSp>
      </p:grpSp>
    </p:spTree>
    <p:extLst>
      <p:ext uri="{BB962C8B-B14F-4D97-AF65-F5344CB8AC3E}">
        <p14:creationId xmlns:p14="http://schemas.microsoft.com/office/powerpoint/2010/main" val="42945398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2000" y="50400"/>
            <a:ext cx="7886700" cy="1144800"/>
          </a:xfrm>
        </p:spPr>
        <p:txBody>
          <a:bodyPr/>
          <a:lstStyle/>
          <a:p>
            <a:r>
              <a:rPr lang="zh-CN" altLang="zh-CN" spc="-30" dirty="0"/>
              <a:t>各抗肿瘤药物导致的</a:t>
            </a:r>
            <a:r>
              <a:rPr lang="en-US" altLang="zh-CN" spc="-30" dirty="0">
                <a:cs typeface="+mn-ea"/>
                <a:sym typeface="+mn-lt"/>
              </a:rPr>
              <a:t>HFS</a:t>
            </a:r>
            <a:r>
              <a:rPr lang="zh-CN" altLang="zh-CN" spc="-30" dirty="0"/>
              <a:t>发生率</a:t>
            </a:r>
            <a:endParaRPr lang="zh-CN" altLang="en-US" spc="-30" dirty="0">
              <a:latin typeface="+mn-lt"/>
              <a:ea typeface="+mn-ea"/>
              <a:cs typeface="+mn-ea"/>
              <a:sym typeface="+mn-lt"/>
            </a:endParaRPr>
          </a:p>
        </p:txBody>
      </p:sp>
      <p:sp>
        <p:nvSpPr>
          <p:cNvPr id="27" name="矩形 26"/>
          <p:cNvSpPr/>
          <p:nvPr/>
        </p:nvSpPr>
        <p:spPr>
          <a:xfrm>
            <a:off x="5237161" y="6488668"/>
            <a:ext cx="3906839" cy="369332"/>
          </a:xfrm>
          <a:prstGeom prst="rect">
            <a:avLst/>
          </a:prstGeom>
        </p:spPr>
        <p:txBody>
          <a:bodyPr wrap="none">
            <a:spAutoFit/>
          </a:bodyPr>
          <a:lstStyle/>
          <a:p>
            <a:pPr marL="228600" indent="-228600" algn="r" eaLnBrk="1" fontAlgn="auto" hangingPunct="1">
              <a:spcBef>
                <a:spcPts val="0"/>
              </a:spcBef>
              <a:spcAft>
                <a:spcPts val="0"/>
              </a:spcAft>
              <a:buFont typeface="+mj-lt"/>
              <a:buAutoNum type="arabicPeriod"/>
              <a:defRPr/>
            </a:pPr>
            <a:r>
              <a:rPr lang="en-US" altLang="zh-CN" sz="900" dirty="0">
                <a:solidFill>
                  <a:prstClr val="black"/>
                </a:solidFill>
                <a:latin typeface="微软雅黑"/>
                <a:ea typeface="微软雅黑"/>
                <a:cs typeface="+mn-ea"/>
                <a:sym typeface="+mn-lt"/>
              </a:rPr>
              <a:t>Annette </a:t>
            </a:r>
            <a:r>
              <a:rPr lang="en-US" altLang="zh-CN" sz="900" dirty="0" err="1">
                <a:solidFill>
                  <a:prstClr val="black"/>
                </a:solidFill>
                <a:latin typeface="微软雅黑"/>
                <a:ea typeface="微软雅黑"/>
                <a:cs typeface="+mn-ea"/>
                <a:sym typeface="+mn-lt"/>
              </a:rPr>
              <a:t>Degen</a:t>
            </a:r>
            <a:r>
              <a:rPr lang="en-US" altLang="zh-CN" sz="900" dirty="0">
                <a:solidFill>
                  <a:prstClr val="black"/>
                </a:solidFill>
                <a:latin typeface="微软雅黑"/>
                <a:ea typeface="微软雅黑"/>
                <a:cs typeface="+mn-ea"/>
                <a:sym typeface="+mn-lt"/>
              </a:rPr>
              <a:t> et al., J </a:t>
            </a:r>
            <a:r>
              <a:rPr lang="en-US" altLang="zh-CN" sz="900" dirty="0" err="1">
                <a:solidFill>
                  <a:prstClr val="black"/>
                </a:solidFill>
                <a:latin typeface="微软雅黑"/>
                <a:ea typeface="微软雅黑"/>
                <a:cs typeface="+mn-ea"/>
                <a:sym typeface="+mn-lt"/>
              </a:rPr>
              <a:t>Dtsch</a:t>
            </a:r>
            <a:r>
              <a:rPr lang="en-US" altLang="zh-CN" sz="900" dirty="0">
                <a:solidFill>
                  <a:prstClr val="black"/>
                </a:solidFill>
                <a:latin typeface="微软雅黑"/>
                <a:ea typeface="微软雅黑"/>
                <a:cs typeface="+mn-ea"/>
                <a:sym typeface="+mn-lt"/>
              </a:rPr>
              <a:t> </a:t>
            </a:r>
            <a:r>
              <a:rPr lang="en-US" altLang="zh-CN" sz="900" dirty="0" err="1">
                <a:solidFill>
                  <a:prstClr val="black"/>
                </a:solidFill>
                <a:latin typeface="微软雅黑"/>
                <a:ea typeface="微软雅黑"/>
                <a:cs typeface="+mn-ea"/>
                <a:sym typeface="+mn-lt"/>
              </a:rPr>
              <a:t>Dermatol</a:t>
            </a:r>
            <a:r>
              <a:rPr lang="en-US" altLang="zh-CN" sz="900" dirty="0">
                <a:solidFill>
                  <a:prstClr val="black"/>
                </a:solidFill>
                <a:latin typeface="微软雅黑"/>
                <a:ea typeface="微软雅黑"/>
                <a:cs typeface="+mn-ea"/>
                <a:sym typeface="+mn-lt"/>
              </a:rPr>
              <a:t> </a:t>
            </a:r>
            <a:r>
              <a:rPr lang="en-US" altLang="zh-CN" sz="900" dirty="0" err="1">
                <a:solidFill>
                  <a:prstClr val="black"/>
                </a:solidFill>
                <a:latin typeface="微软雅黑"/>
                <a:ea typeface="微软雅黑"/>
                <a:cs typeface="+mn-ea"/>
                <a:sym typeface="+mn-lt"/>
              </a:rPr>
              <a:t>Ges</a:t>
            </a:r>
            <a:r>
              <a:rPr lang="en-US" altLang="zh-CN" sz="900" dirty="0">
                <a:solidFill>
                  <a:prstClr val="black"/>
                </a:solidFill>
                <a:latin typeface="微软雅黑"/>
                <a:ea typeface="微软雅黑"/>
                <a:cs typeface="+mn-ea"/>
                <a:sym typeface="+mn-lt"/>
              </a:rPr>
              <a:t>. 2010;8(9): 652-661.</a:t>
            </a:r>
          </a:p>
          <a:p>
            <a:pPr marL="228600" indent="-228600" algn="r" eaLnBrk="1" fontAlgn="auto" hangingPunct="1">
              <a:spcBef>
                <a:spcPts val="0"/>
              </a:spcBef>
              <a:spcAft>
                <a:spcPts val="0"/>
              </a:spcAft>
              <a:buFont typeface="+mj-lt"/>
              <a:buAutoNum type="arabicPeriod"/>
              <a:defRPr/>
            </a:pPr>
            <a:r>
              <a:rPr lang="en-US" altLang="zh-CN" sz="900" dirty="0" err="1">
                <a:solidFill>
                  <a:prstClr val="black"/>
                </a:solidFill>
                <a:latin typeface="微软雅黑"/>
                <a:ea typeface="微软雅黑"/>
                <a:cs typeface="+mn-ea"/>
                <a:sym typeface="+mn-lt"/>
              </a:rPr>
              <a:t>Saif</a:t>
            </a:r>
            <a:r>
              <a:rPr lang="en-US" altLang="zh-CN" sz="900" dirty="0">
                <a:solidFill>
                  <a:prstClr val="black"/>
                </a:solidFill>
                <a:latin typeface="微软雅黑"/>
                <a:ea typeface="微软雅黑"/>
                <a:cs typeface="+mn-ea"/>
                <a:sym typeface="+mn-lt"/>
              </a:rPr>
              <a:t> MW et al., Expert </a:t>
            </a:r>
            <a:r>
              <a:rPr lang="en-US" altLang="zh-CN" sz="900" dirty="0" err="1">
                <a:solidFill>
                  <a:prstClr val="black"/>
                </a:solidFill>
                <a:latin typeface="微软雅黑"/>
                <a:ea typeface="微软雅黑"/>
                <a:cs typeface="+mn-ea"/>
                <a:sym typeface="+mn-lt"/>
              </a:rPr>
              <a:t>Opin</a:t>
            </a:r>
            <a:r>
              <a:rPr lang="en-US" altLang="zh-CN" sz="900" dirty="0">
                <a:solidFill>
                  <a:prstClr val="black"/>
                </a:solidFill>
                <a:latin typeface="微软雅黑"/>
                <a:ea typeface="微软雅黑"/>
                <a:cs typeface="+mn-ea"/>
                <a:sym typeface="+mn-lt"/>
              </a:rPr>
              <a:t>. Drug </a:t>
            </a:r>
            <a:r>
              <a:rPr lang="en-US" altLang="zh-CN" sz="900" dirty="0" err="1">
                <a:solidFill>
                  <a:prstClr val="black"/>
                </a:solidFill>
                <a:latin typeface="微软雅黑"/>
                <a:ea typeface="微软雅黑"/>
                <a:cs typeface="+mn-ea"/>
                <a:sym typeface="+mn-lt"/>
              </a:rPr>
              <a:t>Saf</a:t>
            </a:r>
            <a:r>
              <a:rPr lang="en-US" altLang="zh-CN" sz="900" dirty="0">
                <a:solidFill>
                  <a:prstClr val="black"/>
                </a:solidFill>
                <a:latin typeface="微软雅黑"/>
                <a:ea typeface="微软雅黑"/>
                <a:cs typeface="+mn-ea"/>
                <a:sym typeface="+mn-lt"/>
              </a:rPr>
              <a:t>. 2011;10(2): 159-169.</a:t>
            </a:r>
            <a:endParaRPr lang="en-US" altLang="zh-CN" sz="900" i="1" dirty="0">
              <a:solidFill>
                <a:prstClr val="black"/>
              </a:solidFill>
              <a:latin typeface="微软雅黑"/>
              <a:ea typeface="微软雅黑"/>
              <a:cs typeface="+mn-ea"/>
              <a:sym typeface="+mn-lt"/>
            </a:endParaRPr>
          </a:p>
        </p:txBody>
      </p:sp>
      <p:grpSp>
        <p:nvGrpSpPr>
          <p:cNvPr id="8" name="组合 7"/>
          <p:cNvGrpSpPr/>
          <p:nvPr/>
        </p:nvGrpSpPr>
        <p:grpSpPr>
          <a:xfrm>
            <a:off x="566581" y="794341"/>
            <a:ext cx="8010838" cy="5121084"/>
            <a:chOff x="566581" y="794341"/>
            <a:chExt cx="8010838" cy="5121084"/>
          </a:xfrm>
        </p:grpSpPr>
        <p:pic>
          <p:nvPicPr>
            <p:cNvPr id="7" name="图片 6"/>
            <p:cNvPicPr>
              <a:picLocks noChangeAspect="1"/>
            </p:cNvPicPr>
            <p:nvPr/>
          </p:nvPicPr>
          <p:blipFill>
            <a:blip r:embed="rId3"/>
            <a:stretch>
              <a:fillRect/>
            </a:stretch>
          </p:blipFill>
          <p:spPr>
            <a:xfrm>
              <a:off x="566581" y="794341"/>
              <a:ext cx="8010838" cy="5121084"/>
            </a:xfrm>
            <a:prstGeom prst="rect">
              <a:avLst/>
            </a:prstGeom>
          </p:spPr>
        </p:pic>
        <p:sp>
          <p:nvSpPr>
            <p:cNvPr id="4" name="矩形 3"/>
            <p:cNvSpPr/>
            <p:nvPr/>
          </p:nvSpPr>
          <p:spPr>
            <a:xfrm rot="16200000">
              <a:off x="56612" y="3246571"/>
              <a:ext cx="1430199" cy="307777"/>
            </a:xfrm>
            <a:prstGeom prst="rect">
              <a:avLst/>
            </a:prstGeom>
          </p:spPr>
          <p:txBody>
            <a:bodyPr wrap="none">
              <a:spAutoFit/>
            </a:bodyPr>
            <a:lstStyle/>
            <a:p>
              <a:pPr algn="ctr" eaLnBrk="1" fontAlgn="auto" hangingPunct="1">
                <a:spcBef>
                  <a:spcPts val="0"/>
                </a:spcBef>
                <a:spcAft>
                  <a:spcPts val="0"/>
                </a:spcAft>
                <a:defRPr lang="zh-CN" sz="1400" b="0" i="0" u="none" strike="noStrike" kern="1200" baseline="0">
                  <a:solidFill>
                    <a:prstClr val="black"/>
                  </a:solidFill>
                  <a:latin typeface="+mn-lt"/>
                  <a:ea typeface="+mn-ea"/>
                  <a:cs typeface="+mn-ea"/>
                  <a:sym typeface="+mn-lt"/>
                </a:defRPr>
              </a:pPr>
              <a:r>
                <a:rPr lang="zh-CN" altLang="zh-CN" sz="1400" b="1" dirty="0">
                  <a:solidFill>
                    <a:prstClr val="black"/>
                  </a:solidFill>
                  <a:latin typeface="Microsoft YaHei"/>
                  <a:ea typeface="Microsoft YaHei"/>
                  <a:cs typeface="+mn-ea"/>
                  <a:sym typeface="+mn-lt"/>
                </a:rPr>
                <a:t>发生率</a:t>
              </a:r>
              <a:r>
                <a:rPr lang="en-US" altLang="zh-CN" sz="1400" b="1" baseline="30000" dirty="0">
                  <a:solidFill>
                    <a:prstClr val="black"/>
                  </a:solidFill>
                  <a:latin typeface="Microsoft YaHei"/>
                  <a:ea typeface="Microsoft YaHei"/>
                  <a:cs typeface="+mn-ea"/>
                  <a:sym typeface="+mn-lt"/>
                </a:rPr>
                <a:t>1,2</a:t>
              </a:r>
              <a:r>
                <a:rPr lang="zh-CN" altLang="zh-CN" sz="1400" b="1" dirty="0">
                  <a:solidFill>
                    <a:prstClr val="black"/>
                  </a:solidFill>
                  <a:latin typeface="Microsoft YaHei"/>
                  <a:ea typeface="Microsoft YaHei"/>
                  <a:cs typeface="+mn-ea"/>
                  <a:sym typeface="+mn-lt"/>
                </a:rPr>
                <a:t>（</a:t>
              </a:r>
              <a:r>
                <a:rPr lang="en-US" altLang="zh-CN" sz="1400" b="1" dirty="0">
                  <a:solidFill>
                    <a:prstClr val="black"/>
                  </a:solidFill>
                  <a:latin typeface="Microsoft YaHei"/>
                  <a:ea typeface="Microsoft YaHei"/>
                  <a:cs typeface="+mn-ea"/>
                  <a:sym typeface="+mn-lt"/>
                </a:rPr>
                <a:t>%</a:t>
              </a:r>
              <a:r>
                <a:rPr lang="zh-CN" altLang="zh-CN" sz="1400" b="1" dirty="0">
                  <a:solidFill>
                    <a:prstClr val="black"/>
                  </a:solidFill>
                  <a:latin typeface="Microsoft YaHei"/>
                  <a:ea typeface="Microsoft YaHei"/>
                  <a:cs typeface="+mn-ea"/>
                  <a:sym typeface="+mn-lt"/>
                </a:rPr>
                <a:t>）</a:t>
              </a:r>
            </a:p>
          </p:txBody>
        </p:sp>
        <p:sp>
          <p:nvSpPr>
            <p:cNvPr id="5" name="文本框 4"/>
            <p:cNvSpPr txBox="1"/>
            <p:nvPr/>
          </p:nvSpPr>
          <p:spPr>
            <a:xfrm>
              <a:off x="1670439" y="5486939"/>
              <a:ext cx="907941" cy="276999"/>
            </a:xfrm>
            <a:prstGeom prst="rect">
              <a:avLst/>
            </a:prstGeom>
            <a:noFill/>
          </p:spPr>
          <p:txBody>
            <a:bodyPr wrap="square" rtlCol="0">
              <a:spAutoFit/>
            </a:bodyPr>
            <a:lstStyle/>
            <a:p>
              <a:pPr algn="ctr"/>
              <a:r>
                <a:rPr lang="en-US" altLang="zh-CN" sz="1200" b="1" dirty="0">
                  <a:solidFill>
                    <a:prstClr val="black"/>
                  </a:solidFill>
                  <a:latin typeface="Microsoft YaHei"/>
                </a:rPr>
                <a:t>TKI</a:t>
              </a:r>
              <a:endParaRPr lang="zh-CN" altLang="en-US" sz="1200" b="1" dirty="0">
                <a:solidFill>
                  <a:prstClr val="black"/>
                </a:solidFill>
                <a:latin typeface="Microsoft YaHei"/>
              </a:endParaRPr>
            </a:p>
          </p:txBody>
        </p:sp>
        <p:sp>
          <p:nvSpPr>
            <p:cNvPr id="13" name="文本框 12"/>
            <p:cNvSpPr txBox="1"/>
            <p:nvPr/>
          </p:nvSpPr>
          <p:spPr>
            <a:xfrm>
              <a:off x="3076323" y="5517829"/>
              <a:ext cx="907941" cy="276999"/>
            </a:xfrm>
            <a:prstGeom prst="rect">
              <a:avLst/>
            </a:prstGeom>
            <a:noFill/>
          </p:spPr>
          <p:txBody>
            <a:bodyPr wrap="square" rtlCol="0">
              <a:spAutoFit/>
            </a:bodyPr>
            <a:lstStyle/>
            <a:p>
              <a:pPr algn="ctr"/>
              <a:r>
                <a:rPr lang="zh-CN" altLang="en-US" sz="1200" b="1" dirty="0">
                  <a:solidFill>
                    <a:prstClr val="black"/>
                  </a:solidFill>
                  <a:latin typeface="Microsoft YaHei"/>
                  <a:ea typeface="Microsoft YaHei"/>
                </a:rPr>
                <a:t>紫杉类</a:t>
              </a:r>
            </a:p>
          </p:txBody>
        </p:sp>
        <p:sp>
          <p:nvSpPr>
            <p:cNvPr id="14" name="文本框 13"/>
            <p:cNvSpPr txBox="1"/>
            <p:nvPr/>
          </p:nvSpPr>
          <p:spPr>
            <a:xfrm>
              <a:off x="4474108" y="5517829"/>
              <a:ext cx="907941" cy="276999"/>
            </a:xfrm>
            <a:prstGeom prst="rect">
              <a:avLst/>
            </a:prstGeom>
            <a:noFill/>
          </p:spPr>
          <p:txBody>
            <a:bodyPr wrap="square" rtlCol="0">
              <a:spAutoFit/>
            </a:bodyPr>
            <a:lstStyle/>
            <a:p>
              <a:pPr algn="ctr"/>
              <a:r>
                <a:rPr lang="zh-CN" altLang="en-US" sz="1200" b="1" dirty="0">
                  <a:solidFill>
                    <a:prstClr val="black"/>
                  </a:solidFill>
                  <a:latin typeface="Microsoft YaHei"/>
                  <a:ea typeface="Microsoft YaHei"/>
                </a:rPr>
                <a:t>蒽环类</a:t>
              </a:r>
            </a:p>
          </p:txBody>
        </p:sp>
        <p:sp>
          <p:nvSpPr>
            <p:cNvPr id="15" name="文本框 14"/>
            <p:cNvSpPr txBox="1"/>
            <p:nvPr/>
          </p:nvSpPr>
          <p:spPr>
            <a:xfrm>
              <a:off x="5878074" y="5517829"/>
              <a:ext cx="907941" cy="276999"/>
            </a:xfrm>
            <a:prstGeom prst="rect">
              <a:avLst/>
            </a:prstGeom>
            <a:noFill/>
          </p:spPr>
          <p:txBody>
            <a:bodyPr wrap="square" rtlCol="0">
              <a:spAutoFit/>
            </a:bodyPr>
            <a:lstStyle/>
            <a:p>
              <a:pPr algn="ctr"/>
              <a:r>
                <a:rPr lang="zh-CN" altLang="en-US" sz="1200" b="1" dirty="0">
                  <a:solidFill>
                    <a:prstClr val="black"/>
                  </a:solidFill>
                  <a:latin typeface="Microsoft YaHei"/>
                  <a:ea typeface="Microsoft YaHei"/>
                </a:rPr>
                <a:t>氟尿嘧啶</a:t>
              </a:r>
            </a:p>
          </p:txBody>
        </p:sp>
        <p:sp>
          <p:nvSpPr>
            <p:cNvPr id="16" name="文本框 15"/>
            <p:cNvSpPr txBox="1"/>
            <p:nvPr/>
          </p:nvSpPr>
          <p:spPr>
            <a:xfrm>
              <a:off x="7278065" y="5517829"/>
              <a:ext cx="907941" cy="276999"/>
            </a:xfrm>
            <a:prstGeom prst="rect">
              <a:avLst/>
            </a:prstGeom>
            <a:noFill/>
          </p:spPr>
          <p:txBody>
            <a:bodyPr wrap="square" rtlCol="0">
              <a:spAutoFit/>
            </a:bodyPr>
            <a:lstStyle/>
            <a:p>
              <a:pPr algn="ctr"/>
              <a:r>
                <a:rPr lang="zh-CN" altLang="en-US" sz="1200" b="1" dirty="0">
                  <a:solidFill>
                    <a:prstClr val="black"/>
                  </a:solidFill>
                  <a:latin typeface="Microsoft YaHei"/>
                  <a:ea typeface="Microsoft YaHei"/>
                </a:rPr>
                <a:t>阿糖胞苷</a:t>
              </a:r>
            </a:p>
          </p:txBody>
        </p:sp>
      </p:grpSp>
    </p:spTree>
    <p:extLst>
      <p:ext uri="{BB962C8B-B14F-4D97-AF65-F5344CB8AC3E}">
        <p14:creationId xmlns:p14="http://schemas.microsoft.com/office/powerpoint/2010/main" val="2707615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 name="表格 56"/>
          <p:cNvGraphicFramePr>
            <a:graphicFrameLocks noGrp="1"/>
          </p:cNvGraphicFramePr>
          <p:nvPr/>
        </p:nvGraphicFramePr>
        <p:xfrm>
          <a:off x="718200" y="3219548"/>
          <a:ext cx="7707600" cy="2652960"/>
        </p:xfrm>
        <a:graphic>
          <a:graphicData uri="http://schemas.openxmlformats.org/drawingml/2006/table">
            <a:tbl>
              <a:tblPr>
                <a:tableStyleId>{5C22544A-7EE6-4342-B048-85BDC9FD1C3A}</a:tableStyleId>
              </a:tblPr>
              <a:tblGrid>
                <a:gridCol w="518400">
                  <a:extLst>
                    <a:ext uri="{9D8B030D-6E8A-4147-A177-3AD203B41FA5}">
                      <a16:colId xmlns:a16="http://schemas.microsoft.com/office/drawing/2014/main" xmlns="" val="20002"/>
                    </a:ext>
                  </a:extLst>
                </a:gridCol>
                <a:gridCol w="1242000">
                  <a:extLst>
                    <a:ext uri="{9D8B030D-6E8A-4147-A177-3AD203B41FA5}">
                      <a16:colId xmlns:a16="http://schemas.microsoft.com/office/drawing/2014/main" xmlns="" val="20000"/>
                    </a:ext>
                  </a:extLst>
                </a:gridCol>
                <a:gridCol w="3283200">
                  <a:extLst>
                    <a:ext uri="{9D8B030D-6E8A-4147-A177-3AD203B41FA5}">
                      <a16:colId xmlns:a16="http://schemas.microsoft.com/office/drawing/2014/main" xmlns="" val="20001"/>
                    </a:ext>
                  </a:extLst>
                </a:gridCol>
                <a:gridCol w="2664000">
                  <a:extLst>
                    <a:ext uri="{9D8B030D-6E8A-4147-A177-3AD203B41FA5}">
                      <a16:colId xmlns:a16="http://schemas.microsoft.com/office/drawing/2014/main" xmlns="" val="20003"/>
                    </a:ext>
                  </a:extLst>
                </a:gridCol>
              </a:tblGrid>
              <a:tr h="277315">
                <a:tc>
                  <a:txBody>
                    <a:bodyPr/>
                    <a:lstStyle/>
                    <a:p>
                      <a:pPr algn="ctr" fontAlgn="b"/>
                      <a:r>
                        <a:rPr lang="zh-CN" altLang="en-US" sz="1200" b="1" i="0" u="none" strike="noStrike" dirty="0">
                          <a:solidFill>
                            <a:schemeClr val="tx1"/>
                          </a:solidFill>
                          <a:effectLst/>
                          <a:latin typeface="+mn-ea"/>
                          <a:ea typeface="+mn-ea"/>
                          <a:cs typeface="+mn-ea"/>
                          <a:sym typeface="+mn-lt"/>
                        </a:rPr>
                        <a:t>分级</a:t>
                      </a:r>
                      <a:endParaRPr lang="en-US" altLang="zh-CN" sz="1200" b="1" i="0" u="none" strike="noStrike" dirty="0">
                        <a:solidFill>
                          <a:schemeClr val="tx1"/>
                        </a:solidFill>
                        <a:effectLst/>
                        <a:latin typeface="+mn-ea"/>
                        <a:ea typeface="+mn-ea"/>
                        <a:cs typeface="+mn-ea"/>
                        <a:sym typeface="+mn-lt"/>
                      </a:endParaRPr>
                    </a:p>
                  </a:txBody>
                  <a:tcPr marL="90000" marR="90000" marT="46800" marB="46800" anchor="ctr">
                    <a:lnL w="12700" cap="flat" cmpd="sng" algn="ctr">
                      <a:noFill/>
                      <a:prstDash val="solid"/>
                      <a:round/>
                      <a:headEnd type="none" w="med" len="med"/>
                      <a:tailEnd type="none" w="med" len="med"/>
                    </a:lnL>
                    <a:lnB w="12700" cmpd="sng">
                      <a:noFill/>
                    </a:lnB>
                    <a:solidFill>
                      <a:schemeClr val="bg1">
                        <a:lumMod val="85000"/>
                      </a:schemeClr>
                    </a:solidFill>
                  </a:tcPr>
                </a:tc>
                <a:tc>
                  <a:txBody>
                    <a:bodyPr/>
                    <a:lstStyle/>
                    <a:p>
                      <a:pPr algn="ctr" fontAlgn="b"/>
                      <a:endParaRPr lang="en-US" altLang="zh-CN" sz="1200" b="1" i="0" u="none" strike="noStrike" dirty="0">
                        <a:solidFill>
                          <a:schemeClr val="bg1"/>
                        </a:solidFill>
                        <a:effectLst/>
                        <a:latin typeface="+mn-ea"/>
                        <a:ea typeface="+mn-ea"/>
                        <a:cs typeface="+mn-ea"/>
                        <a:sym typeface="+mn-lt"/>
                      </a:endParaRPr>
                    </a:p>
                  </a:txBody>
                  <a:tcPr marL="90000" marR="90000" marT="46800" marB="46800" anchor="ctr">
                    <a:lnB w="12700" cmpd="sng">
                      <a:noFill/>
                    </a:lnB>
                    <a:solidFill>
                      <a:schemeClr val="bg1">
                        <a:lumMod val="85000"/>
                      </a:schemeClr>
                    </a:solidFill>
                  </a:tcPr>
                </a:tc>
                <a:tc>
                  <a:txBody>
                    <a:bodyPr/>
                    <a:lstStyle/>
                    <a:p>
                      <a:pPr algn="ctr" fontAlgn="b"/>
                      <a:r>
                        <a:rPr lang="en-US" sz="1200" b="1" i="0" u="none" strike="noStrike" dirty="0">
                          <a:solidFill>
                            <a:schemeClr val="bg1"/>
                          </a:solidFill>
                          <a:effectLst/>
                          <a:latin typeface="+mn-ea"/>
                          <a:ea typeface="+mn-ea"/>
                          <a:cs typeface="+mn-ea"/>
                          <a:sym typeface="+mn-lt"/>
                        </a:rPr>
                        <a:t>NCI CTCAE</a:t>
                      </a:r>
                      <a:r>
                        <a:rPr lang="en-US" sz="1200" b="1" i="0" u="none" strike="noStrike" baseline="30000" dirty="0">
                          <a:solidFill>
                            <a:schemeClr val="bg1"/>
                          </a:solidFill>
                          <a:effectLst/>
                          <a:latin typeface="+mn-ea"/>
                          <a:ea typeface="+mn-ea"/>
                          <a:cs typeface="+mn-ea"/>
                          <a:sym typeface="+mn-lt"/>
                        </a:rPr>
                        <a:t>6,7</a:t>
                      </a:r>
                      <a:endParaRPr lang="en-US" sz="1200" b="1" i="0" u="none" strike="noStrike" dirty="0">
                        <a:solidFill>
                          <a:schemeClr val="bg1"/>
                        </a:solidFill>
                        <a:effectLst/>
                        <a:latin typeface="+mn-ea"/>
                        <a:ea typeface="+mn-ea"/>
                        <a:cs typeface="+mn-ea"/>
                        <a:sym typeface="+mn-lt"/>
                      </a:endParaRPr>
                    </a:p>
                  </a:txBody>
                  <a:tcPr marL="90000" marR="90000" marT="46800" marB="46800" anchor="ctr">
                    <a:lnB w="12700" cmpd="sng">
                      <a:noFill/>
                    </a:lnB>
                    <a:solidFill>
                      <a:srgbClr val="108638"/>
                    </a:solidFill>
                  </a:tcPr>
                </a:tc>
                <a:tc>
                  <a:txBody>
                    <a:bodyPr/>
                    <a:lstStyle/>
                    <a:p>
                      <a:pPr algn="ctr" fontAlgn="b"/>
                      <a:r>
                        <a:rPr lang="en-US" sz="1200" b="1" i="0" u="none" strike="noStrike" dirty="0">
                          <a:solidFill>
                            <a:schemeClr val="bg1"/>
                          </a:solidFill>
                          <a:effectLst/>
                          <a:latin typeface="+mn-ea"/>
                          <a:ea typeface="+mn-ea"/>
                          <a:cs typeface="+mn-ea"/>
                          <a:sym typeface="+mn-lt"/>
                        </a:rPr>
                        <a:t>WHO</a:t>
                      </a:r>
                      <a:r>
                        <a:rPr lang="en-US" sz="1200" b="1" i="0" u="none" strike="noStrike" baseline="30000" dirty="0">
                          <a:solidFill>
                            <a:schemeClr val="bg1"/>
                          </a:solidFill>
                          <a:effectLst/>
                          <a:latin typeface="+mn-ea"/>
                          <a:ea typeface="+mn-ea"/>
                          <a:cs typeface="+mn-ea"/>
                          <a:sym typeface="+mn-lt"/>
                        </a:rPr>
                        <a:t>7</a:t>
                      </a:r>
                      <a:endParaRPr lang="en-US" sz="1200" b="1" i="0" u="none" strike="noStrike" dirty="0">
                        <a:solidFill>
                          <a:schemeClr val="bg1"/>
                        </a:solidFill>
                        <a:effectLst/>
                        <a:latin typeface="+mn-ea"/>
                        <a:ea typeface="+mn-ea"/>
                        <a:cs typeface="+mn-ea"/>
                        <a:sym typeface="+mn-lt"/>
                      </a:endParaRPr>
                    </a:p>
                  </a:txBody>
                  <a:tcPr marL="90000" marR="90000" marT="46800" marB="46800" anchor="ctr">
                    <a:lnR w="12700" cap="flat" cmpd="sng" algn="ctr">
                      <a:noFill/>
                      <a:prstDash val="solid"/>
                      <a:round/>
                      <a:headEnd type="none" w="med" len="med"/>
                      <a:tailEnd type="none" w="med" len="med"/>
                    </a:lnR>
                    <a:lnB w="12700" cmpd="sng">
                      <a:noFill/>
                    </a:lnB>
                    <a:solidFill>
                      <a:srgbClr val="7FB1E0"/>
                    </a:solidFill>
                  </a:tcPr>
                </a:tc>
                <a:extLst>
                  <a:ext uri="{0D108BD9-81ED-4DB2-BD59-A6C34878D82A}">
                    <a16:rowId xmlns:a16="http://schemas.microsoft.com/office/drawing/2014/main" xmlns="" val="10003"/>
                  </a:ext>
                </a:extLst>
              </a:tr>
              <a:tr h="686065">
                <a:tc>
                  <a:txBody>
                    <a:bodyPr/>
                    <a:lstStyle/>
                    <a:p>
                      <a:pPr algn="ctr" fontAlgn="b">
                        <a:lnSpc>
                          <a:spcPct val="120000"/>
                        </a:lnSpc>
                      </a:pPr>
                      <a:r>
                        <a:rPr lang="en-US" altLang="zh-CN" sz="1050" b="1" u="none" strike="noStrike" dirty="0">
                          <a:effectLst/>
                          <a:latin typeface="+mn-ea"/>
                          <a:ea typeface="+mn-ea"/>
                          <a:cs typeface="+mn-ea"/>
                          <a:sym typeface="+mn-lt"/>
                        </a:rPr>
                        <a:t>1</a:t>
                      </a: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12700" cmpd="sng">
                      <a:noFill/>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9F9F9"/>
                    </a:solidFill>
                  </a:tcPr>
                </a:tc>
                <a:tc>
                  <a:txBody>
                    <a:bodyPr/>
                    <a:lstStyle/>
                    <a:p>
                      <a:pPr algn="ctr" fontAlgn="b">
                        <a:lnSpc>
                          <a:spcPct val="120000"/>
                        </a:lnSpc>
                      </a:pP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9F9F9"/>
                    </a:solidFill>
                  </a:tcPr>
                </a:tc>
                <a:tc>
                  <a:txBody>
                    <a:bodyPr/>
                    <a:lstStyle/>
                    <a:p>
                      <a:pPr algn="just" fontAlgn="b">
                        <a:lnSpc>
                          <a:spcPct val="120000"/>
                        </a:lnSpc>
                      </a:pPr>
                      <a:r>
                        <a:rPr lang="zh-CN" altLang="en-US" sz="1050" b="0" u="none" strike="noStrike" dirty="0">
                          <a:effectLst/>
                          <a:latin typeface="+mn-ea"/>
                          <a:ea typeface="+mn-ea"/>
                          <a:cs typeface="+mn-ea"/>
                          <a:sym typeface="+mn-lt"/>
                        </a:rPr>
                        <a:t>极其轻微的</a:t>
                      </a:r>
                      <a:r>
                        <a:rPr lang="zh-CN" altLang="en-US" sz="1050" b="1" u="none" strike="noStrike" dirty="0">
                          <a:effectLst/>
                          <a:latin typeface="+mn-ea"/>
                          <a:ea typeface="+mn-ea"/>
                          <a:cs typeface="+mn-ea"/>
                          <a:sym typeface="+mn-lt"/>
                        </a:rPr>
                        <a:t>无痛性</a:t>
                      </a:r>
                      <a:r>
                        <a:rPr lang="zh-CN" altLang="en-US" sz="1050" b="0" u="none" strike="noStrike" dirty="0">
                          <a:effectLst/>
                          <a:latin typeface="+mn-ea"/>
                          <a:ea typeface="+mn-ea"/>
                          <a:cs typeface="+mn-ea"/>
                          <a:sym typeface="+mn-lt"/>
                        </a:rPr>
                        <a:t>皮肤改变或皮炎（如：红斑、水肿或角化过度</a:t>
                      </a:r>
                      <a:r>
                        <a:rPr lang="zh-CN" altLang="en-US" sz="1050" b="0" u="none" strike="noStrike" baseline="0" dirty="0">
                          <a:effectLst/>
                          <a:latin typeface="+mn-ea"/>
                          <a:ea typeface="+mn-ea"/>
                          <a:cs typeface="+mn-ea"/>
                          <a:sym typeface="+mn-lt"/>
                        </a:rPr>
                        <a:t>）</a:t>
                      </a:r>
                      <a:r>
                        <a:rPr lang="en-US" altLang="zh-CN" sz="1050" b="0" u="none" strike="noStrike" baseline="30000" dirty="0">
                          <a:effectLst/>
                          <a:latin typeface="+mn-ea"/>
                          <a:ea typeface="+mn-ea"/>
                          <a:cs typeface="+mn-ea"/>
                          <a:sym typeface="+mn-lt"/>
                        </a:rPr>
                        <a:t>6</a:t>
                      </a:r>
                      <a:r>
                        <a:rPr lang="zh-CN" altLang="en-US" sz="1050" b="0" u="none" strike="noStrike" baseline="0" dirty="0">
                          <a:effectLst/>
                          <a:latin typeface="+mn-ea"/>
                          <a:ea typeface="+mn-ea"/>
                          <a:cs typeface="+mn-ea"/>
                          <a:sym typeface="+mn-lt"/>
                        </a:rPr>
                        <a:t>，</a:t>
                      </a:r>
                      <a:r>
                        <a:rPr lang="zh-CN" altLang="en-US" sz="1050" b="0" u="none" strike="noStrike" dirty="0">
                          <a:effectLst/>
                          <a:latin typeface="+mn-ea"/>
                          <a:ea typeface="+mn-ea"/>
                          <a:cs typeface="+mn-ea"/>
                          <a:sym typeface="+mn-lt"/>
                        </a:rPr>
                        <a:t>伴感觉异常（如麻木感、针刺感、烧灼感），但</a:t>
                      </a:r>
                      <a:r>
                        <a:rPr lang="zh-CN" altLang="en-US" sz="1050" b="1" u="none" strike="noStrike" dirty="0">
                          <a:effectLst/>
                          <a:latin typeface="+mn-ea"/>
                          <a:ea typeface="+mn-ea"/>
                          <a:cs typeface="+mn-ea"/>
                          <a:sym typeface="+mn-lt"/>
                        </a:rPr>
                        <a:t>不影响日常活动</a:t>
                      </a:r>
                      <a:r>
                        <a:rPr lang="en-US" altLang="zh-CN" sz="1050" b="0" u="none" strike="noStrike" baseline="30000" dirty="0">
                          <a:effectLst/>
                          <a:latin typeface="+mn-ea"/>
                          <a:ea typeface="+mn-ea"/>
                          <a:cs typeface="+mn-ea"/>
                          <a:sym typeface="+mn-lt"/>
                        </a:rPr>
                        <a:t>7</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8F3E1"/>
                    </a:solidFill>
                  </a:tcPr>
                </a:tc>
                <a:tc>
                  <a:txBody>
                    <a:bodyPr/>
                    <a:lstStyle/>
                    <a:p>
                      <a:pPr algn="l" fontAlgn="b">
                        <a:lnSpc>
                          <a:spcPct val="120000"/>
                        </a:lnSpc>
                      </a:pPr>
                      <a:r>
                        <a:rPr lang="zh-CN" altLang="en-US" sz="1050" b="0" i="0" u="none" strike="noStrike" dirty="0">
                          <a:solidFill>
                            <a:srgbClr val="000000"/>
                          </a:solidFill>
                          <a:effectLst/>
                          <a:latin typeface="+mn-ea"/>
                          <a:ea typeface="+mn-ea"/>
                          <a:cs typeface="+mn-ea"/>
                          <a:sym typeface="+mn-lt"/>
                        </a:rPr>
                        <a:t>感觉迟钝</a:t>
                      </a:r>
                      <a:r>
                        <a:rPr lang="en-US" altLang="zh-CN" sz="1050" b="0" i="0" u="none" strike="noStrike" dirty="0">
                          <a:solidFill>
                            <a:srgbClr val="000000"/>
                          </a:solidFill>
                          <a:effectLst/>
                          <a:latin typeface="+mn-ea"/>
                          <a:ea typeface="+mn-ea"/>
                          <a:cs typeface="+mn-ea"/>
                          <a:sym typeface="+mn-lt"/>
                        </a:rPr>
                        <a:t>/</a:t>
                      </a:r>
                      <a:r>
                        <a:rPr lang="zh-CN" altLang="en-US" sz="1050" b="0" i="0" u="none" strike="noStrike" dirty="0">
                          <a:solidFill>
                            <a:srgbClr val="000000"/>
                          </a:solidFill>
                          <a:effectLst/>
                          <a:latin typeface="+mn-ea"/>
                          <a:ea typeface="+mn-ea"/>
                          <a:cs typeface="+mn-ea"/>
                          <a:sym typeface="+mn-lt"/>
                        </a:rPr>
                        <a:t>感觉异常；手足麻刺感；</a:t>
                      </a:r>
                      <a:r>
                        <a:rPr lang="zh-CN" altLang="en-US" sz="1050" b="1" i="0" u="none" strike="noStrike" dirty="0">
                          <a:solidFill>
                            <a:srgbClr val="000000"/>
                          </a:solidFill>
                          <a:effectLst/>
                          <a:latin typeface="+mn-ea"/>
                          <a:ea typeface="+mn-ea"/>
                          <a:cs typeface="+mn-ea"/>
                          <a:sym typeface="+mn-lt"/>
                        </a:rPr>
                        <a:t>无痛性</a:t>
                      </a:r>
                      <a:r>
                        <a:rPr lang="zh-CN" altLang="en-US" sz="1050" b="0" i="0" u="none" strike="noStrike" dirty="0">
                          <a:solidFill>
                            <a:srgbClr val="000000"/>
                          </a:solidFill>
                          <a:effectLst/>
                          <a:latin typeface="+mn-ea"/>
                          <a:ea typeface="+mn-ea"/>
                          <a:cs typeface="+mn-ea"/>
                          <a:sym typeface="+mn-lt"/>
                        </a:rPr>
                        <a:t>肿胀或红斑</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BF5FF"/>
                    </a:solidFill>
                  </a:tcPr>
                </a:tc>
                <a:extLst>
                  <a:ext uri="{0D108BD9-81ED-4DB2-BD59-A6C34878D82A}">
                    <a16:rowId xmlns:a16="http://schemas.microsoft.com/office/drawing/2014/main" xmlns="" val="10000"/>
                  </a:ext>
                </a:extLst>
              </a:tr>
              <a:tr h="686065">
                <a:tc>
                  <a:txBody>
                    <a:bodyPr/>
                    <a:lstStyle/>
                    <a:p>
                      <a:pPr algn="ctr" fontAlgn="b">
                        <a:lnSpc>
                          <a:spcPct val="120000"/>
                        </a:lnSpc>
                      </a:pPr>
                      <a:r>
                        <a:rPr lang="en-US" altLang="zh-CN" sz="1050" b="1" u="none" strike="noStrike" dirty="0">
                          <a:effectLst/>
                          <a:latin typeface="+mn-ea"/>
                          <a:ea typeface="+mn-ea"/>
                          <a:cs typeface="+mn-ea"/>
                          <a:sym typeface="+mn-lt"/>
                        </a:rPr>
                        <a:t>2</a:t>
                      </a: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12700" cmpd="sng">
                      <a:noFill/>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fontAlgn="b">
                        <a:lnSpc>
                          <a:spcPct val="120000"/>
                        </a:lnSpc>
                      </a:pP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just" fontAlgn="b">
                        <a:lnSpc>
                          <a:spcPct val="120000"/>
                        </a:lnSpc>
                      </a:pPr>
                      <a:r>
                        <a:rPr lang="zh-CN" altLang="en-US" sz="1050" b="1" u="none" strike="noStrike" dirty="0">
                          <a:effectLst/>
                          <a:latin typeface="+mn-ea"/>
                          <a:ea typeface="+mn-ea"/>
                          <a:cs typeface="+mn-ea"/>
                          <a:sym typeface="+mn-lt"/>
                        </a:rPr>
                        <a:t>伴有疼痛</a:t>
                      </a:r>
                      <a:r>
                        <a:rPr lang="zh-CN" altLang="en-US" sz="1050" b="0" u="none" strike="noStrike" dirty="0">
                          <a:effectLst/>
                          <a:latin typeface="+mn-ea"/>
                          <a:ea typeface="+mn-ea"/>
                          <a:cs typeface="+mn-ea"/>
                          <a:sym typeface="+mn-lt"/>
                        </a:rPr>
                        <a:t>的皮肤改变</a:t>
                      </a:r>
                      <a:r>
                        <a:rPr lang="zh-CN" altLang="en-US" sz="1050" b="0" u="none" strike="noStrike" baseline="0" dirty="0">
                          <a:effectLst/>
                          <a:latin typeface="+mn-ea"/>
                          <a:ea typeface="+mn-ea"/>
                          <a:cs typeface="+mn-ea"/>
                          <a:sym typeface="+mn-lt"/>
                        </a:rPr>
                        <a:t>（如</a:t>
                      </a:r>
                      <a:r>
                        <a:rPr lang="zh-CN" altLang="en-US" sz="1050" b="0" dirty="0">
                          <a:solidFill>
                            <a:srgbClr val="000000"/>
                          </a:solidFill>
                          <a:latin typeface="+mn-ea"/>
                          <a:ea typeface="+mn-ea"/>
                          <a:cs typeface="+mn-ea"/>
                          <a:sym typeface="+mn-lt"/>
                        </a:rPr>
                        <a:t>脱屑、水疱、出血、皲裂、水肿或角化过度</a:t>
                      </a:r>
                      <a:r>
                        <a:rPr lang="zh-CN" altLang="en-US" sz="1050" b="0" u="none" strike="noStrike" baseline="0" dirty="0">
                          <a:effectLst/>
                          <a:latin typeface="+mn-ea"/>
                          <a:ea typeface="+mn-ea"/>
                          <a:cs typeface="+mn-ea"/>
                          <a:sym typeface="+mn-lt"/>
                        </a:rPr>
                        <a:t>）</a:t>
                      </a:r>
                      <a:r>
                        <a:rPr lang="en-US" altLang="zh-CN" sz="1050" b="0" u="none" strike="noStrike" baseline="30000" dirty="0">
                          <a:effectLst/>
                          <a:latin typeface="+mn-ea"/>
                          <a:ea typeface="+mn-ea"/>
                          <a:cs typeface="+mn-ea"/>
                          <a:sym typeface="+mn-lt"/>
                        </a:rPr>
                        <a:t>6</a:t>
                      </a:r>
                      <a:r>
                        <a:rPr lang="zh-CN" altLang="en-US" sz="1050" b="0" u="none" strike="noStrike" baseline="0" dirty="0">
                          <a:effectLst/>
                          <a:latin typeface="+mn-ea"/>
                          <a:ea typeface="+mn-ea"/>
                          <a:cs typeface="+mn-ea"/>
                          <a:sym typeface="+mn-lt"/>
                        </a:rPr>
                        <a:t>，</a:t>
                      </a:r>
                      <a:r>
                        <a:rPr lang="zh-CN" altLang="en-US" sz="1050" b="1" u="none" strike="noStrike" dirty="0">
                          <a:effectLst/>
                          <a:latin typeface="+mn-ea"/>
                          <a:ea typeface="+mn-ea"/>
                          <a:cs typeface="+mn-ea"/>
                          <a:sym typeface="+mn-lt"/>
                        </a:rPr>
                        <a:t>轻度影响日常生活</a:t>
                      </a:r>
                      <a:r>
                        <a:rPr lang="en-US" altLang="zh-CN" sz="1050" b="0" u="none" strike="noStrike" baseline="30000" dirty="0">
                          <a:effectLst/>
                          <a:latin typeface="+mn-ea"/>
                          <a:ea typeface="+mn-ea"/>
                          <a:cs typeface="+mn-ea"/>
                          <a:sym typeface="+mn-lt"/>
                        </a:rPr>
                        <a:t>7</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fontAlgn="b">
                        <a:lnSpc>
                          <a:spcPct val="120000"/>
                        </a:lnSpc>
                      </a:pPr>
                      <a:r>
                        <a:rPr lang="zh-CN" altLang="en-US" sz="1050" b="0" i="0" u="none" strike="noStrike" dirty="0">
                          <a:solidFill>
                            <a:srgbClr val="000000"/>
                          </a:solidFill>
                          <a:effectLst/>
                          <a:latin typeface="+mn-ea"/>
                          <a:ea typeface="+mn-ea"/>
                          <a:cs typeface="+mn-ea"/>
                          <a:sym typeface="+mn-lt"/>
                        </a:rPr>
                        <a:t>持物和行走时感觉不适</a:t>
                      </a:r>
                      <a:r>
                        <a:rPr lang="zh-CN" altLang="en-US" sz="1050" b="1" i="0" u="none" strike="noStrike" dirty="0">
                          <a:solidFill>
                            <a:srgbClr val="000000"/>
                          </a:solidFill>
                          <a:effectLst/>
                          <a:latin typeface="+mn-ea"/>
                          <a:ea typeface="+mn-ea"/>
                          <a:cs typeface="+mn-ea"/>
                          <a:sym typeface="+mn-lt"/>
                        </a:rPr>
                        <a:t>，呈无痛性</a:t>
                      </a:r>
                      <a:r>
                        <a:rPr lang="zh-CN" altLang="en-US" sz="1050" b="0" i="0" u="none" strike="noStrike" dirty="0">
                          <a:solidFill>
                            <a:srgbClr val="000000"/>
                          </a:solidFill>
                          <a:effectLst/>
                          <a:latin typeface="+mn-ea"/>
                          <a:ea typeface="+mn-ea"/>
                          <a:cs typeface="+mn-ea"/>
                          <a:sym typeface="+mn-lt"/>
                        </a:rPr>
                        <a:t>肿胀或红斑</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r h="686065">
                <a:tc>
                  <a:txBody>
                    <a:bodyPr/>
                    <a:lstStyle/>
                    <a:p>
                      <a:pPr algn="ctr" fontAlgn="b">
                        <a:lnSpc>
                          <a:spcPct val="120000"/>
                        </a:lnSpc>
                      </a:pPr>
                      <a:r>
                        <a:rPr lang="en-US" altLang="zh-CN" sz="1050" b="1" u="none" strike="noStrike" dirty="0">
                          <a:effectLst/>
                          <a:latin typeface="+mn-ea"/>
                          <a:ea typeface="+mn-ea"/>
                          <a:cs typeface="+mn-ea"/>
                          <a:sym typeface="+mn-lt"/>
                        </a:rPr>
                        <a:t>3</a:t>
                      </a: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12700" cmpd="sng">
                      <a:noFill/>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9F9F9"/>
                    </a:solidFill>
                  </a:tcPr>
                </a:tc>
                <a:tc>
                  <a:txBody>
                    <a:bodyPr/>
                    <a:lstStyle/>
                    <a:p>
                      <a:pPr algn="ctr" fontAlgn="b">
                        <a:lnSpc>
                          <a:spcPct val="120000"/>
                        </a:lnSpc>
                      </a:pP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9F9F9"/>
                    </a:solidFill>
                  </a:tcPr>
                </a:tc>
                <a:tc>
                  <a:txBody>
                    <a:bodyPr/>
                    <a:lstStyle/>
                    <a:p>
                      <a:pPr algn="just" fontAlgn="b">
                        <a:lnSpc>
                          <a:spcPct val="120000"/>
                        </a:lnSpc>
                      </a:pPr>
                      <a:r>
                        <a:rPr lang="zh-CN" altLang="en-US" sz="1050" b="0" u="none" strike="noStrike" dirty="0">
                          <a:effectLst/>
                          <a:latin typeface="+mn-ea"/>
                          <a:ea typeface="+mn-ea"/>
                          <a:cs typeface="+mn-ea"/>
                          <a:sym typeface="+mn-lt"/>
                        </a:rPr>
                        <a:t>溃疡性皮炎或皮肤改变伴</a:t>
                      </a:r>
                      <a:r>
                        <a:rPr lang="zh-CN" altLang="en-US" sz="1050" b="1" u="none" strike="noStrike" dirty="0">
                          <a:effectLst/>
                          <a:latin typeface="+mn-ea"/>
                          <a:ea typeface="+mn-ea"/>
                          <a:cs typeface="+mn-ea"/>
                          <a:sym typeface="+mn-lt"/>
                        </a:rPr>
                        <a:t>剧烈疼痛</a:t>
                      </a:r>
                      <a:r>
                        <a:rPr lang="zh-CN" altLang="en-US" sz="1050" u="none" strike="noStrike" dirty="0">
                          <a:effectLst/>
                          <a:latin typeface="+mn-ea"/>
                          <a:ea typeface="+mn-ea"/>
                          <a:cs typeface="+mn-ea"/>
                          <a:sym typeface="+mn-lt"/>
                        </a:rPr>
                        <a:t>，</a:t>
                      </a:r>
                      <a:r>
                        <a:rPr lang="zh-CN" altLang="en-US" sz="1050" b="0" u="none" strike="noStrike" dirty="0">
                          <a:effectLst/>
                          <a:latin typeface="+mn-ea"/>
                          <a:ea typeface="+mn-ea"/>
                          <a:cs typeface="+mn-ea"/>
                          <a:sym typeface="+mn-lt"/>
                        </a:rPr>
                        <a:t>有明显活动性组织破坏（如</a:t>
                      </a:r>
                      <a:r>
                        <a:rPr lang="zh-CN" altLang="en-US" sz="1050" b="0" dirty="0">
                          <a:solidFill>
                            <a:srgbClr val="000000"/>
                          </a:solidFill>
                          <a:latin typeface="+mn-ea"/>
                          <a:ea typeface="+mn-ea"/>
                          <a:cs typeface="+mn-ea"/>
                          <a:sym typeface="+mn-lt"/>
                        </a:rPr>
                        <a:t>脱皮、水疱、出血、皲裂、水肿或角化过度</a:t>
                      </a:r>
                      <a:r>
                        <a:rPr lang="zh-CN" altLang="en-US" sz="1050" b="0" u="none" strike="noStrike" baseline="0" dirty="0">
                          <a:effectLst/>
                          <a:latin typeface="+mn-ea"/>
                          <a:ea typeface="+mn-ea"/>
                          <a:cs typeface="+mn-ea"/>
                          <a:sym typeface="+mn-lt"/>
                        </a:rPr>
                        <a:t>），</a:t>
                      </a:r>
                      <a:r>
                        <a:rPr lang="zh-CN" altLang="en-US" sz="1050" b="1" u="none" strike="noStrike" dirty="0">
                          <a:effectLst/>
                          <a:latin typeface="+mn-ea"/>
                          <a:ea typeface="+mn-ea"/>
                          <a:cs typeface="+mn-ea"/>
                          <a:sym typeface="+mn-lt"/>
                        </a:rPr>
                        <a:t>严重影响日常生活</a:t>
                      </a:r>
                      <a:r>
                        <a:rPr lang="en-US" altLang="zh-CN" sz="1050" b="0" u="none" strike="noStrike" baseline="30000">
                          <a:effectLst/>
                          <a:latin typeface="+mn-ea"/>
                          <a:ea typeface="+mn-ea"/>
                          <a:cs typeface="+mn-ea"/>
                          <a:sym typeface="+mn-lt"/>
                        </a:rPr>
                        <a:t>6,7,8</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E8F3E1"/>
                    </a:solidFill>
                  </a:tcPr>
                </a:tc>
                <a:tc>
                  <a:txBody>
                    <a:bodyPr/>
                    <a:lstStyle/>
                    <a:p>
                      <a:pPr algn="l" fontAlgn="b">
                        <a:lnSpc>
                          <a:spcPct val="120000"/>
                        </a:lnSpc>
                      </a:pPr>
                      <a:r>
                        <a:rPr lang="zh-CN" altLang="en-US" sz="1050" b="0" i="0" u="none" strike="noStrike" dirty="0">
                          <a:solidFill>
                            <a:srgbClr val="000000"/>
                          </a:solidFill>
                          <a:effectLst/>
                          <a:latin typeface="+mn-ea"/>
                          <a:ea typeface="+mn-ea"/>
                          <a:cs typeface="+mn-ea"/>
                          <a:sym typeface="+mn-lt"/>
                        </a:rPr>
                        <a:t>手掌和足底</a:t>
                      </a:r>
                      <a:r>
                        <a:rPr lang="zh-CN" altLang="en-US" sz="1050" b="1" i="0" u="none" strike="noStrike" dirty="0">
                          <a:solidFill>
                            <a:srgbClr val="000000"/>
                          </a:solidFill>
                          <a:effectLst/>
                          <a:latin typeface="+mn-ea"/>
                          <a:ea typeface="+mn-ea"/>
                          <a:cs typeface="+mn-ea"/>
                          <a:sym typeface="+mn-lt"/>
                        </a:rPr>
                        <a:t>疼痛性</a:t>
                      </a:r>
                      <a:r>
                        <a:rPr lang="zh-CN" altLang="en-US" sz="1050" b="0" i="0" u="none" strike="noStrike" dirty="0">
                          <a:solidFill>
                            <a:srgbClr val="000000"/>
                          </a:solidFill>
                          <a:effectLst/>
                          <a:latin typeface="+mn-ea"/>
                          <a:ea typeface="+mn-ea"/>
                          <a:cs typeface="+mn-ea"/>
                          <a:sym typeface="+mn-lt"/>
                        </a:rPr>
                        <a:t>红斑和肿胀，伴甲周红斑和肿胀</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EBF5FF"/>
                    </a:solidFill>
                  </a:tcPr>
                </a:tc>
                <a:extLst>
                  <a:ext uri="{0D108BD9-81ED-4DB2-BD59-A6C34878D82A}">
                    <a16:rowId xmlns:a16="http://schemas.microsoft.com/office/drawing/2014/main" xmlns="" val="10002"/>
                  </a:ext>
                </a:extLst>
              </a:tr>
              <a:tr h="317450">
                <a:tc>
                  <a:txBody>
                    <a:bodyPr/>
                    <a:lstStyle/>
                    <a:p>
                      <a:pPr algn="ctr" fontAlgn="b">
                        <a:lnSpc>
                          <a:spcPct val="120000"/>
                        </a:lnSpc>
                      </a:pPr>
                      <a:r>
                        <a:rPr lang="en-US" altLang="zh-CN" sz="1050" b="1" i="0" u="none" strike="noStrike" dirty="0">
                          <a:solidFill>
                            <a:srgbClr val="000000"/>
                          </a:solidFill>
                          <a:effectLst/>
                          <a:latin typeface="+mn-ea"/>
                          <a:ea typeface="+mn-ea"/>
                          <a:cs typeface="+mn-ea"/>
                          <a:sym typeface="+mn-lt"/>
                        </a:rPr>
                        <a:t>4</a:t>
                      </a:r>
                    </a:p>
                  </a:txBody>
                  <a:tcPr marL="90000" marR="90000" marT="46800" marB="46800" anchor="ctr">
                    <a:lnL w="12700" cmpd="sng">
                      <a:noFill/>
                    </a:lnL>
                    <a:lnR w="6350" cap="flat" cmpd="sng" algn="ctr">
                      <a:solidFill>
                        <a:schemeClr val="bg1">
                          <a:lumMod val="65000"/>
                        </a:schemeClr>
                      </a:solidFill>
                      <a:prstDash val="lgDash"/>
                      <a:round/>
                      <a:headEnd type="none" w="med" len="med"/>
                      <a:tailEnd type="none" w="med" len="med"/>
                    </a:lnR>
                    <a:lnT w="12700" cmpd="sng">
                      <a:noFill/>
                    </a:lnT>
                    <a:lnB w="19050" cap="flat" cmpd="sng" algn="ctr">
                      <a:solidFill>
                        <a:srgbClr val="10863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lnSpc>
                          <a:spcPct val="120000"/>
                        </a:lnSpc>
                      </a:pPr>
                      <a:endParaRPr lang="en-US" altLang="zh-CN" sz="1050" b="1"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9050" cap="flat" cmpd="sng" algn="ctr">
                      <a:solidFill>
                        <a:srgbClr val="10863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lnSpc>
                          <a:spcPct val="120000"/>
                        </a:lnSpc>
                      </a:pPr>
                      <a:r>
                        <a:rPr lang="en-US" altLang="zh-CN" sz="1050" b="0" i="0" u="none" strike="noStrike" dirty="0">
                          <a:solidFill>
                            <a:srgbClr val="000000"/>
                          </a:solidFill>
                          <a:effectLst/>
                          <a:latin typeface="+mn-ea"/>
                          <a:ea typeface="+mn-ea"/>
                          <a:cs typeface="+mn-ea"/>
                          <a:sym typeface="+mn-lt"/>
                        </a:rPr>
                        <a:t>/</a:t>
                      </a:r>
                      <a:endParaRPr lang="en-US" sz="1050" b="0"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6350" cap="flat" cmpd="sng" algn="ctr">
                      <a:solidFill>
                        <a:schemeClr val="bg1">
                          <a:lumMod val="65000"/>
                        </a:schemeClr>
                      </a:solidFill>
                      <a:prstDash val="lgDash"/>
                      <a:round/>
                      <a:headEnd type="none" w="med" len="med"/>
                      <a:tailEnd type="none" w="med" len="med"/>
                    </a:lnR>
                    <a:lnT w="12700" cmpd="sng">
                      <a:noFill/>
                    </a:lnT>
                    <a:lnB w="19050" cap="flat" cmpd="sng" algn="ctr">
                      <a:solidFill>
                        <a:srgbClr val="108638"/>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lnSpc>
                          <a:spcPct val="120000"/>
                        </a:lnSpc>
                      </a:pPr>
                      <a:r>
                        <a:rPr lang="zh-CN" altLang="en-US" sz="1050" b="0" i="0" u="none" strike="noStrike" dirty="0">
                          <a:solidFill>
                            <a:srgbClr val="000000"/>
                          </a:solidFill>
                          <a:effectLst/>
                          <a:latin typeface="+mn-ea"/>
                          <a:ea typeface="+mn-ea"/>
                          <a:cs typeface="+mn-ea"/>
                          <a:sym typeface="+mn-lt"/>
                        </a:rPr>
                        <a:t>脱屑、溃疡、水泡和</a:t>
                      </a:r>
                      <a:r>
                        <a:rPr lang="zh-CN" altLang="en-US" sz="1050" b="1" i="0" u="none" strike="noStrike" dirty="0">
                          <a:solidFill>
                            <a:srgbClr val="000000"/>
                          </a:solidFill>
                          <a:effectLst/>
                          <a:latin typeface="+mn-ea"/>
                          <a:ea typeface="+mn-ea"/>
                          <a:cs typeface="+mn-ea"/>
                          <a:sym typeface="+mn-lt"/>
                        </a:rPr>
                        <a:t>剧烈疼痛</a:t>
                      </a:r>
                      <a:endParaRPr lang="en-US" sz="1050" b="1" i="0" u="none" strike="noStrike" dirty="0">
                        <a:solidFill>
                          <a:srgbClr val="000000"/>
                        </a:solidFill>
                        <a:effectLst/>
                        <a:latin typeface="+mn-ea"/>
                        <a:ea typeface="+mn-ea"/>
                        <a:cs typeface="+mn-ea"/>
                        <a:sym typeface="+mn-lt"/>
                      </a:endParaRPr>
                    </a:p>
                  </a:txBody>
                  <a:tcPr marL="90000" marR="90000" marT="46800" marB="46800" anchor="ctr">
                    <a:lnL w="6350" cap="flat" cmpd="sng" algn="ctr">
                      <a:solidFill>
                        <a:schemeClr val="bg1">
                          <a:lumMod val="65000"/>
                        </a:schemeClr>
                      </a:solidFill>
                      <a:prstDash val="lgDash"/>
                      <a:round/>
                      <a:headEnd type="none" w="med" len="med"/>
                      <a:tailEnd type="none" w="med" len="med"/>
                    </a:lnL>
                    <a:lnR w="12700" cmpd="sng">
                      <a:noFill/>
                    </a:lnR>
                    <a:lnT w="12700" cmpd="sng">
                      <a:noFill/>
                    </a:lnT>
                    <a:lnB w="19050" cap="flat" cmpd="sng" algn="ctr">
                      <a:solidFill>
                        <a:srgbClr val="108638"/>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4"/>
                  </a:ext>
                </a:extLst>
              </a:tr>
            </a:tbl>
          </a:graphicData>
        </a:graphic>
      </p:graphicFrame>
      <p:pic>
        <p:nvPicPr>
          <p:cNvPr id="5" name="图片 4"/>
          <p:cNvPicPr>
            <a:picLocks noChangeAspect="1"/>
          </p:cNvPicPr>
          <p:nvPr/>
        </p:nvPicPr>
        <p:blipFill>
          <a:blip r:embed="rId3"/>
          <a:stretch>
            <a:fillRect/>
          </a:stretch>
        </p:blipFill>
        <p:spPr>
          <a:xfrm>
            <a:off x="1297250" y="2586786"/>
            <a:ext cx="4212701" cy="2871465"/>
          </a:xfrm>
          <a:prstGeom prst="rect">
            <a:avLst/>
          </a:prstGeom>
        </p:spPr>
      </p:pic>
      <p:pic>
        <p:nvPicPr>
          <p:cNvPr id="3" name="图片 2"/>
          <p:cNvPicPr>
            <a:picLocks noChangeAspect="1"/>
          </p:cNvPicPr>
          <p:nvPr/>
        </p:nvPicPr>
        <p:blipFill>
          <a:blip r:embed="rId4"/>
          <a:stretch>
            <a:fillRect/>
          </a:stretch>
        </p:blipFill>
        <p:spPr>
          <a:xfrm>
            <a:off x="536100" y="1231687"/>
            <a:ext cx="8071804" cy="804742"/>
          </a:xfrm>
          <a:prstGeom prst="rect">
            <a:avLst/>
          </a:prstGeom>
        </p:spPr>
      </p:pic>
      <p:sp>
        <p:nvSpPr>
          <p:cNvPr id="2" name="标题 1"/>
          <p:cNvSpPr>
            <a:spLocks noGrp="1"/>
          </p:cNvSpPr>
          <p:nvPr>
            <p:ph type="title"/>
          </p:nvPr>
        </p:nvSpPr>
        <p:spPr/>
        <p:txBody>
          <a:bodyPr>
            <a:normAutofit/>
          </a:bodyPr>
          <a:lstStyle/>
          <a:p>
            <a:r>
              <a:rPr lang="en-US" altLang="zh-CN" dirty="0">
                <a:latin typeface="+mn-lt"/>
                <a:ea typeface="+mn-ea"/>
                <a:cs typeface="+mn-ea"/>
                <a:sym typeface="+mn-lt"/>
              </a:rPr>
              <a:t>HFS</a:t>
            </a:r>
            <a:r>
              <a:rPr lang="zh-CN" altLang="en-US" dirty="0">
                <a:latin typeface="+mn-lt"/>
                <a:ea typeface="+mn-ea"/>
                <a:cs typeface="+mn-ea"/>
                <a:sym typeface="+mn-lt"/>
              </a:rPr>
              <a:t>临床表现及分级</a:t>
            </a:r>
          </a:p>
        </p:txBody>
      </p:sp>
      <p:sp>
        <p:nvSpPr>
          <p:cNvPr id="7" name="矩形 6"/>
          <p:cNvSpPr/>
          <p:nvPr/>
        </p:nvSpPr>
        <p:spPr>
          <a:xfrm>
            <a:off x="680561" y="2682017"/>
            <a:ext cx="7784630" cy="535531"/>
          </a:xfrm>
          <a:prstGeom prst="rect">
            <a:avLst/>
          </a:prstGeom>
        </p:spPr>
        <p:txBody>
          <a:bodyPr wrap="square">
            <a:spAutoFit/>
          </a:bodyPr>
          <a:lstStyle/>
          <a:p>
            <a:pPr marL="171450" indent="-171450" algn="just">
              <a:lnSpc>
                <a:spcPct val="120000"/>
              </a:lnSpc>
              <a:buFont typeface="Arial" panose="020B0604020202020204" pitchFamily="34" charset="0"/>
              <a:buChar char="•"/>
            </a:pPr>
            <a:r>
              <a:rPr lang="zh-CN" altLang="en-US" sz="1200" dirty="0">
                <a:solidFill>
                  <a:prstClr val="black"/>
                </a:solidFill>
                <a:latin typeface="微软雅黑"/>
                <a:ea typeface="微软雅黑"/>
              </a:rPr>
              <a:t>临床中对</a:t>
            </a:r>
            <a:r>
              <a:rPr lang="en-US" altLang="zh-CN" sz="1200" dirty="0">
                <a:solidFill>
                  <a:prstClr val="black"/>
                </a:solidFill>
                <a:latin typeface="微软雅黑"/>
                <a:ea typeface="微软雅黑"/>
              </a:rPr>
              <a:t>HFS</a:t>
            </a:r>
            <a:r>
              <a:rPr lang="zh-CN" altLang="en-US" sz="1200" dirty="0">
                <a:solidFill>
                  <a:prstClr val="black"/>
                </a:solidFill>
                <a:latin typeface="微软雅黑"/>
                <a:ea typeface="微软雅黑"/>
              </a:rPr>
              <a:t>有多种分级方法，目前应用最多的是美国国家癌症研究所</a:t>
            </a:r>
            <a:r>
              <a:rPr lang="zh-CN" altLang="en-US" sz="1200" b="1" dirty="0">
                <a:solidFill>
                  <a:prstClr val="black"/>
                </a:solidFill>
                <a:latin typeface="微软雅黑"/>
                <a:ea typeface="微软雅黑"/>
              </a:rPr>
              <a:t>（</a:t>
            </a:r>
            <a:r>
              <a:rPr lang="en-US" altLang="zh-CN" sz="1200" b="1" dirty="0" err="1">
                <a:solidFill>
                  <a:prstClr val="black"/>
                </a:solidFill>
                <a:latin typeface="微软雅黑"/>
                <a:ea typeface="微软雅黑"/>
              </a:rPr>
              <a:t>NCl</a:t>
            </a:r>
            <a:r>
              <a:rPr lang="zh-CN" altLang="en-US" sz="1200" b="1" dirty="0">
                <a:solidFill>
                  <a:prstClr val="black"/>
                </a:solidFill>
                <a:latin typeface="微软雅黑"/>
                <a:ea typeface="微软雅黑"/>
              </a:rPr>
              <a:t>）的三级分类标准</a:t>
            </a:r>
            <a:r>
              <a:rPr lang="zh-CN" altLang="en-US" sz="1200" dirty="0">
                <a:solidFill>
                  <a:prstClr val="black"/>
                </a:solidFill>
                <a:latin typeface="微软雅黑"/>
                <a:ea typeface="微软雅黑"/>
              </a:rPr>
              <a:t>和世界卫生组织</a:t>
            </a:r>
            <a:r>
              <a:rPr lang="zh-CN" altLang="en-US" sz="1200" b="1" dirty="0">
                <a:solidFill>
                  <a:prstClr val="black"/>
                </a:solidFill>
                <a:latin typeface="微软雅黑"/>
                <a:ea typeface="微软雅黑"/>
              </a:rPr>
              <a:t>（</a:t>
            </a:r>
            <a:r>
              <a:rPr lang="en-US" altLang="zh-CN" sz="1200" b="1" dirty="0">
                <a:solidFill>
                  <a:prstClr val="black"/>
                </a:solidFill>
                <a:latin typeface="微软雅黑"/>
                <a:ea typeface="微软雅黑"/>
              </a:rPr>
              <a:t>WHO</a:t>
            </a:r>
            <a:r>
              <a:rPr lang="zh-CN" altLang="en-US" sz="1200" b="1" dirty="0">
                <a:solidFill>
                  <a:prstClr val="black"/>
                </a:solidFill>
                <a:latin typeface="微软雅黑"/>
                <a:ea typeface="微软雅黑"/>
              </a:rPr>
              <a:t>）的四级分类标准</a:t>
            </a:r>
            <a:r>
              <a:rPr lang="en-US" altLang="zh-CN" sz="1200" baseline="30000" dirty="0">
                <a:solidFill>
                  <a:prstClr val="black"/>
                </a:solidFill>
                <a:latin typeface="微软雅黑"/>
                <a:ea typeface="微软雅黑"/>
              </a:rPr>
              <a:t>5</a:t>
            </a:r>
            <a:endParaRPr lang="zh-CN" altLang="en-US" sz="1200" dirty="0">
              <a:solidFill>
                <a:prstClr val="black"/>
              </a:solidFill>
              <a:latin typeface="微软雅黑"/>
              <a:ea typeface="微软雅黑"/>
            </a:endParaRPr>
          </a:p>
        </p:txBody>
      </p:sp>
      <p:sp>
        <p:nvSpPr>
          <p:cNvPr id="65" name="矩形 64"/>
          <p:cNvSpPr/>
          <p:nvPr/>
        </p:nvSpPr>
        <p:spPr>
          <a:xfrm>
            <a:off x="4018002" y="2170986"/>
            <a:ext cx="1107996" cy="369332"/>
          </a:xfrm>
          <a:prstGeom prst="rect">
            <a:avLst/>
          </a:prstGeom>
          <a:effectLst/>
        </p:spPr>
        <p:txBody>
          <a:bodyPr wrap="none" anchor="ctr">
            <a:noAutofit/>
          </a:bodyPr>
          <a:lstStyle/>
          <a:p>
            <a:pPr algn="ctr"/>
            <a:r>
              <a:rPr lang="zh-CN" altLang="en-US" b="1" dirty="0">
                <a:solidFill>
                  <a:prstClr val="black"/>
                </a:solidFill>
                <a:latin typeface="微软雅黑"/>
                <a:ea typeface="微软雅黑"/>
                <a:cs typeface="+mn-ea"/>
                <a:sym typeface="+mn-lt"/>
              </a:rPr>
              <a:t>分级方法</a:t>
            </a:r>
            <a:endParaRPr lang="en-US" altLang="zh-CN" b="1" dirty="0">
              <a:solidFill>
                <a:prstClr val="black"/>
              </a:solidFill>
              <a:latin typeface="微软雅黑"/>
              <a:ea typeface="微软雅黑"/>
              <a:cs typeface="+mn-ea"/>
              <a:sym typeface="+mn-lt"/>
            </a:endParaRPr>
          </a:p>
        </p:txBody>
      </p:sp>
      <p:sp>
        <p:nvSpPr>
          <p:cNvPr id="43" name="矩形 42"/>
          <p:cNvSpPr/>
          <p:nvPr/>
        </p:nvSpPr>
        <p:spPr>
          <a:xfrm>
            <a:off x="718200" y="5883480"/>
            <a:ext cx="1877437" cy="230832"/>
          </a:xfrm>
          <a:prstGeom prst="rect">
            <a:avLst/>
          </a:prstGeom>
        </p:spPr>
        <p:txBody>
          <a:bodyPr wrap="none">
            <a:spAutoFit/>
          </a:bodyPr>
          <a:lstStyle/>
          <a:p>
            <a:r>
              <a:rPr lang="en-US" altLang="zh-CN" sz="900" dirty="0">
                <a:solidFill>
                  <a:prstClr val="black"/>
                </a:solidFill>
                <a:latin typeface="微软雅黑"/>
                <a:ea typeface="微软雅黑"/>
              </a:rPr>
              <a:t>CTCAE</a:t>
            </a:r>
            <a:r>
              <a:rPr lang="zh-CN" altLang="en-US" sz="900" dirty="0">
                <a:solidFill>
                  <a:prstClr val="black"/>
                </a:solidFill>
                <a:latin typeface="微软雅黑"/>
                <a:ea typeface="微软雅黑"/>
              </a:rPr>
              <a:t>：不良事件通用术语标准 </a:t>
            </a:r>
          </a:p>
        </p:txBody>
      </p:sp>
      <p:sp>
        <p:nvSpPr>
          <p:cNvPr id="74" name="矩形 73"/>
          <p:cNvSpPr/>
          <p:nvPr/>
        </p:nvSpPr>
        <p:spPr>
          <a:xfrm>
            <a:off x="795553" y="1307605"/>
            <a:ext cx="7784630" cy="609398"/>
          </a:xfrm>
          <a:prstGeom prst="rect">
            <a:avLst/>
          </a:prstGeom>
          <a:noFill/>
        </p:spPr>
        <p:txBody>
          <a:bodyPr wrap="square">
            <a:spAutoFit/>
          </a:bodyPr>
          <a:lstStyle/>
          <a:p>
            <a:pPr>
              <a:lnSpc>
                <a:spcPct val="120000"/>
              </a:lnSpc>
            </a:pPr>
            <a:r>
              <a:rPr lang="en-US" altLang="zh-CN" sz="1400" dirty="0">
                <a:solidFill>
                  <a:prstClr val="black"/>
                </a:solidFill>
                <a:latin typeface="微软雅黑"/>
                <a:ea typeface="微软雅黑"/>
              </a:rPr>
              <a:t>HFS</a:t>
            </a:r>
            <a:r>
              <a:rPr lang="zh-CN" altLang="en-US" sz="1400" dirty="0">
                <a:solidFill>
                  <a:prstClr val="black"/>
                </a:solidFill>
                <a:latin typeface="微软雅黑"/>
                <a:ea typeface="微软雅黑"/>
              </a:rPr>
              <a:t>又称“掌跖感觉丧失性红斑综合征</a:t>
            </a:r>
            <a:r>
              <a:rPr lang="en-US" altLang="zh-CN" sz="1400" baseline="30000" dirty="0">
                <a:solidFill>
                  <a:prstClr val="black"/>
                </a:solidFill>
                <a:latin typeface="微软雅黑"/>
                <a:ea typeface="微软雅黑"/>
              </a:rPr>
              <a:t>1</a:t>
            </a:r>
            <a:r>
              <a:rPr lang="zh-CN" altLang="en-US" sz="1400" dirty="0">
                <a:solidFill>
                  <a:prstClr val="black"/>
                </a:solidFill>
                <a:latin typeface="微软雅黑"/>
                <a:ea typeface="微软雅黑"/>
              </a:rPr>
              <a:t>”，是由化疗或靶向药物等引起的手掌、足底感觉迟钝，或肢端红斑等常见皮肤反应</a:t>
            </a:r>
            <a:r>
              <a:rPr lang="en-US" altLang="zh-CN" sz="1400" baseline="30000" dirty="0">
                <a:solidFill>
                  <a:prstClr val="black"/>
                </a:solidFill>
                <a:latin typeface="微软雅黑"/>
                <a:ea typeface="微软雅黑"/>
              </a:rPr>
              <a:t>2,3</a:t>
            </a:r>
            <a:r>
              <a:rPr lang="zh-CN" altLang="en-US" sz="1400" dirty="0">
                <a:solidFill>
                  <a:prstClr val="black"/>
                </a:solidFill>
                <a:latin typeface="微软雅黑"/>
                <a:ea typeface="微软雅黑"/>
              </a:rPr>
              <a:t>，常发生在给药后几天</a:t>
            </a:r>
            <a:r>
              <a:rPr lang="en-US" altLang="zh-CN" sz="1400" dirty="0">
                <a:solidFill>
                  <a:prstClr val="black"/>
                </a:solidFill>
                <a:latin typeface="微软雅黑"/>
                <a:ea typeface="微软雅黑"/>
              </a:rPr>
              <a:t>-</a:t>
            </a:r>
            <a:r>
              <a:rPr lang="zh-CN" altLang="en-US" sz="1400" dirty="0">
                <a:solidFill>
                  <a:prstClr val="black"/>
                </a:solidFill>
                <a:latin typeface="微软雅黑"/>
                <a:ea typeface="微软雅黑"/>
              </a:rPr>
              <a:t>数月不等</a:t>
            </a:r>
            <a:r>
              <a:rPr lang="en-US" altLang="zh-CN" sz="1400" baseline="30000" dirty="0">
                <a:solidFill>
                  <a:prstClr val="black"/>
                </a:solidFill>
                <a:latin typeface="微软雅黑"/>
                <a:ea typeface="微软雅黑"/>
              </a:rPr>
              <a:t>4</a:t>
            </a:r>
            <a:endParaRPr lang="zh-CN" altLang="en-US" sz="1400" dirty="0">
              <a:solidFill>
                <a:prstClr val="black"/>
              </a:solidFill>
              <a:latin typeface="微软雅黑"/>
              <a:ea typeface="微软雅黑"/>
            </a:endParaRPr>
          </a:p>
        </p:txBody>
      </p:sp>
      <p:sp>
        <p:nvSpPr>
          <p:cNvPr id="12" name="矩形 11"/>
          <p:cNvSpPr/>
          <p:nvPr/>
        </p:nvSpPr>
        <p:spPr>
          <a:xfrm>
            <a:off x="1247371" y="6334780"/>
            <a:ext cx="3602268" cy="523220"/>
          </a:xfrm>
          <a:prstGeom prst="rect">
            <a:avLst/>
          </a:prstGeom>
        </p:spPr>
        <p:txBody>
          <a:bodyPr wrap="none">
            <a:spAutoFit/>
          </a:bodyPr>
          <a:lstStyle/>
          <a:p>
            <a:pPr marL="228600" indent="-228600" algn="r">
              <a:buFont typeface="+mj-lt"/>
              <a:buAutoNum type="arabicPeriod"/>
            </a:pPr>
            <a:r>
              <a:rPr lang="en-US" altLang="zh-CN" sz="700" dirty="0">
                <a:solidFill>
                  <a:prstClr val="black"/>
                </a:solidFill>
                <a:latin typeface="微软雅黑"/>
                <a:ea typeface="微软雅黑"/>
              </a:rPr>
              <a:t>HFS-PPE associated with chemotherapeutic agents, </a:t>
            </a:r>
            <a:r>
              <a:rPr lang="en-US" altLang="zh-CN" sz="700" dirty="0" err="1">
                <a:solidFill>
                  <a:prstClr val="black"/>
                </a:solidFill>
                <a:latin typeface="微软雅黑"/>
                <a:ea typeface="微软雅黑"/>
              </a:rPr>
              <a:t>eviQ</a:t>
            </a:r>
            <a:r>
              <a:rPr lang="en-US" altLang="zh-CN" sz="700" dirty="0">
                <a:solidFill>
                  <a:prstClr val="black"/>
                </a:solidFill>
                <a:latin typeface="微软雅黑"/>
                <a:ea typeface="微软雅黑"/>
              </a:rPr>
              <a:t> 2018; ID:1416 v.5</a:t>
            </a:r>
          </a:p>
          <a:p>
            <a:pPr marL="228600" indent="-228600" algn="r">
              <a:buFont typeface="+mj-lt"/>
              <a:buAutoNum type="arabicPeriod"/>
            </a:pPr>
            <a:r>
              <a:rPr lang="zh-CN" altLang="en-US" sz="700" dirty="0">
                <a:solidFill>
                  <a:prstClr val="black"/>
                </a:solidFill>
                <a:latin typeface="微软雅黑"/>
                <a:ea typeface="微软雅黑"/>
              </a:rPr>
              <a:t>日本厚生劳动省</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重篤副作用疾患別対応</a:t>
            </a:r>
            <a:r>
              <a:rPr lang="ja-JP" altLang="en-US" sz="700" dirty="0">
                <a:solidFill>
                  <a:prstClr val="black"/>
                </a:solidFill>
                <a:latin typeface="微软雅黑"/>
                <a:ea typeface="微软雅黑"/>
              </a:rPr>
              <a:t>マニュアル </a:t>
            </a:r>
            <a:r>
              <a:rPr lang="zh-CN" altLang="en-US" sz="700" dirty="0">
                <a:solidFill>
                  <a:prstClr val="black"/>
                </a:solidFill>
                <a:latin typeface="微软雅黑"/>
                <a:ea typeface="微软雅黑"/>
              </a:rPr>
              <a:t>手足症候群 </a:t>
            </a:r>
            <a:r>
              <a:rPr lang="en-US" altLang="zh-CN" sz="700" dirty="0">
                <a:solidFill>
                  <a:prstClr val="black"/>
                </a:solidFill>
                <a:latin typeface="微软雅黑"/>
                <a:ea typeface="微软雅黑"/>
              </a:rPr>
              <a:t>2010.</a:t>
            </a:r>
          </a:p>
          <a:p>
            <a:pPr marL="228600" indent="-228600" algn="r">
              <a:buFont typeface="+mj-lt"/>
              <a:buAutoNum type="arabicPeriod"/>
            </a:pPr>
            <a:r>
              <a:rPr lang="zh-CN" altLang="en-US" sz="700" dirty="0">
                <a:solidFill>
                  <a:prstClr val="black"/>
                </a:solidFill>
                <a:latin typeface="微软雅黑"/>
                <a:ea typeface="微软雅黑"/>
              </a:rPr>
              <a:t>周甜</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饮食保健 </a:t>
            </a:r>
            <a:r>
              <a:rPr lang="en-US" altLang="zh-CN" sz="700" dirty="0">
                <a:solidFill>
                  <a:prstClr val="black"/>
                </a:solidFill>
                <a:latin typeface="微软雅黑"/>
                <a:ea typeface="微软雅黑"/>
              </a:rPr>
              <a:t>2019;6(25):236.</a:t>
            </a:r>
          </a:p>
          <a:p>
            <a:pPr marL="228600" indent="-228600" algn="r">
              <a:buFont typeface="+mj-lt"/>
              <a:buAutoNum type="arabicPeriod"/>
            </a:pPr>
            <a:r>
              <a:rPr lang="zh-CN" altLang="en-US" sz="700" dirty="0">
                <a:solidFill>
                  <a:prstClr val="black"/>
                </a:solidFill>
                <a:latin typeface="微软雅黑"/>
                <a:ea typeface="微软雅黑"/>
              </a:rPr>
              <a:t>赵德华等</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中国现代应用药学 </a:t>
            </a:r>
            <a:r>
              <a:rPr lang="en-US" altLang="zh-CN" sz="700" dirty="0">
                <a:solidFill>
                  <a:prstClr val="black"/>
                </a:solidFill>
                <a:latin typeface="微软雅黑"/>
                <a:ea typeface="微软雅黑"/>
              </a:rPr>
              <a:t>2019;36(11):1437-42.</a:t>
            </a:r>
          </a:p>
        </p:txBody>
      </p:sp>
      <p:sp>
        <p:nvSpPr>
          <p:cNvPr id="13" name="矩形 12"/>
          <p:cNvSpPr/>
          <p:nvPr/>
        </p:nvSpPr>
        <p:spPr>
          <a:xfrm>
            <a:off x="5258001" y="6334780"/>
            <a:ext cx="3885999" cy="523220"/>
          </a:xfrm>
          <a:prstGeom prst="rect">
            <a:avLst/>
          </a:prstGeom>
        </p:spPr>
        <p:txBody>
          <a:bodyPr wrap="none">
            <a:spAutoFit/>
          </a:bodyPr>
          <a:lstStyle/>
          <a:p>
            <a:pPr marL="228600" indent="-228600" algn="r">
              <a:buFont typeface="+mj-lt"/>
              <a:buAutoNum type="arabicPeriod" startAt="5"/>
            </a:pPr>
            <a:r>
              <a:rPr lang="zh-CN" altLang="en-US" sz="700" dirty="0">
                <a:solidFill>
                  <a:prstClr val="black"/>
                </a:solidFill>
                <a:latin typeface="微软雅黑"/>
                <a:ea typeface="微软雅黑"/>
              </a:rPr>
              <a:t>孙勇生</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谢长生</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肿瘤学杂志 </a:t>
            </a:r>
            <a:r>
              <a:rPr lang="en-US" altLang="zh-CN" sz="700" dirty="0">
                <a:solidFill>
                  <a:prstClr val="black"/>
                </a:solidFill>
                <a:latin typeface="微软雅黑"/>
                <a:ea typeface="微软雅黑"/>
              </a:rPr>
              <a:t>2018;24(3):271-77.</a:t>
            </a:r>
          </a:p>
          <a:p>
            <a:pPr marL="228600" indent="-228600" algn="r">
              <a:buFont typeface="+mj-lt"/>
              <a:buAutoNum type="arabicPeriod" startAt="5"/>
            </a:pPr>
            <a:r>
              <a:rPr lang="en-US" altLang="zh-CN" sz="700" dirty="0">
                <a:solidFill>
                  <a:prstClr val="black"/>
                </a:solidFill>
                <a:latin typeface="微软雅黑"/>
                <a:ea typeface="微软雅黑"/>
              </a:rPr>
              <a:t>National Institutes of Health, National Cancer Institute, CTCAE Version5.0 (2017).</a:t>
            </a:r>
          </a:p>
          <a:p>
            <a:pPr marL="228600" indent="-228600" algn="r">
              <a:buFont typeface="+mj-lt"/>
              <a:buAutoNum type="arabicPeriod" startAt="5"/>
            </a:pPr>
            <a:r>
              <a:rPr lang="en-US" altLang="zh-CN" sz="700" dirty="0" err="1">
                <a:solidFill>
                  <a:prstClr val="black"/>
                </a:solidFill>
                <a:latin typeface="微软雅黑"/>
                <a:ea typeface="微软雅黑"/>
              </a:rPr>
              <a:t>Saif</a:t>
            </a:r>
            <a:r>
              <a:rPr lang="en-US" altLang="zh-CN" sz="700" dirty="0">
                <a:solidFill>
                  <a:prstClr val="black"/>
                </a:solidFill>
                <a:latin typeface="微软雅黑"/>
                <a:ea typeface="微软雅黑"/>
              </a:rPr>
              <a:t> MW, Expert </a:t>
            </a:r>
            <a:r>
              <a:rPr lang="en-US" altLang="zh-CN" sz="700" dirty="0" err="1">
                <a:solidFill>
                  <a:prstClr val="black"/>
                </a:solidFill>
                <a:latin typeface="微软雅黑"/>
                <a:ea typeface="微软雅黑"/>
              </a:rPr>
              <a:t>Opin</a:t>
            </a:r>
            <a:r>
              <a:rPr lang="en-US" altLang="zh-CN" sz="700" dirty="0">
                <a:solidFill>
                  <a:prstClr val="black"/>
                </a:solidFill>
                <a:latin typeface="微软雅黑"/>
                <a:ea typeface="微软雅黑"/>
              </a:rPr>
              <a:t>. Drug </a:t>
            </a:r>
            <a:r>
              <a:rPr lang="en-US" altLang="zh-CN" sz="700" dirty="0" err="1">
                <a:solidFill>
                  <a:prstClr val="black"/>
                </a:solidFill>
                <a:latin typeface="微软雅黑"/>
                <a:ea typeface="微软雅黑"/>
              </a:rPr>
              <a:t>Saf</a:t>
            </a:r>
            <a:r>
              <a:rPr lang="en-US" altLang="zh-CN" sz="700" dirty="0">
                <a:solidFill>
                  <a:prstClr val="black"/>
                </a:solidFill>
                <a:latin typeface="微软雅黑"/>
                <a:ea typeface="微软雅黑"/>
              </a:rPr>
              <a:t>. 2011;10(2):159-69.</a:t>
            </a:r>
          </a:p>
          <a:p>
            <a:pPr marL="228600" indent="-228600" algn="r">
              <a:buFont typeface="+mj-lt"/>
              <a:buAutoNum type="arabicPeriod" startAt="5"/>
            </a:pPr>
            <a:r>
              <a:rPr lang="zh-CN" altLang="en-US" sz="700" dirty="0">
                <a:solidFill>
                  <a:prstClr val="black"/>
                </a:solidFill>
                <a:latin typeface="微软雅黑"/>
                <a:ea typeface="微软雅黑"/>
              </a:rPr>
              <a:t>黎鹏等</a:t>
            </a:r>
            <a:r>
              <a:rPr lang="en-US" altLang="zh-CN" sz="700" dirty="0">
                <a:solidFill>
                  <a:prstClr val="black"/>
                </a:solidFill>
                <a:latin typeface="微软雅黑"/>
                <a:ea typeface="微软雅黑"/>
              </a:rPr>
              <a:t>, </a:t>
            </a:r>
            <a:r>
              <a:rPr lang="zh-CN" altLang="en-US" sz="700" dirty="0">
                <a:solidFill>
                  <a:prstClr val="black"/>
                </a:solidFill>
                <a:latin typeface="微软雅黑"/>
                <a:ea typeface="微软雅黑"/>
              </a:rPr>
              <a:t>实用肿瘤杂志 </a:t>
            </a:r>
            <a:r>
              <a:rPr lang="en-US" altLang="zh-CN" sz="700" dirty="0">
                <a:solidFill>
                  <a:prstClr val="black"/>
                </a:solidFill>
                <a:latin typeface="微软雅黑"/>
                <a:ea typeface="微软雅黑"/>
              </a:rPr>
              <a:t>2016; 31(5):473-477.</a:t>
            </a:r>
          </a:p>
        </p:txBody>
      </p:sp>
    </p:spTree>
    <p:extLst>
      <p:ext uri="{BB962C8B-B14F-4D97-AF65-F5344CB8AC3E}">
        <p14:creationId xmlns:p14="http://schemas.microsoft.com/office/powerpoint/2010/main" val="38459986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86045" y="1246020"/>
            <a:ext cx="7974259" cy="5072312"/>
            <a:chOff x="486045" y="1246020"/>
            <a:chExt cx="7974259" cy="5072312"/>
          </a:xfrm>
        </p:grpSpPr>
        <p:pic>
          <p:nvPicPr>
            <p:cNvPr id="6" name="图片 5"/>
            <p:cNvPicPr>
              <a:picLocks noChangeAspect="1"/>
            </p:cNvPicPr>
            <p:nvPr/>
          </p:nvPicPr>
          <p:blipFill>
            <a:blip r:embed="rId3"/>
            <a:stretch>
              <a:fillRect/>
            </a:stretch>
          </p:blipFill>
          <p:spPr>
            <a:xfrm>
              <a:off x="486045" y="1246020"/>
              <a:ext cx="7974259" cy="5072312"/>
            </a:xfrm>
            <a:prstGeom prst="rect">
              <a:avLst/>
            </a:prstGeom>
          </p:spPr>
        </p:pic>
        <p:sp>
          <p:nvSpPr>
            <p:cNvPr id="9" name="矩形 8"/>
            <p:cNvSpPr/>
            <p:nvPr/>
          </p:nvSpPr>
          <p:spPr>
            <a:xfrm>
              <a:off x="754251" y="1777384"/>
              <a:ext cx="516488" cy="338554"/>
            </a:xfrm>
            <a:prstGeom prst="rect">
              <a:avLst/>
            </a:prstGeom>
          </p:spPr>
          <p:txBody>
            <a:bodyPr wrap="none">
              <a:spAutoFit/>
            </a:bodyPr>
            <a:lstStyle/>
            <a:p>
              <a:pPr eaLnBrk="1" fontAlgn="auto" hangingPunct="1">
                <a:spcBef>
                  <a:spcPts val="0"/>
                </a:spcBef>
                <a:spcAft>
                  <a:spcPts val="0"/>
                </a:spcAft>
              </a:pPr>
              <a:r>
                <a:rPr lang="en-US" altLang="zh-CN" sz="1600" b="1" dirty="0">
                  <a:solidFill>
                    <a:prstClr val="black"/>
                  </a:solidFill>
                  <a:latin typeface="微软雅黑" panose="020F0502020204030204"/>
                  <a:ea typeface="微软雅黑"/>
                </a:rPr>
                <a:t>1</a:t>
              </a:r>
              <a:r>
                <a:rPr lang="zh-CN" altLang="en-US" sz="1600" b="1" dirty="0">
                  <a:solidFill>
                    <a:prstClr val="black"/>
                  </a:solidFill>
                  <a:latin typeface="微软雅黑" panose="020F0502020204030204"/>
                  <a:ea typeface="微软雅黑"/>
                </a:rPr>
                <a:t>级</a:t>
              </a:r>
            </a:p>
          </p:txBody>
        </p:sp>
        <p:sp>
          <p:nvSpPr>
            <p:cNvPr id="28" name="矩形 27"/>
            <p:cNvSpPr/>
            <p:nvPr/>
          </p:nvSpPr>
          <p:spPr>
            <a:xfrm>
              <a:off x="754251" y="3541671"/>
              <a:ext cx="516488" cy="338554"/>
            </a:xfrm>
            <a:prstGeom prst="rect">
              <a:avLst/>
            </a:prstGeom>
          </p:spPr>
          <p:txBody>
            <a:bodyPr wrap="none">
              <a:spAutoFit/>
            </a:bodyPr>
            <a:lstStyle/>
            <a:p>
              <a:pPr eaLnBrk="1" fontAlgn="auto" hangingPunct="1">
                <a:spcBef>
                  <a:spcPts val="0"/>
                </a:spcBef>
                <a:spcAft>
                  <a:spcPts val="0"/>
                </a:spcAft>
              </a:pPr>
              <a:r>
                <a:rPr lang="en-US" altLang="zh-CN" sz="1600" b="1" dirty="0">
                  <a:solidFill>
                    <a:prstClr val="black"/>
                  </a:solidFill>
                  <a:latin typeface="微软雅黑" panose="020F0502020204030204"/>
                  <a:ea typeface="微软雅黑"/>
                </a:rPr>
                <a:t>2</a:t>
              </a:r>
              <a:r>
                <a:rPr lang="zh-CN" altLang="en-US" sz="1600" b="1" dirty="0">
                  <a:solidFill>
                    <a:prstClr val="black"/>
                  </a:solidFill>
                  <a:latin typeface="微软雅黑" panose="020F0502020204030204"/>
                  <a:ea typeface="微软雅黑"/>
                </a:rPr>
                <a:t>级</a:t>
              </a:r>
            </a:p>
          </p:txBody>
        </p:sp>
        <p:sp>
          <p:nvSpPr>
            <p:cNvPr id="29" name="矩形 28"/>
            <p:cNvSpPr/>
            <p:nvPr/>
          </p:nvSpPr>
          <p:spPr>
            <a:xfrm>
              <a:off x="754251" y="5283463"/>
              <a:ext cx="516488" cy="338554"/>
            </a:xfrm>
            <a:prstGeom prst="rect">
              <a:avLst/>
            </a:prstGeom>
          </p:spPr>
          <p:txBody>
            <a:bodyPr wrap="none">
              <a:spAutoFit/>
            </a:bodyPr>
            <a:lstStyle/>
            <a:p>
              <a:pPr eaLnBrk="1" fontAlgn="auto" hangingPunct="1">
                <a:spcBef>
                  <a:spcPts val="0"/>
                </a:spcBef>
                <a:spcAft>
                  <a:spcPts val="0"/>
                </a:spcAft>
              </a:pPr>
              <a:r>
                <a:rPr lang="en-US" altLang="zh-CN" sz="1600" b="1" dirty="0">
                  <a:solidFill>
                    <a:prstClr val="black"/>
                  </a:solidFill>
                  <a:latin typeface="微软雅黑" panose="020F0502020204030204"/>
                  <a:ea typeface="微软雅黑"/>
                </a:rPr>
                <a:t>3</a:t>
              </a:r>
              <a:r>
                <a:rPr lang="zh-CN" altLang="en-US" sz="1600" b="1" dirty="0">
                  <a:solidFill>
                    <a:prstClr val="black"/>
                  </a:solidFill>
                  <a:latin typeface="微软雅黑" panose="020F0502020204030204"/>
                  <a:ea typeface="微软雅黑"/>
                </a:rPr>
                <a:t>级</a:t>
              </a:r>
            </a:p>
          </p:txBody>
        </p:sp>
      </p:grpSp>
      <p:sp>
        <p:nvSpPr>
          <p:cNvPr id="2" name="标题 1"/>
          <p:cNvSpPr>
            <a:spLocks noGrp="1"/>
          </p:cNvSpPr>
          <p:nvPr>
            <p:ph type="title"/>
          </p:nvPr>
        </p:nvSpPr>
        <p:spPr/>
        <p:txBody>
          <a:bodyPr/>
          <a:lstStyle/>
          <a:p>
            <a:r>
              <a:rPr lang="en-US" altLang="zh-CN" dirty="0">
                <a:latin typeface="+mn-lt"/>
                <a:ea typeface="+mn-ea"/>
                <a:cs typeface="+mn-ea"/>
                <a:sym typeface="+mn-lt"/>
              </a:rPr>
              <a:t>HFS</a:t>
            </a:r>
            <a:r>
              <a:rPr lang="zh-CN" altLang="en-US" dirty="0">
                <a:latin typeface="+mn-lt"/>
                <a:ea typeface="+mn-ea"/>
                <a:cs typeface="+mn-ea"/>
                <a:sym typeface="+mn-lt"/>
              </a:rPr>
              <a:t>分级案例分析（</a:t>
            </a:r>
            <a:r>
              <a:rPr lang="en-US" altLang="zh-CN" dirty="0">
                <a:latin typeface="+mn-ea"/>
                <a:cs typeface="+mn-ea"/>
                <a:sym typeface="+mn-lt"/>
              </a:rPr>
              <a:t>NCI CTCAE</a:t>
            </a:r>
            <a:r>
              <a:rPr lang="zh-CN" altLang="en-US" dirty="0">
                <a:latin typeface="+mn-lt"/>
                <a:ea typeface="+mn-ea"/>
                <a:cs typeface="+mn-ea"/>
                <a:sym typeface="+mn-lt"/>
              </a:rPr>
              <a:t>）</a:t>
            </a:r>
          </a:p>
        </p:txBody>
      </p:sp>
      <p:graphicFrame>
        <p:nvGraphicFramePr>
          <p:cNvPr id="3" name="表格 2"/>
          <p:cNvGraphicFramePr>
            <a:graphicFrameLocks noGrp="1"/>
          </p:cNvGraphicFramePr>
          <p:nvPr/>
        </p:nvGraphicFramePr>
        <p:xfrm>
          <a:off x="3275406" y="4949764"/>
          <a:ext cx="4854431" cy="1152000"/>
        </p:xfrm>
        <a:graphic>
          <a:graphicData uri="http://schemas.openxmlformats.org/drawingml/2006/table">
            <a:tbl>
              <a:tblPr firstRow="1" bandRow="1">
                <a:tableStyleId>{5C22544A-7EE6-4342-B048-85BDC9FD1C3A}</a:tableStyleId>
              </a:tblPr>
              <a:tblGrid>
                <a:gridCol w="946289">
                  <a:extLst>
                    <a:ext uri="{9D8B030D-6E8A-4147-A177-3AD203B41FA5}">
                      <a16:colId xmlns:a16="http://schemas.microsoft.com/office/drawing/2014/main" xmlns="" val="20000"/>
                    </a:ext>
                  </a:extLst>
                </a:gridCol>
                <a:gridCol w="3908142">
                  <a:extLst>
                    <a:ext uri="{9D8B030D-6E8A-4147-A177-3AD203B41FA5}">
                      <a16:colId xmlns:a16="http://schemas.microsoft.com/office/drawing/2014/main" xmlns="" val="20001"/>
                    </a:ext>
                  </a:extLst>
                </a:gridCol>
              </a:tblGrid>
              <a:tr h="320979">
                <a:tc>
                  <a:txBody>
                    <a:bodyPr/>
                    <a:lstStyle/>
                    <a:p>
                      <a:pPr marL="36000"/>
                      <a:r>
                        <a:rPr lang="zh-CN" altLang="en-US" sz="1100" b="1" dirty="0">
                          <a:solidFill>
                            <a:schemeClr val="tx1"/>
                          </a:solidFill>
                        </a:rPr>
                        <a:t>治疗药物</a:t>
                      </a:r>
                    </a:p>
                  </a:txBody>
                  <a:tcPr anchor="ctr">
                    <a:lnL w="12700" cmpd="sng">
                      <a:noFill/>
                    </a:lnL>
                    <a:lnR w="6350" cap="flat" cmpd="sng" algn="ctr">
                      <a:solidFill>
                        <a:schemeClr val="bg1">
                          <a:lumMod val="50000"/>
                        </a:schemeClr>
                      </a:solidFill>
                      <a:prstDash val="dash"/>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9BCDFF"/>
                    </a:solidFill>
                  </a:tcPr>
                </a:tc>
                <a:tc>
                  <a:txBody>
                    <a:bodyPr/>
                    <a:lstStyle/>
                    <a:p>
                      <a:pPr marL="72000"/>
                      <a:r>
                        <a:rPr lang="zh-CN" altLang="en-US" sz="1100" dirty="0">
                          <a:solidFill>
                            <a:schemeClr val="tx1"/>
                          </a:solidFill>
                        </a:rPr>
                        <a:t>索拉非尼</a:t>
                      </a:r>
                    </a:p>
                  </a:txBody>
                  <a:tcPr anchor="ctr">
                    <a:lnL w="6350" cap="flat" cmpd="sng" algn="ctr">
                      <a:solidFill>
                        <a:schemeClr val="bg1">
                          <a:lumMod val="50000"/>
                        </a:schemeClr>
                      </a:solidFill>
                      <a:prstDash val="dash"/>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9BCDFF"/>
                    </a:solidFill>
                  </a:tcPr>
                </a:tc>
                <a:extLst>
                  <a:ext uri="{0D108BD9-81ED-4DB2-BD59-A6C34878D82A}">
                    <a16:rowId xmlns:a16="http://schemas.microsoft.com/office/drawing/2014/main" xmlns="" val="10000"/>
                  </a:ext>
                </a:extLst>
              </a:tr>
              <a:tr h="320979">
                <a:tc>
                  <a:txBody>
                    <a:bodyPr/>
                    <a:lstStyle/>
                    <a:p>
                      <a:pPr marL="36000"/>
                      <a:r>
                        <a:rPr lang="zh-CN" altLang="en-US" sz="1100" b="1" dirty="0">
                          <a:solidFill>
                            <a:schemeClr val="tx1"/>
                          </a:solidFill>
                        </a:rPr>
                        <a:t>疾病</a:t>
                      </a: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72000"/>
                      <a:r>
                        <a:rPr lang="zh-CN" altLang="en-US" sz="1100" dirty="0">
                          <a:solidFill>
                            <a:schemeClr val="tx1"/>
                          </a:solidFill>
                        </a:rPr>
                        <a:t>肾细胞癌</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r h="510042">
                <a:tc>
                  <a:txBody>
                    <a:bodyPr/>
                    <a:lstStyle/>
                    <a:p>
                      <a:pPr marL="36000"/>
                      <a:r>
                        <a:rPr lang="zh-CN" altLang="en-US" sz="1100" b="1" dirty="0">
                          <a:solidFill>
                            <a:schemeClr val="tx1"/>
                          </a:solidFill>
                        </a:rPr>
                        <a:t>临床表现</a:t>
                      </a:r>
                      <a:r>
                        <a:rPr lang="en-US" altLang="zh-CN" sz="1100" b="1" dirty="0">
                          <a:solidFill>
                            <a:schemeClr val="tx1"/>
                          </a:solidFill>
                        </a:rPr>
                        <a:t>*</a:t>
                      </a:r>
                      <a:endParaRPr lang="zh-CN" altLang="en-US" sz="1100" b="1" dirty="0">
                        <a:solidFill>
                          <a:schemeClr val="tx1"/>
                        </a:solidFill>
                      </a:endParaRP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BCDFF"/>
                    </a:solidFill>
                  </a:tcPr>
                </a:tc>
                <a:tc>
                  <a:txBody>
                    <a:bodyPr/>
                    <a:lstStyle/>
                    <a:p>
                      <a:pPr marL="72000">
                        <a:lnSpc>
                          <a:spcPct val="110000"/>
                        </a:lnSpc>
                      </a:pPr>
                      <a:r>
                        <a:rPr lang="zh-CN" altLang="en-US" sz="1100" dirty="0">
                          <a:solidFill>
                            <a:schemeClr val="tx1"/>
                          </a:solidFill>
                        </a:rPr>
                        <a:t>从脚底至脚的边缘可见严重红斑肿胀，形成大的表皮下水疱。</a:t>
                      </a:r>
                      <a:r>
                        <a:rPr lang="zh-CN" altLang="en-US" sz="1100" b="1" dirty="0">
                          <a:solidFill>
                            <a:srgbClr val="108638"/>
                          </a:solidFill>
                        </a:rPr>
                        <a:t>伴疼痛、步行很艰难，被判定为</a:t>
                      </a:r>
                      <a:r>
                        <a:rPr lang="en-US" altLang="zh-CN" sz="1100" b="1" dirty="0">
                          <a:solidFill>
                            <a:srgbClr val="108638"/>
                          </a:solidFill>
                        </a:rPr>
                        <a:t>3</a:t>
                      </a:r>
                      <a:r>
                        <a:rPr lang="zh-CN" altLang="en-US" sz="1100" b="1" dirty="0">
                          <a:solidFill>
                            <a:srgbClr val="108638"/>
                          </a:solidFill>
                        </a:rPr>
                        <a:t>级</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BCDFF"/>
                    </a:solidFill>
                  </a:tcPr>
                </a:tc>
                <a:extLst>
                  <a:ext uri="{0D108BD9-81ED-4DB2-BD59-A6C34878D82A}">
                    <a16:rowId xmlns:a16="http://schemas.microsoft.com/office/drawing/2014/main" xmlns="" val="10002"/>
                  </a:ext>
                </a:extLst>
              </a:tr>
            </a:tbl>
          </a:graphicData>
        </a:graphic>
      </p:graphicFrame>
      <p:sp>
        <p:nvSpPr>
          <p:cNvPr id="8" name="矩形 7"/>
          <p:cNvSpPr/>
          <p:nvPr/>
        </p:nvSpPr>
        <p:spPr>
          <a:xfrm>
            <a:off x="5445552" y="6627168"/>
            <a:ext cx="3698448" cy="230832"/>
          </a:xfrm>
          <a:prstGeom prst="rect">
            <a:avLst/>
          </a:prstGeom>
        </p:spPr>
        <p:txBody>
          <a:bodyPr wrap="none">
            <a:spAutoFit/>
          </a:bodyPr>
          <a:lstStyle/>
          <a:p>
            <a:pPr algn="r"/>
            <a:r>
              <a:rPr lang="zh-CN" altLang="en-US" sz="900" dirty="0">
                <a:solidFill>
                  <a:prstClr val="black"/>
                </a:solidFill>
                <a:latin typeface="微软雅黑" panose="020F0502020204030204"/>
                <a:ea typeface="微软雅黑"/>
              </a:rPr>
              <a:t>日本厚生劳动省</a:t>
            </a:r>
            <a:r>
              <a:rPr lang="en-US" altLang="zh-CN" sz="900" dirty="0">
                <a:solidFill>
                  <a:prstClr val="black"/>
                </a:solidFill>
                <a:latin typeface="微软雅黑" panose="020F0502020204030204"/>
                <a:ea typeface="微软雅黑"/>
              </a:rPr>
              <a:t>, </a:t>
            </a:r>
            <a:r>
              <a:rPr lang="ja-JP" altLang="en-US" sz="900" dirty="0">
                <a:solidFill>
                  <a:prstClr val="black"/>
                </a:solidFill>
                <a:latin typeface="微软雅黑" panose="020F0502020204030204"/>
                <a:ea typeface="微软雅黑"/>
              </a:rPr>
              <a:t>重篤副作用疾患別対応マニュアル 手足症候群 </a:t>
            </a:r>
            <a:r>
              <a:rPr lang="en-US" altLang="zh-CN" sz="900" dirty="0">
                <a:solidFill>
                  <a:prstClr val="black"/>
                </a:solidFill>
                <a:latin typeface="微软雅黑" panose="020F0502020204030204"/>
                <a:ea typeface="微软雅黑"/>
              </a:rPr>
              <a:t>2010</a:t>
            </a:r>
          </a:p>
        </p:txBody>
      </p:sp>
      <p:graphicFrame>
        <p:nvGraphicFramePr>
          <p:cNvPr id="24" name="表格 23"/>
          <p:cNvGraphicFramePr>
            <a:graphicFrameLocks noGrp="1"/>
          </p:cNvGraphicFramePr>
          <p:nvPr/>
        </p:nvGraphicFramePr>
        <p:xfrm>
          <a:off x="3275381" y="1382485"/>
          <a:ext cx="4854786" cy="1274401"/>
        </p:xfrm>
        <a:graphic>
          <a:graphicData uri="http://schemas.openxmlformats.org/drawingml/2006/table">
            <a:tbl>
              <a:tblPr firstRow="1" bandRow="1">
                <a:tableStyleId>{5C22544A-7EE6-4342-B048-85BDC9FD1C3A}</a:tableStyleId>
              </a:tblPr>
              <a:tblGrid>
                <a:gridCol w="946289">
                  <a:extLst>
                    <a:ext uri="{9D8B030D-6E8A-4147-A177-3AD203B41FA5}">
                      <a16:colId xmlns:a16="http://schemas.microsoft.com/office/drawing/2014/main" xmlns="" val="20000"/>
                    </a:ext>
                  </a:extLst>
                </a:gridCol>
                <a:gridCol w="3908497">
                  <a:extLst>
                    <a:ext uri="{9D8B030D-6E8A-4147-A177-3AD203B41FA5}">
                      <a16:colId xmlns:a16="http://schemas.microsoft.com/office/drawing/2014/main" xmlns="" val="20001"/>
                    </a:ext>
                  </a:extLst>
                </a:gridCol>
              </a:tblGrid>
              <a:tr h="347564">
                <a:tc>
                  <a:txBody>
                    <a:bodyPr/>
                    <a:lstStyle/>
                    <a:p>
                      <a:pPr marL="36000"/>
                      <a:r>
                        <a:rPr lang="zh-CN" altLang="en-US" sz="1100" b="1" dirty="0">
                          <a:solidFill>
                            <a:schemeClr val="tx1"/>
                          </a:solidFill>
                        </a:rPr>
                        <a:t>治疗药物</a:t>
                      </a:r>
                    </a:p>
                  </a:txBody>
                  <a:tcPr anchor="ctr">
                    <a:lnL w="12700" cmpd="sng">
                      <a:noFill/>
                    </a:lnL>
                    <a:lnR w="6350" cap="flat" cmpd="sng" algn="ctr">
                      <a:solidFill>
                        <a:schemeClr val="bg1">
                          <a:lumMod val="50000"/>
                        </a:schemeClr>
                      </a:solidFill>
                      <a:prstDash val="dash"/>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BF5FF"/>
                    </a:solidFill>
                  </a:tcPr>
                </a:tc>
                <a:tc>
                  <a:txBody>
                    <a:bodyPr/>
                    <a:lstStyle/>
                    <a:p>
                      <a:pPr marL="72000"/>
                      <a:r>
                        <a:rPr lang="zh-CN" altLang="en-US" sz="1100" dirty="0">
                          <a:solidFill>
                            <a:schemeClr val="tx1"/>
                          </a:solidFill>
                        </a:rPr>
                        <a:t>卡培他滨</a:t>
                      </a:r>
                    </a:p>
                  </a:txBody>
                  <a:tcPr anchor="ctr">
                    <a:lnL w="6350" cap="flat" cmpd="sng" algn="ctr">
                      <a:solidFill>
                        <a:schemeClr val="bg1">
                          <a:lumMod val="50000"/>
                        </a:schemeClr>
                      </a:solidFill>
                      <a:prstDash val="dash"/>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BF5FF"/>
                    </a:solidFill>
                  </a:tcPr>
                </a:tc>
                <a:extLst>
                  <a:ext uri="{0D108BD9-81ED-4DB2-BD59-A6C34878D82A}">
                    <a16:rowId xmlns:a16="http://schemas.microsoft.com/office/drawing/2014/main" xmlns="" val="10000"/>
                  </a:ext>
                </a:extLst>
              </a:tr>
              <a:tr h="347564">
                <a:tc>
                  <a:txBody>
                    <a:bodyPr/>
                    <a:lstStyle/>
                    <a:p>
                      <a:pPr marL="36000"/>
                      <a:r>
                        <a:rPr lang="zh-CN" altLang="en-US" sz="1100" b="1" dirty="0">
                          <a:solidFill>
                            <a:schemeClr val="tx1"/>
                          </a:solidFill>
                        </a:rPr>
                        <a:t>疾病</a:t>
                      </a: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72000"/>
                      <a:r>
                        <a:rPr lang="zh-CN" altLang="en-US" sz="1100" dirty="0">
                          <a:solidFill>
                            <a:schemeClr val="tx1"/>
                          </a:solidFill>
                        </a:rPr>
                        <a:t>乳腺癌</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r h="579273">
                <a:tc>
                  <a:txBody>
                    <a:bodyPr/>
                    <a:lstStyle/>
                    <a:p>
                      <a:pPr marL="36000"/>
                      <a:r>
                        <a:rPr lang="zh-CN" altLang="en-US" sz="1100" b="1" dirty="0">
                          <a:solidFill>
                            <a:schemeClr val="tx1"/>
                          </a:solidFill>
                        </a:rPr>
                        <a:t>临床表现</a:t>
                      </a: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BF5FF"/>
                    </a:solidFill>
                  </a:tcPr>
                </a:tc>
                <a:tc>
                  <a:txBody>
                    <a:bodyPr/>
                    <a:lstStyle/>
                    <a:p>
                      <a:pPr marL="72000">
                        <a:lnSpc>
                          <a:spcPct val="110000"/>
                        </a:lnSpc>
                      </a:pPr>
                      <a:r>
                        <a:rPr lang="zh-CN" altLang="en-US" sz="1100" dirty="0">
                          <a:solidFill>
                            <a:schemeClr val="tx1"/>
                          </a:solidFill>
                        </a:rPr>
                        <a:t>两手掌存在弥漫性红斑，手指有些光滑，指纹有些不清楚。</a:t>
                      </a:r>
                      <a:r>
                        <a:rPr lang="zh-CN" altLang="en-US" sz="1100" b="1" dirty="0">
                          <a:solidFill>
                            <a:srgbClr val="108638"/>
                          </a:solidFill>
                        </a:rPr>
                        <a:t>因无疼痛被判定为</a:t>
                      </a:r>
                      <a:r>
                        <a:rPr lang="en-US" altLang="zh-CN" sz="1100" b="1" dirty="0">
                          <a:solidFill>
                            <a:srgbClr val="108638"/>
                          </a:solidFill>
                        </a:rPr>
                        <a:t>1</a:t>
                      </a:r>
                      <a:r>
                        <a:rPr lang="zh-CN" altLang="en-US" sz="1100" b="1" dirty="0">
                          <a:solidFill>
                            <a:srgbClr val="108638"/>
                          </a:solidFill>
                        </a:rPr>
                        <a:t>级</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EBF5FF"/>
                    </a:solidFill>
                  </a:tcPr>
                </a:tc>
                <a:extLst>
                  <a:ext uri="{0D108BD9-81ED-4DB2-BD59-A6C34878D82A}">
                    <a16:rowId xmlns:a16="http://schemas.microsoft.com/office/drawing/2014/main" xmlns="" val="10002"/>
                  </a:ext>
                </a:extLst>
              </a:tr>
            </a:tbl>
          </a:graphicData>
        </a:graphic>
      </p:graphicFrame>
      <p:graphicFrame>
        <p:nvGraphicFramePr>
          <p:cNvPr id="26" name="表格 25"/>
          <p:cNvGraphicFramePr>
            <a:graphicFrameLocks noGrp="1"/>
          </p:cNvGraphicFramePr>
          <p:nvPr/>
        </p:nvGraphicFramePr>
        <p:xfrm>
          <a:off x="3275381" y="3200772"/>
          <a:ext cx="4854786" cy="1166400"/>
        </p:xfrm>
        <a:graphic>
          <a:graphicData uri="http://schemas.openxmlformats.org/drawingml/2006/table">
            <a:tbl>
              <a:tblPr firstRow="1" bandRow="1">
                <a:tableStyleId>{5C22544A-7EE6-4342-B048-85BDC9FD1C3A}</a:tableStyleId>
              </a:tblPr>
              <a:tblGrid>
                <a:gridCol w="946289">
                  <a:extLst>
                    <a:ext uri="{9D8B030D-6E8A-4147-A177-3AD203B41FA5}">
                      <a16:colId xmlns:a16="http://schemas.microsoft.com/office/drawing/2014/main" xmlns="" val="20000"/>
                    </a:ext>
                  </a:extLst>
                </a:gridCol>
                <a:gridCol w="3908497">
                  <a:extLst>
                    <a:ext uri="{9D8B030D-6E8A-4147-A177-3AD203B41FA5}">
                      <a16:colId xmlns:a16="http://schemas.microsoft.com/office/drawing/2014/main" xmlns="" val="20001"/>
                    </a:ext>
                  </a:extLst>
                </a:gridCol>
              </a:tblGrid>
              <a:tr h="318109">
                <a:tc>
                  <a:txBody>
                    <a:bodyPr/>
                    <a:lstStyle/>
                    <a:p>
                      <a:pPr marL="36000"/>
                      <a:r>
                        <a:rPr lang="zh-CN" altLang="en-US" sz="1100" b="1" dirty="0">
                          <a:solidFill>
                            <a:schemeClr val="tx1"/>
                          </a:solidFill>
                        </a:rPr>
                        <a:t>治疗药物</a:t>
                      </a:r>
                    </a:p>
                  </a:txBody>
                  <a:tcPr anchor="ctr">
                    <a:lnL w="12700" cmpd="sng">
                      <a:noFill/>
                    </a:lnL>
                    <a:lnR w="6350" cap="flat" cmpd="sng" algn="ctr">
                      <a:solidFill>
                        <a:schemeClr val="bg1">
                          <a:lumMod val="50000"/>
                        </a:schemeClr>
                      </a:solidFill>
                      <a:prstDash val="dash"/>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CDE6FF"/>
                    </a:solidFill>
                  </a:tcPr>
                </a:tc>
                <a:tc>
                  <a:txBody>
                    <a:bodyPr/>
                    <a:lstStyle/>
                    <a:p>
                      <a:pPr marL="72000"/>
                      <a:r>
                        <a:rPr lang="zh-CN" altLang="en-US" sz="1100" dirty="0">
                          <a:solidFill>
                            <a:schemeClr val="tx1"/>
                          </a:solidFill>
                        </a:rPr>
                        <a:t>卡培他滨</a:t>
                      </a:r>
                    </a:p>
                  </a:txBody>
                  <a:tcPr anchor="ctr">
                    <a:lnL w="6350" cap="flat" cmpd="sng" algn="ctr">
                      <a:solidFill>
                        <a:schemeClr val="bg1">
                          <a:lumMod val="50000"/>
                        </a:schemeClr>
                      </a:solidFill>
                      <a:prstDash val="dash"/>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CDE6FF"/>
                    </a:solidFill>
                  </a:tcPr>
                </a:tc>
                <a:extLst>
                  <a:ext uri="{0D108BD9-81ED-4DB2-BD59-A6C34878D82A}">
                    <a16:rowId xmlns:a16="http://schemas.microsoft.com/office/drawing/2014/main" xmlns="" val="10000"/>
                  </a:ext>
                </a:extLst>
              </a:tr>
              <a:tr h="318109">
                <a:tc>
                  <a:txBody>
                    <a:bodyPr/>
                    <a:lstStyle/>
                    <a:p>
                      <a:pPr marL="36000"/>
                      <a:r>
                        <a:rPr lang="zh-CN" altLang="en-US" sz="1100" b="1" dirty="0">
                          <a:solidFill>
                            <a:schemeClr val="tx1"/>
                          </a:solidFill>
                        </a:rPr>
                        <a:t>疾病</a:t>
                      </a: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72000"/>
                      <a:r>
                        <a:rPr lang="zh-CN" altLang="en-US" sz="1100" dirty="0">
                          <a:solidFill>
                            <a:schemeClr val="tx1"/>
                          </a:solidFill>
                        </a:rPr>
                        <a:t>结肠癌</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1"/>
                  </a:ext>
                </a:extLst>
              </a:tr>
              <a:tr h="530182">
                <a:tc>
                  <a:txBody>
                    <a:bodyPr/>
                    <a:lstStyle/>
                    <a:p>
                      <a:pPr marL="36000"/>
                      <a:r>
                        <a:rPr lang="zh-CN" altLang="en-US" sz="1100" b="1" dirty="0">
                          <a:solidFill>
                            <a:schemeClr val="tx1"/>
                          </a:solidFill>
                        </a:rPr>
                        <a:t>临床表现</a:t>
                      </a:r>
                    </a:p>
                  </a:txBody>
                  <a:tcPr anchor="ctr">
                    <a:lnL w="12700" cmpd="sng">
                      <a:noFill/>
                    </a:lnL>
                    <a:lnR w="6350" cap="flat" cmpd="sng" algn="ctr">
                      <a:solidFill>
                        <a:schemeClr val="bg1">
                          <a:lumMod val="50000"/>
                        </a:schemeClr>
                      </a:solidFill>
                      <a:prstDash val="dash"/>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DE6FF"/>
                    </a:solidFill>
                  </a:tcPr>
                </a:tc>
                <a:tc>
                  <a:txBody>
                    <a:bodyPr/>
                    <a:lstStyle/>
                    <a:p>
                      <a:pPr marL="72000" marR="0" indent="0" algn="l" defTabSz="914400" rtl="0" eaLnBrk="1" fontAlgn="auto" latinLnBrk="0" hangingPunct="1">
                        <a:lnSpc>
                          <a:spcPct val="110000"/>
                        </a:lnSpc>
                        <a:spcBef>
                          <a:spcPts val="0"/>
                        </a:spcBef>
                        <a:spcAft>
                          <a:spcPts val="0"/>
                        </a:spcAft>
                        <a:buClrTx/>
                        <a:buSzTx/>
                        <a:buFontTx/>
                        <a:buNone/>
                        <a:tabLst/>
                        <a:defRPr/>
                      </a:pPr>
                      <a:r>
                        <a:rPr lang="zh-CN" altLang="en-US" sz="1100" dirty="0">
                          <a:solidFill>
                            <a:schemeClr val="tx1"/>
                          </a:solidFill>
                        </a:rPr>
                        <a:t>红斑及角化过度，发生皲裂。伴有深褐色色素沉着。</a:t>
                      </a:r>
                      <a:r>
                        <a:rPr lang="zh-CN" altLang="en-US" sz="1100" b="1" dirty="0">
                          <a:solidFill>
                            <a:srgbClr val="108638"/>
                          </a:solidFill>
                        </a:rPr>
                        <a:t>伴疼痛，影响日常生活，被判定为</a:t>
                      </a:r>
                      <a:r>
                        <a:rPr lang="en-US" altLang="zh-CN" sz="1100" b="1" dirty="0">
                          <a:solidFill>
                            <a:srgbClr val="108638"/>
                          </a:solidFill>
                        </a:rPr>
                        <a:t>2</a:t>
                      </a:r>
                      <a:r>
                        <a:rPr lang="zh-CN" altLang="en-US" sz="1100" b="1" dirty="0">
                          <a:solidFill>
                            <a:srgbClr val="108638"/>
                          </a:solidFill>
                        </a:rPr>
                        <a:t>级</a:t>
                      </a:r>
                    </a:p>
                  </a:txBody>
                  <a:tcPr anchor="ctr">
                    <a:lnL w="6350" cap="flat" cmpd="sng" algn="ctr">
                      <a:solidFill>
                        <a:schemeClr val="bg1">
                          <a:lumMod val="50000"/>
                        </a:schemeClr>
                      </a:solidFill>
                      <a:prstDash val="dash"/>
                      <a:round/>
                      <a:headEnd type="none" w="med" len="med"/>
                      <a:tailEnd type="none" w="med" len="med"/>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CDE6FF"/>
                    </a:solid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6516945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lt"/>
              </a:rPr>
              <a:t>发生</a:t>
            </a:r>
            <a:r>
              <a:rPr lang="en-US" altLang="zh-CN" dirty="0">
                <a:sym typeface="+mn-lt"/>
              </a:rPr>
              <a:t>HFS</a:t>
            </a:r>
            <a:r>
              <a:rPr lang="zh-CN" altLang="en-US" dirty="0">
                <a:sym typeface="+mn-lt"/>
              </a:rPr>
              <a:t>的风险因素</a:t>
            </a:r>
          </a:p>
        </p:txBody>
      </p:sp>
      <p:sp>
        <p:nvSpPr>
          <p:cNvPr id="68" name="矩形 67"/>
          <p:cNvSpPr/>
          <p:nvPr/>
        </p:nvSpPr>
        <p:spPr>
          <a:xfrm>
            <a:off x="5214719" y="6488668"/>
            <a:ext cx="3929281" cy="369332"/>
          </a:xfrm>
          <a:prstGeom prst="rect">
            <a:avLst/>
          </a:prstGeom>
        </p:spPr>
        <p:txBody>
          <a:bodyPr wrap="none">
            <a:spAutoFit/>
          </a:bodyPr>
          <a:lstStyle/>
          <a:p>
            <a:pPr marL="228600" indent="-228600" algn="r">
              <a:buFont typeface="+mj-lt"/>
              <a:buAutoNum type="arabicPeriod"/>
            </a:pPr>
            <a:r>
              <a:rPr lang="zh-CN" altLang="en-US" sz="900" dirty="0">
                <a:solidFill>
                  <a:prstClr val="black"/>
                </a:solidFill>
                <a:latin typeface="微软雅黑"/>
                <a:ea typeface="微软雅黑"/>
              </a:rPr>
              <a:t>赵德华等</a:t>
            </a:r>
            <a:r>
              <a:rPr lang="en-US" altLang="zh-CN" sz="900" dirty="0">
                <a:solidFill>
                  <a:prstClr val="black"/>
                </a:solidFill>
                <a:latin typeface="微软雅黑"/>
                <a:ea typeface="微软雅黑"/>
              </a:rPr>
              <a:t>, </a:t>
            </a:r>
            <a:r>
              <a:rPr lang="zh-CN" altLang="en-US" sz="900" dirty="0">
                <a:solidFill>
                  <a:prstClr val="black"/>
                </a:solidFill>
                <a:latin typeface="微软雅黑"/>
                <a:ea typeface="微软雅黑"/>
              </a:rPr>
              <a:t>中国现代应用药学 </a:t>
            </a:r>
            <a:r>
              <a:rPr lang="en-US" altLang="zh-CN" sz="900" dirty="0">
                <a:solidFill>
                  <a:prstClr val="black"/>
                </a:solidFill>
                <a:latin typeface="微软雅黑"/>
                <a:ea typeface="微软雅黑"/>
              </a:rPr>
              <a:t>2019;36(11):1437-42.</a:t>
            </a:r>
          </a:p>
          <a:p>
            <a:pPr marL="228600" indent="-228600" algn="r">
              <a:buFont typeface="+mj-lt"/>
              <a:buAutoNum type="arabicPeriod"/>
            </a:pPr>
            <a:r>
              <a:rPr lang="zh-CN" altLang="en-US" sz="900" dirty="0">
                <a:solidFill>
                  <a:prstClr val="black"/>
                </a:solidFill>
                <a:latin typeface="微软雅黑"/>
                <a:ea typeface="微软雅黑"/>
              </a:rPr>
              <a:t>日本厚生劳动省</a:t>
            </a:r>
            <a:r>
              <a:rPr lang="en-US" altLang="zh-CN" sz="900" dirty="0">
                <a:solidFill>
                  <a:prstClr val="black"/>
                </a:solidFill>
                <a:latin typeface="微软雅黑"/>
                <a:ea typeface="微软雅黑"/>
              </a:rPr>
              <a:t>, </a:t>
            </a:r>
            <a:r>
              <a:rPr lang="ja-JP" altLang="en-US" sz="900" dirty="0">
                <a:solidFill>
                  <a:prstClr val="black"/>
                </a:solidFill>
                <a:latin typeface="微软雅黑"/>
                <a:ea typeface="微软雅黑"/>
              </a:rPr>
              <a:t>重篤副作用疾患別対応マニュアル 手足症候群 </a:t>
            </a:r>
            <a:r>
              <a:rPr lang="en-US" altLang="zh-CN" sz="900" dirty="0">
                <a:solidFill>
                  <a:prstClr val="black"/>
                </a:solidFill>
                <a:latin typeface="微软雅黑"/>
                <a:ea typeface="微软雅黑"/>
              </a:rPr>
              <a:t>2010.</a:t>
            </a:r>
          </a:p>
        </p:txBody>
      </p:sp>
      <p:grpSp>
        <p:nvGrpSpPr>
          <p:cNvPr id="9" name="组合 8">
            <a:extLst>
              <a:ext uri="{FF2B5EF4-FFF2-40B4-BE49-F238E27FC236}">
                <a16:creationId xmlns:a16="http://schemas.microsoft.com/office/drawing/2014/main" xmlns="" id="{D9499D7C-7271-4DBC-BCB8-0DD04A2E6F3B}"/>
              </a:ext>
            </a:extLst>
          </p:cNvPr>
          <p:cNvGrpSpPr/>
          <p:nvPr/>
        </p:nvGrpSpPr>
        <p:grpSpPr>
          <a:xfrm>
            <a:off x="522000" y="1087404"/>
            <a:ext cx="8394920" cy="5307847"/>
            <a:chOff x="522000" y="1087404"/>
            <a:chExt cx="8394920" cy="5307847"/>
          </a:xfrm>
        </p:grpSpPr>
        <p:pic>
          <p:nvPicPr>
            <p:cNvPr id="4" name="图片 3">
              <a:extLst>
                <a:ext uri="{FF2B5EF4-FFF2-40B4-BE49-F238E27FC236}">
                  <a16:creationId xmlns:a16="http://schemas.microsoft.com/office/drawing/2014/main" xmlns="" id="{09BB17A0-EE51-4672-A2B5-3DA64D856195}"/>
                </a:ext>
              </a:extLst>
            </p:cNvPr>
            <p:cNvPicPr>
              <a:picLocks noChangeAspect="1"/>
            </p:cNvPicPr>
            <p:nvPr/>
          </p:nvPicPr>
          <p:blipFill>
            <a:blip r:embed="rId3"/>
            <a:stretch>
              <a:fillRect/>
            </a:stretch>
          </p:blipFill>
          <p:spPr>
            <a:xfrm>
              <a:off x="522000" y="1414387"/>
              <a:ext cx="8394920" cy="4980864"/>
            </a:xfrm>
            <a:prstGeom prst="rect">
              <a:avLst/>
            </a:prstGeom>
          </p:spPr>
        </p:pic>
        <p:sp>
          <p:nvSpPr>
            <p:cNvPr id="56" name="矩形 55"/>
            <p:cNvSpPr/>
            <p:nvPr/>
          </p:nvSpPr>
          <p:spPr>
            <a:xfrm>
              <a:off x="2903192" y="4985999"/>
              <a:ext cx="5242051" cy="1155188"/>
            </a:xfrm>
            <a:prstGeom prst="rect">
              <a:avLst/>
            </a:prstGeom>
          </p:spPr>
          <p:txBody>
            <a:bodyPr wrap="square">
              <a:spAutoFit/>
            </a:bodyPr>
            <a:lstStyle/>
            <a:p>
              <a:pPr marL="171450" indent="-171450">
                <a:lnSpc>
                  <a:spcPct val="120000"/>
                </a:lnSpc>
                <a:spcBef>
                  <a:spcPts val="400"/>
                </a:spcBef>
                <a:buFont typeface="Arial" panose="020B0604020202020204" pitchFamily="34" charset="0"/>
                <a:buChar char="•"/>
              </a:pPr>
              <a:r>
                <a:rPr lang="zh-CN" altLang="en-US" sz="1300" b="1" dirty="0">
                  <a:solidFill>
                    <a:prstClr val="black"/>
                  </a:solidFill>
                  <a:latin typeface="微软雅黑" panose="020F0502020204030204"/>
                  <a:ea typeface="微软雅黑"/>
                  <a:cs typeface="+mn-ea"/>
                  <a:sym typeface="+mn-lt"/>
                </a:rPr>
                <a:t>手、足易受物理刺激处</a:t>
              </a:r>
              <a:r>
                <a:rPr lang="zh-CN" altLang="en-US" sz="1300" dirty="0">
                  <a:solidFill>
                    <a:prstClr val="black"/>
                  </a:solidFill>
                  <a:latin typeface="微软雅黑" panose="020F0502020204030204"/>
                  <a:ea typeface="微软雅黑"/>
                  <a:cs typeface="+mn-ea"/>
                  <a:sym typeface="+mn-lt"/>
                </a:rPr>
                <a:t>多见</a:t>
              </a:r>
              <a:r>
                <a:rPr lang="en-US" altLang="zh-CN" sz="1300" baseline="30000" dirty="0">
                  <a:solidFill>
                    <a:prstClr val="black"/>
                  </a:solidFill>
                  <a:latin typeface="微软雅黑" panose="020F0502020204030204"/>
                  <a:ea typeface="微软雅黑"/>
                  <a:cs typeface="+mn-ea"/>
                  <a:sym typeface="+mn-lt"/>
                </a:rPr>
                <a:t>2</a:t>
              </a:r>
              <a:endParaRPr lang="zh-CN" altLang="en-US" sz="1300" dirty="0">
                <a:solidFill>
                  <a:prstClr val="black"/>
                </a:solidFill>
                <a:latin typeface="微软雅黑" panose="020F0502020204030204"/>
                <a:ea typeface="微软雅黑"/>
                <a:cs typeface="+mn-ea"/>
                <a:sym typeface="+mn-lt"/>
              </a:endParaRPr>
            </a:p>
            <a:p>
              <a:pPr marL="171450" indent="-171450">
                <a:lnSpc>
                  <a:spcPct val="120000"/>
                </a:lnSpc>
                <a:spcBef>
                  <a:spcPts val="400"/>
                </a:spcBef>
                <a:buFont typeface="Arial" panose="020B0604020202020204" pitchFamily="34" charset="0"/>
                <a:buChar char="•"/>
              </a:pPr>
              <a:r>
                <a:rPr lang="zh-CN" altLang="en-US" sz="1300" dirty="0">
                  <a:solidFill>
                    <a:prstClr val="black"/>
                  </a:solidFill>
                  <a:latin typeface="微软雅黑" panose="020F0502020204030204"/>
                  <a:ea typeface="微软雅黑"/>
                  <a:cs typeface="+mn-ea"/>
                  <a:sym typeface="+mn-lt"/>
                </a:rPr>
                <a:t>氟尿嘧啶类抗肿瘤药物引起的</a:t>
              </a:r>
              <a:r>
                <a:rPr lang="en-US" altLang="zh-CN" sz="1300" dirty="0">
                  <a:solidFill>
                    <a:prstClr val="black"/>
                  </a:solidFill>
                  <a:latin typeface="微软雅黑" panose="020F0502020204030204"/>
                  <a:ea typeface="微软雅黑"/>
                  <a:cs typeface="+mn-ea"/>
                  <a:sym typeface="+mn-lt"/>
                </a:rPr>
                <a:t>HFS</a:t>
              </a:r>
              <a:r>
                <a:rPr lang="zh-CN" altLang="en-US" sz="1300" dirty="0">
                  <a:solidFill>
                    <a:prstClr val="black"/>
                  </a:solidFill>
                  <a:latin typeface="微软雅黑" panose="020F0502020204030204"/>
                  <a:ea typeface="微软雅黑"/>
                  <a:cs typeface="+mn-ea"/>
                  <a:sym typeface="+mn-lt"/>
                </a:rPr>
                <a:t>在</a:t>
              </a:r>
              <a:r>
                <a:rPr lang="zh-CN" altLang="en-US" sz="1300" b="1" dirty="0">
                  <a:solidFill>
                    <a:prstClr val="black"/>
                  </a:solidFill>
                  <a:latin typeface="微软雅黑" panose="020F0502020204030204"/>
                  <a:ea typeface="微软雅黑"/>
                  <a:cs typeface="+mn-ea"/>
                  <a:sym typeface="+mn-lt"/>
                </a:rPr>
                <a:t>女性和老年人</a:t>
              </a:r>
              <a:r>
                <a:rPr lang="zh-CN" altLang="en-US" sz="1300" dirty="0">
                  <a:solidFill>
                    <a:prstClr val="black"/>
                  </a:solidFill>
                  <a:latin typeface="微软雅黑" panose="020F0502020204030204"/>
                  <a:ea typeface="微软雅黑"/>
                  <a:cs typeface="+mn-ea"/>
                  <a:sym typeface="+mn-lt"/>
                </a:rPr>
                <a:t>中更为常见</a:t>
              </a:r>
              <a:r>
                <a:rPr lang="en-US" altLang="zh-CN" sz="1300" baseline="30000" dirty="0">
                  <a:solidFill>
                    <a:prstClr val="black"/>
                  </a:solidFill>
                  <a:latin typeface="微软雅黑" panose="020F0502020204030204"/>
                  <a:ea typeface="微软雅黑"/>
                  <a:cs typeface="+mn-ea"/>
                  <a:sym typeface="+mn-lt"/>
                </a:rPr>
                <a:t>2</a:t>
              </a:r>
              <a:endParaRPr lang="zh-CN" altLang="en-US" sz="1300" dirty="0">
                <a:solidFill>
                  <a:prstClr val="black"/>
                </a:solidFill>
                <a:latin typeface="微软雅黑" panose="020F0502020204030204"/>
                <a:ea typeface="微软雅黑"/>
                <a:cs typeface="+mn-ea"/>
                <a:sym typeface="+mn-lt"/>
              </a:endParaRPr>
            </a:p>
            <a:p>
              <a:pPr marL="171450" indent="-171450">
                <a:lnSpc>
                  <a:spcPct val="120000"/>
                </a:lnSpc>
                <a:spcBef>
                  <a:spcPts val="400"/>
                </a:spcBef>
                <a:buFont typeface="Arial" panose="020B0604020202020204" pitchFamily="34" charset="0"/>
                <a:buChar char="•"/>
              </a:pPr>
              <a:r>
                <a:rPr lang="zh-CN" altLang="en-US" sz="1300" dirty="0">
                  <a:solidFill>
                    <a:prstClr val="black"/>
                  </a:solidFill>
                  <a:latin typeface="微软雅黑" panose="020F0502020204030204"/>
                  <a:ea typeface="微软雅黑"/>
                  <a:cs typeface="+mn-ea"/>
                  <a:sym typeface="+mn-lt"/>
                </a:rPr>
                <a:t>卡培他滨治疗时，</a:t>
              </a:r>
              <a:r>
                <a:rPr lang="zh-CN" altLang="en-US" sz="1300" b="1" dirty="0">
                  <a:solidFill>
                    <a:prstClr val="black"/>
                  </a:solidFill>
                  <a:latin typeface="微软雅黑" panose="020F0502020204030204"/>
                  <a:ea typeface="微软雅黑"/>
                  <a:cs typeface="+mn-ea"/>
                  <a:sym typeface="+mn-lt"/>
                </a:rPr>
                <a:t>老年人、贫血患者和肾功能受损患者≥</a:t>
              </a:r>
              <a:r>
                <a:rPr lang="en-US" altLang="zh-CN" sz="1300" b="1" dirty="0">
                  <a:solidFill>
                    <a:prstClr val="black"/>
                  </a:solidFill>
                  <a:latin typeface="微软雅黑" panose="020F0502020204030204"/>
                  <a:ea typeface="微软雅黑"/>
                  <a:cs typeface="+mn-ea"/>
                  <a:sym typeface="+mn-lt"/>
                </a:rPr>
                <a:t>2</a:t>
              </a:r>
              <a:r>
                <a:rPr lang="zh-CN" altLang="en-US" sz="1300" b="1" dirty="0">
                  <a:solidFill>
                    <a:prstClr val="black"/>
                  </a:solidFill>
                  <a:latin typeface="微软雅黑" panose="020F0502020204030204"/>
                  <a:ea typeface="微软雅黑"/>
                  <a:cs typeface="+mn-ea"/>
                  <a:sym typeface="+mn-lt"/>
                </a:rPr>
                <a:t>级</a:t>
              </a:r>
              <a:r>
                <a:rPr lang="en-US" altLang="zh-CN" sz="1300" b="1" dirty="0">
                  <a:solidFill>
                    <a:prstClr val="black"/>
                  </a:solidFill>
                  <a:latin typeface="微软雅黑" panose="020F0502020204030204"/>
                  <a:ea typeface="微软雅黑"/>
                  <a:cs typeface="+mn-ea"/>
                  <a:sym typeface="+mn-lt"/>
                </a:rPr>
                <a:t>HFS</a:t>
              </a:r>
              <a:r>
                <a:rPr lang="zh-CN" altLang="en-US" sz="1300" b="1" dirty="0">
                  <a:solidFill>
                    <a:prstClr val="black"/>
                  </a:solidFill>
                  <a:latin typeface="微软雅黑" panose="020F0502020204030204"/>
                  <a:ea typeface="微软雅黑"/>
                  <a:cs typeface="+mn-ea"/>
                  <a:sym typeface="+mn-lt"/>
                </a:rPr>
                <a:t>的发生率较高</a:t>
              </a:r>
              <a:r>
                <a:rPr lang="en-US" altLang="zh-CN" sz="1300" b="1" baseline="30000" dirty="0">
                  <a:solidFill>
                    <a:prstClr val="black"/>
                  </a:solidFill>
                  <a:latin typeface="微软雅黑" panose="020F0502020204030204"/>
                  <a:ea typeface="微软雅黑"/>
                  <a:cs typeface="+mn-ea"/>
                  <a:sym typeface="+mn-lt"/>
                </a:rPr>
                <a:t>2</a:t>
              </a:r>
              <a:endParaRPr lang="zh-CN" altLang="en-US" sz="1300" b="1" dirty="0">
                <a:solidFill>
                  <a:prstClr val="black"/>
                </a:solidFill>
                <a:latin typeface="微软雅黑" panose="020F0502020204030204"/>
                <a:ea typeface="微软雅黑"/>
                <a:cs typeface="+mn-ea"/>
                <a:sym typeface="+mn-lt"/>
              </a:endParaRPr>
            </a:p>
          </p:txBody>
        </p:sp>
        <p:sp>
          <p:nvSpPr>
            <p:cNvPr id="107" name="Text Box 16"/>
            <p:cNvSpPr txBox="1">
              <a:spLocks noChangeArrowheads="1"/>
            </p:cNvSpPr>
            <p:nvPr/>
          </p:nvSpPr>
          <p:spPr bwMode="auto">
            <a:xfrm>
              <a:off x="948280" y="3122801"/>
              <a:ext cx="1858812"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肿瘤类型</a:t>
              </a:r>
            </a:p>
          </p:txBody>
        </p:sp>
        <p:sp>
          <p:nvSpPr>
            <p:cNvPr id="110" name="Text Box 17"/>
            <p:cNvSpPr txBox="1">
              <a:spLocks noChangeArrowheads="1"/>
            </p:cNvSpPr>
            <p:nvPr/>
          </p:nvSpPr>
          <p:spPr bwMode="auto">
            <a:xfrm>
              <a:off x="1046707" y="1943778"/>
              <a:ext cx="2039029"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药物种类</a:t>
              </a:r>
            </a:p>
          </p:txBody>
        </p:sp>
        <p:sp>
          <p:nvSpPr>
            <p:cNvPr id="111" name="Text Box 18"/>
            <p:cNvSpPr txBox="1">
              <a:spLocks noChangeArrowheads="1"/>
            </p:cNvSpPr>
            <p:nvPr/>
          </p:nvSpPr>
          <p:spPr bwMode="auto">
            <a:xfrm>
              <a:off x="1925829" y="4117952"/>
              <a:ext cx="1592081"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人种</a:t>
              </a:r>
            </a:p>
          </p:txBody>
        </p:sp>
        <p:sp>
          <p:nvSpPr>
            <p:cNvPr id="112" name="Text Box 19"/>
            <p:cNvSpPr txBox="1">
              <a:spLocks noChangeArrowheads="1"/>
            </p:cNvSpPr>
            <p:nvPr/>
          </p:nvSpPr>
          <p:spPr bwMode="auto">
            <a:xfrm>
              <a:off x="3219634" y="1087404"/>
              <a:ext cx="2319338"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algn="ct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药物浓度</a:t>
              </a:r>
              <a:endParaRPr lang="en-US" altLang="zh-CN" sz="1500" b="1" dirty="0">
                <a:solidFill>
                  <a:prstClr val="black"/>
                </a:solidFill>
                <a:latin typeface="微软雅黑" panose="020B0503020204020204" pitchFamily="34" charset="-122"/>
                <a:ea typeface="微软雅黑" panose="020B0503020204020204" pitchFamily="34" charset="-122"/>
              </a:endParaRPr>
            </a:p>
          </p:txBody>
        </p:sp>
        <p:sp>
          <p:nvSpPr>
            <p:cNvPr id="113" name="Text Box 20"/>
            <p:cNvSpPr txBox="1">
              <a:spLocks noChangeArrowheads="1"/>
            </p:cNvSpPr>
            <p:nvPr/>
          </p:nvSpPr>
          <p:spPr bwMode="auto">
            <a:xfrm>
              <a:off x="5701321" y="1943778"/>
              <a:ext cx="1218721" cy="32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联合治疗</a:t>
              </a:r>
            </a:p>
          </p:txBody>
        </p:sp>
        <p:sp>
          <p:nvSpPr>
            <p:cNvPr id="114" name="Text Box 23"/>
            <p:cNvSpPr txBox="1">
              <a:spLocks noChangeArrowheads="1"/>
            </p:cNvSpPr>
            <p:nvPr/>
          </p:nvSpPr>
          <p:spPr bwMode="auto">
            <a:xfrm>
              <a:off x="5972377" y="3122801"/>
              <a:ext cx="1186513"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性别</a:t>
              </a:r>
              <a:endParaRPr lang="en-US" altLang="zh-CN" sz="1500" b="1" dirty="0">
                <a:solidFill>
                  <a:prstClr val="black"/>
                </a:solidFill>
                <a:latin typeface="微软雅黑" panose="020B0503020204020204" pitchFamily="34" charset="-122"/>
                <a:ea typeface="微软雅黑" panose="020B0503020204020204" pitchFamily="34" charset="-122"/>
              </a:endParaRPr>
            </a:p>
          </p:txBody>
        </p:sp>
        <p:sp>
          <p:nvSpPr>
            <p:cNvPr id="148" name="Text Box 20"/>
            <p:cNvSpPr txBox="1">
              <a:spLocks noChangeArrowheads="1"/>
            </p:cNvSpPr>
            <p:nvPr/>
          </p:nvSpPr>
          <p:spPr bwMode="auto">
            <a:xfrm>
              <a:off x="5229405" y="4117952"/>
              <a:ext cx="1692101" cy="329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eaLnBrk="0" hangingPunct="0">
                <a:spcBef>
                  <a:spcPct val="20000"/>
                </a:spcBef>
                <a:buClr>
                  <a:schemeClr val="tx2"/>
                </a:buClr>
                <a:buFont typeface="Wingdings" pitchFamily="2" charset="2"/>
                <a:buChar char="v"/>
                <a:defRPr sz="2800">
                  <a:solidFill>
                    <a:schemeClr val="tx1"/>
                  </a:solidFill>
                  <a:latin typeface="Arial" pitchFamily="34" charset="0"/>
                </a:defRPr>
              </a:lvl1pPr>
              <a:lvl2pPr marL="742950" indent="-285750" eaLnBrk="0" hangingPunct="0">
                <a:spcBef>
                  <a:spcPct val="20000"/>
                </a:spcBef>
                <a:buClr>
                  <a:schemeClr val="accent1"/>
                </a:buClr>
                <a:buFont typeface="Wingdings" pitchFamily="2" charset="2"/>
                <a:buChar char="§"/>
                <a:defRPr sz="2600">
                  <a:solidFill>
                    <a:schemeClr val="tx1"/>
                  </a:solidFill>
                  <a:latin typeface="Arial" pitchFamily="34" charset="0"/>
                </a:defRPr>
              </a:lvl2pPr>
              <a:lvl3pPr marL="1143000" indent="-228600" eaLnBrk="0" hangingPunct="0">
                <a:spcBef>
                  <a:spcPct val="20000"/>
                </a:spcBef>
                <a:buClr>
                  <a:schemeClr val="accent2"/>
                </a:buClr>
                <a:buChar char="•"/>
                <a:defRPr sz="2400">
                  <a:solidFill>
                    <a:schemeClr val="tx1"/>
                  </a:solidFill>
                  <a:latin typeface="Arial" pitchFamily="34" charset="0"/>
                </a:defRPr>
              </a:lvl3pPr>
              <a:lvl4pPr marL="1600200" indent="-228600" eaLnBrk="0" hangingPunct="0">
                <a:spcBef>
                  <a:spcPct val="20000"/>
                </a:spcBef>
                <a:buChar char="–"/>
                <a:defRPr sz="2000">
                  <a:solidFill>
                    <a:schemeClr val="tx1"/>
                  </a:solidFill>
                  <a:latin typeface="Arial" pitchFamily="34" charset="0"/>
                </a:defRPr>
              </a:lvl4pPr>
              <a:lvl5pPr marL="2057400" indent="-228600" eaLnBrk="0" hangingPunct="0">
                <a:spcBef>
                  <a:spcPct val="20000"/>
                </a:spcBef>
                <a:buChar char="»"/>
                <a:defRPr sz="2000">
                  <a:solidFill>
                    <a:schemeClr val="tx1"/>
                  </a:solidFill>
                  <a:latin typeface="Arial" pitchFamily="34" charset="0"/>
                </a:defRPr>
              </a:lvl5pPr>
              <a:lvl6pPr marL="2514600" indent="-228600" eaLnBrk="0" fontAlgn="base" hangingPunct="0">
                <a:spcBef>
                  <a:spcPct val="20000"/>
                </a:spcBef>
                <a:spcAft>
                  <a:spcPct val="0"/>
                </a:spcAft>
                <a:buChar char="»"/>
                <a:defRPr sz="2000">
                  <a:solidFill>
                    <a:schemeClr val="tx1"/>
                  </a:solidFill>
                  <a:latin typeface="Arial" pitchFamily="34" charset="0"/>
                </a:defRPr>
              </a:lvl6pPr>
              <a:lvl7pPr marL="2971800" indent="-228600" eaLnBrk="0" fontAlgn="base" hangingPunct="0">
                <a:spcBef>
                  <a:spcPct val="20000"/>
                </a:spcBef>
                <a:spcAft>
                  <a:spcPct val="0"/>
                </a:spcAft>
                <a:buChar char="»"/>
                <a:defRPr sz="2000">
                  <a:solidFill>
                    <a:schemeClr val="tx1"/>
                  </a:solidFill>
                  <a:latin typeface="Arial" pitchFamily="34" charset="0"/>
                </a:defRPr>
              </a:lvl7pPr>
              <a:lvl8pPr marL="3429000" indent="-228600" eaLnBrk="0" fontAlgn="base" hangingPunct="0">
                <a:spcBef>
                  <a:spcPct val="20000"/>
                </a:spcBef>
                <a:spcAft>
                  <a:spcPct val="0"/>
                </a:spcAft>
                <a:buChar char="»"/>
                <a:defRPr sz="2000">
                  <a:solidFill>
                    <a:schemeClr val="tx1"/>
                  </a:solidFill>
                  <a:latin typeface="Arial" pitchFamily="34" charset="0"/>
                </a:defRPr>
              </a:lvl8pPr>
              <a:lvl9pPr marL="3886200" indent="-228600" eaLnBrk="0" fontAlgn="base" hangingPunct="0">
                <a:spcBef>
                  <a:spcPct val="20000"/>
                </a:spcBef>
                <a:spcAft>
                  <a:spcPct val="0"/>
                </a:spcAft>
                <a:buChar char="»"/>
                <a:defRPr sz="2000">
                  <a:solidFill>
                    <a:schemeClr val="tx1"/>
                  </a:solidFill>
                  <a:latin typeface="Arial" pitchFamily="34" charset="0"/>
                </a:defRPr>
              </a:lvl9pPr>
            </a:lstStyle>
            <a:p>
              <a:pPr fontAlgn="auto">
                <a:spcAft>
                  <a:spcPts val="0"/>
                </a:spcAft>
                <a:buClr>
                  <a:srgbClr val="44546A"/>
                </a:buClr>
                <a:buFont typeface="Wingdings" pitchFamily="2" charset="2"/>
                <a:buNone/>
              </a:pPr>
              <a:r>
                <a:rPr lang="zh-CN" altLang="en-US" sz="1500" b="1" dirty="0">
                  <a:solidFill>
                    <a:prstClr val="black"/>
                  </a:solidFill>
                  <a:latin typeface="微软雅黑" panose="020B0503020204020204" pitchFamily="34" charset="-122"/>
                  <a:ea typeface="微软雅黑" panose="020B0503020204020204" pitchFamily="34" charset="-122"/>
                </a:rPr>
                <a:t>年龄</a:t>
              </a:r>
              <a:endParaRPr lang="en-US" altLang="zh-CN" sz="1500" b="1" dirty="0">
                <a:solidFill>
                  <a:prstClr val="black"/>
                </a:solidFill>
                <a:latin typeface="微软雅黑" panose="020B0503020204020204" pitchFamily="34" charset="-122"/>
                <a:ea typeface="微软雅黑" panose="020B0503020204020204" pitchFamily="34" charset="-122"/>
              </a:endParaRPr>
            </a:p>
          </p:txBody>
        </p:sp>
        <p:sp>
          <p:nvSpPr>
            <p:cNvPr id="43" name="矩形 42"/>
            <p:cNvSpPr/>
            <p:nvPr/>
          </p:nvSpPr>
          <p:spPr>
            <a:xfrm>
              <a:off x="3692742" y="2243750"/>
              <a:ext cx="1404000" cy="1404000"/>
            </a:xfrm>
            <a:prstGeom prst="rect">
              <a:avLst/>
            </a:prstGeom>
            <a:noFill/>
            <a:ln>
              <a:noFill/>
            </a:ln>
          </p:spPr>
          <p:txBody>
            <a:bodyPr wrap="square" anchor="ctr">
              <a:noAutofit/>
            </a:bodyPr>
            <a:lstStyle/>
            <a:p>
              <a:pPr algn="ctr" eaLnBrk="1" fontAlgn="auto" hangingPunct="1">
                <a:lnSpc>
                  <a:spcPct val="120000"/>
                </a:lnSpc>
                <a:spcBef>
                  <a:spcPts val="0"/>
                </a:spcBef>
                <a:spcAft>
                  <a:spcPts val="0"/>
                </a:spcAft>
              </a:pPr>
              <a:r>
                <a:rPr lang="zh-CN" altLang="en-US" sz="1600" b="1" dirty="0">
                  <a:solidFill>
                    <a:prstClr val="white"/>
                  </a:solidFill>
                  <a:latin typeface="微软雅黑" panose="020B0503020204020204" pitchFamily="34" charset="-122"/>
                  <a:ea typeface="微软雅黑" panose="020B0503020204020204" pitchFamily="34" charset="-122"/>
                </a:rPr>
                <a:t>发生</a:t>
              </a:r>
              <a:r>
                <a:rPr lang="en-US" altLang="zh-CN" sz="1600" b="1" dirty="0">
                  <a:solidFill>
                    <a:prstClr val="white"/>
                  </a:solidFill>
                  <a:latin typeface="微软雅黑" panose="020B0503020204020204" pitchFamily="34" charset="-122"/>
                  <a:ea typeface="微软雅黑" panose="020B0503020204020204" pitchFamily="34" charset="-122"/>
                </a:rPr>
                <a:t>HFS</a:t>
              </a:r>
              <a:r>
                <a:rPr lang="zh-CN" altLang="en-US" sz="1600" b="1" dirty="0">
                  <a:solidFill>
                    <a:prstClr val="white"/>
                  </a:solidFill>
                  <a:latin typeface="微软雅黑" panose="020B0503020204020204" pitchFamily="34" charset="-122"/>
                  <a:ea typeface="微软雅黑" panose="020B0503020204020204" pitchFamily="34" charset="-122"/>
                </a:rPr>
                <a:t>的</a:t>
              </a:r>
              <a:r>
                <a:rPr lang="en-US" altLang="zh-CN" sz="1600" b="1" dirty="0">
                  <a:solidFill>
                    <a:prstClr val="white"/>
                  </a:solidFill>
                  <a:latin typeface="微软雅黑" panose="020B0503020204020204" pitchFamily="34" charset="-122"/>
                  <a:ea typeface="微软雅黑" panose="020B0503020204020204" pitchFamily="34" charset="-122"/>
                </a:rPr>
                <a:t/>
              </a:r>
              <a:br>
                <a:rPr lang="en-US" altLang="zh-CN" sz="1600" b="1" dirty="0">
                  <a:solidFill>
                    <a:prstClr val="white"/>
                  </a:solidFill>
                  <a:latin typeface="微软雅黑" panose="020B0503020204020204" pitchFamily="34" charset="-122"/>
                  <a:ea typeface="微软雅黑" panose="020B0503020204020204" pitchFamily="34" charset="-122"/>
                </a:rPr>
              </a:br>
              <a:r>
                <a:rPr lang="zh-CN" altLang="en-US" sz="1600" b="1" dirty="0">
                  <a:solidFill>
                    <a:prstClr val="white"/>
                  </a:solidFill>
                  <a:latin typeface="微软雅黑" panose="020B0503020204020204" pitchFamily="34" charset="-122"/>
                  <a:ea typeface="微软雅黑" panose="020B0503020204020204" pitchFamily="34" charset="-122"/>
                </a:rPr>
                <a:t>风险因素</a:t>
              </a:r>
              <a:r>
                <a:rPr lang="en-US" altLang="zh-CN" sz="1600" b="1" baseline="30000" dirty="0">
                  <a:solidFill>
                    <a:prstClr val="white"/>
                  </a:solidFill>
                  <a:latin typeface="微软雅黑" panose="020B0503020204020204" pitchFamily="34" charset="-122"/>
                  <a:ea typeface="微软雅黑" panose="020B0503020204020204" pitchFamily="34" charset="-122"/>
                </a:rPr>
                <a:t>1</a:t>
              </a:r>
              <a:endParaRPr lang="zh-CN" altLang="en-US" sz="1600" b="1" dirty="0">
                <a:solidFill>
                  <a:prstClr val="white"/>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4041183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5AEBE01-FD19-4DE3-997E-177F7F1F1E81}"/>
              </a:ext>
            </a:extLst>
          </p:cNvPr>
          <p:cNvSpPr>
            <a:spLocks noGrp="1"/>
          </p:cNvSpPr>
          <p:nvPr>
            <p:ph type="title"/>
          </p:nvPr>
        </p:nvSpPr>
        <p:spPr/>
        <p:txBody>
          <a:bodyPr/>
          <a:lstStyle/>
          <a:p>
            <a:r>
              <a:rPr lang="en-US" altLang="zh-CN" dirty="0"/>
              <a:t>HFS</a:t>
            </a:r>
            <a:r>
              <a:rPr lang="zh-CN" altLang="en-US" dirty="0"/>
              <a:t>的早期症状</a:t>
            </a:r>
          </a:p>
        </p:txBody>
      </p:sp>
      <p:sp>
        <p:nvSpPr>
          <p:cNvPr id="33" name="矩形 32"/>
          <p:cNvSpPr/>
          <p:nvPr/>
        </p:nvSpPr>
        <p:spPr>
          <a:xfrm>
            <a:off x="5418300" y="6627168"/>
            <a:ext cx="3725700" cy="230832"/>
          </a:xfrm>
          <a:prstGeom prst="rect">
            <a:avLst/>
          </a:prstGeom>
        </p:spPr>
        <p:txBody>
          <a:bodyPr wrap="none">
            <a:spAutoFit/>
          </a:bodyPr>
          <a:lstStyle/>
          <a:p>
            <a:pPr algn="r"/>
            <a:r>
              <a:rPr lang="zh-CN" altLang="en-US" sz="900" dirty="0">
                <a:solidFill>
                  <a:prstClr val="black"/>
                </a:solidFill>
                <a:latin typeface="微软雅黑"/>
                <a:ea typeface="微软雅黑"/>
              </a:rPr>
              <a:t>日本厚生劳动省</a:t>
            </a:r>
            <a:r>
              <a:rPr lang="en-US" altLang="zh-CN" sz="900" dirty="0">
                <a:solidFill>
                  <a:prstClr val="black"/>
                </a:solidFill>
                <a:latin typeface="微软雅黑"/>
                <a:ea typeface="微软雅黑"/>
              </a:rPr>
              <a:t>, </a:t>
            </a:r>
            <a:r>
              <a:rPr lang="ja-JP" altLang="en-US" sz="900" dirty="0">
                <a:solidFill>
                  <a:prstClr val="black"/>
                </a:solidFill>
                <a:latin typeface="微软雅黑"/>
                <a:ea typeface="微软雅黑"/>
              </a:rPr>
              <a:t>重篤副作用疾患別対応マニュアル 手足症候群 </a:t>
            </a:r>
            <a:r>
              <a:rPr lang="en-US" altLang="zh-CN" sz="900" dirty="0">
                <a:solidFill>
                  <a:prstClr val="black"/>
                </a:solidFill>
                <a:latin typeface="微软雅黑"/>
                <a:ea typeface="微软雅黑"/>
              </a:rPr>
              <a:t>2010.</a:t>
            </a:r>
          </a:p>
        </p:txBody>
      </p:sp>
      <p:grpSp>
        <p:nvGrpSpPr>
          <p:cNvPr id="7" name="组合 6">
            <a:extLst>
              <a:ext uri="{FF2B5EF4-FFF2-40B4-BE49-F238E27FC236}">
                <a16:creationId xmlns:a16="http://schemas.microsoft.com/office/drawing/2014/main" xmlns="" id="{24A30295-8A67-40DB-BD6C-6141246723E4}"/>
              </a:ext>
            </a:extLst>
          </p:cNvPr>
          <p:cNvGrpSpPr/>
          <p:nvPr/>
        </p:nvGrpSpPr>
        <p:grpSpPr>
          <a:xfrm>
            <a:off x="328816" y="1177887"/>
            <a:ext cx="8486368" cy="5157663"/>
            <a:chOff x="328816" y="1177887"/>
            <a:chExt cx="8486368" cy="5157663"/>
          </a:xfrm>
        </p:grpSpPr>
        <p:pic>
          <p:nvPicPr>
            <p:cNvPr id="6" name="图片 5">
              <a:extLst>
                <a:ext uri="{FF2B5EF4-FFF2-40B4-BE49-F238E27FC236}">
                  <a16:creationId xmlns:a16="http://schemas.microsoft.com/office/drawing/2014/main" xmlns="" id="{5BD08848-F534-4327-9EAA-78AFF730DA71}"/>
                </a:ext>
              </a:extLst>
            </p:cNvPr>
            <p:cNvPicPr>
              <a:picLocks noChangeAspect="1"/>
            </p:cNvPicPr>
            <p:nvPr/>
          </p:nvPicPr>
          <p:blipFill>
            <a:blip r:embed="rId3"/>
            <a:stretch>
              <a:fillRect/>
            </a:stretch>
          </p:blipFill>
          <p:spPr>
            <a:xfrm>
              <a:off x="328816" y="1177887"/>
              <a:ext cx="8486368" cy="5157663"/>
            </a:xfrm>
            <a:prstGeom prst="rect">
              <a:avLst/>
            </a:prstGeom>
          </p:spPr>
        </p:pic>
        <p:sp>
          <p:nvSpPr>
            <p:cNvPr id="15" name="矩形 14"/>
            <p:cNvSpPr/>
            <p:nvPr/>
          </p:nvSpPr>
          <p:spPr>
            <a:xfrm>
              <a:off x="764381" y="2524360"/>
              <a:ext cx="3709420" cy="1354217"/>
            </a:xfrm>
            <a:prstGeom prst="rect">
              <a:avLst/>
            </a:prstGeom>
            <a:noFill/>
          </p:spPr>
          <p:txBody>
            <a:bodyPr wrap="square">
              <a:spAutoFit/>
            </a:bodyPr>
            <a:lstStyle/>
            <a:p>
              <a:pPr marL="171450" marR="76200" indent="-171450" algn="just">
                <a:lnSpc>
                  <a:spcPct val="120000"/>
                </a:lnSpc>
                <a:spcBef>
                  <a:spcPts val="400"/>
                </a:spcBef>
                <a:spcAft>
                  <a:spcPts val="0"/>
                </a:spcAft>
                <a:buFont typeface="Arial" panose="020B0604020202020204" pitchFamily="34" charset="0"/>
                <a:buChar char="•"/>
              </a:pPr>
              <a:r>
                <a:rPr lang="zh-CN" altLang="zh-CN" sz="1200" dirty="0">
                  <a:solidFill>
                    <a:prstClr val="black"/>
                  </a:solidFill>
                  <a:latin typeface="微软雅黑"/>
                  <a:ea typeface="微软雅黑"/>
                  <a:cs typeface="MS Gothic" panose="020B0609070205080204" pitchFamily="49" charset="-128"/>
                </a:rPr>
                <a:t>早期</a:t>
              </a:r>
              <a:r>
                <a:rPr lang="zh-CN" altLang="zh-CN" sz="1200" dirty="0">
                  <a:solidFill>
                    <a:prstClr val="black"/>
                  </a:solidFill>
                  <a:latin typeface="微软雅黑"/>
                  <a:ea typeface="微软雅黑"/>
                  <a:cs typeface="微软雅黑" panose="020B0503020204020204" pitchFamily="34" charset="-122"/>
                </a:rPr>
                <a:t>发</a:t>
              </a:r>
              <a:r>
                <a:rPr lang="zh-CN" altLang="zh-CN" sz="1200" dirty="0">
                  <a:solidFill>
                    <a:prstClr val="black"/>
                  </a:solidFill>
                  <a:latin typeface="微软雅黑"/>
                  <a:ea typeface="微软雅黑"/>
                  <a:cs typeface="MS Gothic" panose="020B0609070205080204" pitchFamily="49" charset="-128"/>
                </a:rPr>
                <a:t>作</a:t>
              </a:r>
              <a:r>
                <a:rPr lang="zh-CN" altLang="zh-CN" sz="1200" dirty="0">
                  <a:solidFill>
                    <a:prstClr val="black"/>
                  </a:solidFill>
                  <a:latin typeface="微软雅黑"/>
                  <a:ea typeface="微软雅黑"/>
                  <a:cs typeface="微软雅黑" panose="020B0503020204020204" pitchFamily="34" charset="-122"/>
                </a:rPr>
                <a:t>时</a:t>
              </a:r>
              <a:r>
                <a:rPr lang="zh-CN" altLang="zh-CN" sz="1200" dirty="0">
                  <a:solidFill>
                    <a:prstClr val="black"/>
                  </a:solidFill>
                  <a:latin typeface="微软雅黑"/>
                  <a:ea typeface="微软雅黑"/>
                  <a:cs typeface="MS Gothic" panose="020B0609070205080204" pitchFamily="49" charset="-128"/>
                </a:rPr>
                <a:t>，</a:t>
              </a:r>
              <a:r>
                <a:rPr lang="zh-CN" altLang="en-US" sz="1200" dirty="0">
                  <a:solidFill>
                    <a:prstClr val="black"/>
                  </a:solidFill>
                  <a:latin typeface="微软雅黑"/>
                  <a:ea typeface="微软雅黑"/>
                  <a:cs typeface="微软雅黑" panose="020B0503020204020204" pitchFamily="34" charset="-122"/>
                </a:rPr>
                <a:t>出现</a:t>
              </a:r>
              <a:r>
                <a:rPr lang="zh-CN" altLang="zh-CN" sz="1200" b="1" dirty="0">
                  <a:solidFill>
                    <a:prstClr val="black"/>
                  </a:solidFill>
                  <a:latin typeface="微软雅黑"/>
                  <a:ea typeface="微软雅黑"/>
                  <a:cs typeface="MS Gothic" panose="020B0609070205080204" pitchFamily="49" charset="-128"/>
                </a:rPr>
                <a:t>感</a:t>
              </a:r>
              <a:r>
                <a:rPr lang="zh-CN" altLang="zh-CN" sz="1200" b="1" dirty="0">
                  <a:solidFill>
                    <a:prstClr val="black"/>
                  </a:solidFill>
                  <a:latin typeface="微软雅黑"/>
                  <a:ea typeface="微软雅黑"/>
                  <a:cs typeface="微软雅黑" panose="020B0503020204020204" pitchFamily="34" charset="-122"/>
                </a:rPr>
                <a:t>觉</a:t>
              </a:r>
              <a:r>
                <a:rPr lang="zh-CN" altLang="zh-CN" sz="1200" b="1" dirty="0">
                  <a:solidFill>
                    <a:prstClr val="black"/>
                  </a:solidFill>
                  <a:latin typeface="微软雅黑"/>
                  <a:ea typeface="微软雅黑"/>
                  <a:cs typeface="MS Gothic" panose="020B0609070205080204" pitchFamily="49" charset="-128"/>
                </a:rPr>
                <a:t>异常</a:t>
              </a:r>
              <a:r>
                <a:rPr lang="zh-CN" altLang="zh-CN" sz="1200" dirty="0">
                  <a:solidFill>
                    <a:prstClr val="black"/>
                  </a:solidFill>
                  <a:latin typeface="微软雅黑"/>
                  <a:ea typeface="微软雅黑"/>
                  <a:cs typeface="MS Gothic" panose="020B0609070205080204" pitchFamily="49" charset="-128"/>
                </a:rPr>
                <a:t>，如麻木</a:t>
              </a:r>
              <a:r>
                <a:rPr lang="zh-CN" altLang="en-US" sz="1200" dirty="0">
                  <a:solidFill>
                    <a:prstClr val="black"/>
                  </a:solidFill>
                  <a:latin typeface="微软雅黑"/>
                  <a:ea typeface="微软雅黑"/>
                  <a:cs typeface="MS Gothic" panose="020B0609070205080204" pitchFamily="49" charset="-128"/>
                </a:rPr>
                <a:t>、针刺或烧灼感等</a:t>
              </a:r>
              <a:r>
                <a:rPr lang="zh-CN" altLang="zh-CN" sz="1200" dirty="0">
                  <a:solidFill>
                    <a:prstClr val="black"/>
                  </a:solidFill>
                  <a:latin typeface="微软雅黑"/>
                  <a:ea typeface="微软雅黑"/>
                  <a:cs typeface="MS Gothic" panose="020B0609070205080204" pitchFamily="49" charset="-128"/>
                </a:rPr>
                <a:t>。此</a:t>
              </a:r>
              <a:r>
                <a:rPr lang="zh-CN" altLang="en-US" sz="1200" dirty="0">
                  <a:solidFill>
                    <a:prstClr val="black"/>
                  </a:solidFill>
                  <a:latin typeface="微软雅黑"/>
                  <a:ea typeface="微软雅黑"/>
                  <a:cs typeface="MS Gothic" panose="020B0609070205080204" pitchFamily="49" charset="-128"/>
                </a:rPr>
                <a:t>时</a:t>
              </a:r>
              <a:r>
                <a:rPr lang="zh-CN" altLang="zh-CN" sz="1200" dirty="0">
                  <a:solidFill>
                    <a:prstClr val="black"/>
                  </a:solidFill>
                  <a:latin typeface="微软雅黑"/>
                  <a:ea typeface="微软雅黑"/>
                  <a:cs typeface="MS Gothic" panose="020B0609070205080204" pitchFamily="49" charset="-128"/>
                </a:rPr>
                <a:t>，四肢皮肤</a:t>
              </a:r>
              <a:r>
                <a:rPr lang="zh-CN" altLang="en-US" sz="1200" dirty="0">
                  <a:solidFill>
                    <a:prstClr val="black"/>
                  </a:solidFill>
                  <a:latin typeface="微软雅黑"/>
                  <a:ea typeface="微软雅黑"/>
                  <a:cs typeface="MS Gothic" panose="020B0609070205080204" pitchFamily="49" charset="-128"/>
                </a:rPr>
                <a:t>可无明显改</a:t>
              </a:r>
              <a:r>
                <a:rPr lang="zh-CN" altLang="zh-CN" sz="1200" dirty="0">
                  <a:solidFill>
                    <a:prstClr val="black"/>
                  </a:solidFill>
                  <a:latin typeface="微软雅黑"/>
                  <a:ea typeface="微软雅黑"/>
                  <a:cs typeface="微软雅黑" panose="020B0503020204020204" pitchFamily="34" charset="-122"/>
                </a:rPr>
                <a:t>变</a:t>
              </a:r>
              <a:endParaRPr lang="en-US" altLang="zh-CN" sz="1200" dirty="0">
                <a:solidFill>
                  <a:prstClr val="black"/>
                </a:solidFill>
                <a:latin typeface="微软雅黑"/>
                <a:ea typeface="微软雅黑"/>
                <a:cs typeface="MS Gothic" panose="020B0609070205080204" pitchFamily="49" charset="-128"/>
              </a:endParaRPr>
            </a:p>
            <a:p>
              <a:pPr marL="171450" marR="76200" indent="-171450" algn="just">
                <a:lnSpc>
                  <a:spcPct val="120000"/>
                </a:lnSpc>
                <a:spcBef>
                  <a:spcPts val="400"/>
                </a:spcBef>
                <a:spcAft>
                  <a:spcPts val="0"/>
                </a:spcAft>
                <a:buFont typeface="Arial" panose="020B0604020202020204" pitchFamily="34" charset="0"/>
                <a:buChar char="•"/>
              </a:pPr>
              <a:r>
                <a:rPr lang="zh-CN" altLang="en-US" sz="1200" dirty="0">
                  <a:solidFill>
                    <a:prstClr val="black"/>
                  </a:solidFill>
                  <a:latin typeface="微软雅黑"/>
                  <a:ea typeface="微软雅黑"/>
                  <a:cs typeface="MS Gothic" panose="020B0609070205080204" pitchFamily="49" charset="-128"/>
                </a:rPr>
                <a:t>首先出现的皮肤改变为</a:t>
              </a:r>
              <a:r>
                <a:rPr lang="zh-CN" altLang="zh-CN" sz="1200" b="1" dirty="0">
                  <a:solidFill>
                    <a:prstClr val="black"/>
                  </a:solidFill>
                  <a:latin typeface="微软雅黑"/>
                  <a:ea typeface="微软雅黑"/>
                  <a:cs typeface="MS Gothic" panose="020B0609070205080204" pitchFamily="49" charset="-128"/>
                </a:rPr>
                <a:t>相</a:t>
              </a:r>
              <a:r>
                <a:rPr lang="zh-CN" altLang="zh-CN" sz="1200" b="1" dirty="0">
                  <a:solidFill>
                    <a:prstClr val="black"/>
                  </a:solidFill>
                  <a:latin typeface="微软雅黑"/>
                  <a:ea typeface="微软雅黑"/>
                  <a:cs typeface="微软雅黑" panose="020B0503020204020204" pitchFamily="34" charset="-122"/>
                </a:rPr>
                <a:t>对</a:t>
              </a:r>
              <a:r>
                <a:rPr lang="zh-CN" altLang="zh-CN" sz="1200" b="1" dirty="0">
                  <a:solidFill>
                    <a:prstClr val="black"/>
                  </a:solidFill>
                  <a:latin typeface="微软雅黑"/>
                  <a:ea typeface="微软雅黑"/>
                  <a:cs typeface="MS Gothic" panose="020B0609070205080204" pitchFamily="49" charset="-128"/>
                </a:rPr>
                <a:t>弥散的</a:t>
              </a:r>
              <a:r>
                <a:rPr lang="zh-CN" altLang="zh-CN" sz="1200" b="1" dirty="0">
                  <a:solidFill>
                    <a:prstClr val="black"/>
                  </a:solidFill>
                  <a:latin typeface="微软雅黑"/>
                  <a:ea typeface="微软雅黑"/>
                  <a:cs typeface="微软雅黑" panose="020B0503020204020204" pitchFamily="34" charset="-122"/>
                </a:rPr>
                <a:t>红肿</a:t>
              </a:r>
              <a:r>
                <a:rPr lang="zh-CN" altLang="zh-CN" sz="1200" b="1" dirty="0">
                  <a:solidFill>
                    <a:prstClr val="black"/>
                  </a:solidFill>
                  <a:latin typeface="微软雅黑"/>
                  <a:ea typeface="微软雅黑"/>
                  <a:cs typeface="MS Gothic" panose="020B0609070205080204" pitchFamily="49" charset="-128"/>
                </a:rPr>
                <a:t>（</a:t>
              </a:r>
              <a:r>
                <a:rPr lang="zh-CN" altLang="zh-CN" sz="1200" b="1" dirty="0">
                  <a:solidFill>
                    <a:prstClr val="black"/>
                  </a:solidFill>
                  <a:latin typeface="微软雅黑"/>
                  <a:ea typeface="微软雅黑"/>
                  <a:cs typeface="微软雅黑" panose="020B0503020204020204" pitchFamily="34" charset="-122"/>
                </a:rPr>
                <a:t>红</a:t>
              </a:r>
              <a:r>
                <a:rPr lang="zh-CN" altLang="zh-CN" sz="1200" b="1" dirty="0">
                  <a:solidFill>
                    <a:prstClr val="black"/>
                  </a:solidFill>
                  <a:latin typeface="微软雅黑"/>
                  <a:ea typeface="微软雅黑"/>
                  <a:cs typeface="MS Gothic" panose="020B0609070205080204" pitchFamily="49" charset="-128"/>
                </a:rPr>
                <a:t>斑）</a:t>
              </a:r>
              <a:endParaRPr lang="en-US" altLang="zh-CN" sz="1200" b="1" dirty="0">
                <a:solidFill>
                  <a:prstClr val="black"/>
                </a:solidFill>
                <a:latin typeface="微软雅黑"/>
                <a:ea typeface="微软雅黑"/>
                <a:cs typeface="MS Gothic" panose="020B0609070205080204" pitchFamily="49" charset="-128"/>
              </a:endParaRPr>
            </a:p>
            <a:p>
              <a:pPr marL="171450" marR="76200" indent="-171450" algn="just">
                <a:lnSpc>
                  <a:spcPct val="120000"/>
                </a:lnSpc>
                <a:spcBef>
                  <a:spcPts val="400"/>
                </a:spcBef>
                <a:spcAft>
                  <a:spcPts val="0"/>
                </a:spcAft>
                <a:buFont typeface="Arial" panose="020B0604020202020204" pitchFamily="34" charset="0"/>
                <a:buChar char="•"/>
              </a:pPr>
              <a:r>
                <a:rPr lang="zh-CN" altLang="en-US" sz="1200" dirty="0">
                  <a:solidFill>
                    <a:prstClr val="black"/>
                  </a:solidFill>
                  <a:latin typeface="微软雅黑"/>
                  <a:ea typeface="微软雅黑"/>
                  <a:cs typeface="MS Gothic" panose="020B0609070205080204" pitchFamily="49" charset="-128"/>
                </a:rPr>
                <a:t>稍微进展后，</a:t>
              </a:r>
              <a:r>
                <a:rPr lang="zh-CN" altLang="en-US" sz="1200" b="1" dirty="0">
                  <a:solidFill>
                    <a:prstClr val="black"/>
                  </a:solidFill>
                  <a:latin typeface="微软雅黑"/>
                  <a:ea typeface="微软雅黑"/>
                  <a:cs typeface="MS Gothic" panose="020B0609070205080204" pitchFamily="49" charset="-128"/>
                </a:rPr>
                <a:t>皮肤表面变得有光泽</a:t>
              </a:r>
              <a:endParaRPr lang="en-US" altLang="zh-CN" sz="1200" dirty="0">
                <a:solidFill>
                  <a:prstClr val="black"/>
                </a:solidFill>
                <a:latin typeface="微软雅黑"/>
                <a:ea typeface="微软雅黑"/>
                <a:cs typeface="MS Gothic" panose="020B0609070205080204" pitchFamily="49" charset="-128"/>
              </a:endParaRPr>
            </a:p>
            <a:p>
              <a:pPr marL="171450" marR="76200" indent="-171450" algn="just">
                <a:lnSpc>
                  <a:spcPct val="120000"/>
                </a:lnSpc>
                <a:spcBef>
                  <a:spcPts val="400"/>
                </a:spcBef>
                <a:spcAft>
                  <a:spcPts val="0"/>
                </a:spcAft>
                <a:buFont typeface="Arial" panose="020B0604020202020204" pitchFamily="34" charset="0"/>
                <a:buChar char="•"/>
              </a:pPr>
              <a:r>
                <a:rPr lang="zh-CN" altLang="en-US" sz="1200" dirty="0">
                  <a:solidFill>
                    <a:prstClr val="black"/>
                  </a:solidFill>
                  <a:latin typeface="微软雅黑"/>
                  <a:ea typeface="微软雅黑"/>
                  <a:cs typeface="MS Gothic" panose="020B0609070205080204" pitchFamily="49" charset="-128"/>
                </a:rPr>
                <a:t>在指纹出现消失趋势时，</a:t>
              </a:r>
              <a:r>
                <a:rPr lang="zh-CN" altLang="en-US" sz="1200" b="1" dirty="0">
                  <a:solidFill>
                    <a:prstClr val="black"/>
                  </a:solidFill>
                  <a:latin typeface="微软雅黑"/>
                  <a:ea typeface="微软雅黑"/>
                  <a:cs typeface="MS Gothic" panose="020B0609070205080204" pitchFamily="49" charset="-128"/>
                </a:rPr>
                <a:t>逐渐开始疼痛</a:t>
              </a:r>
            </a:p>
          </p:txBody>
        </p:sp>
        <p:sp>
          <p:nvSpPr>
            <p:cNvPr id="19" name="矩形 18"/>
            <p:cNvSpPr/>
            <p:nvPr/>
          </p:nvSpPr>
          <p:spPr>
            <a:xfrm>
              <a:off x="1693831" y="2045993"/>
              <a:ext cx="1872116" cy="307777"/>
            </a:xfrm>
            <a:prstGeom prst="rect">
              <a:avLst/>
            </a:prstGeom>
          </p:spPr>
          <p:txBody>
            <a:bodyPr wrap="none">
              <a:spAutoFit/>
            </a:bodyPr>
            <a:lstStyle/>
            <a:p>
              <a:pPr marR="76200" algn="ctr">
                <a:spcBef>
                  <a:spcPts val="0"/>
                </a:spcBef>
                <a:spcAft>
                  <a:spcPts val="0"/>
                </a:spcAft>
              </a:pPr>
              <a:r>
                <a:rPr lang="zh-CN" altLang="zh-CN" sz="1400" b="1" dirty="0">
                  <a:solidFill>
                    <a:srgbClr val="0066B7"/>
                  </a:solidFill>
                  <a:latin typeface="微软雅黑"/>
                  <a:ea typeface="微软雅黑"/>
                </a:rPr>
                <a:t>氟</a:t>
              </a:r>
              <a:r>
                <a:rPr lang="zh-CN" altLang="en-US" sz="1400" b="1" dirty="0">
                  <a:solidFill>
                    <a:srgbClr val="0066B7"/>
                  </a:solidFill>
                  <a:latin typeface="微软雅黑"/>
                  <a:ea typeface="微软雅黑"/>
                </a:rPr>
                <a:t>尿</a:t>
              </a:r>
              <a:r>
                <a:rPr lang="zh-CN" altLang="zh-CN" sz="1400" b="1" dirty="0">
                  <a:solidFill>
                    <a:srgbClr val="0066B7"/>
                  </a:solidFill>
                  <a:latin typeface="微软雅黑"/>
                  <a:ea typeface="微软雅黑"/>
                </a:rPr>
                <a:t>嘧啶引起的</a:t>
              </a:r>
              <a:r>
                <a:rPr lang="en-US" altLang="zh-CN" sz="1400" b="1" dirty="0">
                  <a:solidFill>
                    <a:srgbClr val="0066B7"/>
                  </a:solidFill>
                  <a:latin typeface="微软雅黑"/>
                  <a:ea typeface="微软雅黑"/>
                </a:rPr>
                <a:t>HFS</a:t>
              </a:r>
              <a:endParaRPr lang="en-US" altLang="zh-CN" sz="1400" b="1" spc="-45" dirty="0">
                <a:solidFill>
                  <a:srgbClr val="0066B7"/>
                </a:solidFill>
                <a:latin typeface="微软雅黑"/>
                <a:ea typeface="微软雅黑"/>
                <a:cs typeface="MS Gothic" panose="020B0609070205080204" pitchFamily="49" charset="-128"/>
              </a:endParaRPr>
            </a:p>
          </p:txBody>
        </p:sp>
        <p:sp>
          <p:nvSpPr>
            <p:cNvPr id="56" name="矩形 55"/>
            <p:cNvSpPr/>
            <p:nvPr/>
          </p:nvSpPr>
          <p:spPr>
            <a:xfrm>
              <a:off x="6042411" y="2045993"/>
              <a:ext cx="1452129" cy="307777"/>
            </a:xfrm>
            <a:prstGeom prst="rect">
              <a:avLst/>
            </a:prstGeom>
          </p:spPr>
          <p:txBody>
            <a:bodyPr wrap="none">
              <a:spAutoFit/>
            </a:bodyPr>
            <a:lstStyle/>
            <a:p>
              <a:pPr marR="76200" algn="ctr">
                <a:spcBef>
                  <a:spcPts val="0"/>
                </a:spcBef>
                <a:spcAft>
                  <a:spcPts val="0"/>
                </a:spcAft>
              </a:pPr>
              <a:r>
                <a:rPr lang="en-US" altLang="zh-CN" sz="1400" b="1" dirty="0">
                  <a:solidFill>
                    <a:srgbClr val="0066B7"/>
                  </a:solidFill>
                  <a:latin typeface="微软雅黑"/>
                  <a:ea typeface="微软雅黑"/>
                </a:rPr>
                <a:t>TK</a:t>
              </a:r>
              <a:r>
                <a:rPr lang="en-US" altLang="zh-CN" sz="1400" b="1" spc="100" dirty="0">
                  <a:solidFill>
                    <a:srgbClr val="0066B7"/>
                  </a:solidFill>
                  <a:latin typeface="微软雅黑"/>
                  <a:ea typeface="微软雅黑"/>
                </a:rPr>
                <a:t>I</a:t>
              </a:r>
              <a:r>
                <a:rPr lang="zh-CN" altLang="en-US" sz="1400" b="1" dirty="0">
                  <a:solidFill>
                    <a:srgbClr val="0066B7"/>
                  </a:solidFill>
                  <a:latin typeface="微软雅黑"/>
                  <a:ea typeface="微软雅黑"/>
                </a:rPr>
                <a:t>引起的</a:t>
              </a:r>
              <a:r>
                <a:rPr lang="en-US" altLang="zh-CN" sz="1400" b="1" dirty="0">
                  <a:solidFill>
                    <a:srgbClr val="0066B7"/>
                  </a:solidFill>
                  <a:latin typeface="微软雅黑"/>
                  <a:ea typeface="微软雅黑"/>
                </a:rPr>
                <a:t>HFS</a:t>
              </a:r>
              <a:endParaRPr lang="zh-CN" altLang="en-US" sz="1400" b="1" dirty="0">
                <a:solidFill>
                  <a:srgbClr val="0066B7"/>
                </a:solidFill>
                <a:latin typeface="微软雅黑"/>
                <a:ea typeface="微软雅黑"/>
              </a:endParaRPr>
            </a:p>
          </p:txBody>
        </p:sp>
        <p:sp>
          <p:nvSpPr>
            <p:cNvPr id="47" name="矩形 46"/>
            <p:cNvSpPr/>
            <p:nvPr/>
          </p:nvSpPr>
          <p:spPr>
            <a:xfrm>
              <a:off x="5518176" y="2615906"/>
              <a:ext cx="2727507" cy="1029193"/>
            </a:xfrm>
            <a:prstGeom prst="rect">
              <a:avLst/>
            </a:prstGeom>
          </p:spPr>
          <p:txBody>
            <a:bodyPr wrap="square">
              <a:spAutoFit/>
            </a:bodyPr>
            <a:lstStyle/>
            <a:p>
              <a:pPr marL="171450" indent="-171450">
                <a:lnSpc>
                  <a:spcPct val="130000"/>
                </a:lnSpc>
                <a:buFont typeface="Arial" panose="020B0604020202020204" pitchFamily="34" charset="0"/>
                <a:buChar char="•"/>
              </a:pPr>
              <a:r>
                <a:rPr lang="zh-CN" altLang="en-US" sz="1200" dirty="0">
                  <a:solidFill>
                    <a:prstClr val="black"/>
                  </a:solidFill>
                  <a:latin typeface="微软雅黑"/>
                  <a:ea typeface="微软雅黑"/>
                </a:rPr>
                <a:t>由</a:t>
              </a:r>
              <a:r>
                <a:rPr lang="en-US" altLang="zh-CN" sz="1200" dirty="0">
                  <a:solidFill>
                    <a:prstClr val="black"/>
                  </a:solidFill>
                  <a:latin typeface="微软雅黑"/>
                  <a:ea typeface="微软雅黑"/>
                </a:rPr>
                <a:t>TKI</a:t>
              </a:r>
              <a:r>
                <a:rPr lang="zh-CN" altLang="en-US" sz="1200" dirty="0">
                  <a:solidFill>
                    <a:prstClr val="black"/>
                  </a:solidFill>
                  <a:latin typeface="微软雅黑"/>
                  <a:ea typeface="微软雅黑"/>
                </a:rPr>
                <a:t>引起的</a:t>
              </a:r>
              <a:r>
                <a:rPr lang="en-US" altLang="zh-CN" sz="1200" dirty="0">
                  <a:solidFill>
                    <a:prstClr val="black"/>
                  </a:solidFill>
                  <a:latin typeface="微软雅黑"/>
                  <a:ea typeface="微软雅黑"/>
                </a:rPr>
                <a:t>HFS</a:t>
              </a:r>
              <a:r>
                <a:rPr lang="zh-CN" altLang="en-US" sz="1200" b="1" dirty="0">
                  <a:solidFill>
                    <a:prstClr val="black"/>
                  </a:solidFill>
                  <a:latin typeface="微软雅黑"/>
                  <a:ea typeface="微软雅黑"/>
                </a:rPr>
                <a:t>开始时通常伴随疼痛</a:t>
              </a:r>
              <a:r>
                <a:rPr lang="zh-CN" altLang="en-US" sz="1200" dirty="0">
                  <a:solidFill>
                    <a:prstClr val="black"/>
                  </a:solidFill>
                  <a:latin typeface="微软雅黑"/>
                  <a:ea typeface="微软雅黑"/>
                </a:rPr>
                <a:t>，部位相对局限</a:t>
              </a:r>
              <a:endParaRPr lang="en-US" altLang="zh-CN" sz="1200" dirty="0">
                <a:solidFill>
                  <a:prstClr val="black"/>
                </a:solidFill>
                <a:latin typeface="微软雅黑"/>
                <a:ea typeface="微软雅黑"/>
              </a:endParaRPr>
            </a:p>
            <a:p>
              <a:pPr marL="171450" indent="-171450">
                <a:lnSpc>
                  <a:spcPct val="130000"/>
                </a:lnSpc>
                <a:buFont typeface="Arial" panose="020B0604020202020204" pitchFamily="34" charset="0"/>
                <a:buChar char="•"/>
              </a:pPr>
              <a:r>
                <a:rPr lang="zh-CN" altLang="en-US" sz="1200" dirty="0">
                  <a:solidFill>
                    <a:prstClr val="black"/>
                  </a:solidFill>
                  <a:latin typeface="微软雅黑"/>
                  <a:ea typeface="微软雅黑"/>
                </a:rPr>
                <a:t>继之由发红、角化过度，逐渐进展至</a:t>
              </a:r>
              <a:r>
                <a:rPr lang="zh-CN" altLang="en-US" sz="1200" b="1" dirty="0">
                  <a:solidFill>
                    <a:prstClr val="black"/>
                  </a:solidFill>
                  <a:latin typeface="微软雅黑"/>
                  <a:ea typeface="微软雅黑"/>
                </a:rPr>
                <a:t>水疱形成</a:t>
              </a:r>
            </a:p>
          </p:txBody>
        </p:sp>
        <p:sp>
          <p:nvSpPr>
            <p:cNvPr id="48" name="矩形 47"/>
            <p:cNvSpPr/>
            <p:nvPr/>
          </p:nvSpPr>
          <p:spPr>
            <a:xfrm>
              <a:off x="475866" y="1249382"/>
              <a:ext cx="8192268" cy="545245"/>
            </a:xfrm>
            <a:prstGeom prst="rect">
              <a:avLst/>
            </a:prstGeom>
            <a:noFill/>
            <a:ln>
              <a:noFill/>
            </a:ln>
            <a:effectLst>
              <a:outerShdw blurRad="63500" sx="102000" sy="102000" algn="ctr" rotWithShape="0">
                <a:srgbClr val="108638">
                  <a:alpha val="60000"/>
                </a:srgbClr>
              </a:outerShdw>
            </a:effectLst>
          </p:spPr>
          <p:txBody>
            <a:bodyPr wrap="square" anchor="ctr">
              <a:noAutofit/>
            </a:bodyPr>
            <a:lstStyle/>
            <a:p>
              <a:pPr algn="ctr"/>
              <a:r>
                <a:rPr lang="zh-CN" altLang="zh-CN" sz="1600" b="1" dirty="0">
                  <a:solidFill>
                    <a:prstClr val="black"/>
                  </a:solidFill>
                  <a:latin typeface="微软雅黑"/>
                  <a:ea typeface="微软雅黑"/>
                  <a:cs typeface="MS Gothic" panose="020B0609070205080204" pitchFamily="49" charset="-128"/>
                </a:rPr>
                <a:t>早期</a:t>
              </a:r>
              <a:r>
                <a:rPr lang="zh-CN" altLang="zh-CN" sz="1600" b="1" dirty="0">
                  <a:solidFill>
                    <a:prstClr val="black"/>
                  </a:solidFill>
                  <a:latin typeface="微软雅黑"/>
                  <a:ea typeface="微软雅黑"/>
                  <a:cs typeface="微软雅黑" panose="020B0503020204020204" pitchFamily="34" charset="-122"/>
                </a:rPr>
                <a:t>发现</a:t>
              </a:r>
              <a:r>
                <a:rPr lang="en-US" altLang="zh-CN" sz="1600" b="1" dirty="0">
                  <a:solidFill>
                    <a:prstClr val="black"/>
                  </a:solidFill>
                  <a:latin typeface="微软雅黑"/>
                  <a:ea typeface="微软雅黑"/>
                  <a:cs typeface="微软雅黑" panose="020B0503020204020204" pitchFamily="34" charset="-122"/>
                </a:rPr>
                <a:t>HFS</a:t>
              </a:r>
              <a:r>
                <a:rPr lang="zh-CN" altLang="zh-CN" sz="1600" b="1" dirty="0">
                  <a:solidFill>
                    <a:prstClr val="black"/>
                  </a:solidFill>
                  <a:latin typeface="微软雅黑"/>
                  <a:ea typeface="微软雅黑"/>
                  <a:cs typeface="MS Gothic" panose="020B0609070205080204" pitchFamily="49" charset="-128"/>
                </a:rPr>
                <a:t>的关</a:t>
              </a:r>
              <a:r>
                <a:rPr lang="zh-CN" altLang="zh-CN" sz="1600" b="1" dirty="0">
                  <a:solidFill>
                    <a:prstClr val="black"/>
                  </a:solidFill>
                  <a:latin typeface="微软雅黑"/>
                  <a:ea typeface="微软雅黑"/>
                  <a:cs typeface="微软雅黑" panose="020B0503020204020204" pitchFamily="34" charset="-122"/>
                </a:rPr>
                <a:t>键</a:t>
              </a:r>
              <a:r>
                <a:rPr lang="zh-CN" altLang="en-US" sz="1600" b="1" dirty="0">
                  <a:solidFill>
                    <a:prstClr val="black"/>
                  </a:solidFill>
                  <a:latin typeface="微软雅黑"/>
                  <a:ea typeface="微软雅黑"/>
                  <a:cs typeface="微软雅黑" panose="020B0503020204020204" pitchFamily="34" charset="-122"/>
                </a:rPr>
                <a:t>在于：</a:t>
              </a:r>
              <a:r>
                <a:rPr lang="zh-CN" altLang="zh-CN" sz="1600" b="1" dirty="0">
                  <a:solidFill>
                    <a:prstClr val="black"/>
                  </a:solidFill>
                  <a:latin typeface="微软雅黑"/>
                  <a:ea typeface="微软雅黑"/>
                  <a:cs typeface="微软雅黑" panose="020B0503020204020204" pitchFamily="34" charset="-122"/>
                </a:rPr>
                <a:t>经</a:t>
              </a:r>
              <a:r>
                <a:rPr lang="zh-CN" altLang="zh-CN" sz="1600" b="1" dirty="0">
                  <a:solidFill>
                    <a:prstClr val="black"/>
                  </a:solidFill>
                  <a:latin typeface="微软雅黑"/>
                  <a:ea typeface="微软雅黑"/>
                  <a:cs typeface="MS Gothic" panose="020B0609070205080204" pitchFamily="49" charset="-128"/>
                </a:rPr>
                <a:t>常</a:t>
              </a:r>
              <a:r>
                <a:rPr lang="zh-CN" altLang="zh-CN" sz="1600" b="1" dirty="0">
                  <a:solidFill>
                    <a:prstClr val="black"/>
                  </a:solidFill>
                  <a:latin typeface="微软雅黑"/>
                  <a:ea typeface="微软雅黑"/>
                  <a:cs typeface="微软雅黑" panose="020B0503020204020204" pitchFamily="34" charset="-122"/>
                </a:rPr>
                <a:t>检查</a:t>
              </a:r>
              <a:r>
                <a:rPr lang="zh-CN" altLang="zh-CN" sz="1600" b="1" dirty="0">
                  <a:solidFill>
                    <a:prstClr val="black"/>
                  </a:solidFill>
                  <a:latin typeface="微软雅黑"/>
                  <a:ea typeface="微软雅黑"/>
                  <a:cs typeface="MS Gothic" panose="020B0609070205080204" pitchFamily="49" charset="-128"/>
                </a:rPr>
                <a:t>肢体感</a:t>
              </a:r>
              <a:r>
                <a:rPr lang="zh-CN" altLang="zh-CN" sz="1600" b="1" dirty="0">
                  <a:solidFill>
                    <a:prstClr val="black"/>
                  </a:solidFill>
                  <a:latin typeface="微软雅黑"/>
                  <a:ea typeface="微软雅黑"/>
                  <a:cs typeface="微软雅黑" panose="020B0503020204020204" pitchFamily="34" charset="-122"/>
                </a:rPr>
                <a:t>觉</a:t>
              </a:r>
              <a:r>
                <a:rPr lang="zh-CN" altLang="zh-CN" sz="1600" b="1" dirty="0">
                  <a:solidFill>
                    <a:prstClr val="black"/>
                  </a:solidFill>
                  <a:latin typeface="微软雅黑"/>
                  <a:ea typeface="微软雅黑"/>
                  <a:cs typeface="MS Gothic" panose="020B0609070205080204" pitchFamily="49" charset="-128"/>
                </a:rPr>
                <a:t>和</a:t>
              </a:r>
              <a:r>
                <a:rPr lang="zh-CN" altLang="zh-CN" sz="1600" b="1" dirty="0">
                  <a:solidFill>
                    <a:prstClr val="black"/>
                  </a:solidFill>
                  <a:latin typeface="微软雅黑"/>
                  <a:ea typeface="微软雅黑"/>
                  <a:cs typeface="微软雅黑" panose="020B0503020204020204" pitchFamily="34" charset="-122"/>
                </a:rPr>
                <a:t>发红</a:t>
              </a:r>
              <a:r>
                <a:rPr lang="zh-CN" altLang="en-US" sz="1600" b="1" dirty="0">
                  <a:solidFill>
                    <a:prstClr val="black"/>
                  </a:solidFill>
                  <a:latin typeface="微软雅黑"/>
                  <a:ea typeface="微软雅黑"/>
                  <a:cs typeface="微软雅黑" panose="020B0503020204020204" pitchFamily="34" charset="-122"/>
                </a:rPr>
                <a:t>等</a:t>
              </a:r>
              <a:r>
                <a:rPr lang="zh-CN" altLang="zh-CN" sz="1600" b="1" dirty="0">
                  <a:solidFill>
                    <a:prstClr val="black"/>
                  </a:solidFill>
                  <a:latin typeface="微软雅黑"/>
                  <a:ea typeface="微软雅黑"/>
                  <a:cs typeface="MS Gothic" panose="020B0609070205080204" pitchFamily="49" charset="-128"/>
                </a:rPr>
                <a:t>异常情况</a:t>
              </a:r>
              <a:endParaRPr lang="zh-CN" altLang="en-US" sz="1600" b="1" dirty="0">
                <a:solidFill>
                  <a:prstClr val="black"/>
                </a:solidFill>
                <a:latin typeface="微软雅黑"/>
                <a:ea typeface="微软雅黑"/>
              </a:endParaRPr>
            </a:p>
          </p:txBody>
        </p:sp>
      </p:grpSp>
    </p:spTree>
    <p:extLst>
      <p:ext uri="{BB962C8B-B14F-4D97-AF65-F5344CB8AC3E}">
        <p14:creationId xmlns:p14="http://schemas.microsoft.com/office/powerpoint/2010/main" val="843370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xmlns="" id="{CFFDF61F-80C2-40C7-A060-EF67D1C485E8}"/>
              </a:ext>
            </a:extLst>
          </p:cNvPr>
          <p:cNvPicPr>
            <a:picLocks noChangeAspect="1"/>
          </p:cNvPicPr>
          <p:nvPr/>
        </p:nvPicPr>
        <p:blipFill>
          <a:blip r:embed="rId3"/>
          <a:stretch>
            <a:fillRect/>
          </a:stretch>
        </p:blipFill>
        <p:spPr>
          <a:xfrm>
            <a:off x="755838" y="1170602"/>
            <a:ext cx="7565792" cy="5212532"/>
          </a:xfrm>
          <a:prstGeom prst="rect">
            <a:avLst/>
          </a:prstGeom>
        </p:spPr>
      </p:pic>
      <p:sp>
        <p:nvSpPr>
          <p:cNvPr id="2" name="标题 1">
            <a:extLst>
              <a:ext uri="{FF2B5EF4-FFF2-40B4-BE49-F238E27FC236}">
                <a16:creationId xmlns:a16="http://schemas.microsoft.com/office/drawing/2014/main" xmlns="" id="{CFB32089-968A-4093-A438-54A3C7378996}"/>
              </a:ext>
            </a:extLst>
          </p:cNvPr>
          <p:cNvSpPr>
            <a:spLocks noGrp="1"/>
          </p:cNvSpPr>
          <p:nvPr>
            <p:ph type="title"/>
          </p:nvPr>
        </p:nvSpPr>
        <p:spPr/>
        <p:txBody>
          <a:bodyPr/>
          <a:lstStyle/>
          <a:p>
            <a:r>
              <a:rPr lang="zh-CN" altLang="en-US" dirty="0"/>
              <a:t>鉴别诊断</a:t>
            </a:r>
          </a:p>
        </p:txBody>
      </p:sp>
      <p:sp>
        <p:nvSpPr>
          <p:cNvPr id="36" name="矩形 35"/>
          <p:cNvSpPr/>
          <p:nvPr/>
        </p:nvSpPr>
        <p:spPr>
          <a:xfrm>
            <a:off x="967754" y="1244610"/>
            <a:ext cx="7141960" cy="545245"/>
          </a:xfrm>
          <a:prstGeom prst="rect">
            <a:avLst/>
          </a:prstGeom>
          <a:noFill/>
          <a:effectLst/>
        </p:spPr>
        <p:txBody>
          <a:bodyPr wrap="square" anchor="ctr">
            <a:noAutofit/>
          </a:bodyPr>
          <a:lstStyle/>
          <a:p>
            <a:pPr algn="ctr"/>
            <a:r>
              <a:rPr lang="zh-CN" altLang="en-US" sz="1500" b="1" dirty="0">
                <a:solidFill>
                  <a:prstClr val="black"/>
                </a:solidFill>
                <a:latin typeface="微软雅黑"/>
                <a:ea typeface="微软雅黑"/>
                <a:cs typeface="MS Gothic" panose="020B0609070205080204" pitchFamily="49" charset="-128"/>
              </a:rPr>
              <a:t>许多皮肤病的症状与</a:t>
            </a:r>
            <a:r>
              <a:rPr lang="en-US" altLang="zh-CN" sz="1500" b="1" dirty="0">
                <a:solidFill>
                  <a:prstClr val="black"/>
                </a:solidFill>
                <a:latin typeface="微软雅黑"/>
                <a:ea typeface="微软雅黑"/>
                <a:cs typeface="MS Gothic" panose="020B0609070205080204" pitchFamily="49" charset="-128"/>
              </a:rPr>
              <a:t>HFS</a:t>
            </a:r>
            <a:r>
              <a:rPr lang="zh-CN" altLang="en-US" sz="1500" b="1" dirty="0">
                <a:solidFill>
                  <a:prstClr val="black"/>
                </a:solidFill>
                <a:latin typeface="微软雅黑"/>
                <a:ea typeface="微软雅黑"/>
                <a:cs typeface="MS Gothic" panose="020B0609070205080204" pitchFamily="49" charset="-128"/>
              </a:rPr>
              <a:t>相似，须注意鉴别诊断</a:t>
            </a:r>
          </a:p>
        </p:txBody>
      </p:sp>
      <p:grpSp>
        <p:nvGrpSpPr>
          <p:cNvPr id="10" name="组合 9"/>
          <p:cNvGrpSpPr/>
          <p:nvPr/>
        </p:nvGrpSpPr>
        <p:grpSpPr>
          <a:xfrm>
            <a:off x="847550" y="2080382"/>
            <a:ext cx="7382368" cy="2636426"/>
            <a:chOff x="847550" y="2080382"/>
            <a:chExt cx="7382368" cy="2636426"/>
          </a:xfrm>
        </p:grpSpPr>
        <p:sp>
          <p:nvSpPr>
            <p:cNvPr id="4" name="矩形 3"/>
            <p:cNvSpPr/>
            <p:nvPr/>
          </p:nvSpPr>
          <p:spPr>
            <a:xfrm>
              <a:off x="847550" y="2080382"/>
              <a:ext cx="1616568" cy="307777"/>
            </a:xfrm>
            <a:prstGeom prst="rect">
              <a:avLst/>
            </a:prstGeom>
            <a:noFill/>
            <a:ln>
              <a:noFill/>
            </a:ln>
          </p:spPr>
          <p:txBody>
            <a:bodyPr wrap="none" anchor="ctr">
              <a:noAutofit/>
            </a:bodyPr>
            <a:lstStyle/>
            <a:p>
              <a:pPr algn="ctr">
                <a:spcAft>
                  <a:spcPts val="0"/>
                </a:spcAft>
              </a:pPr>
              <a:r>
                <a:rPr lang="zh-CN" altLang="en-US" sz="1400" b="1" dirty="0">
                  <a:solidFill>
                    <a:prstClr val="black"/>
                  </a:solidFill>
                  <a:effectLst>
                    <a:glow rad="139700">
                      <a:prstClr val="white">
                        <a:alpha val="70000"/>
                      </a:prstClr>
                    </a:glow>
                  </a:effectLst>
                  <a:latin typeface="微软雅黑"/>
                  <a:ea typeface="微软雅黑"/>
                  <a:cs typeface="MS Gothic" panose="020B0609070205080204" pitchFamily="49" charset="-128"/>
                </a:rPr>
                <a:t>手部</a:t>
              </a:r>
              <a:r>
                <a:rPr lang="zh-CN" altLang="zh-CN" sz="1400" b="1" dirty="0">
                  <a:solidFill>
                    <a:prstClr val="black"/>
                  </a:solidFill>
                  <a:effectLst>
                    <a:glow rad="139700">
                      <a:prstClr val="white">
                        <a:alpha val="70000"/>
                      </a:prstClr>
                    </a:glow>
                  </a:effectLst>
                  <a:latin typeface="微软雅黑"/>
                  <a:ea typeface="微软雅黑"/>
                  <a:cs typeface="MS Gothic" panose="020B0609070205080204" pitchFamily="49" charset="-128"/>
                </a:rPr>
                <a:t>湿疹</a:t>
              </a:r>
              <a:endParaRPr lang="zh-CN" altLang="en-US" sz="1400" b="1" dirty="0">
                <a:solidFill>
                  <a:prstClr val="black"/>
                </a:solidFill>
                <a:effectLst>
                  <a:glow rad="139700">
                    <a:prstClr val="white">
                      <a:alpha val="70000"/>
                    </a:prstClr>
                  </a:glow>
                </a:effectLst>
                <a:latin typeface="微软雅黑"/>
                <a:ea typeface="微软雅黑"/>
              </a:endParaRPr>
            </a:p>
          </p:txBody>
        </p:sp>
        <p:sp>
          <p:nvSpPr>
            <p:cNvPr id="15" name="矩形 14"/>
            <p:cNvSpPr/>
            <p:nvPr/>
          </p:nvSpPr>
          <p:spPr>
            <a:xfrm>
              <a:off x="847550" y="4409031"/>
              <a:ext cx="1616568" cy="307777"/>
            </a:xfrm>
            <a:prstGeom prst="rect">
              <a:avLst/>
            </a:prstGeom>
            <a:noFill/>
            <a:ln>
              <a:noFill/>
            </a:ln>
          </p:spPr>
          <p:txBody>
            <a:bodyPr wrap="none" anchor="ctr">
              <a:noAutofit/>
            </a:bodyPr>
            <a:lstStyle/>
            <a:p>
              <a:pPr algn="ctr">
                <a:spcAft>
                  <a:spcPts val="0"/>
                </a:spcAft>
              </a:pPr>
              <a:r>
                <a:rPr lang="zh-CN" altLang="zh-CN" sz="1400" b="1" dirty="0">
                  <a:solidFill>
                    <a:prstClr val="black"/>
                  </a:solidFill>
                  <a:effectLst>
                    <a:glow rad="139700">
                      <a:prstClr val="white">
                        <a:alpha val="70000"/>
                      </a:prstClr>
                    </a:glow>
                  </a:effectLst>
                  <a:latin typeface="微软雅黑"/>
                  <a:ea typeface="微软雅黑"/>
                  <a:cs typeface="MS Gothic" panose="020B0609070205080204" pitchFamily="49" charset="-128"/>
                </a:rPr>
                <a:t>掌跖</a:t>
              </a:r>
              <a:r>
                <a:rPr lang="zh-CN" altLang="zh-CN" sz="1400" b="1" dirty="0">
                  <a:solidFill>
                    <a:prstClr val="black"/>
                  </a:solidFill>
                  <a:effectLst>
                    <a:glow rad="139700">
                      <a:prstClr val="white">
                        <a:alpha val="70000"/>
                      </a:prstClr>
                    </a:glow>
                  </a:effectLst>
                  <a:latin typeface="微软雅黑"/>
                  <a:ea typeface="微软雅黑"/>
                  <a:cs typeface="微软雅黑" panose="020B0503020204020204" pitchFamily="34" charset="-122"/>
                </a:rPr>
                <a:t>脓</a:t>
              </a:r>
              <a:r>
                <a:rPr lang="zh-CN" altLang="zh-CN" sz="1400" b="1" dirty="0">
                  <a:solidFill>
                    <a:prstClr val="black"/>
                  </a:solidFill>
                  <a:effectLst>
                    <a:glow rad="139700">
                      <a:prstClr val="white">
                        <a:alpha val="70000"/>
                      </a:prstClr>
                    </a:glow>
                  </a:effectLst>
                  <a:latin typeface="微软雅黑"/>
                  <a:ea typeface="微软雅黑"/>
                  <a:cs typeface="MS Gothic" panose="020B0609070205080204" pitchFamily="49" charset="-128"/>
                </a:rPr>
                <a:t>疱病</a:t>
              </a:r>
              <a:endParaRPr lang="zh-CN" altLang="en-US" sz="1400" b="1" dirty="0">
                <a:solidFill>
                  <a:prstClr val="black"/>
                </a:solidFill>
                <a:effectLst>
                  <a:glow rad="139700">
                    <a:prstClr val="white">
                      <a:alpha val="70000"/>
                    </a:prstClr>
                  </a:glow>
                </a:effectLst>
                <a:latin typeface="微软雅黑"/>
                <a:ea typeface="微软雅黑"/>
              </a:endParaRPr>
            </a:p>
          </p:txBody>
        </p:sp>
        <p:sp>
          <p:nvSpPr>
            <p:cNvPr id="11" name="矩形 10"/>
            <p:cNvSpPr/>
            <p:nvPr/>
          </p:nvSpPr>
          <p:spPr>
            <a:xfrm>
              <a:off x="3320542" y="2080382"/>
              <a:ext cx="2436236" cy="307777"/>
            </a:xfrm>
            <a:prstGeom prst="rect">
              <a:avLst/>
            </a:prstGeom>
            <a:noFill/>
            <a:ln>
              <a:noFill/>
            </a:ln>
          </p:spPr>
          <p:txBody>
            <a:bodyPr wrap="none" anchor="ctr">
              <a:noAutofit/>
            </a:bodyPr>
            <a:lstStyle/>
            <a:p>
              <a:pPr algn="ctr">
                <a:spcAft>
                  <a:spcPts val="0"/>
                </a:spcAft>
              </a:pPr>
              <a:r>
                <a:rPr lang="zh-CN" altLang="en-US" sz="1400" b="1" dirty="0">
                  <a:solidFill>
                    <a:prstClr val="black"/>
                  </a:solidFill>
                  <a:effectLst>
                    <a:glow rad="139700">
                      <a:prstClr val="white">
                        <a:alpha val="70000"/>
                      </a:prstClr>
                    </a:glow>
                  </a:effectLst>
                  <a:latin typeface="微软雅黑"/>
                  <a:ea typeface="微软雅黑"/>
                  <a:cs typeface="微软雅黑" panose="020B0503020204020204" pitchFamily="34" charset="-122"/>
                </a:rPr>
                <a:t>足</a:t>
              </a:r>
              <a:r>
                <a:rPr lang="zh-CN" altLang="zh-CN" sz="1400" b="1" dirty="0">
                  <a:solidFill>
                    <a:prstClr val="black"/>
                  </a:solidFill>
                  <a:effectLst>
                    <a:glow rad="139700">
                      <a:prstClr val="white">
                        <a:alpha val="70000"/>
                      </a:prstClr>
                    </a:glow>
                  </a:effectLst>
                  <a:latin typeface="微软雅黑"/>
                  <a:ea typeface="微软雅黑"/>
                  <a:cs typeface="微软雅黑" panose="020B0503020204020204" pitchFamily="34" charset="-122"/>
                </a:rPr>
                <a:t>癣</a:t>
              </a:r>
              <a:endParaRPr lang="zh-CN" altLang="en-US" sz="1400" b="1" dirty="0">
                <a:solidFill>
                  <a:prstClr val="black"/>
                </a:solidFill>
                <a:effectLst>
                  <a:glow rad="139700">
                    <a:prstClr val="white">
                      <a:alpha val="70000"/>
                    </a:prstClr>
                  </a:glow>
                </a:effectLst>
                <a:latin typeface="微软雅黑"/>
                <a:ea typeface="微软雅黑"/>
              </a:endParaRPr>
            </a:p>
          </p:txBody>
        </p:sp>
        <p:sp>
          <p:nvSpPr>
            <p:cNvPr id="21" name="矩形 20"/>
            <p:cNvSpPr/>
            <p:nvPr/>
          </p:nvSpPr>
          <p:spPr>
            <a:xfrm>
              <a:off x="6613350" y="4409031"/>
              <a:ext cx="1616568" cy="307777"/>
            </a:xfrm>
            <a:prstGeom prst="rect">
              <a:avLst/>
            </a:prstGeom>
            <a:noFill/>
            <a:ln>
              <a:noFill/>
            </a:ln>
          </p:spPr>
          <p:txBody>
            <a:bodyPr wrap="none" anchor="ctr">
              <a:noAutofit/>
            </a:bodyPr>
            <a:lstStyle/>
            <a:p>
              <a:pPr algn="ctr">
                <a:spcAft>
                  <a:spcPts val="0"/>
                </a:spcAft>
              </a:pPr>
              <a:r>
                <a:rPr lang="zh-CN" altLang="zh-CN" sz="1400" b="1" dirty="0">
                  <a:solidFill>
                    <a:prstClr val="black"/>
                  </a:solidFill>
                  <a:effectLst>
                    <a:glow rad="139700">
                      <a:prstClr val="white">
                        <a:alpha val="70000"/>
                      </a:prstClr>
                    </a:glow>
                  </a:effectLst>
                  <a:latin typeface="微软雅黑"/>
                  <a:ea typeface="微软雅黑"/>
                </a:rPr>
                <a:t>牛皮癣</a:t>
              </a:r>
              <a:endParaRPr lang="zh-CN" altLang="zh-CN" sz="1400" b="1" dirty="0">
                <a:solidFill>
                  <a:prstClr val="black"/>
                </a:solidFill>
                <a:effectLst>
                  <a:glow rad="139700">
                    <a:prstClr val="white">
                      <a:alpha val="70000"/>
                    </a:prstClr>
                  </a:glow>
                </a:effectLst>
                <a:latin typeface="微软雅黑"/>
                <a:ea typeface="微软雅黑"/>
                <a:cs typeface="MS Gothic" panose="020B0609070205080204" pitchFamily="49" charset="-128"/>
              </a:endParaRPr>
            </a:p>
          </p:txBody>
        </p:sp>
        <p:sp>
          <p:nvSpPr>
            <p:cNvPr id="12" name="矩形 11"/>
            <p:cNvSpPr/>
            <p:nvPr/>
          </p:nvSpPr>
          <p:spPr>
            <a:xfrm>
              <a:off x="6613350" y="2080382"/>
              <a:ext cx="1616568" cy="307777"/>
            </a:xfrm>
            <a:prstGeom prst="rect">
              <a:avLst/>
            </a:prstGeom>
            <a:noFill/>
            <a:ln>
              <a:noFill/>
            </a:ln>
          </p:spPr>
          <p:txBody>
            <a:bodyPr wrap="square" anchor="ctr">
              <a:noAutofit/>
            </a:bodyPr>
            <a:lstStyle/>
            <a:p>
              <a:pPr algn="ctr">
                <a:spcAft>
                  <a:spcPts val="0"/>
                </a:spcAft>
              </a:pPr>
              <a:r>
                <a:rPr lang="zh-CN" altLang="en-US" sz="1400" b="1" dirty="0">
                  <a:solidFill>
                    <a:prstClr val="black"/>
                  </a:solidFill>
                  <a:effectLst>
                    <a:glow rad="139700">
                      <a:prstClr val="white">
                        <a:alpha val="70000"/>
                      </a:prstClr>
                    </a:glow>
                  </a:effectLst>
                  <a:latin typeface="微软雅黑"/>
                  <a:ea typeface="微软雅黑"/>
                </a:rPr>
                <a:t>冻疮</a:t>
              </a:r>
            </a:p>
          </p:txBody>
        </p:sp>
        <p:sp>
          <p:nvSpPr>
            <p:cNvPr id="16" name="矩形 15"/>
            <p:cNvSpPr/>
            <p:nvPr/>
          </p:nvSpPr>
          <p:spPr>
            <a:xfrm>
              <a:off x="3730449" y="4409031"/>
              <a:ext cx="1616568" cy="307777"/>
            </a:xfrm>
            <a:prstGeom prst="rect">
              <a:avLst/>
            </a:prstGeom>
            <a:noFill/>
            <a:ln>
              <a:noFill/>
            </a:ln>
          </p:spPr>
          <p:txBody>
            <a:bodyPr wrap="none" anchor="ctr">
              <a:noAutofit/>
            </a:bodyPr>
            <a:lstStyle/>
            <a:p>
              <a:pPr algn="ctr">
                <a:spcAft>
                  <a:spcPts val="0"/>
                </a:spcAft>
              </a:pPr>
              <a:r>
                <a:rPr lang="zh-CN" altLang="zh-CN" sz="1400" b="1" dirty="0">
                  <a:solidFill>
                    <a:prstClr val="black"/>
                  </a:solidFill>
                  <a:effectLst>
                    <a:glow rad="139700">
                      <a:prstClr val="white">
                        <a:alpha val="70000"/>
                      </a:prstClr>
                    </a:glow>
                  </a:effectLst>
                  <a:latin typeface="微软雅黑"/>
                  <a:ea typeface="微软雅黑"/>
                  <a:cs typeface="微软雅黑" panose="020B0503020204020204" pitchFamily="34" charset="-122"/>
                </a:rPr>
                <a:t>过</a:t>
              </a:r>
              <a:r>
                <a:rPr lang="zh-CN" altLang="zh-CN" sz="1400" b="1" dirty="0">
                  <a:solidFill>
                    <a:prstClr val="black"/>
                  </a:solidFill>
                  <a:effectLst>
                    <a:glow rad="139700">
                      <a:prstClr val="white">
                        <a:alpha val="70000"/>
                      </a:prstClr>
                    </a:glow>
                  </a:effectLst>
                  <a:latin typeface="微软雅黑"/>
                  <a:ea typeface="微软雅黑"/>
                  <a:cs typeface="MS Gothic" panose="020B0609070205080204" pitchFamily="49" charset="-128"/>
                </a:rPr>
                <a:t>敏性湿疹</a:t>
              </a:r>
            </a:p>
          </p:txBody>
        </p:sp>
      </p:grpSp>
      <p:sp>
        <p:nvSpPr>
          <p:cNvPr id="79" name="矩形 78"/>
          <p:cNvSpPr/>
          <p:nvPr/>
        </p:nvSpPr>
        <p:spPr>
          <a:xfrm>
            <a:off x="5418300" y="6627168"/>
            <a:ext cx="3725700" cy="230832"/>
          </a:xfrm>
          <a:prstGeom prst="rect">
            <a:avLst/>
          </a:prstGeom>
        </p:spPr>
        <p:txBody>
          <a:bodyPr wrap="none">
            <a:spAutoFit/>
          </a:bodyPr>
          <a:lstStyle/>
          <a:p>
            <a:pPr algn="r"/>
            <a:r>
              <a:rPr lang="zh-CN" altLang="en-US" sz="900" dirty="0">
                <a:solidFill>
                  <a:prstClr val="black"/>
                </a:solidFill>
                <a:latin typeface="微软雅黑"/>
                <a:ea typeface="微软雅黑"/>
              </a:rPr>
              <a:t>日本厚生劳动省</a:t>
            </a:r>
            <a:r>
              <a:rPr lang="en-US" altLang="zh-CN" sz="900" dirty="0">
                <a:solidFill>
                  <a:prstClr val="black"/>
                </a:solidFill>
                <a:latin typeface="微软雅黑"/>
                <a:ea typeface="微软雅黑"/>
              </a:rPr>
              <a:t>, </a:t>
            </a:r>
            <a:r>
              <a:rPr lang="ja-JP" altLang="en-US" sz="900" dirty="0">
                <a:solidFill>
                  <a:prstClr val="black"/>
                </a:solidFill>
                <a:latin typeface="微软雅黑"/>
                <a:ea typeface="微软雅黑"/>
              </a:rPr>
              <a:t>重篤副作用疾患別対応マニュアル 手足症候群 </a:t>
            </a:r>
            <a:r>
              <a:rPr lang="en-US" altLang="zh-CN" sz="900" dirty="0">
                <a:solidFill>
                  <a:prstClr val="black"/>
                </a:solidFill>
                <a:latin typeface="微软雅黑"/>
                <a:ea typeface="微软雅黑"/>
              </a:rPr>
              <a:t>2010.</a:t>
            </a:r>
          </a:p>
        </p:txBody>
      </p:sp>
    </p:spTree>
    <p:extLst>
      <p:ext uri="{BB962C8B-B14F-4D97-AF65-F5344CB8AC3E}">
        <p14:creationId xmlns:p14="http://schemas.microsoft.com/office/powerpoint/2010/main" val="6655509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小</a:t>
            </a:r>
            <a:r>
              <a:rPr lang="zh-CN" altLang="en-US" dirty="0" smtClean="0"/>
              <a:t>结</a:t>
            </a:r>
            <a:endParaRPr lang="zh-CN" altLang="en-US" dirty="0"/>
          </a:p>
        </p:txBody>
      </p:sp>
      <p:grpSp>
        <p:nvGrpSpPr>
          <p:cNvPr id="16" name="组合 15"/>
          <p:cNvGrpSpPr/>
          <p:nvPr/>
        </p:nvGrpSpPr>
        <p:grpSpPr>
          <a:xfrm>
            <a:off x="696642" y="1571340"/>
            <a:ext cx="7699915" cy="4096867"/>
            <a:chOff x="696642" y="1571340"/>
            <a:chExt cx="7699915" cy="4096867"/>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42" y="1571340"/>
              <a:ext cx="7699915" cy="4096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1267591" y="1944656"/>
              <a:ext cx="6965392" cy="968535"/>
            </a:xfrm>
            <a:prstGeom prst="rect">
              <a:avLst/>
            </a:prstGeom>
          </p:spPr>
          <p:txBody>
            <a:bodyPr wrap="square" anchor="ctr">
              <a:spAutoFit/>
            </a:bodyPr>
            <a:lstStyle/>
            <a:p>
              <a:pPr>
                <a:lnSpc>
                  <a:spcPct val="160000"/>
                </a:lnSpc>
                <a:spcBef>
                  <a:spcPts val="0"/>
                </a:spcBef>
              </a:pPr>
              <a:r>
                <a:rPr lang="en-US" altLang="zh-CN" sz="1900" kern="0" spc="-30" dirty="0">
                  <a:solidFill>
                    <a:prstClr val="black"/>
                  </a:solidFill>
                  <a:latin typeface="Arial"/>
                  <a:ea typeface="Microsoft YaHei"/>
                </a:rPr>
                <a:t>HFS</a:t>
              </a:r>
              <a:r>
                <a:rPr lang="zh-CN" altLang="en-US" sz="1900" kern="0" spc="-30" dirty="0">
                  <a:solidFill>
                    <a:prstClr val="black"/>
                  </a:solidFill>
                  <a:latin typeface="Arial"/>
                  <a:ea typeface="Microsoft YaHei"/>
                </a:rPr>
                <a:t>是一种可由多种抗肿瘤药物导致的皮肤不良反应，其发生率和严重程度随药物种类的不同而异</a:t>
              </a:r>
            </a:p>
          </p:txBody>
        </p:sp>
        <p:sp>
          <p:nvSpPr>
            <p:cNvPr id="15" name="矩形 14"/>
            <p:cNvSpPr/>
            <p:nvPr/>
          </p:nvSpPr>
          <p:spPr>
            <a:xfrm>
              <a:off x="1267591" y="4296637"/>
              <a:ext cx="6858000" cy="1027974"/>
            </a:xfrm>
            <a:prstGeom prst="rect">
              <a:avLst/>
            </a:prstGeom>
          </p:spPr>
          <p:txBody>
            <a:bodyPr wrap="square" anchor="ctr">
              <a:spAutoFit/>
            </a:bodyPr>
            <a:lstStyle/>
            <a:p>
              <a:pPr algn="just">
                <a:lnSpc>
                  <a:spcPct val="160000"/>
                </a:lnSpc>
                <a:spcBef>
                  <a:spcPts val="0"/>
                </a:spcBef>
              </a:pPr>
              <a:r>
                <a:rPr lang="en-US" altLang="zh-CN" sz="1900" kern="0" dirty="0">
                  <a:solidFill>
                    <a:srgbClr val="211D1E"/>
                  </a:solidFill>
                  <a:latin typeface="Arial"/>
                  <a:ea typeface="Microsoft YaHei"/>
                </a:rPr>
                <a:t>HFS</a:t>
              </a:r>
              <a:r>
                <a:rPr lang="zh-CN" altLang="en-US" sz="1900" kern="0" dirty="0">
                  <a:solidFill>
                    <a:srgbClr val="211D1E"/>
                  </a:solidFill>
                  <a:latin typeface="Arial"/>
                  <a:ea typeface="Microsoft YaHei"/>
                </a:rPr>
                <a:t>的发生与多种风险因素相关，早期确诊</a:t>
              </a:r>
              <a:r>
                <a:rPr lang="en-US" altLang="zh-CN" sz="1900" kern="0" dirty="0">
                  <a:solidFill>
                    <a:srgbClr val="211D1E"/>
                  </a:solidFill>
                  <a:latin typeface="Arial"/>
                  <a:ea typeface="Microsoft YaHei"/>
                </a:rPr>
                <a:t>HFS</a:t>
              </a:r>
              <a:r>
                <a:rPr lang="zh-CN" altLang="en-US" sz="1900" kern="0" dirty="0">
                  <a:solidFill>
                    <a:srgbClr val="211D1E"/>
                  </a:solidFill>
                  <a:latin typeface="Arial"/>
                  <a:ea typeface="Microsoft YaHei"/>
                </a:rPr>
                <a:t>并进行正确</a:t>
              </a:r>
              <a:r>
                <a:rPr lang="zh-CN" altLang="en-US" sz="1900" kern="0" dirty="0" smtClean="0">
                  <a:solidFill>
                    <a:srgbClr val="211D1E"/>
                  </a:solidFill>
                  <a:latin typeface="Arial"/>
                  <a:ea typeface="Microsoft YaHei"/>
                </a:rPr>
                <a:t>的</a:t>
              </a:r>
              <a:r>
                <a:rPr lang="en-US" altLang="zh-CN" sz="1900" kern="0" dirty="0" smtClean="0">
                  <a:solidFill>
                    <a:srgbClr val="211D1E"/>
                  </a:solidFill>
                  <a:latin typeface="Arial"/>
                  <a:ea typeface="Microsoft YaHei"/>
                </a:rPr>
                <a:t/>
              </a:r>
              <a:br>
                <a:rPr lang="en-US" altLang="zh-CN" sz="1900" kern="0" dirty="0" smtClean="0">
                  <a:solidFill>
                    <a:srgbClr val="211D1E"/>
                  </a:solidFill>
                  <a:latin typeface="Arial"/>
                  <a:ea typeface="Microsoft YaHei"/>
                </a:rPr>
              </a:br>
              <a:r>
                <a:rPr lang="zh-CN" altLang="en-US" sz="1900" kern="0" dirty="0" smtClean="0">
                  <a:solidFill>
                    <a:srgbClr val="211D1E"/>
                  </a:solidFill>
                  <a:latin typeface="Arial"/>
                  <a:ea typeface="Microsoft YaHei"/>
                </a:rPr>
                <a:t>分级</a:t>
              </a:r>
              <a:r>
                <a:rPr lang="zh-CN" altLang="en-US" sz="1900" kern="0" dirty="0">
                  <a:solidFill>
                    <a:srgbClr val="211D1E"/>
                  </a:solidFill>
                  <a:latin typeface="Arial"/>
                  <a:ea typeface="Microsoft YaHei"/>
                </a:rPr>
                <a:t>至关重要</a:t>
              </a:r>
            </a:p>
          </p:txBody>
        </p:sp>
      </p:grpSp>
    </p:spTree>
    <p:extLst>
      <p:ext uri="{BB962C8B-B14F-4D97-AF65-F5344CB8AC3E}">
        <p14:creationId xmlns:p14="http://schemas.microsoft.com/office/powerpoint/2010/main" val="1543769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pSp>
        <p:nvGrpSpPr>
          <p:cNvPr id="12" name="组合 11"/>
          <p:cNvGrpSpPr/>
          <p:nvPr/>
        </p:nvGrpSpPr>
        <p:grpSpPr>
          <a:xfrm>
            <a:off x="773932" y="1349902"/>
            <a:ext cx="7395089" cy="4298053"/>
            <a:chOff x="773932" y="1349902"/>
            <a:chExt cx="7395089" cy="4298053"/>
          </a:xfrm>
        </p:grpSpPr>
        <p:pic>
          <p:nvPicPr>
            <p:cNvPr id="11" name="图片 10"/>
            <p:cNvPicPr>
              <a:picLocks noChangeAspect="1"/>
            </p:cNvPicPr>
            <p:nvPr/>
          </p:nvPicPr>
          <p:blipFill>
            <a:blip r:embed="rId3"/>
            <a:stretch>
              <a:fillRect/>
            </a:stretch>
          </p:blipFill>
          <p:spPr>
            <a:xfrm>
              <a:off x="773932" y="1349902"/>
              <a:ext cx="7395089" cy="4298053"/>
            </a:xfrm>
            <a:prstGeom prst="rect">
              <a:avLst/>
            </a:prstGeom>
          </p:spPr>
        </p:pic>
        <p:grpSp>
          <p:nvGrpSpPr>
            <p:cNvPr id="10" name="组合 9"/>
            <p:cNvGrpSpPr/>
            <p:nvPr/>
          </p:nvGrpSpPr>
          <p:grpSpPr>
            <a:xfrm>
              <a:off x="1934234" y="1653886"/>
              <a:ext cx="5254836" cy="3632031"/>
              <a:chOff x="1934234" y="1653886"/>
              <a:chExt cx="5254836" cy="3632031"/>
            </a:xfrm>
          </p:grpSpPr>
          <p:sp>
            <p:nvSpPr>
              <p:cNvPr id="7" name="矩形 6"/>
              <p:cNvSpPr/>
              <p:nvPr/>
            </p:nvSpPr>
            <p:spPr>
              <a:xfrm>
                <a:off x="1934234" y="1653886"/>
                <a:ext cx="5254836" cy="430887"/>
              </a:xfrm>
              <a:prstGeom prst="rect">
                <a:avLst/>
              </a:prstGeom>
            </p:spPr>
            <p:txBody>
              <a:bodyPr wrap="square" anchor="ctr">
                <a:spAutoFit/>
              </a:bodyPr>
              <a:lstStyle/>
              <a:p>
                <a:r>
                  <a:rPr lang="zh-CN" altLang="en-US" sz="2200" b="1" dirty="0">
                    <a:solidFill>
                      <a:srgbClr val="BFBFBF"/>
                    </a:solidFill>
                    <a:latin typeface="Microsoft YaHei"/>
                    <a:ea typeface="Microsoft YaHei"/>
                  </a:rPr>
                  <a:t>手</a:t>
                </a:r>
                <a:r>
                  <a:rPr lang="en-US" altLang="zh-CN" sz="2200" b="1" dirty="0">
                    <a:solidFill>
                      <a:srgbClr val="BFBFBF"/>
                    </a:solidFill>
                    <a:latin typeface="Microsoft YaHei"/>
                    <a:ea typeface="Microsoft YaHei"/>
                  </a:rPr>
                  <a:t>-</a:t>
                </a:r>
                <a:r>
                  <a:rPr lang="zh-CN" altLang="en-US" sz="2200" b="1" dirty="0">
                    <a:solidFill>
                      <a:srgbClr val="BFBFBF"/>
                    </a:solidFill>
                    <a:latin typeface="Microsoft YaHei"/>
                    <a:ea typeface="Microsoft YaHei"/>
                  </a:rPr>
                  <a:t>足综合征（</a:t>
                </a:r>
                <a:r>
                  <a:rPr lang="en-US" altLang="zh-CN" sz="2200" b="1" dirty="0">
                    <a:solidFill>
                      <a:srgbClr val="BFBFBF"/>
                    </a:solidFill>
                    <a:latin typeface="Microsoft YaHei"/>
                    <a:ea typeface="Microsoft YaHei"/>
                  </a:rPr>
                  <a:t>HFS</a:t>
                </a:r>
                <a:r>
                  <a:rPr lang="zh-CN" altLang="en-US" sz="2200" b="1" dirty="0">
                    <a:solidFill>
                      <a:srgbClr val="BFBFBF"/>
                    </a:solidFill>
                    <a:latin typeface="Microsoft YaHei"/>
                    <a:ea typeface="Microsoft YaHei"/>
                  </a:rPr>
                  <a:t>） 概述</a:t>
                </a:r>
                <a:endParaRPr lang="en-US" altLang="zh-CN" sz="2200" b="1" dirty="0">
                  <a:solidFill>
                    <a:srgbClr val="BFBFBF"/>
                  </a:solidFill>
                  <a:latin typeface="Microsoft YaHei"/>
                  <a:ea typeface="Microsoft YaHei"/>
                </a:endParaRPr>
              </a:p>
            </p:txBody>
          </p:sp>
          <p:sp>
            <p:nvSpPr>
              <p:cNvPr id="28" name="矩形 27"/>
              <p:cNvSpPr/>
              <p:nvPr/>
            </p:nvSpPr>
            <p:spPr>
              <a:xfrm>
                <a:off x="1934234" y="3254458"/>
                <a:ext cx="3714222" cy="430887"/>
              </a:xfrm>
              <a:prstGeom prst="rect">
                <a:avLst/>
              </a:prstGeom>
            </p:spPr>
            <p:txBody>
              <a:bodyPr wrap="none" anchor="ctr">
                <a:spAutoFit/>
              </a:bodyPr>
              <a:lstStyle/>
              <a:p>
                <a:r>
                  <a:rPr lang="zh-CN" altLang="en-US" sz="2200" b="1" dirty="0">
                    <a:solidFill>
                      <a:prstClr val="black"/>
                    </a:solidFill>
                    <a:latin typeface="Microsoft YaHei"/>
                    <a:ea typeface="Microsoft YaHei"/>
                  </a:rPr>
                  <a:t>卡培他滨 </a:t>
                </a:r>
                <a:r>
                  <a:rPr lang="en-US" altLang="zh-CN" sz="2200" b="1" dirty="0">
                    <a:solidFill>
                      <a:prstClr val="black"/>
                    </a:solidFill>
                    <a:latin typeface="Microsoft YaHei"/>
                    <a:ea typeface="Microsoft YaHei"/>
                  </a:rPr>
                  <a:t>&amp; CRC</a:t>
                </a:r>
                <a:r>
                  <a:rPr lang="zh-CN" altLang="en-US" sz="2200" b="1" dirty="0">
                    <a:solidFill>
                      <a:prstClr val="black"/>
                    </a:solidFill>
                    <a:latin typeface="Microsoft YaHei"/>
                    <a:ea typeface="Microsoft YaHei"/>
                  </a:rPr>
                  <a:t>患者的</a:t>
                </a:r>
                <a:r>
                  <a:rPr lang="en-US" altLang="zh-CN" sz="2200" b="1" dirty="0">
                    <a:solidFill>
                      <a:prstClr val="black"/>
                    </a:solidFill>
                    <a:latin typeface="Microsoft YaHei"/>
                    <a:ea typeface="Microsoft YaHei"/>
                  </a:rPr>
                  <a:t>HFS</a:t>
                </a:r>
              </a:p>
            </p:txBody>
          </p:sp>
          <p:sp>
            <p:nvSpPr>
              <p:cNvPr id="29" name="矩形 28"/>
              <p:cNvSpPr/>
              <p:nvPr/>
            </p:nvSpPr>
            <p:spPr>
              <a:xfrm>
                <a:off x="1934234" y="4855030"/>
                <a:ext cx="2997808" cy="430887"/>
              </a:xfrm>
              <a:prstGeom prst="rect">
                <a:avLst/>
              </a:prstGeom>
            </p:spPr>
            <p:txBody>
              <a:bodyPr wrap="none" anchor="ctr">
                <a:spAutoFit/>
              </a:bodyPr>
              <a:lstStyle/>
              <a:p>
                <a:r>
                  <a:rPr lang="en-US" altLang="zh-CN" sz="2200" b="1" dirty="0" smtClean="0">
                    <a:solidFill>
                      <a:srgbClr val="BFBFBF"/>
                    </a:solidFill>
                    <a:latin typeface="Microsoft YaHei"/>
                    <a:ea typeface="Microsoft YaHei"/>
                  </a:rPr>
                  <a:t>HFS</a:t>
                </a:r>
                <a:r>
                  <a:rPr lang="zh-CN" altLang="en-US" sz="2200" b="1" dirty="0">
                    <a:solidFill>
                      <a:srgbClr val="BFBFBF"/>
                    </a:solidFill>
                    <a:latin typeface="Microsoft YaHei"/>
                    <a:ea typeface="Microsoft YaHei"/>
                  </a:rPr>
                  <a:t>的防治和处理建议</a:t>
                </a:r>
              </a:p>
            </p:txBody>
          </p:sp>
        </p:grpSp>
      </p:grpSp>
    </p:spTree>
    <p:extLst>
      <p:ext uri="{BB962C8B-B14F-4D97-AF65-F5344CB8AC3E}">
        <p14:creationId xmlns:p14="http://schemas.microsoft.com/office/powerpoint/2010/main" val="30575896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mn-lt"/>
                <a:ea typeface="+mn-ea"/>
                <a:cs typeface="+mn-ea"/>
                <a:sym typeface="+mn-lt"/>
              </a:rPr>
              <a:t>卡培他滨治疗</a:t>
            </a:r>
            <a:r>
              <a:rPr lang="en-US" altLang="zh-CN" dirty="0">
                <a:latin typeface="+mn-lt"/>
                <a:ea typeface="+mn-ea"/>
                <a:cs typeface="+mn-ea"/>
                <a:sym typeface="+mn-lt"/>
              </a:rPr>
              <a:t>CRC</a:t>
            </a:r>
            <a:r>
              <a:rPr lang="zh-CN" altLang="en-US" dirty="0">
                <a:latin typeface="+mn-lt"/>
                <a:ea typeface="+mn-ea"/>
                <a:cs typeface="+mn-ea"/>
                <a:sym typeface="+mn-lt"/>
              </a:rPr>
              <a:t>时的</a:t>
            </a:r>
            <a:r>
              <a:rPr lang="en-US" altLang="zh-CN" dirty="0">
                <a:latin typeface="+mn-lt"/>
                <a:ea typeface="+mn-ea"/>
                <a:cs typeface="+mn-ea"/>
                <a:sym typeface="+mn-lt"/>
              </a:rPr>
              <a:t>HFS</a:t>
            </a:r>
            <a:r>
              <a:rPr lang="zh-CN" altLang="en-US" dirty="0">
                <a:latin typeface="+mn-lt"/>
                <a:ea typeface="+mn-ea"/>
                <a:cs typeface="+mn-ea"/>
                <a:sym typeface="+mn-lt"/>
              </a:rPr>
              <a:t>多为轻</a:t>
            </a:r>
            <a:r>
              <a:rPr lang="en-US" altLang="zh-CN" dirty="0">
                <a:latin typeface="+mn-lt"/>
                <a:ea typeface="+mn-ea"/>
                <a:cs typeface="+mn-ea"/>
                <a:sym typeface="+mn-lt"/>
              </a:rPr>
              <a:t>-</a:t>
            </a:r>
            <a:r>
              <a:rPr lang="zh-CN" altLang="en-US" dirty="0">
                <a:latin typeface="+mn-lt"/>
                <a:ea typeface="+mn-ea"/>
                <a:cs typeface="+mn-ea"/>
                <a:sym typeface="+mn-lt"/>
              </a:rPr>
              <a:t>中度</a:t>
            </a:r>
          </a:p>
        </p:txBody>
      </p:sp>
      <p:sp>
        <p:nvSpPr>
          <p:cNvPr id="16" name="矩形 15"/>
          <p:cNvSpPr/>
          <p:nvPr/>
        </p:nvSpPr>
        <p:spPr>
          <a:xfrm>
            <a:off x="5791799" y="6488668"/>
            <a:ext cx="3352201" cy="369332"/>
          </a:xfrm>
          <a:prstGeom prst="rect">
            <a:avLst/>
          </a:prstGeom>
        </p:spPr>
        <p:txBody>
          <a:bodyPr wrap="none">
            <a:spAutoFit/>
          </a:bodyPr>
          <a:lstStyle/>
          <a:p>
            <a:pPr marL="228600" indent="-228600" algn="r" eaLnBrk="1" fontAlgn="auto" hangingPunct="1">
              <a:spcBef>
                <a:spcPts val="0"/>
              </a:spcBef>
              <a:spcAft>
                <a:spcPts val="0"/>
              </a:spcAft>
              <a:buFont typeface="+mj-lt"/>
              <a:buAutoNum type="arabicPeriod"/>
              <a:defRPr/>
            </a:pPr>
            <a:endParaRPr lang="en-US" altLang="zh-CN" sz="900" dirty="0">
              <a:solidFill>
                <a:prstClr val="black"/>
              </a:solidFill>
              <a:latin typeface="微软雅黑"/>
              <a:ea typeface="微软雅黑"/>
              <a:cs typeface="+mn-ea"/>
              <a:sym typeface="+mn-lt"/>
            </a:endParaRPr>
          </a:p>
          <a:p>
            <a:pPr algn="r" eaLnBrk="1" fontAlgn="auto" hangingPunct="1">
              <a:spcBef>
                <a:spcPts val="0"/>
              </a:spcBef>
              <a:spcAft>
                <a:spcPts val="0"/>
              </a:spcAft>
              <a:defRPr/>
            </a:pPr>
            <a:r>
              <a:rPr lang="en-US" altLang="zh-CN" sz="900" dirty="0" err="1">
                <a:solidFill>
                  <a:prstClr val="black"/>
                </a:solidFill>
                <a:latin typeface="微软雅黑"/>
                <a:ea typeface="微软雅黑"/>
                <a:cs typeface="+mn-ea"/>
                <a:sym typeface="+mn-lt"/>
              </a:rPr>
              <a:t>Saif</a:t>
            </a:r>
            <a:r>
              <a:rPr lang="en-US" altLang="zh-CN" sz="900" dirty="0">
                <a:solidFill>
                  <a:prstClr val="black"/>
                </a:solidFill>
                <a:latin typeface="微软雅黑"/>
                <a:ea typeface="微软雅黑"/>
                <a:cs typeface="+mn-ea"/>
                <a:sym typeface="+mn-lt"/>
              </a:rPr>
              <a:t> MW et al., Expert </a:t>
            </a:r>
            <a:r>
              <a:rPr lang="en-US" altLang="zh-CN" sz="900" dirty="0" err="1">
                <a:solidFill>
                  <a:prstClr val="black"/>
                </a:solidFill>
                <a:latin typeface="微软雅黑"/>
                <a:ea typeface="微软雅黑"/>
                <a:cs typeface="+mn-ea"/>
                <a:sym typeface="+mn-lt"/>
              </a:rPr>
              <a:t>Opin</a:t>
            </a:r>
            <a:r>
              <a:rPr lang="en-US" altLang="zh-CN" sz="900" dirty="0">
                <a:solidFill>
                  <a:prstClr val="black"/>
                </a:solidFill>
                <a:latin typeface="微软雅黑"/>
                <a:ea typeface="微软雅黑"/>
                <a:cs typeface="+mn-ea"/>
                <a:sym typeface="+mn-lt"/>
              </a:rPr>
              <a:t> Drug </a:t>
            </a:r>
            <a:r>
              <a:rPr lang="en-US" altLang="zh-CN" sz="900" dirty="0" err="1">
                <a:solidFill>
                  <a:prstClr val="black"/>
                </a:solidFill>
                <a:latin typeface="微软雅黑"/>
                <a:ea typeface="微软雅黑"/>
                <a:cs typeface="+mn-ea"/>
                <a:sym typeface="+mn-lt"/>
              </a:rPr>
              <a:t>Saf</a:t>
            </a:r>
            <a:r>
              <a:rPr lang="en-US" altLang="zh-CN" sz="900" dirty="0">
                <a:solidFill>
                  <a:prstClr val="black"/>
                </a:solidFill>
                <a:latin typeface="微软雅黑"/>
                <a:ea typeface="微软雅黑"/>
                <a:cs typeface="+mn-ea"/>
                <a:sym typeface="+mn-lt"/>
              </a:rPr>
              <a:t>. 2011;10(2): 159-169.</a:t>
            </a:r>
            <a:endParaRPr lang="en-US" altLang="zh-CN" sz="900" i="1" dirty="0">
              <a:solidFill>
                <a:prstClr val="black"/>
              </a:solidFill>
              <a:latin typeface="微软雅黑"/>
              <a:ea typeface="微软雅黑"/>
              <a:cs typeface="+mn-ea"/>
              <a:sym typeface="+mn-lt"/>
            </a:endParaRPr>
          </a:p>
        </p:txBody>
      </p:sp>
      <p:grpSp>
        <p:nvGrpSpPr>
          <p:cNvPr id="6" name="组合 5"/>
          <p:cNvGrpSpPr/>
          <p:nvPr/>
        </p:nvGrpSpPr>
        <p:grpSpPr>
          <a:xfrm>
            <a:off x="645243" y="987394"/>
            <a:ext cx="7785267" cy="5307734"/>
            <a:chOff x="645243" y="1171435"/>
            <a:chExt cx="7785267" cy="5307734"/>
          </a:xfrm>
        </p:grpSpPr>
        <p:pic>
          <p:nvPicPr>
            <p:cNvPr id="2" name="图片 1"/>
            <p:cNvPicPr>
              <a:picLocks noChangeAspect="1"/>
            </p:cNvPicPr>
            <p:nvPr/>
          </p:nvPicPr>
          <p:blipFill>
            <a:blip r:embed="rId3"/>
            <a:stretch>
              <a:fillRect/>
            </a:stretch>
          </p:blipFill>
          <p:spPr>
            <a:xfrm>
              <a:off x="645243" y="1266637"/>
              <a:ext cx="7785267" cy="5212532"/>
            </a:xfrm>
            <a:prstGeom prst="rect">
              <a:avLst/>
            </a:prstGeom>
          </p:spPr>
        </p:pic>
        <p:sp>
          <p:nvSpPr>
            <p:cNvPr id="5" name="文本框 4"/>
            <p:cNvSpPr txBox="1"/>
            <p:nvPr/>
          </p:nvSpPr>
          <p:spPr>
            <a:xfrm>
              <a:off x="1934281" y="5087785"/>
              <a:ext cx="341760" cy="261610"/>
            </a:xfrm>
            <a:prstGeom prst="rect">
              <a:avLst/>
            </a:prstGeom>
            <a:noFill/>
          </p:spPr>
          <p:txBody>
            <a:bodyPr wrap="none" rtlCol="0">
              <a:noAutofit/>
            </a:bodyPr>
            <a:lstStyle/>
            <a:p>
              <a:pPr algn="ctr"/>
              <a:r>
                <a:rPr lang="en-US" altLang="zh-CN" sz="1100" dirty="0">
                  <a:solidFill>
                    <a:prstClr val="black"/>
                  </a:solidFill>
                  <a:latin typeface="Microsoft YaHei"/>
                </a:rPr>
                <a:t>62</a:t>
              </a:r>
              <a:endParaRPr lang="zh-CN" altLang="en-US" sz="1100" dirty="0">
                <a:solidFill>
                  <a:prstClr val="black"/>
                </a:solidFill>
                <a:latin typeface="Microsoft YaHei"/>
              </a:endParaRPr>
            </a:p>
          </p:txBody>
        </p:sp>
        <p:sp>
          <p:nvSpPr>
            <p:cNvPr id="11" name="文本框 10"/>
            <p:cNvSpPr txBox="1"/>
            <p:nvPr/>
          </p:nvSpPr>
          <p:spPr>
            <a:xfrm>
              <a:off x="2313119" y="5087785"/>
              <a:ext cx="341760" cy="261610"/>
            </a:xfrm>
            <a:prstGeom prst="rect">
              <a:avLst/>
            </a:prstGeom>
            <a:noFill/>
          </p:spPr>
          <p:txBody>
            <a:bodyPr wrap="none" rtlCol="0">
              <a:noAutofit/>
            </a:bodyPr>
            <a:lstStyle/>
            <a:p>
              <a:pPr algn="ctr"/>
              <a:r>
                <a:rPr lang="en-US" altLang="zh-CN" sz="1100" dirty="0">
                  <a:solidFill>
                    <a:prstClr val="white"/>
                  </a:solidFill>
                  <a:latin typeface="Microsoft YaHei"/>
                </a:rPr>
                <a:t>18</a:t>
              </a:r>
              <a:endParaRPr lang="zh-CN" altLang="en-US" sz="1100" dirty="0">
                <a:solidFill>
                  <a:prstClr val="white"/>
                </a:solidFill>
                <a:latin typeface="Microsoft YaHei"/>
              </a:endParaRPr>
            </a:p>
          </p:txBody>
        </p:sp>
        <p:sp>
          <p:nvSpPr>
            <p:cNvPr id="12" name="文本框 11"/>
            <p:cNvSpPr txBox="1"/>
            <p:nvPr/>
          </p:nvSpPr>
          <p:spPr>
            <a:xfrm>
              <a:off x="3674594" y="5087785"/>
              <a:ext cx="341760" cy="261610"/>
            </a:xfrm>
            <a:prstGeom prst="rect">
              <a:avLst/>
            </a:prstGeom>
            <a:noFill/>
          </p:spPr>
          <p:txBody>
            <a:bodyPr wrap="none" rtlCol="0">
              <a:noAutofit/>
            </a:bodyPr>
            <a:lstStyle/>
            <a:p>
              <a:pPr algn="ctr"/>
              <a:r>
                <a:rPr lang="en-US" altLang="zh-CN" sz="1100" dirty="0">
                  <a:solidFill>
                    <a:prstClr val="black"/>
                  </a:solidFill>
                  <a:latin typeface="Microsoft YaHei"/>
                </a:rPr>
                <a:t>60</a:t>
              </a:r>
              <a:endParaRPr lang="zh-CN" altLang="en-US" sz="1100" dirty="0">
                <a:solidFill>
                  <a:prstClr val="black"/>
                </a:solidFill>
                <a:latin typeface="Microsoft YaHei"/>
              </a:endParaRPr>
            </a:p>
          </p:txBody>
        </p:sp>
        <p:sp>
          <p:nvSpPr>
            <p:cNvPr id="13" name="文本框 12"/>
            <p:cNvSpPr txBox="1"/>
            <p:nvPr/>
          </p:nvSpPr>
          <p:spPr>
            <a:xfrm>
              <a:off x="4055871" y="5087785"/>
              <a:ext cx="341760" cy="261610"/>
            </a:xfrm>
            <a:prstGeom prst="rect">
              <a:avLst/>
            </a:prstGeom>
            <a:noFill/>
          </p:spPr>
          <p:txBody>
            <a:bodyPr wrap="none" rtlCol="0">
              <a:noAutofit/>
            </a:bodyPr>
            <a:lstStyle/>
            <a:p>
              <a:pPr algn="ctr"/>
              <a:r>
                <a:rPr lang="en-US" altLang="zh-CN" sz="1100" dirty="0">
                  <a:solidFill>
                    <a:prstClr val="white"/>
                  </a:solidFill>
                  <a:latin typeface="Microsoft YaHei"/>
                </a:rPr>
                <a:t>17</a:t>
              </a:r>
              <a:endParaRPr lang="zh-CN" altLang="en-US" sz="1100" dirty="0">
                <a:solidFill>
                  <a:prstClr val="white"/>
                </a:solidFill>
                <a:latin typeface="Microsoft YaHei"/>
              </a:endParaRPr>
            </a:p>
          </p:txBody>
        </p:sp>
        <p:sp>
          <p:nvSpPr>
            <p:cNvPr id="14" name="文本框 13"/>
            <p:cNvSpPr txBox="1"/>
            <p:nvPr/>
          </p:nvSpPr>
          <p:spPr>
            <a:xfrm>
              <a:off x="5417346" y="5087785"/>
              <a:ext cx="341760" cy="261610"/>
            </a:xfrm>
            <a:prstGeom prst="rect">
              <a:avLst/>
            </a:prstGeom>
            <a:noFill/>
          </p:spPr>
          <p:txBody>
            <a:bodyPr wrap="none" rtlCol="0">
              <a:noAutofit/>
            </a:bodyPr>
            <a:lstStyle/>
            <a:p>
              <a:pPr algn="ctr"/>
              <a:r>
                <a:rPr lang="en-US" altLang="zh-CN" sz="1100" dirty="0">
                  <a:solidFill>
                    <a:prstClr val="black"/>
                  </a:solidFill>
                  <a:latin typeface="Microsoft YaHei"/>
                </a:rPr>
                <a:t>53.5</a:t>
              </a:r>
            </a:p>
          </p:txBody>
        </p:sp>
        <p:sp>
          <p:nvSpPr>
            <p:cNvPr id="15" name="文本框 14"/>
            <p:cNvSpPr txBox="1"/>
            <p:nvPr/>
          </p:nvSpPr>
          <p:spPr>
            <a:xfrm>
              <a:off x="5794432" y="5087785"/>
              <a:ext cx="341760" cy="261610"/>
            </a:xfrm>
            <a:prstGeom prst="rect">
              <a:avLst/>
            </a:prstGeom>
            <a:noFill/>
          </p:spPr>
          <p:txBody>
            <a:bodyPr wrap="none" rtlCol="0">
              <a:noAutofit/>
            </a:bodyPr>
            <a:lstStyle/>
            <a:p>
              <a:pPr algn="ctr"/>
              <a:r>
                <a:rPr lang="en-US" altLang="zh-CN" sz="1100" dirty="0">
                  <a:solidFill>
                    <a:prstClr val="white"/>
                  </a:solidFill>
                  <a:latin typeface="Microsoft YaHei"/>
                </a:rPr>
                <a:t>17.1</a:t>
              </a:r>
              <a:endParaRPr lang="zh-CN" altLang="en-US" sz="1100" dirty="0">
                <a:solidFill>
                  <a:prstClr val="white"/>
                </a:solidFill>
                <a:latin typeface="Microsoft YaHei"/>
              </a:endParaRPr>
            </a:p>
          </p:txBody>
        </p:sp>
        <p:sp>
          <p:nvSpPr>
            <p:cNvPr id="17" name="文本框 16"/>
            <p:cNvSpPr txBox="1"/>
            <p:nvPr/>
          </p:nvSpPr>
          <p:spPr>
            <a:xfrm>
              <a:off x="7158188" y="5087785"/>
              <a:ext cx="341760" cy="261610"/>
            </a:xfrm>
            <a:prstGeom prst="rect">
              <a:avLst/>
            </a:prstGeom>
            <a:noFill/>
          </p:spPr>
          <p:txBody>
            <a:bodyPr wrap="none" rtlCol="0">
              <a:noAutofit/>
            </a:bodyPr>
            <a:lstStyle/>
            <a:p>
              <a:pPr algn="ctr"/>
              <a:r>
                <a:rPr lang="en-US" altLang="zh-CN" sz="1100" dirty="0">
                  <a:solidFill>
                    <a:prstClr val="black"/>
                  </a:solidFill>
                  <a:latin typeface="Microsoft YaHei"/>
                </a:rPr>
                <a:t>29</a:t>
              </a:r>
            </a:p>
          </p:txBody>
        </p:sp>
        <p:sp>
          <p:nvSpPr>
            <p:cNvPr id="18" name="文本框 17"/>
            <p:cNvSpPr txBox="1"/>
            <p:nvPr/>
          </p:nvSpPr>
          <p:spPr>
            <a:xfrm>
              <a:off x="7538259" y="5087785"/>
              <a:ext cx="341760" cy="261610"/>
            </a:xfrm>
            <a:prstGeom prst="rect">
              <a:avLst/>
            </a:prstGeom>
            <a:noFill/>
          </p:spPr>
          <p:txBody>
            <a:bodyPr wrap="none" rtlCol="0">
              <a:noAutofit/>
            </a:bodyPr>
            <a:lstStyle/>
            <a:p>
              <a:pPr algn="ctr"/>
              <a:r>
                <a:rPr lang="en-US" altLang="zh-CN" sz="1100" dirty="0">
                  <a:solidFill>
                    <a:prstClr val="white"/>
                  </a:solidFill>
                  <a:latin typeface="Microsoft YaHei"/>
                </a:rPr>
                <a:t>5</a:t>
              </a:r>
              <a:endParaRPr lang="zh-CN" altLang="en-US" sz="1100" dirty="0">
                <a:solidFill>
                  <a:prstClr val="white"/>
                </a:solidFill>
                <a:latin typeface="Microsoft YaHei"/>
              </a:endParaRPr>
            </a:p>
          </p:txBody>
        </p:sp>
        <p:sp>
          <p:nvSpPr>
            <p:cNvPr id="3" name="矩形 2"/>
            <p:cNvSpPr/>
            <p:nvPr/>
          </p:nvSpPr>
          <p:spPr>
            <a:xfrm>
              <a:off x="1597078" y="1171435"/>
              <a:ext cx="6603466" cy="338554"/>
            </a:xfrm>
            <a:prstGeom prst="rect">
              <a:avLst/>
            </a:prstGeom>
          </p:spPr>
          <p:txBody>
            <a:bodyPr wrap="square">
              <a:spAutoFit/>
            </a:bodyPr>
            <a:lstStyle/>
            <a:p>
              <a:pPr algn="ctr">
                <a:defRPr lang="zh-CN" sz="1800" b="0" i="0" u="none" strike="noStrike" kern="1200" spc="0" baseline="0">
                  <a:solidFill>
                    <a:prstClr val="black">
                      <a:lumMod val="65000"/>
                      <a:lumOff val="35000"/>
                    </a:prstClr>
                  </a:solidFill>
                  <a:latin typeface="+mn-lt"/>
                  <a:ea typeface="+mn-ea"/>
                  <a:cs typeface="+mn-ea"/>
                  <a:sym typeface="+mn-lt"/>
                </a:defRPr>
              </a:pPr>
              <a:r>
                <a:rPr lang="zh-CN" altLang="en-US" sz="1600" b="1" dirty="0">
                  <a:solidFill>
                    <a:srgbClr val="000000"/>
                  </a:solidFill>
                  <a:latin typeface="Microsoft YaHei"/>
                  <a:ea typeface="Microsoft YaHei"/>
                  <a:cs typeface="+mn-ea"/>
                  <a:sym typeface="+mn-lt"/>
                </a:rPr>
                <a:t>卡培他滨</a:t>
              </a:r>
              <a:r>
                <a:rPr lang="zh-CN" altLang="zh-CN" sz="1600" b="1" dirty="0">
                  <a:solidFill>
                    <a:srgbClr val="000000"/>
                  </a:solidFill>
                  <a:latin typeface="Microsoft YaHei"/>
                  <a:ea typeface="Microsoft YaHei"/>
                  <a:cs typeface="+mn-ea"/>
                  <a:sym typeface="+mn-lt"/>
                </a:rPr>
                <a:t>治疗结直肠癌，</a:t>
              </a:r>
              <a:r>
                <a:rPr lang="en-US" altLang="zh-CN" sz="1600" b="1" dirty="0">
                  <a:solidFill>
                    <a:srgbClr val="000000"/>
                  </a:solidFill>
                  <a:latin typeface="Microsoft YaHei"/>
                  <a:ea typeface="Microsoft YaHei"/>
                  <a:cs typeface="+mn-ea"/>
                  <a:sym typeface="+mn-lt"/>
                </a:rPr>
                <a:t>HFS</a:t>
              </a:r>
              <a:r>
                <a:rPr lang="zh-CN" altLang="zh-CN" sz="1600" b="1" dirty="0">
                  <a:solidFill>
                    <a:srgbClr val="000000"/>
                  </a:solidFill>
                  <a:latin typeface="Microsoft YaHei"/>
                  <a:ea typeface="Microsoft YaHei"/>
                  <a:cs typeface="+mn-ea"/>
                  <a:sym typeface="+mn-lt"/>
                </a:rPr>
                <a:t>发生率</a:t>
              </a:r>
              <a:r>
                <a:rPr lang="zh-CN" altLang="en-US" sz="1600" b="1" dirty="0">
                  <a:solidFill>
                    <a:srgbClr val="000000"/>
                  </a:solidFill>
                  <a:latin typeface="Microsoft YaHei"/>
                  <a:ea typeface="Microsoft YaHei"/>
                  <a:cs typeface="+mn-ea"/>
                  <a:sym typeface="+mn-lt"/>
                </a:rPr>
                <a:t>：</a:t>
              </a:r>
              <a:r>
                <a:rPr lang="en-US" altLang="zh-CN" sz="1600" b="1" dirty="0">
                  <a:solidFill>
                    <a:srgbClr val="000000"/>
                  </a:solidFill>
                  <a:latin typeface="Microsoft YaHei"/>
                  <a:ea typeface="Microsoft YaHei"/>
                  <a:cs typeface="+mn-ea"/>
                  <a:sym typeface="+mn-lt"/>
                </a:rPr>
                <a:t>29-62%</a:t>
              </a:r>
              <a:r>
                <a:rPr lang="zh-CN" altLang="zh-CN" sz="1600" b="1" dirty="0">
                  <a:solidFill>
                    <a:srgbClr val="000000"/>
                  </a:solidFill>
                  <a:latin typeface="Microsoft YaHei"/>
                  <a:ea typeface="Microsoft YaHei"/>
                  <a:cs typeface="+mn-ea"/>
                  <a:sym typeface="+mn-lt"/>
                </a:rPr>
                <a:t>，</a:t>
              </a:r>
              <a:r>
                <a:rPr lang="en-US" altLang="zh-CN" sz="1600" b="1" dirty="0">
                  <a:solidFill>
                    <a:srgbClr val="000000"/>
                  </a:solidFill>
                  <a:latin typeface="Microsoft YaHei"/>
                  <a:ea typeface="Microsoft YaHei"/>
                  <a:cs typeface="+mn-ea"/>
                  <a:sym typeface="+mn-lt"/>
                </a:rPr>
                <a:t>3/4</a:t>
              </a:r>
              <a:r>
                <a:rPr lang="zh-CN" altLang="zh-CN" sz="1600" b="1" dirty="0">
                  <a:solidFill>
                    <a:srgbClr val="000000"/>
                  </a:solidFill>
                  <a:latin typeface="Microsoft YaHei"/>
                  <a:ea typeface="Microsoft YaHei"/>
                  <a:cs typeface="+mn-ea"/>
                  <a:sym typeface="+mn-lt"/>
                </a:rPr>
                <a:t>级</a:t>
              </a:r>
              <a:r>
                <a:rPr lang="zh-CN" altLang="en-US" sz="1600" b="1" dirty="0">
                  <a:solidFill>
                    <a:srgbClr val="000000"/>
                  </a:solidFill>
                  <a:latin typeface="Microsoft YaHei"/>
                  <a:ea typeface="Microsoft YaHei"/>
                  <a:cs typeface="+mn-ea"/>
                  <a:sym typeface="+mn-lt"/>
                </a:rPr>
                <a:t>：</a:t>
              </a:r>
              <a:r>
                <a:rPr lang="en-US" altLang="zh-CN" sz="1600" b="1" dirty="0">
                  <a:solidFill>
                    <a:srgbClr val="000000"/>
                  </a:solidFill>
                  <a:latin typeface="Microsoft YaHei"/>
                  <a:ea typeface="Microsoft YaHei"/>
                  <a:cs typeface="+mn-ea"/>
                  <a:sym typeface="+mn-lt"/>
                </a:rPr>
                <a:t>5-18%</a:t>
              </a:r>
              <a:endParaRPr lang="zh-CN" altLang="zh-CN" sz="1600" b="1" dirty="0">
                <a:solidFill>
                  <a:srgbClr val="000000"/>
                </a:solidFill>
                <a:latin typeface="Microsoft YaHei"/>
                <a:ea typeface="Microsoft YaHei"/>
                <a:cs typeface="+mn-ea"/>
                <a:sym typeface="+mn-lt"/>
              </a:endParaRPr>
            </a:p>
          </p:txBody>
        </p:sp>
      </p:grpSp>
      <p:graphicFrame>
        <p:nvGraphicFramePr>
          <p:cNvPr id="67" name="表格 66"/>
          <p:cNvGraphicFramePr>
            <a:graphicFrameLocks noGrp="1"/>
          </p:cNvGraphicFramePr>
          <p:nvPr>
            <p:extLst>
              <p:ext uri="{D42A27DB-BD31-4B8C-83A1-F6EECF244321}">
                <p14:modId xmlns:p14="http://schemas.microsoft.com/office/powerpoint/2010/main" val="1672186116"/>
              </p:ext>
            </p:extLst>
          </p:nvPr>
        </p:nvGraphicFramePr>
        <p:xfrm>
          <a:off x="632876" y="5274005"/>
          <a:ext cx="7754400" cy="697657"/>
        </p:xfrm>
        <a:graphic>
          <a:graphicData uri="http://schemas.openxmlformats.org/drawingml/2006/table">
            <a:tbl>
              <a:tblPr firstRow="1" bandRow="1">
                <a:tableStyleId>{2D5ABB26-0587-4C30-8999-92F81FD0307C}</a:tableStyleId>
              </a:tblPr>
              <a:tblGrid>
                <a:gridCol w="792000">
                  <a:extLst>
                    <a:ext uri="{9D8B030D-6E8A-4147-A177-3AD203B41FA5}">
                      <a16:colId xmlns:a16="http://schemas.microsoft.com/office/drawing/2014/main" xmlns="" val="20000"/>
                    </a:ext>
                  </a:extLst>
                </a:gridCol>
                <a:gridCol w="1742400">
                  <a:extLst>
                    <a:ext uri="{9D8B030D-6E8A-4147-A177-3AD203B41FA5}">
                      <a16:colId xmlns:a16="http://schemas.microsoft.com/office/drawing/2014/main" xmlns="" val="20001"/>
                    </a:ext>
                  </a:extLst>
                </a:gridCol>
                <a:gridCol w="1749600">
                  <a:extLst>
                    <a:ext uri="{9D8B030D-6E8A-4147-A177-3AD203B41FA5}">
                      <a16:colId xmlns:a16="http://schemas.microsoft.com/office/drawing/2014/main" xmlns="" val="20002"/>
                    </a:ext>
                  </a:extLst>
                </a:gridCol>
                <a:gridCol w="1742400">
                  <a:extLst>
                    <a:ext uri="{9D8B030D-6E8A-4147-A177-3AD203B41FA5}">
                      <a16:colId xmlns:a16="http://schemas.microsoft.com/office/drawing/2014/main" xmlns="" val="20003"/>
                    </a:ext>
                  </a:extLst>
                </a:gridCol>
                <a:gridCol w="1728000">
                  <a:extLst>
                    <a:ext uri="{9D8B030D-6E8A-4147-A177-3AD203B41FA5}">
                      <a16:colId xmlns:a16="http://schemas.microsoft.com/office/drawing/2014/main" xmlns="" val="20004"/>
                    </a:ext>
                  </a:extLst>
                </a:gridCol>
              </a:tblGrid>
              <a:tr h="371356">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u="none" strike="noStrike" kern="1200" cap="none" spc="0" normalizeH="0" baseline="0" noProof="0" dirty="0">
                          <a:ln>
                            <a:noFill/>
                          </a:ln>
                          <a:effectLst/>
                          <a:uLnTx/>
                          <a:uFillTx/>
                          <a:latin typeface="+mn-lt"/>
                          <a:ea typeface="+mn-ea"/>
                          <a:cs typeface="+mn-ea"/>
                          <a:sym typeface="+mn-lt"/>
                        </a:rPr>
                        <a:t>疾病类型</a:t>
                      </a:r>
                      <a:endParaRPr kumimoji="0" lang="zh-CN" altLang="en-US" sz="1200" b="1"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050" b="0" u="none" strike="noStrike" kern="1200" cap="none" spc="0" normalizeH="0" baseline="0" noProof="0" dirty="0" err="1">
                          <a:ln>
                            <a:noFill/>
                          </a:ln>
                          <a:effectLst/>
                          <a:uLnTx/>
                          <a:uFillTx/>
                          <a:latin typeface="+mn-lt"/>
                          <a:ea typeface="+mn-ea"/>
                          <a:cs typeface="+mn-ea"/>
                          <a:sym typeface="+mn-lt"/>
                        </a:rPr>
                        <a:t>Dukes'C</a:t>
                      </a:r>
                      <a:r>
                        <a:rPr kumimoji="0" lang="zh-CN" altLang="en-US" sz="1050" b="0" u="none" strike="noStrike" kern="1200" cap="none" spc="0" normalizeH="0" baseline="0" noProof="0" dirty="0">
                          <a:ln>
                            <a:noFill/>
                          </a:ln>
                          <a:effectLst/>
                          <a:uLnTx/>
                          <a:uFillTx/>
                          <a:latin typeface="+mn-lt"/>
                          <a:ea typeface="+mn-ea"/>
                          <a:cs typeface="+mn-ea"/>
                          <a:sym typeface="+mn-lt"/>
                        </a:rPr>
                        <a:t>（</a:t>
                      </a:r>
                      <a:r>
                        <a:rPr kumimoji="0" lang="en-US" altLang="zh-CN" sz="1050" b="0" u="none" strike="noStrike" kern="1200" cap="none" spc="0" normalizeH="0" baseline="0" noProof="0" dirty="0">
                          <a:ln>
                            <a:noFill/>
                          </a:ln>
                          <a:effectLst/>
                          <a:uLnTx/>
                          <a:uFillTx/>
                          <a:latin typeface="+mn-lt"/>
                          <a:ea typeface="+mn-ea"/>
                          <a:cs typeface="+mn-ea"/>
                          <a:sym typeface="+mn-lt"/>
                        </a:rPr>
                        <a:t>III</a:t>
                      </a:r>
                      <a:r>
                        <a:rPr kumimoji="0" lang="zh-CN" altLang="en-US" sz="1050" b="0" u="none" strike="noStrike" kern="1200" cap="none" spc="0" normalizeH="0" baseline="0" noProof="0" dirty="0">
                          <a:ln>
                            <a:noFill/>
                          </a:ln>
                          <a:effectLst/>
                          <a:uLnTx/>
                          <a:uFillTx/>
                          <a:latin typeface="+mn-lt"/>
                          <a:ea typeface="+mn-ea"/>
                          <a:cs typeface="+mn-ea"/>
                          <a:sym typeface="+mn-lt"/>
                        </a:rPr>
                        <a:t>期）结肠癌</a:t>
                      </a:r>
                      <a:endParaRPr kumimoji="0" lang="zh-CN" altLang="en-US" sz="1050" b="0"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050" b="0" u="none" strike="noStrike" kern="1200" cap="none" spc="0" normalizeH="0" baseline="0" noProof="0">
                          <a:ln>
                            <a:noFill/>
                          </a:ln>
                          <a:effectLst/>
                          <a:uLnTx/>
                          <a:uFillTx/>
                          <a:latin typeface="+mn-lt"/>
                          <a:ea typeface="+mn-ea"/>
                          <a:cs typeface="+mn-ea"/>
                          <a:sym typeface="+mn-lt"/>
                        </a:rPr>
                        <a:t>III</a:t>
                      </a:r>
                      <a:r>
                        <a:rPr kumimoji="0" lang="zh-CN" altLang="en-US" sz="1050" b="0" u="none" strike="noStrike" kern="1200" cap="none" spc="0" normalizeH="0" baseline="0" noProof="0">
                          <a:ln>
                            <a:noFill/>
                          </a:ln>
                          <a:effectLst/>
                          <a:uLnTx/>
                          <a:uFillTx/>
                          <a:latin typeface="+mn-lt"/>
                          <a:ea typeface="+mn-ea"/>
                          <a:cs typeface="+mn-ea"/>
                          <a:sym typeface="+mn-lt"/>
                        </a:rPr>
                        <a:t>期结肠癌</a:t>
                      </a:r>
                      <a:endParaRPr kumimoji="0" lang="zh-CN" altLang="en-US" sz="1050" b="0"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050" b="0" u="none" strike="noStrike" kern="1200" cap="none" spc="0" normalizeH="0" baseline="0" noProof="0">
                          <a:ln>
                            <a:noFill/>
                          </a:ln>
                          <a:effectLst/>
                          <a:uLnTx/>
                          <a:uFillTx/>
                          <a:latin typeface="+mn-lt"/>
                          <a:ea typeface="+mn-ea"/>
                          <a:cs typeface="+mn-ea"/>
                          <a:sym typeface="+mn-lt"/>
                        </a:rPr>
                        <a:t>转移性结直肠癌</a:t>
                      </a:r>
                      <a:endParaRPr kumimoji="0" lang="zh-CN" altLang="en-US" sz="1050" b="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050" b="0" u="none" strike="noStrike" kern="1200" cap="none" spc="0" normalizeH="0" baseline="0" noProof="0" dirty="0">
                          <a:ln>
                            <a:noFill/>
                          </a:ln>
                          <a:effectLst/>
                          <a:uLnTx/>
                          <a:uFillTx/>
                          <a:latin typeface="+mn-lt"/>
                          <a:ea typeface="+mn-ea"/>
                          <a:cs typeface="+mn-ea"/>
                          <a:sym typeface="+mn-lt"/>
                        </a:rPr>
                        <a:t>III</a:t>
                      </a:r>
                      <a:r>
                        <a:rPr kumimoji="0" lang="zh-CN" altLang="en-US" sz="1050" b="0" u="none" strike="noStrike" kern="1200" cap="none" spc="0" normalizeH="0" baseline="0" noProof="0" dirty="0">
                          <a:ln>
                            <a:noFill/>
                          </a:ln>
                          <a:effectLst/>
                          <a:uLnTx/>
                          <a:uFillTx/>
                          <a:latin typeface="+mn-lt"/>
                          <a:ea typeface="+mn-ea"/>
                          <a:cs typeface="+mn-ea"/>
                          <a:sym typeface="+mn-lt"/>
                        </a:rPr>
                        <a:t>期结肠癌</a:t>
                      </a:r>
                      <a:endParaRPr kumimoji="0" lang="zh-CN" altLang="en-US" sz="1050" b="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26301">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200" b="1" u="none" strike="noStrike" kern="1200" cap="none" spc="0" normalizeH="0" baseline="0" noProof="0" dirty="0">
                          <a:ln>
                            <a:noFill/>
                          </a:ln>
                          <a:effectLst/>
                          <a:uLnTx/>
                          <a:uFillTx/>
                          <a:latin typeface="+mn-lt"/>
                          <a:ea typeface="+mn-ea"/>
                          <a:cs typeface="+mn-ea"/>
                          <a:sym typeface="+mn-lt"/>
                        </a:rPr>
                        <a:t>患者例数</a:t>
                      </a:r>
                      <a:endParaRPr kumimoji="0" lang="zh-CN" altLang="en-US" sz="1200" b="1"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050" b="0" u="none" strike="noStrike" kern="1200" cap="none" spc="0" normalizeH="0" baseline="0" noProof="0" dirty="0">
                          <a:ln>
                            <a:noFill/>
                          </a:ln>
                          <a:effectLst/>
                          <a:uLnTx/>
                          <a:uFillTx/>
                          <a:latin typeface="+mn-lt"/>
                          <a:ea typeface="+mn-ea"/>
                          <a:cs typeface="+mn-ea"/>
                          <a:sym typeface="+mn-lt"/>
                        </a:rPr>
                        <a:t>n = 993</a:t>
                      </a:r>
                      <a:endParaRPr kumimoji="0" lang="zh-CN" altLang="en-US" sz="1050" b="0"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050" b="0" u="none" strike="noStrike" kern="1200" cap="none" spc="0" normalizeH="0" baseline="0" noProof="0" dirty="0">
                          <a:ln>
                            <a:noFill/>
                          </a:ln>
                          <a:effectLst/>
                          <a:uLnTx/>
                          <a:uFillTx/>
                          <a:latin typeface="+mn-lt"/>
                          <a:ea typeface="+mn-ea"/>
                          <a:cs typeface="+mn-ea"/>
                          <a:sym typeface="+mn-lt"/>
                        </a:rPr>
                        <a:t>n = 995</a:t>
                      </a:r>
                      <a:endParaRPr kumimoji="0" lang="zh-CN" altLang="en-US" sz="1050" b="0" i="0" u="none" strike="noStrike" kern="1200" cap="none" spc="0" normalizeH="0" baseline="0" noProof="0" dirty="0">
                        <a:ln>
                          <a:noFill/>
                        </a:ln>
                        <a:solidFill>
                          <a:schemeClr val="tx1"/>
                        </a:solidFill>
                        <a:effectLst/>
                        <a:uLnTx/>
                        <a:uFillTx/>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50" b="0" dirty="0">
                          <a:latin typeface="+mn-lt"/>
                          <a:ea typeface="+mn-ea"/>
                          <a:cs typeface="+mn-ea"/>
                          <a:sym typeface="+mn-lt"/>
                        </a:rPr>
                        <a:t>n = 596</a:t>
                      </a:r>
                      <a:endParaRPr lang="zh-CN" altLang="en-US" sz="1050" b="0" dirty="0">
                        <a:solidFill>
                          <a:schemeClr val="tx1"/>
                        </a:solidFill>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050" b="0" dirty="0">
                          <a:latin typeface="+mn-lt"/>
                          <a:ea typeface="+mn-ea"/>
                          <a:cs typeface="+mn-ea"/>
                          <a:sym typeface="+mn-lt"/>
                        </a:rPr>
                        <a:t>n = 938</a:t>
                      </a:r>
                      <a:endParaRPr lang="zh-CN" altLang="en-US" sz="1050" b="0" dirty="0">
                        <a:solidFill>
                          <a:schemeClr val="tx1"/>
                        </a:solidFill>
                        <a:latin typeface="+mn-lt"/>
                        <a:ea typeface="+mn-ea"/>
                        <a:cs typeface="+mn-ea"/>
                        <a:sym typeface="+mn-lt"/>
                      </a:endParaRPr>
                    </a:p>
                  </a:txBody>
                  <a:tcPr marL="0" marR="0" marT="0" marB="0" anchor="ctr">
                    <a:lnL w="6350" cap="flat" cmpd="sng" algn="ctr">
                      <a:noFill/>
                      <a:prstDash val="dash"/>
                      <a:round/>
                      <a:headEnd type="none" w="med" len="med"/>
                      <a:tailEnd type="none" w="med" len="med"/>
                    </a:lnL>
                    <a:lnR w="6350" cap="flat" cmpd="sng" algn="ctr">
                      <a:noFill/>
                      <a:prstDash val="dash"/>
                      <a:round/>
                      <a:headEnd type="none" w="med" len="med"/>
                      <a:tailEnd type="none" w="med" len="med"/>
                    </a:lnR>
                    <a:lnT w="6350" cap="flat" cmpd="sng" algn="ctr">
                      <a:no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bl>
          </a:graphicData>
        </a:graphic>
      </p:graphicFrame>
      <p:sp>
        <p:nvSpPr>
          <p:cNvPr id="8" name="TextBox 7"/>
          <p:cNvSpPr txBox="1"/>
          <p:nvPr/>
        </p:nvSpPr>
        <p:spPr>
          <a:xfrm>
            <a:off x="1001188" y="6078161"/>
            <a:ext cx="6109365" cy="261610"/>
          </a:xfrm>
          <a:prstGeom prst="rect">
            <a:avLst/>
          </a:prstGeom>
          <a:noFill/>
        </p:spPr>
        <p:txBody>
          <a:bodyPr wrap="none" rtlCol="0">
            <a:spAutoFit/>
          </a:bodyPr>
          <a:lstStyle/>
          <a:p>
            <a:pPr marL="171450" indent="-171450">
              <a:buFont typeface="Arial" panose="020B0604020202020204" pitchFamily="34" charset="0"/>
              <a:buChar char="•"/>
            </a:pPr>
            <a:r>
              <a:rPr lang="zh-CN" altLang="en-US" sz="1100" dirty="0" smtClean="0">
                <a:latin typeface="+mn-ea"/>
                <a:ea typeface="+mn-ea"/>
              </a:rPr>
              <a:t>对</a:t>
            </a:r>
            <a:r>
              <a:rPr lang="zh-CN" altLang="en-US" sz="1100" dirty="0">
                <a:latin typeface="+mn-ea"/>
                <a:ea typeface="+mn-ea"/>
              </a:rPr>
              <a:t>卡培他</a:t>
            </a:r>
            <a:r>
              <a:rPr lang="zh-CN" altLang="en-US" sz="1100" dirty="0" smtClean="0">
                <a:latin typeface="+mn-ea"/>
                <a:ea typeface="+mn-ea"/>
              </a:rPr>
              <a:t>滨和</a:t>
            </a:r>
            <a:r>
              <a:rPr lang="en-US" altLang="zh-CN" sz="1100" dirty="0" smtClean="0">
                <a:latin typeface="+mn-ea"/>
                <a:ea typeface="+mn-ea"/>
              </a:rPr>
              <a:t>HFS</a:t>
            </a:r>
            <a:r>
              <a:rPr lang="zh-CN" altLang="en-US" sz="1100" dirty="0" smtClean="0">
                <a:latin typeface="+mn-ea"/>
                <a:ea typeface="+mn-ea"/>
              </a:rPr>
              <a:t>进行的一项综述，旨在描述</a:t>
            </a:r>
            <a:r>
              <a:rPr lang="en-US" altLang="zh-CN" sz="1100" dirty="0" smtClean="0">
                <a:latin typeface="+mn-ea"/>
                <a:ea typeface="+mn-ea"/>
              </a:rPr>
              <a:t>HFS</a:t>
            </a:r>
            <a:r>
              <a:rPr lang="zh-CN" altLang="en-US" sz="1100" dirty="0" smtClean="0">
                <a:latin typeface="+mn-ea"/>
                <a:ea typeface="+mn-ea"/>
              </a:rPr>
              <a:t>的发生率、临床特征、鉴别诊断等相关情况</a:t>
            </a:r>
            <a:endParaRPr lang="zh-CN" altLang="en-US" sz="1100" dirty="0">
              <a:latin typeface="+mn-ea"/>
              <a:ea typeface="+mn-ea"/>
            </a:endParaRPr>
          </a:p>
        </p:txBody>
      </p:sp>
    </p:spTree>
    <p:extLst>
      <p:ext uri="{BB962C8B-B14F-4D97-AF65-F5344CB8AC3E}">
        <p14:creationId xmlns:p14="http://schemas.microsoft.com/office/powerpoint/2010/main" val="1073627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6A8ED3A4-B294-4BC3-8CA7-D6AD122DCD69}"/>
              </a:ext>
            </a:extLst>
          </p:cNvPr>
          <p:cNvSpPr>
            <a:spLocks noGrp="1"/>
          </p:cNvSpPr>
          <p:nvPr>
            <p:ph type="title"/>
          </p:nvPr>
        </p:nvSpPr>
        <p:spPr/>
        <p:txBody>
          <a:bodyPr/>
          <a:lstStyle/>
          <a:p>
            <a:r>
              <a:rPr lang="en-US" altLang="zh-CN" sz="2000" dirty="0">
                <a:cs typeface="+mn-ea"/>
                <a:sym typeface="+mn-lt"/>
              </a:rPr>
              <a:t>AIO KRK-0104</a:t>
            </a:r>
            <a:r>
              <a:rPr lang="zh-CN" altLang="en-US" sz="2000" dirty="0">
                <a:cs typeface="+mn-ea"/>
                <a:sym typeface="+mn-lt"/>
              </a:rPr>
              <a:t>研究：</a:t>
            </a:r>
            <a:r>
              <a:rPr lang="en-US" altLang="zh-CN" sz="2000" dirty="0">
                <a:cs typeface="+mn-ea"/>
                <a:sym typeface="+mn-lt"/>
              </a:rPr>
              <a:t/>
            </a:r>
            <a:br>
              <a:rPr lang="en-US" altLang="zh-CN" sz="2000" dirty="0">
                <a:cs typeface="+mn-ea"/>
                <a:sym typeface="+mn-lt"/>
              </a:rPr>
            </a:br>
            <a:r>
              <a:rPr lang="zh-CN" altLang="en-US" dirty="0">
                <a:cs typeface="+mn-ea"/>
                <a:sym typeface="+mn-lt"/>
              </a:rPr>
              <a:t>卡培他滨</a:t>
            </a:r>
            <a:r>
              <a:rPr lang="zh-CN" altLang="en-US" dirty="0"/>
              <a:t>治疗时，出现</a:t>
            </a:r>
            <a:r>
              <a:rPr lang="en-US" altLang="zh-CN" dirty="0"/>
              <a:t>HFS</a:t>
            </a:r>
            <a:r>
              <a:rPr lang="zh-CN" altLang="en-US" dirty="0"/>
              <a:t>的患者生存显著延长</a:t>
            </a:r>
          </a:p>
        </p:txBody>
      </p:sp>
      <p:sp>
        <p:nvSpPr>
          <p:cNvPr id="175" name="矩形 174"/>
          <p:cNvSpPr/>
          <p:nvPr/>
        </p:nvSpPr>
        <p:spPr>
          <a:xfrm>
            <a:off x="5878523" y="6627168"/>
            <a:ext cx="3265477" cy="230832"/>
          </a:xfrm>
          <a:prstGeom prst="rect">
            <a:avLst/>
          </a:prstGeom>
        </p:spPr>
        <p:txBody>
          <a:bodyPr wrap="square">
            <a:spAutoFit/>
          </a:bodyPr>
          <a:lstStyle/>
          <a:p>
            <a:pPr algn="r" eaLnBrk="1" fontAlgn="auto" hangingPunct="1">
              <a:spcBef>
                <a:spcPts val="0"/>
              </a:spcBef>
              <a:spcAft>
                <a:spcPts val="0"/>
              </a:spcAft>
            </a:pPr>
            <a:r>
              <a:rPr lang="zh-CN" altLang="en-US" sz="900" dirty="0">
                <a:solidFill>
                  <a:prstClr val="black"/>
                </a:solidFill>
                <a:latin typeface="Microsoft YaHei"/>
                <a:ea typeface="Microsoft YaHei"/>
              </a:rPr>
              <a:t>Stintzing S et al., Br J Cancer. 2011;105(2):206-11.</a:t>
            </a:r>
          </a:p>
        </p:txBody>
      </p:sp>
      <p:grpSp>
        <p:nvGrpSpPr>
          <p:cNvPr id="25" name="组合 24"/>
          <p:cNvGrpSpPr/>
          <p:nvPr/>
        </p:nvGrpSpPr>
        <p:grpSpPr>
          <a:xfrm>
            <a:off x="515888" y="1484109"/>
            <a:ext cx="8355867" cy="4249950"/>
            <a:chOff x="515888" y="1484109"/>
            <a:chExt cx="8355867" cy="4249950"/>
          </a:xfrm>
        </p:grpSpPr>
        <p:pic>
          <p:nvPicPr>
            <p:cNvPr id="15" name="图片 14"/>
            <p:cNvPicPr>
              <a:picLocks noChangeAspect="1"/>
            </p:cNvPicPr>
            <p:nvPr/>
          </p:nvPicPr>
          <p:blipFill>
            <a:blip r:embed="rId3"/>
            <a:stretch>
              <a:fillRect/>
            </a:stretch>
          </p:blipFill>
          <p:spPr>
            <a:xfrm>
              <a:off x="634383" y="1977399"/>
              <a:ext cx="8230313" cy="3048264"/>
            </a:xfrm>
            <a:prstGeom prst="rect">
              <a:avLst/>
            </a:prstGeom>
          </p:spPr>
        </p:pic>
        <p:sp>
          <p:nvSpPr>
            <p:cNvPr id="145" name="矩形 144">
              <a:extLst>
                <a:ext uri="{FF2B5EF4-FFF2-40B4-BE49-F238E27FC236}">
                  <a16:creationId xmlns:a16="http://schemas.microsoft.com/office/drawing/2014/main" xmlns="" id="{4F5ED64D-7472-4626-A747-710BF1E96BC2}"/>
                </a:ext>
              </a:extLst>
            </p:cNvPr>
            <p:cNvSpPr/>
            <p:nvPr/>
          </p:nvSpPr>
          <p:spPr>
            <a:xfrm>
              <a:off x="628562" y="1484109"/>
              <a:ext cx="3922632" cy="279797"/>
            </a:xfrm>
            <a:prstGeom prst="rect">
              <a:avLst/>
            </a:prstGeom>
          </p:spPr>
          <p:txBody>
            <a:bodyPr wrap="square">
              <a:spAutoFit/>
            </a:bodyPr>
            <a:lstStyle/>
            <a:p>
              <a:pPr algn="ctr" eaLnBrk="1" fontAlgn="auto" hangingPunct="1">
                <a:spcBef>
                  <a:spcPts val="0"/>
                </a:spcBef>
                <a:spcAft>
                  <a:spcPts val="0"/>
                </a:spcAft>
                <a:defRPr/>
              </a:pPr>
              <a:r>
                <a:rPr lang="zh-CN" altLang="en-US" sz="1400" b="1" dirty="0">
                  <a:solidFill>
                    <a:prstClr val="black"/>
                  </a:solidFill>
                  <a:latin typeface="微软雅黑"/>
                  <a:ea typeface="微软雅黑"/>
                </a:rPr>
                <a:t>出现 </a:t>
              </a:r>
              <a:r>
                <a:rPr lang="en-US" altLang="zh-CN" sz="1400" b="1" dirty="0">
                  <a:solidFill>
                    <a:prstClr val="black"/>
                  </a:solidFill>
                  <a:latin typeface="微软雅黑"/>
                  <a:ea typeface="微软雅黑"/>
                </a:rPr>
                <a:t>vs. </a:t>
              </a:r>
              <a:r>
                <a:rPr lang="zh-CN" altLang="en-US" sz="1400" b="1" dirty="0">
                  <a:solidFill>
                    <a:prstClr val="black"/>
                  </a:solidFill>
                  <a:latin typeface="微软雅黑"/>
                  <a:ea typeface="微软雅黑"/>
                </a:rPr>
                <a:t>未出现</a:t>
              </a:r>
              <a:r>
                <a:rPr lang="en-US" altLang="zh-CN" sz="1400" b="1" dirty="0">
                  <a:solidFill>
                    <a:prstClr val="black"/>
                  </a:solidFill>
                  <a:latin typeface="微软雅黑"/>
                  <a:ea typeface="微软雅黑"/>
                </a:rPr>
                <a:t>HFS</a:t>
              </a:r>
              <a:r>
                <a:rPr lang="zh-CN" altLang="en-US" sz="1400" b="1" dirty="0">
                  <a:solidFill>
                    <a:prstClr val="black"/>
                  </a:solidFill>
                  <a:latin typeface="微软雅黑"/>
                  <a:ea typeface="微软雅黑"/>
                </a:rPr>
                <a:t>，</a:t>
              </a:r>
              <a:r>
                <a:rPr lang="en-US" altLang="zh-CN" sz="1400" b="1" dirty="0">
                  <a:solidFill>
                    <a:prstClr val="black"/>
                  </a:solidFill>
                  <a:latin typeface="微软雅黑"/>
                  <a:ea typeface="微软雅黑"/>
                </a:rPr>
                <a:t>PFS</a:t>
              </a:r>
              <a:r>
                <a:rPr lang="zh-CN" altLang="en-US" sz="1400" b="1" dirty="0">
                  <a:solidFill>
                    <a:prstClr val="black"/>
                  </a:solidFill>
                  <a:latin typeface="微软雅黑"/>
                  <a:ea typeface="微软雅黑"/>
                </a:rPr>
                <a:t>显著延长</a:t>
              </a:r>
            </a:p>
          </p:txBody>
        </p:sp>
        <p:sp>
          <p:nvSpPr>
            <p:cNvPr id="95" name="文本框 94">
              <a:extLst>
                <a:ext uri="{FF2B5EF4-FFF2-40B4-BE49-F238E27FC236}">
                  <a16:creationId xmlns:a16="http://schemas.microsoft.com/office/drawing/2014/main" xmlns="" id="{64E2CEF8-1C0C-45A1-9E9A-084331E6B006}"/>
                </a:ext>
              </a:extLst>
            </p:cNvPr>
            <p:cNvSpPr txBox="1"/>
            <p:nvPr/>
          </p:nvSpPr>
          <p:spPr>
            <a:xfrm rot="16200000">
              <a:off x="44490" y="3358670"/>
              <a:ext cx="1235113" cy="228925"/>
            </a:xfrm>
            <a:prstGeom prst="rect">
              <a:avLst/>
            </a:prstGeom>
            <a:noFill/>
          </p:spPr>
          <p:txBody>
            <a:bodyPr wrap="square" rtlCol="0" anchor="ctr">
              <a:spAutoFit/>
            </a:bodyPr>
            <a:lstStyle/>
            <a:p>
              <a:pPr algn="ctr" eaLnBrk="1" fontAlgn="auto" hangingPunct="1">
                <a:spcBef>
                  <a:spcPts val="0"/>
                </a:spcBef>
                <a:spcAft>
                  <a:spcPts val="0"/>
                </a:spcAft>
                <a:defRPr/>
              </a:pPr>
              <a:r>
                <a:rPr lang="en-US" altLang="zh-CN" sz="1200" b="1" dirty="0">
                  <a:solidFill>
                    <a:prstClr val="black"/>
                  </a:solidFill>
                  <a:latin typeface="Microsoft YaHei"/>
                  <a:ea typeface="Microsoft YaHei"/>
                </a:rPr>
                <a:t>PFS</a:t>
              </a:r>
              <a:r>
                <a:rPr lang="zh-CN" altLang="en-US" sz="1200" b="1" dirty="0">
                  <a:solidFill>
                    <a:prstClr val="black"/>
                  </a:solidFill>
                  <a:latin typeface="Microsoft YaHei"/>
                  <a:ea typeface="Microsoft YaHei"/>
                </a:rPr>
                <a:t>（</a:t>
              </a:r>
              <a:r>
                <a:rPr lang="en-US" altLang="zh-CN" sz="1200" b="1" dirty="0">
                  <a:solidFill>
                    <a:prstClr val="black"/>
                  </a:solidFill>
                  <a:latin typeface="Microsoft YaHei"/>
                  <a:ea typeface="Microsoft YaHei"/>
                </a:rPr>
                <a:t>%</a:t>
              </a:r>
              <a:r>
                <a:rPr lang="zh-CN" altLang="en-US" sz="1200" b="1" dirty="0">
                  <a:solidFill>
                    <a:prstClr val="black"/>
                  </a:solidFill>
                  <a:latin typeface="Microsoft YaHei"/>
                  <a:ea typeface="Microsoft YaHei"/>
                </a:rPr>
                <a:t>）</a:t>
              </a:r>
            </a:p>
          </p:txBody>
        </p:sp>
        <p:sp>
          <p:nvSpPr>
            <p:cNvPr id="123" name="文本框 122">
              <a:extLst>
                <a:ext uri="{FF2B5EF4-FFF2-40B4-BE49-F238E27FC236}">
                  <a16:creationId xmlns:a16="http://schemas.microsoft.com/office/drawing/2014/main" xmlns="" id="{88ADAB91-26B5-4970-952D-101A53564151}"/>
                </a:ext>
              </a:extLst>
            </p:cNvPr>
            <p:cNvSpPr txBox="1"/>
            <p:nvPr/>
          </p:nvSpPr>
          <p:spPr>
            <a:xfrm>
              <a:off x="1337921" y="4988938"/>
              <a:ext cx="2510983" cy="251817"/>
            </a:xfrm>
            <a:prstGeom prst="rect">
              <a:avLst/>
            </a:prstGeom>
            <a:noFill/>
          </p:spPr>
          <p:txBody>
            <a:bodyPr wrap="square" rtlCol="0">
              <a:spAutoFit/>
            </a:bodyPr>
            <a:lstStyle/>
            <a:p>
              <a:pPr algn="ctr" eaLnBrk="1" fontAlgn="auto" hangingPunct="1">
                <a:spcBef>
                  <a:spcPts val="0"/>
                </a:spcBef>
                <a:spcAft>
                  <a:spcPts val="0"/>
                </a:spcAft>
                <a:defRPr/>
              </a:pPr>
              <a:r>
                <a:rPr lang="zh-CN" altLang="en-US" sz="1200" b="1" dirty="0">
                  <a:solidFill>
                    <a:prstClr val="black"/>
                  </a:solidFill>
                  <a:latin typeface="Microsoft YaHei"/>
                  <a:ea typeface="Microsoft YaHei"/>
                </a:rPr>
                <a:t>研究入组后的时间（月）</a:t>
              </a:r>
            </a:p>
          </p:txBody>
        </p:sp>
        <p:sp>
          <p:nvSpPr>
            <p:cNvPr id="126" name="文本框 125">
              <a:extLst>
                <a:ext uri="{FF2B5EF4-FFF2-40B4-BE49-F238E27FC236}">
                  <a16:creationId xmlns:a16="http://schemas.microsoft.com/office/drawing/2014/main" xmlns="" id="{05A6B784-D180-41E9-B427-F64B76CF9057}"/>
                </a:ext>
              </a:extLst>
            </p:cNvPr>
            <p:cNvSpPr txBox="1"/>
            <p:nvPr/>
          </p:nvSpPr>
          <p:spPr>
            <a:xfrm>
              <a:off x="3275406" y="2350390"/>
              <a:ext cx="705368" cy="209847"/>
            </a:xfrm>
            <a:prstGeom prst="rect">
              <a:avLst/>
            </a:prstGeom>
            <a:noFill/>
          </p:spPr>
          <p:txBody>
            <a:bodyPr wrap="square" rtlCol="0">
              <a:spAutoFit/>
            </a:bodyPr>
            <a:lstStyle/>
            <a:p>
              <a:pPr algn="r" eaLnBrk="1" fontAlgn="auto" hangingPunct="1">
                <a:spcBef>
                  <a:spcPts val="0"/>
                </a:spcBef>
                <a:spcAft>
                  <a:spcPts val="0"/>
                </a:spcAft>
                <a:defRPr/>
              </a:pPr>
              <a:r>
                <a:rPr lang="en-US" altLang="zh-CN" sz="900" dirty="0">
                  <a:solidFill>
                    <a:prstClr val="black"/>
                  </a:solidFill>
                  <a:latin typeface="Microsoft YaHei"/>
                  <a:ea typeface="Microsoft YaHei"/>
                </a:rPr>
                <a:t>P</a:t>
              </a:r>
              <a:r>
                <a:rPr lang="zh-CN" altLang="en-US" sz="900" dirty="0">
                  <a:solidFill>
                    <a:prstClr val="black"/>
                  </a:solidFill>
                  <a:latin typeface="Microsoft YaHei"/>
                  <a:ea typeface="Microsoft YaHei"/>
                </a:rPr>
                <a:t>＜</a:t>
              </a:r>
              <a:r>
                <a:rPr lang="en-US" altLang="zh-CN" sz="900" dirty="0">
                  <a:solidFill>
                    <a:prstClr val="black"/>
                  </a:solidFill>
                  <a:latin typeface="Microsoft YaHei"/>
                  <a:ea typeface="Microsoft YaHei"/>
                </a:rPr>
                <a:t>0.001</a:t>
              </a:r>
              <a:endParaRPr lang="zh-CN" altLang="en-US" sz="900" dirty="0">
                <a:solidFill>
                  <a:prstClr val="black"/>
                </a:solidFill>
                <a:latin typeface="Microsoft YaHei"/>
                <a:ea typeface="Microsoft YaHei"/>
              </a:endParaRPr>
            </a:p>
          </p:txBody>
        </p:sp>
        <p:grpSp>
          <p:nvGrpSpPr>
            <p:cNvPr id="132" name="组合 131"/>
            <p:cNvGrpSpPr/>
            <p:nvPr/>
          </p:nvGrpSpPr>
          <p:grpSpPr>
            <a:xfrm>
              <a:off x="515888" y="5301863"/>
              <a:ext cx="3251532" cy="432100"/>
              <a:chOff x="106631" y="5546879"/>
              <a:chExt cx="3934355" cy="475309"/>
            </a:xfrm>
          </p:grpSpPr>
          <p:sp>
            <p:nvSpPr>
              <p:cNvPr id="160" name="文本框 159">
                <a:extLst>
                  <a:ext uri="{FF2B5EF4-FFF2-40B4-BE49-F238E27FC236}">
                    <a16:creationId xmlns:a16="http://schemas.microsoft.com/office/drawing/2014/main" xmlns="" id="{056B95C8-C8A4-4CE9-87FC-38FB8625392C}"/>
                  </a:ext>
                </a:extLst>
              </p:cNvPr>
              <p:cNvSpPr txBox="1"/>
              <p:nvPr/>
            </p:nvSpPr>
            <p:spPr>
              <a:xfrm>
                <a:off x="106631" y="5546879"/>
                <a:ext cx="1549958" cy="220060"/>
              </a:xfrm>
              <a:prstGeom prst="rect">
                <a:avLst/>
              </a:prstGeom>
              <a:noFill/>
            </p:spPr>
            <p:txBody>
              <a:bodyPr wrap="square" rtlCol="0">
                <a:spAutoFit/>
              </a:bodyPr>
              <a:lstStyle/>
              <a:p>
                <a:pPr eaLnBrk="1" fontAlgn="auto" hangingPunct="1">
                  <a:spcBef>
                    <a:spcPts val="0"/>
                  </a:spcBef>
                  <a:spcAft>
                    <a:spcPts val="0"/>
                  </a:spcAft>
                  <a:defRPr/>
                </a:pPr>
                <a:r>
                  <a:rPr lang="zh-CN" altLang="en-US" sz="700" b="1" dirty="0">
                    <a:solidFill>
                      <a:prstClr val="black"/>
                    </a:solidFill>
                    <a:latin typeface="Microsoft YaHei"/>
                    <a:ea typeface="Microsoft YaHei"/>
                  </a:rPr>
                  <a:t>存在风险的患者例数</a:t>
                </a:r>
              </a:p>
            </p:txBody>
          </p:sp>
          <p:sp>
            <p:nvSpPr>
              <p:cNvPr id="161" name="文本框 160">
                <a:extLst>
                  <a:ext uri="{FF2B5EF4-FFF2-40B4-BE49-F238E27FC236}">
                    <a16:creationId xmlns:a16="http://schemas.microsoft.com/office/drawing/2014/main" xmlns="" id="{056B95C8-C8A4-4CE9-87FC-38FB8625392C}"/>
                  </a:ext>
                </a:extLst>
              </p:cNvPr>
              <p:cNvSpPr txBox="1"/>
              <p:nvPr/>
            </p:nvSpPr>
            <p:spPr>
              <a:xfrm>
                <a:off x="106631" y="5714411"/>
                <a:ext cx="515346" cy="307777"/>
              </a:xfrm>
              <a:prstGeom prst="rect">
                <a:avLst/>
              </a:prstGeom>
              <a:noFill/>
            </p:spPr>
            <p:txBody>
              <a:bodyPr wrap="square" rtlCol="0">
                <a:spAutoFit/>
              </a:bodyPr>
              <a:lstStyle/>
              <a:p>
                <a:pPr eaLnBrk="1" fontAlgn="auto" hangingPunct="1">
                  <a:spcBef>
                    <a:spcPts val="0"/>
                  </a:spcBef>
                  <a:spcAft>
                    <a:spcPts val="0"/>
                  </a:spcAft>
                  <a:defRPr/>
                </a:pPr>
                <a:r>
                  <a:rPr lang="en-US" altLang="zh-CN" sz="700" dirty="0">
                    <a:solidFill>
                      <a:prstClr val="black"/>
                    </a:solidFill>
                    <a:latin typeface="Microsoft YaHei"/>
                    <a:ea typeface="Microsoft YaHei"/>
                  </a:rPr>
                  <a:t>1-3</a:t>
                </a:r>
                <a:r>
                  <a:rPr lang="zh-CN" altLang="en-US" sz="700" dirty="0">
                    <a:solidFill>
                      <a:prstClr val="black"/>
                    </a:solidFill>
                    <a:latin typeface="Microsoft YaHei"/>
                    <a:ea typeface="Microsoft YaHei"/>
                  </a:rPr>
                  <a:t>级</a:t>
                </a:r>
                <a:endParaRPr lang="en-US" altLang="zh-CN" sz="700" dirty="0">
                  <a:solidFill>
                    <a:prstClr val="black"/>
                  </a:solidFill>
                  <a:latin typeface="Microsoft YaHei"/>
                  <a:ea typeface="Microsoft YaHei"/>
                </a:endParaRPr>
              </a:p>
              <a:p>
                <a:pPr eaLnBrk="1" fontAlgn="auto" hangingPunct="1">
                  <a:spcBef>
                    <a:spcPts val="0"/>
                  </a:spcBef>
                  <a:spcAft>
                    <a:spcPts val="0"/>
                  </a:spcAft>
                  <a:defRPr/>
                </a:pPr>
                <a:r>
                  <a:rPr lang="en-US" altLang="zh-CN" sz="700" dirty="0">
                    <a:solidFill>
                      <a:prstClr val="black"/>
                    </a:solidFill>
                    <a:latin typeface="Microsoft YaHei"/>
                    <a:ea typeface="Microsoft YaHei"/>
                  </a:rPr>
                  <a:t>0</a:t>
                </a:r>
                <a:r>
                  <a:rPr lang="zh-CN" altLang="en-US" sz="700" dirty="0">
                    <a:solidFill>
                      <a:prstClr val="black"/>
                    </a:solidFill>
                    <a:latin typeface="Microsoft YaHei"/>
                    <a:ea typeface="Microsoft YaHei"/>
                  </a:rPr>
                  <a:t>级</a:t>
                </a:r>
              </a:p>
            </p:txBody>
          </p:sp>
          <p:sp>
            <p:nvSpPr>
              <p:cNvPr id="162" name="文本框 161">
                <a:extLst>
                  <a:ext uri="{FF2B5EF4-FFF2-40B4-BE49-F238E27FC236}">
                    <a16:creationId xmlns:a16="http://schemas.microsoft.com/office/drawing/2014/main" xmlns="" id="{056B95C8-C8A4-4CE9-87FC-38FB8625392C}"/>
                  </a:ext>
                </a:extLst>
              </p:cNvPr>
              <p:cNvSpPr txBox="1"/>
              <p:nvPr/>
            </p:nvSpPr>
            <p:spPr>
              <a:xfrm>
                <a:off x="547677" y="5714411"/>
                <a:ext cx="515346"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48</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101</a:t>
                </a:r>
                <a:endParaRPr lang="zh-CN" altLang="en-US" sz="700" dirty="0">
                  <a:solidFill>
                    <a:prstClr val="black"/>
                  </a:solidFill>
                  <a:latin typeface="Microsoft YaHei"/>
                  <a:ea typeface="Microsoft YaHei"/>
                </a:endParaRPr>
              </a:p>
            </p:txBody>
          </p:sp>
          <p:sp>
            <p:nvSpPr>
              <p:cNvPr id="163" name="文本框 162">
                <a:extLst>
                  <a:ext uri="{FF2B5EF4-FFF2-40B4-BE49-F238E27FC236}">
                    <a16:creationId xmlns:a16="http://schemas.microsoft.com/office/drawing/2014/main" xmlns="" id="{056B95C8-C8A4-4CE9-87FC-38FB8625392C}"/>
                  </a:ext>
                </a:extLst>
              </p:cNvPr>
              <p:cNvSpPr txBox="1"/>
              <p:nvPr/>
            </p:nvSpPr>
            <p:spPr>
              <a:xfrm>
                <a:off x="1132889"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39</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46</a:t>
                </a:r>
                <a:endParaRPr lang="zh-CN" altLang="en-US" sz="700" dirty="0">
                  <a:solidFill>
                    <a:prstClr val="black"/>
                  </a:solidFill>
                  <a:latin typeface="Microsoft YaHei"/>
                  <a:ea typeface="Microsoft YaHei"/>
                </a:endParaRPr>
              </a:p>
            </p:txBody>
          </p:sp>
          <p:sp>
            <p:nvSpPr>
              <p:cNvPr id="164" name="文本框 163">
                <a:extLst>
                  <a:ext uri="{FF2B5EF4-FFF2-40B4-BE49-F238E27FC236}">
                    <a16:creationId xmlns:a16="http://schemas.microsoft.com/office/drawing/2014/main" xmlns="" id="{056B95C8-C8A4-4CE9-87FC-38FB8625392C}"/>
                  </a:ext>
                </a:extLst>
              </p:cNvPr>
              <p:cNvSpPr txBox="1"/>
              <p:nvPr/>
            </p:nvSpPr>
            <p:spPr>
              <a:xfrm>
                <a:off x="1642153"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16</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12</a:t>
                </a:r>
                <a:endParaRPr lang="zh-CN" altLang="en-US" sz="700" dirty="0">
                  <a:solidFill>
                    <a:prstClr val="black"/>
                  </a:solidFill>
                  <a:latin typeface="Microsoft YaHei"/>
                  <a:ea typeface="Microsoft YaHei"/>
                </a:endParaRPr>
              </a:p>
            </p:txBody>
          </p:sp>
          <p:sp>
            <p:nvSpPr>
              <p:cNvPr id="165" name="文本框 164">
                <a:extLst>
                  <a:ext uri="{FF2B5EF4-FFF2-40B4-BE49-F238E27FC236}">
                    <a16:creationId xmlns:a16="http://schemas.microsoft.com/office/drawing/2014/main" xmlns="" id="{056B95C8-C8A4-4CE9-87FC-38FB8625392C}"/>
                  </a:ext>
                </a:extLst>
              </p:cNvPr>
              <p:cNvSpPr txBox="1"/>
              <p:nvPr/>
            </p:nvSpPr>
            <p:spPr>
              <a:xfrm>
                <a:off x="2152330"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5</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5</a:t>
                </a:r>
                <a:endParaRPr lang="zh-CN" altLang="en-US" sz="700" dirty="0">
                  <a:solidFill>
                    <a:prstClr val="black"/>
                  </a:solidFill>
                  <a:latin typeface="Microsoft YaHei"/>
                  <a:ea typeface="Microsoft YaHei"/>
                </a:endParaRPr>
              </a:p>
            </p:txBody>
          </p:sp>
          <p:sp>
            <p:nvSpPr>
              <p:cNvPr id="166" name="文本框 165">
                <a:extLst>
                  <a:ext uri="{FF2B5EF4-FFF2-40B4-BE49-F238E27FC236}">
                    <a16:creationId xmlns:a16="http://schemas.microsoft.com/office/drawing/2014/main" xmlns="" id="{056B95C8-C8A4-4CE9-87FC-38FB8625392C}"/>
                  </a:ext>
                </a:extLst>
              </p:cNvPr>
              <p:cNvSpPr txBox="1"/>
              <p:nvPr/>
            </p:nvSpPr>
            <p:spPr>
              <a:xfrm>
                <a:off x="2660838"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4</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3</a:t>
                </a:r>
                <a:endParaRPr lang="zh-CN" altLang="en-US" sz="700" dirty="0">
                  <a:solidFill>
                    <a:prstClr val="black"/>
                  </a:solidFill>
                  <a:latin typeface="Microsoft YaHei"/>
                  <a:ea typeface="Microsoft YaHei"/>
                </a:endParaRPr>
              </a:p>
            </p:txBody>
          </p:sp>
          <p:sp>
            <p:nvSpPr>
              <p:cNvPr id="167" name="文本框 166">
                <a:extLst>
                  <a:ext uri="{FF2B5EF4-FFF2-40B4-BE49-F238E27FC236}">
                    <a16:creationId xmlns:a16="http://schemas.microsoft.com/office/drawing/2014/main" xmlns="" id="{056B95C8-C8A4-4CE9-87FC-38FB8625392C}"/>
                  </a:ext>
                </a:extLst>
              </p:cNvPr>
              <p:cNvSpPr txBox="1"/>
              <p:nvPr/>
            </p:nvSpPr>
            <p:spPr>
              <a:xfrm>
                <a:off x="3174594"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2</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a:t>
                </a:r>
                <a:endParaRPr lang="zh-CN" altLang="en-US" sz="700" dirty="0">
                  <a:solidFill>
                    <a:prstClr val="black"/>
                  </a:solidFill>
                  <a:latin typeface="Microsoft YaHei"/>
                  <a:ea typeface="Microsoft YaHei"/>
                </a:endParaRPr>
              </a:p>
            </p:txBody>
          </p:sp>
          <p:sp>
            <p:nvSpPr>
              <p:cNvPr id="168" name="文本框 167">
                <a:extLst>
                  <a:ext uri="{FF2B5EF4-FFF2-40B4-BE49-F238E27FC236}">
                    <a16:creationId xmlns:a16="http://schemas.microsoft.com/office/drawing/2014/main" xmlns="" id="{056B95C8-C8A4-4CE9-87FC-38FB8625392C}"/>
                  </a:ext>
                </a:extLst>
              </p:cNvPr>
              <p:cNvSpPr txBox="1"/>
              <p:nvPr/>
            </p:nvSpPr>
            <p:spPr>
              <a:xfrm>
                <a:off x="3688999"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2</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a:t>
                </a:r>
                <a:endParaRPr lang="zh-CN" altLang="en-US" sz="700" dirty="0">
                  <a:solidFill>
                    <a:prstClr val="black"/>
                  </a:solidFill>
                  <a:latin typeface="Microsoft YaHei"/>
                  <a:ea typeface="Microsoft YaHei"/>
                </a:endParaRPr>
              </a:p>
            </p:txBody>
          </p:sp>
        </p:grpSp>
        <p:sp>
          <p:nvSpPr>
            <p:cNvPr id="152" name="矩形 151">
              <a:extLst>
                <a:ext uri="{FF2B5EF4-FFF2-40B4-BE49-F238E27FC236}">
                  <a16:creationId xmlns:a16="http://schemas.microsoft.com/office/drawing/2014/main" xmlns="" id="{B81727B2-E55A-4057-AD12-11EB8FB9A5C5}"/>
                </a:ext>
              </a:extLst>
            </p:cNvPr>
            <p:cNvSpPr/>
            <p:nvPr/>
          </p:nvSpPr>
          <p:spPr>
            <a:xfrm>
              <a:off x="5145093" y="1486165"/>
              <a:ext cx="3726662" cy="279797"/>
            </a:xfrm>
            <a:prstGeom prst="rect">
              <a:avLst/>
            </a:prstGeom>
          </p:spPr>
          <p:txBody>
            <a:bodyPr wrap="square">
              <a:spAutoFit/>
            </a:bodyPr>
            <a:lstStyle/>
            <a:p>
              <a:pPr algn="ctr" eaLnBrk="1" fontAlgn="auto" hangingPunct="1">
                <a:spcBef>
                  <a:spcPts val="0"/>
                </a:spcBef>
                <a:spcAft>
                  <a:spcPts val="0"/>
                </a:spcAft>
                <a:defRPr/>
              </a:pPr>
              <a:r>
                <a:rPr lang="zh-CN" altLang="en-US" sz="1400" b="1" dirty="0">
                  <a:solidFill>
                    <a:prstClr val="black"/>
                  </a:solidFill>
                  <a:latin typeface="微软雅黑"/>
                  <a:ea typeface="微软雅黑"/>
                </a:rPr>
                <a:t>出现 </a:t>
              </a:r>
              <a:r>
                <a:rPr lang="en-US" altLang="zh-CN" sz="1400" b="1" dirty="0">
                  <a:solidFill>
                    <a:prstClr val="black"/>
                  </a:solidFill>
                  <a:latin typeface="微软雅黑"/>
                  <a:ea typeface="微软雅黑"/>
                </a:rPr>
                <a:t>vs. </a:t>
              </a:r>
              <a:r>
                <a:rPr lang="zh-CN" altLang="en-US" sz="1400" b="1" dirty="0">
                  <a:solidFill>
                    <a:prstClr val="black"/>
                  </a:solidFill>
                  <a:latin typeface="微软雅黑"/>
                  <a:ea typeface="微软雅黑"/>
                </a:rPr>
                <a:t>未出现</a:t>
              </a:r>
              <a:r>
                <a:rPr lang="en-US" altLang="zh-CN" sz="1400" b="1" dirty="0">
                  <a:solidFill>
                    <a:prstClr val="black"/>
                  </a:solidFill>
                  <a:latin typeface="微软雅黑"/>
                  <a:ea typeface="微软雅黑"/>
                </a:rPr>
                <a:t>HFS</a:t>
              </a:r>
              <a:r>
                <a:rPr lang="zh-CN" altLang="en-US" sz="1400" b="1" dirty="0">
                  <a:solidFill>
                    <a:prstClr val="black"/>
                  </a:solidFill>
                  <a:latin typeface="微软雅黑"/>
                  <a:ea typeface="微软雅黑"/>
                </a:rPr>
                <a:t>，</a:t>
              </a:r>
              <a:r>
                <a:rPr lang="en-US" altLang="zh-CN" sz="1400" b="1" dirty="0">
                  <a:solidFill>
                    <a:prstClr val="black"/>
                  </a:solidFill>
                  <a:latin typeface="微软雅黑"/>
                  <a:ea typeface="微软雅黑"/>
                </a:rPr>
                <a:t>OS</a:t>
              </a:r>
              <a:r>
                <a:rPr lang="zh-CN" altLang="en-US" sz="1400" b="1" dirty="0">
                  <a:solidFill>
                    <a:prstClr val="black"/>
                  </a:solidFill>
                  <a:latin typeface="微软雅黑"/>
                  <a:ea typeface="微软雅黑"/>
                </a:rPr>
                <a:t>显著延长</a:t>
              </a:r>
            </a:p>
          </p:txBody>
        </p:sp>
        <p:sp>
          <p:nvSpPr>
            <p:cNvPr id="96" name="文本框 95">
              <a:extLst>
                <a:ext uri="{FF2B5EF4-FFF2-40B4-BE49-F238E27FC236}">
                  <a16:creationId xmlns:a16="http://schemas.microsoft.com/office/drawing/2014/main" xmlns="" id="{482F59E5-4B44-4A7F-8CD3-7B88E1E4220E}"/>
                </a:ext>
              </a:extLst>
            </p:cNvPr>
            <p:cNvSpPr txBox="1"/>
            <p:nvPr/>
          </p:nvSpPr>
          <p:spPr>
            <a:xfrm rot="16200000">
              <a:off x="4389808" y="3358768"/>
              <a:ext cx="1235113" cy="228925"/>
            </a:xfrm>
            <a:prstGeom prst="rect">
              <a:avLst/>
            </a:prstGeom>
            <a:noFill/>
          </p:spPr>
          <p:txBody>
            <a:bodyPr wrap="square" rtlCol="0" anchor="ctr">
              <a:spAutoFit/>
            </a:bodyPr>
            <a:lstStyle/>
            <a:p>
              <a:pPr algn="ctr" eaLnBrk="1" fontAlgn="auto" hangingPunct="1">
                <a:spcBef>
                  <a:spcPts val="0"/>
                </a:spcBef>
                <a:spcAft>
                  <a:spcPts val="0"/>
                </a:spcAft>
                <a:defRPr/>
              </a:pPr>
              <a:r>
                <a:rPr lang="en-US" altLang="zh-CN" sz="1200" b="1" dirty="0">
                  <a:solidFill>
                    <a:prstClr val="black"/>
                  </a:solidFill>
                  <a:latin typeface="Microsoft YaHei"/>
                  <a:ea typeface="Microsoft YaHei"/>
                </a:rPr>
                <a:t>OS</a:t>
              </a:r>
              <a:r>
                <a:rPr lang="zh-CN" altLang="en-US" sz="1200" b="1" dirty="0">
                  <a:solidFill>
                    <a:prstClr val="black"/>
                  </a:solidFill>
                  <a:latin typeface="Microsoft YaHei"/>
                  <a:ea typeface="Microsoft YaHei"/>
                </a:rPr>
                <a:t>（</a:t>
              </a:r>
              <a:r>
                <a:rPr lang="en-US" altLang="zh-CN" sz="1200" b="1" dirty="0">
                  <a:solidFill>
                    <a:prstClr val="black"/>
                  </a:solidFill>
                  <a:latin typeface="Microsoft YaHei"/>
                  <a:ea typeface="Microsoft YaHei"/>
                </a:rPr>
                <a:t>%</a:t>
              </a:r>
              <a:r>
                <a:rPr lang="zh-CN" altLang="en-US" sz="1200" b="1" dirty="0">
                  <a:solidFill>
                    <a:prstClr val="black"/>
                  </a:solidFill>
                  <a:latin typeface="Microsoft YaHei"/>
                  <a:ea typeface="Microsoft YaHei"/>
                </a:rPr>
                <a:t>）</a:t>
              </a:r>
            </a:p>
          </p:txBody>
        </p:sp>
        <p:sp>
          <p:nvSpPr>
            <p:cNvPr id="125" name="文本框 124">
              <a:extLst>
                <a:ext uri="{FF2B5EF4-FFF2-40B4-BE49-F238E27FC236}">
                  <a16:creationId xmlns:a16="http://schemas.microsoft.com/office/drawing/2014/main" xmlns="" id="{17C2AE04-151C-4683-804A-5ED0EF1BB4A9}"/>
                </a:ext>
              </a:extLst>
            </p:cNvPr>
            <p:cNvSpPr txBox="1"/>
            <p:nvPr/>
          </p:nvSpPr>
          <p:spPr>
            <a:xfrm>
              <a:off x="5751318" y="4989036"/>
              <a:ext cx="2510984" cy="251817"/>
            </a:xfrm>
            <a:prstGeom prst="rect">
              <a:avLst/>
            </a:prstGeom>
            <a:noFill/>
          </p:spPr>
          <p:txBody>
            <a:bodyPr wrap="square" rtlCol="0">
              <a:spAutoFit/>
            </a:bodyPr>
            <a:lstStyle/>
            <a:p>
              <a:pPr algn="ctr" eaLnBrk="1" fontAlgn="auto" hangingPunct="1">
                <a:spcBef>
                  <a:spcPts val="0"/>
                </a:spcBef>
                <a:spcAft>
                  <a:spcPts val="0"/>
                </a:spcAft>
                <a:defRPr/>
              </a:pPr>
              <a:r>
                <a:rPr lang="zh-CN" altLang="en-US" sz="1200" b="1" dirty="0">
                  <a:solidFill>
                    <a:prstClr val="black"/>
                  </a:solidFill>
                  <a:latin typeface="Microsoft YaHei"/>
                  <a:ea typeface="Microsoft YaHei"/>
                </a:rPr>
                <a:t>研究入组后的时间（月）</a:t>
              </a:r>
            </a:p>
          </p:txBody>
        </p:sp>
        <p:sp>
          <p:nvSpPr>
            <p:cNvPr id="131" name="文本框 130">
              <a:extLst>
                <a:ext uri="{FF2B5EF4-FFF2-40B4-BE49-F238E27FC236}">
                  <a16:creationId xmlns:a16="http://schemas.microsoft.com/office/drawing/2014/main" xmlns="" id="{BE861B42-9287-4023-A0FE-2C26A1816AF5}"/>
                </a:ext>
              </a:extLst>
            </p:cNvPr>
            <p:cNvSpPr txBox="1"/>
            <p:nvPr/>
          </p:nvSpPr>
          <p:spPr>
            <a:xfrm>
              <a:off x="7857769" y="2350488"/>
              <a:ext cx="676046" cy="230832"/>
            </a:xfrm>
            <a:prstGeom prst="rect">
              <a:avLst/>
            </a:prstGeom>
            <a:noFill/>
          </p:spPr>
          <p:txBody>
            <a:bodyPr wrap="square" rtlCol="0">
              <a:spAutoFit/>
            </a:bodyPr>
            <a:lstStyle/>
            <a:p>
              <a:pPr algn="r" eaLnBrk="1" fontAlgn="auto" hangingPunct="1">
                <a:spcBef>
                  <a:spcPts val="0"/>
                </a:spcBef>
                <a:spcAft>
                  <a:spcPts val="0"/>
                </a:spcAft>
                <a:defRPr/>
              </a:pPr>
              <a:r>
                <a:rPr lang="en-US" altLang="zh-CN" sz="900" dirty="0">
                  <a:solidFill>
                    <a:prstClr val="black"/>
                  </a:solidFill>
                  <a:latin typeface="Microsoft YaHei"/>
                  <a:ea typeface="Microsoft YaHei"/>
                </a:rPr>
                <a:t>P=0.008</a:t>
              </a:r>
              <a:endParaRPr lang="zh-CN" altLang="en-US" sz="900" dirty="0">
                <a:solidFill>
                  <a:prstClr val="black"/>
                </a:solidFill>
                <a:latin typeface="Microsoft YaHei"/>
                <a:ea typeface="Microsoft YaHei"/>
              </a:endParaRPr>
            </a:p>
          </p:txBody>
        </p:sp>
        <p:grpSp>
          <p:nvGrpSpPr>
            <p:cNvPr id="169" name="组合 168"/>
            <p:cNvGrpSpPr/>
            <p:nvPr/>
          </p:nvGrpSpPr>
          <p:grpSpPr>
            <a:xfrm>
              <a:off x="4933911" y="5301861"/>
              <a:ext cx="3102727" cy="432198"/>
              <a:chOff x="95455" y="5546771"/>
              <a:chExt cx="3754300" cy="475417"/>
            </a:xfrm>
          </p:grpSpPr>
          <p:sp>
            <p:nvSpPr>
              <p:cNvPr id="170" name="文本框 169">
                <a:extLst>
                  <a:ext uri="{FF2B5EF4-FFF2-40B4-BE49-F238E27FC236}">
                    <a16:creationId xmlns:a16="http://schemas.microsoft.com/office/drawing/2014/main" xmlns="" id="{056B95C8-C8A4-4CE9-87FC-38FB8625392C}"/>
                  </a:ext>
                </a:extLst>
              </p:cNvPr>
              <p:cNvSpPr txBox="1"/>
              <p:nvPr/>
            </p:nvSpPr>
            <p:spPr>
              <a:xfrm>
                <a:off x="95455" y="5546771"/>
                <a:ext cx="1268424" cy="220060"/>
              </a:xfrm>
              <a:prstGeom prst="rect">
                <a:avLst/>
              </a:prstGeom>
              <a:noFill/>
            </p:spPr>
            <p:txBody>
              <a:bodyPr wrap="square" rtlCol="0">
                <a:spAutoFit/>
              </a:bodyPr>
              <a:lstStyle/>
              <a:p>
                <a:pPr eaLnBrk="1" fontAlgn="auto" hangingPunct="1">
                  <a:spcBef>
                    <a:spcPts val="0"/>
                  </a:spcBef>
                  <a:spcAft>
                    <a:spcPts val="0"/>
                  </a:spcAft>
                  <a:defRPr/>
                </a:pPr>
                <a:r>
                  <a:rPr lang="zh-CN" altLang="en-US" sz="700" b="1" dirty="0">
                    <a:solidFill>
                      <a:prstClr val="black"/>
                    </a:solidFill>
                    <a:latin typeface="Microsoft YaHei"/>
                    <a:ea typeface="Microsoft YaHei"/>
                  </a:rPr>
                  <a:t>存在风险的患者例数</a:t>
                </a:r>
              </a:p>
            </p:txBody>
          </p:sp>
          <p:sp>
            <p:nvSpPr>
              <p:cNvPr id="171" name="文本框 170">
                <a:extLst>
                  <a:ext uri="{FF2B5EF4-FFF2-40B4-BE49-F238E27FC236}">
                    <a16:creationId xmlns:a16="http://schemas.microsoft.com/office/drawing/2014/main" xmlns="" id="{056B95C8-C8A4-4CE9-87FC-38FB8625392C}"/>
                  </a:ext>
                </a:extLst>
              </p:cNvPr>
              <p:cNvSpPr txBox="1"/>
              <p:nvPr/>
            </p:nvSpPr>
            <p:spPr>
              <a:xfrm>
                <a:off x="95455" y="5714411"/>
                <a:ext cx="515346" cy="307777"/>
              </a:xfrm>
              <a:prstGeom prst="rect">
                <a:avLst/>
              </a:prstGeom>
              <a:noFill/>
            </p:spPr>
            <p:txBody>
              <a:bodyPr wrap="square" rtlCol="0">
                <a:spAutoFit/>
              </a:bodyPr>
              <a:lstStyle/>
              <a:p>
                <a:pPr eaLnBrk="1" fontAlgn="auto" hangingPunct="1">
                  <a:spcBef>
                    <a:spcPts val="0"/>
                  </a:spcBef>
                  <a:spcAft>
                    <a:spcPts val="0"/>
                  </a:spcAft>
                  <a:defRPr/>
                </a:pPr>
                <a:r>
                  <a:rPr lang="en-US" altLang="zh-CN" sz="700" dirty="0">
                    <a:solidFill>
                      <a:prstClr val="black"/>
                    </a:solidFill>
                    <a:latin typeface="Microsoft YaHei"/>
                    <a:ea typeface="Microsoft YaHei"/>
                  </a:rPr>
                  <a:t>1-3</a:t>
                </a:r>
                <a:r>
                  <a:rPr lang="zh-CN" altLang="en-US" sz="700" dirty="0">
                    <a:solidFill>
                      <a:prstClr val="black"/>
                    </a:solidFill>
                    <a:latin typeface="Microsoft YaHei"/>
                    <a:ea typeface="Microsoft YaHei"/>
                  </a:rPr>
                  <a:t>级</a:t>
                </a:r>
                <a:endParaRPr lang="en-US" altLang="zh-CN" sz="700" dirty="0">
                  <a:solidFill>
                    <a:prstClr val="black"/>
                  </a:solidFill>
                  <a:latin typeface="Microsoft YaHei"/>
                  <a:ea typeface="Microsoft YaHei"/>
                </a:endParaRPr>
              </a:p>
              <a:p>
                <a:pPr eaLnBrk="1" fontAlgn="auto" hangingPunct="1">
                  <a:spcBef>
                    <a:spcPts val="0"/>
                  </a:spcBef>
                  <a:spcAft>
                    <a:spcPts val="0"/>
                  </a:spcAft>
                  <a:defRPr/>
                </a:pPr>
                <a:r>
                  <a:rPr lang="en-US" altLang="zh-CN" sz="700" dirty="0">
                    <a:solidFill>
                      <a:prstClr val="black"/>
                    </a:solidFill>
                    <a:latin typeface="Microsoft YaHei"/>
                    <a:ea typeface="Microsoft YaHei"/>
                  </a:rPr>
                  <a:t>0</a:t>
                </a:r>
                <a:r>
                  <a:rPr lang="zh-CN" altLang="en-US" sz="700" dirty="0">
                    <a:solidFill>
                      <a:prstClr val="black"/>
                    </a:solidFill>
                    <a:latin typeface="Microsoft YaHei"/>
                    <a:ea typeface="Microsoft YaHei"/>
                  </a:rPr>
                  <a:t>级</a:t>
                </a:r>
              </a:p>
            </p:txBody>
          </p:sp>
          <p:sp>
            <p:nvSpPr>
              <p:cNvPr id="172" name="文本框 171">
                <a:extLst>
                  <a:ext uri="{FF2B5EF4-FFF2-40B4-BE49-F238E27FC236}">
                    <a16:creationId xmlns:a16="http://schemas.microsoft.com/office/drawing/2014/main" xmlns="" id="{056B95C8-C8A4-4CE9-87FC-38FB8625392C}"/>
                  </a:ext>
                </a:extLst>
              </p:cNvPr>
              <p:cNvSpPr txBox="1"/>
              <p:nvPr/>
            </p:nvSpPr>
            <p:spPr>
              <a:xfrm>
                <a:off x="547677" y="5714411"/>
                <a:ext cx="515346"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48</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101</a:t>
                </a:r>
                <a:endParaRPr lang="zh-CN" altLang="en-US" sz="700" dirty="0">
                  <a:solidFill>
                    <a:prstClr val="black"/>
                  </a:solidFill>
                  <a:latin typeface="Microsoft YaHei"/>
                  <a:ea typeface="Microsoft YaHei"/>
                </a:endParaRPr>
              </a:p>
            </p:txBody>
          </p:sp>
          <p:sp>
            <p:nvSpPr>
              <p:cNvPr id="173" name="文本框 172">
                <a:extLst>
                  <a:ext uri="{FF2B5EF4-FFF2-40B4-BE49-F238E27FC236}">
                    <a16:creationId xmlns:a16="http://schemas.microsoft.com/office/drawing/2014/main" xmlns="" id="{056B95C8-C8A4-4CE9-87FC-38FB8625392C}"/>
                  </a:ext>
                </a:extLst>
              </p:cNvPr>
              <p:cNvSpPr txBox="1"/>
              <p:nvPr/>
            </p:nvSpPr>
            <p:spPr>
              <a:xfrm>
                <a:off x="1345472"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41</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73</a:t>
                </a:r>
                <a:endParaRPr lang="zh-CN" altLang="en-US" sz="700" dirty="0">
                  <a:solidFill>
                    <a:prstClr val="black"/>
                  </a:solidFill>
                  <a:latin typeface="Microsoft YaHei"/>
                  <a:ea typeface="Microsoft YaHei"/>
                </a:endParaRPr>
              </a:p>
            </p:txBody>
          </p:sp>
          <p:sp>
            <p:nvSpPr>
              <p:cNvPr id="174" name="文本框 173">
                <a:extLst>
                  <a:ext uri="{FF2B5EF4-FFF2-40B4-BE49-F238E27FC236}">
                    <a16:creationId xmlns:a16="http://schemas.microsoft.com/office/drawing/2014/main" xmlns="" id="{056B95C8-C8A4-4CE9-87FC-38FB8625392C}"/>
                  </a:ext>
                </a:extLst>
              </p:cNvPr>
              <p:cNvSpPr txBox="1"/>
              <p:nvPr/>
            </p:nvSpPr>
            <p:spPr>
              <a:xfrm>
                <a:off x="2070426"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30</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43</a:t>
                </a:r>
                <a:endParaRPr lang="zh-CN" altLang="en-US" sz="700" dirty="0">
                  <a:solidFill>
                    <a:prstClr val="black"/>
                  </a:solidFill>
                  <a:latin typeface="Microsoft YaHei"/>
                  <a:ea typeface="Microsoft YaHei"/>
                </a:endParaRPr>
              </a:p>
            </p:txBody>
          </p:sp>
          <p:sp>
            <p:nvSpPr>
              <p:cNvPr id="176" name="文本框 175">
                <a:extLst>
                  <a:ext uri="{FF2B5EF4-FFF2-40B4-BE49-F238E27FC236}">
                    <a16:creationId xmlns:a16="http://schemas.microsoft.com/office/drawing/2014/main" xmlns="" id="{056B95C8-C8A4-4CE9-87FC-38FB8625392C}"/>
                  </a:ext>
                </a:extLst>
              </p:cNvPr>
              <p:cNvSpPr txBox="1"/>
              <p:nvPr/>
            </p:nvSpPr>
            <p:spPr>
              <a:xfrm>
                <a:off x="2779929"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19</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21</a:t>
                </a:r>
                <a:endParaRPr lang="zh-CN" altLang="en-US" sz="700" dirty="0">
                  <a:solidFill>
                    <a:prstClr val="black"/>
                  </a:solidFill>
                  <a:latin typeface="Microsoft YaHei"/>
                  <a:ea typeface="Microsoft YaHei"/>
                </a:endParaRPr>
              </a:p>
            </p:txBody>
          </p:sp>
          <p:sp>
            <p:nvSpPr>
              <p:cNvPr id="177" name="文本框 176">
                <a:extLst>
                  <a:ext uri="{FF2B5EF4-FFF2-40B4-BE49-F238E27FC236}">
                    <a16:creationId xmlns:a16="http://schemas.microsoft.com/office/drawing/2014/main" xmlns="" id="{056B95C8-C8A4-4CE9-87FC-38FB8625392C}"/>
                  </a:ext>
                </a:extLst>
              </p:cNvPr>
              <p:cNvSpPr txBox="1"/>
              <p:nvPr/>
            </p:nvSpPr>
            <p:spPr>
              <a:xfrm>
                <a:off x="3497768" y="5714411"/>
                <a:ext cx="351987" cy="307777"/>
              </a:xfrm>
              <a:prstGeom prst="rect">
                <a:avLst/>
              </a:prstGeom>
              <a:noFill/>
            </p:spPr>
            <p:txBody>
              <a:bodyPr wrap="square" rtlCol="0">
                <a:spAutoFit/>
              </a:bodyPr>
              <a:lstStyle/>
              <a:p>
                <a:pPr algn="ctr" eaLnBrk="1" fontAlgn="auto" hangingPunct="1">
                  <a:spcBef>
                    <a:spcPts val="0"/>
                  </a:spcBef>
                  <a:spcAft>
                    <a:spcPts val="0"/>
                  </a:spcAft>
                  <a:defRPr/>
                </a:pPr>
                <a:r>
                  <a:rPr lang="en-US" altLang="zh-CN" sz="700" dirty="0">
                    <a:solidFill>
                      <a:prstClr val="black"/>
                    </a:solidFill>
                    <a:latin typeface="Microsoft YaHei"/>
                    <a:ea typeface="Microsoft YaHei"/>
                  </a:rPr>
                  <a:t>6</a:t>
                </a:r>
              </a:p>
              <a:p>
                <a:pPr algn="ctr" eaLnBrk="1" fontAlgn="auto" hangingPunct="1">
                  <a:spcBef>
                    <a:spcPts val="0"/>
                  </a:spcBef>
                  <a:spcAft>
                    <a:spcPts val="0"/>
                  </a:spcAft>
                  <a:defRPr/>
                </a:pPr>
                <a:r>
                  <a:rPr lang="en-US" altLang="zh-CN" sz="700" dirty="0">
                    <a:solidFill>
                      <a:prstClr val="black"/>
                    </a:solidFill>
                    <a:latin typeface="Microsoft YaHei"/>
                    <a:ea typeface="Microsoft YaHei"/>
                  </a:rPr>
                  <a:t>10</a:t>
                </a:r>
                <a:endParaRPr lang="zh-CN" altLang="en-US" sz="700" dirty="0">
                  <a:solidFill>
                    <a:prstClr val="black"/>
                  </a:solidFill>
                  <a:latin typeface="Microsoft YaHei"/>
                  <a:ea typeface="Microsoft YaHei"/>
                </a:endParaRPr>
              </a:p>
            </p:txBody>
          </p:sp>
        </p:grpSp>
        <p:sp>
          <p:nvSpPr>
            <p:cNvPr id="153" name="文本框 152">
              <a:extLst>
                <a:ext uri="{FF2B5EF4-FFF2-40B4-BE49-F238E27FC236}">
                  <a16:creationId xmlns:a16="http://schemas.microsoft.com/office/drawing/2014/main" xmlns="" id="{3290D038-F40F-40B5-865C-69BF8042F9D7}"/>
                </a:ext>
              </a:extLst>
            </p:cNvPr>
            <p:cNvSpPr txBox="1"/>
            <p:nvPr/>
          </p:nvSpPr>
          <p:spPr>
            <a:xfrm>
              <a:off x="5794032" y="4481304"/>
              <a:ext cx="787348" cy="209847"/>
            </a:xfrm>
            <a:prstGeom prst="rect">
              <a:avLst/>
            </a:prstGeom>
            <a:noFill/>
          </p:spPr>
          <p:txBody>
            <a:bodyPr wrap="square" rtlCol="0" anchor="ctr">
              <a:spAutoFit/>
            </a:bodyPr>
            <a:lstStyle/>
            <a:p>
              <a:pPr algn="r">
                <a:spcBef>
                  <a:spcPts val="225"/>
                </a:spcBef>
                <a:defRPr/>
              </a:pPr>
              <a:r>
                <a:rPr lang="en-US" altLang="zh-CN" sz="900" b="1" kern="0" dirty="0">
                  <a:solidFill>
                    <a:srgbClr val="108638"/>
                  </a:solidFill>
                  <a:latin typeface="Microsoft YaHei"/>
                  <a:ea typeface="Microsoft YaHei"/>
                </a:rPr>
                <a:t>22.4</a:t>
              </a:r>
              <a:r>
                <a:rPr lang="zh-CN" altLang="en-US" sz="900" b="1" kern="0" dirty="0">
                  <a:solidFill>
                    <a:srgbClr val="108638"/>
                  </a:solidFill>
                  <a:latin typeface="Microsoft YaHei"/>
                  <a:ea typeface="Microsoft YaHei"/>
                </a:rPr>
                <a:t>个月</a:t>
              </a:r>
            </a:p>
          </p:txBody>
        </p:sp>
        <p:sp>
          <p:nvSpPr>
            <p:cNvPr id="154" name="文本框 153">
              <a:extLst>
                <a:ext uri="{FF2B5EF4-FFF2-40B4-BE49-F238E27FC236}">
                  <a16:creationId xmlns:a16="http://schemas.microsoft.com/office/drawing/2014/main" xmlns="" id="{A55D2FCC-56BB-4335-8882-8E959F560F15}"/>
                </a:ext>
              </a:extLst>
            </p:cNvPr>
            <p:cNvSpPr txBox="1"/>
            <p:nvPr/>
          </p:nvSpPr>
          <p:spPr>
            <a:xfrm>
              <a:off x="7157359" y="4481304"/>
              <a:ext cx="787348" cy="209847"/>
            </a:xfrm>
            <a:prstGeom prst="rect">
              <a:avLst/>
            </a:prstGeom>
            <a:noFill/>
          </p:spPr>
          <p:txBody>
            <a:bodyPr wrap="square" rtlCol="0" anchor="ctr">
              <a:spAutoFit/>
            </a:bodyPr>
            <a:lstStyle/>
            <a:p>
              <a:pPr>
                <a:spcBef>
                  <a:spcPts val="225"/>
                </a:spcBef>
                <a:defRPr/>
              </a:pPr>
              <a:r>
                <a:rPr lang="en-US" altLang="zh-CN" sz="900" b="1" kern="0" dirty="0">
                  <a:solidFill>
                    <a:srgbClr val="ED7D31"/>
                  </a:solidFill>
                  <a:latin typeface="Microsoft YaHei"/>
                  <a:ea typeface="Microsoft YaHei"/>
                </a:rPr>
                <a:t>32.8</a:t>
              </a:r>
              <a:r>
                <a:rPr lang="zh-CN" altLang="en-US" sz="900" b="1" kern="0" dirty="0">
                  <a:solidFill>
                    <a:srgbClr val="ED7D31"/>
                  </a:solidFill>
                  <a:latin typeface="Microsoft YaHei"/>
                  <a:ea typeface="Microsoft YaHei"/>
                </a:rPr>
                <a:t>个月</a:t>
              </a:r>
            </a:p>
          </p:txBody>
        </p:sp>
        <p:sp>
          <p:nvSpPr>
            <p:cNvPr id="157" name="文本框 156">
              <a:extLst>
                <a:ext uri="{FF2B5EF4-FFF2-40B4-BE49-F238E27FC236}">
                  <a16:creationId xmlns:a16="http://schemas.microsoft.com/office/drawing/2014/main" xmlns="" id="{9DC49BA9-12AC-47EE-B91F-F3FDCC378FC0}"/>
                </a:ext>
              </a:extLst>
            </p:cNvPr>
            <p:cNvSpPr txBox="1"/>
            <p:nvPr/>
          </p:nvSpPr>
          <p:spPr>
            <a:xfrm>
              <a:off x="1746017" y="4515951"/>
              <a:ext cx="609769" cy="209847"/>
            </a:xfrm>
            <a:prstGeom prst="rect">
              <a:avLst/>
            </a:prstGeom>
            <a:noFill/>
          </p:spPr>
          <p:txBody>
            <a:bodyPr wrap="square" rtlCol="0">
              <a:spAutoFit/>
            </a:bodyPr>
            <a:lstStyle/>
            <a:p>
              <a:pPr>
                <a:spcBef>
                  <a:spcPts val="225"/>
                </a:spcBef>
                <a:defRPr/>
              </a:pPr>
              <a:r>
                <a:rPr lang="en-US" altLang="zh-CN" sz="900" b="1" kern="0" dirty="0">
                  <a:solidFill>
                    <a:srgbClr val="ED7D31"/>
                  </a:solidFill>
                  <a:latin typeface="Microsoft YaHei"/>
                  <a:ea typeface="Microsoft YaHei"/>
                </a:rPr>
                <a:t>9.9</a:t>
              </a:r>
              <a:r>
                <a:rPr lang="zh-CN" altLang="en-US" sz="900" b="1" kern="0" dirty="0">
                  <a:solidFill>
                    <a:srgbClr val="ED7D31"/>
                  </a:solidFill>
                  <a:latin typeface="Microsoft YaHei"/>
                  <a:ea typeface="Microsoft YaHei"/>
                </a:rPr>
                <a:t>个月</a:t>
              </a:r>
            </a:p>
          </p:txBody>
        </p:sp>
        <p:sp>
          <p:nvSpPr>
            <p:cNvPr id="178" name="文本框 177">
              <a:extLst>
                <a:ext uri="{FF2B5EF4-FFF2-40B4-BE49-F238E27FC236}">
                  <a16:creationId xmlns:a16="http://schemas.microsoft.com/office/drawing/2014/main" xmlns="" id="{38647A9C-CC86-4DD4-94FE-586B18257A7F}"/>
                </a:ext>
              </a:extLst>
            </p:cNvPr>
            <p:cNvSpPr txBox="1"/>
            <p:nvPr/>
          </p:nvSpPr>
          <p:spPr>
            <a:xfrm>
              <a:off x="1140072" y="4540406"/>
              <a:ext cx="597241" cy="143328"/>
            </a:xfrm>
            <a:prstGeom prst="rect">
              <a:avLst/>
            </a:prstGeom>
            <a:solidFill>
              <a:srgbClr val="FFFFFF">
                <a:alpha val="69804"/>
              </a:srgbClr>
            </a:solidFill>
          </p:spPr>
          <p:txBody>
            <a:bodyPr wrap="square" rtlCol="0" anchor="ctr">
              <a:spAutoFit/>
            </a:bodyPr>
            <a:lstStyle/>
            <a:p>
              <a:pPr algn="ctr">
                <a:spcBef>
                  <a:spcPts val="225"/>
                </a:spcBef>
                <a:defRPr/>
              </a:pPr>
              <a:r>
                <a:rPr lang="en-US" altLang="zh-CN" sz="900" b="1" kern="0" dirty="0">
                  <a:solidFill>
                    <a:srgbClr val="108638"/>
                  </a:solidFill>
                  <a:latin typeface="Microsoft YaHei"/>
                  <a:ea typeface="Microsoft YaHei"/>
                </a:rPr>
                <a:t>5.6</a:t>
              </a:r>
              <a:r>
                <a:rPr lang="zh-CN" altLang="en-US" sz="900" b="1" kern="0" dirty="0">
                  <a:solidFill>
                    <a:srgbClr val="108638"/>
                  </a:solidFill>
                  <a:latin typeface="Microsoft YaHei"/>
                  <a:ea typeface="Microsoft YaHei"/>
                </a:rPr>
                <a:t>个月</a:t>
              </a:r>
            </a:p>
          </p:txBody>
        </p:sp>
      </p:grpSp>
      <p:sp>
        <p:nvSpPr>
          <p:cNvPr id="3" name="矩形 2"/>
          <p:cNvSpPr/>
          <p:nvPr/>
        </p:nvSpPr>
        <p:spPr>
          <a:xfrm>
            <a:off x="753677" y="6022188"/>
            <a:ext cx="7780138" cy="360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1" fontAlgn="auto" hangingPunct="1">
              <a:lnSpc>
                <a:spcPct val="120000"/>
              </a:lnSpc>
              <a:spcBef>
                <a:spcPts val="600"/>
              </a:spcBef>
              <a:spcAft>
                <a:spcPts val="0"/>
              </a:spcAft>
              <a:buFont typeface="Arial" panose="020B0604020202020204" pitchFamily="34" charset="0"/>
              <a:buChar char="•"/>
            </a:pPr>
            <a:r>
              <a:rPr lang="zh-CN" altLang="en-US" sz="1100" dirty="0" smtClean="0">
                <a:solidFill>
                  <a:schemeClr val="tx1"/>
                </a:solidFill>
              </a:rPr>
              <a:t>对来自德国</a:t>
            </a:r>
            <a:r>
              <a:rPr lang="en-US" altLang="zh-CN" sz="1100" dirty="0" smtClean="0">
                <a:solidFill>
                  <a:schemeClr val="tx1"/>
                </a:solidFill>
              </a:rPr>
              <a:t>35</a:t>
            </a:r>
            <a:r>
              <a:rPr lang="zh-CN" altLang="en-US" sz="1100" dirty="0" smtClean="0">
                <a:solidFill>
                  <a:schemeClr val="tx1"/>
                </a:solidFill>
              </a:rPr>
              <a:t>家研究中心的</a:t>
            </a:r>
            <a:r>
              <a:rPr lang="en-US" altLang="zh-CN" sz="1100" dirty="0" smtClean="0">
                <a:solidFill>
                  <a:schemeClr val="tx1"/>
                </a:solidFill>
              </a:rPr>
              <a:t>185</a:t>
            </a:r>
            <a:r>
              <a:rPr lang="zh-CN" altLang="en-US" sz="1100" dirty="0" smtClean="0">
                <a:solidFill>
                  <a:schemeClr val="tx1"/>
                </a:solidFill>
              </a:rPr>
              <a:t>例</a:t>
            </a:r>
            <a:r>
              <a:rPr lang="en-US" altLang="zh-CN" sz="1100" dirty="0" smtClean="0">
                <a:solidFill>
                  <a:schemeClr val="tx1"/>
                </a:solidFill>
              </a:rPr>
              <a:t>IV</a:t>
            </a:r>
            <a:r>
              <a:rPr lang="zh-CN" altLang="en-US" sz="1100" dirty="0">
                <a:solidFill>
                  <a:schemeClr val="tx1"/>
                </a:solidFill>
              </a:rPr>
              <a:t>期结直肠</a:t>
            </a:r>
            <a:r>
              <a:rPr lang="zh-CN" altLang="en-US" sz="1100" dirty="0" smtClean="0">
                <a:solidFill>
                  <a:schemeClr val="tx1"/>
                </a:solidFill>
              </a:rPr>
              <a:t>腺癌患者进行的一项</a:t>
            </a:r>
            <a:r>
              <a:rPr lang="en-US" altLang="zh-CN" sz="1100" dirty="0" smtClean="0">
                <a:solidFill>
                  <a:schemeClr val="tx1"/>
                </a:solidFill>
              </a:rPr>
              <a:t>IV</a:t>
            </a:r>
            <a:r>
              <a:rPr lang="zh-CN" altLang="en-US" sz="1100" dirty="0" smtClean="0">
                <a:solidFill>
                  <a:schemeClr val="tx1"/>
                </a:solidFill>
              </a:rPr>
              <a:t>期</a:t>
            </a:r>
            <a:r>
              <a:rPr lang="en-US" altLang="zh-CN" sz="1100" dirty="0" smtClean="0">
                <a:solidFill>
                  <a:schemeClr val="tx1"/>
                </a:solidFill>
              </a:rPr>
              <a:t>CRC</a:t>
            </a:r>
            <a:r>
              <a:rPr lang="zh-CN" altLang="en-US" sz="1100" dirty="0" smtClean="0">
                <a:solidFill>
                  <a:schemeClr val="tx1"/>
                </a:solidFill>
              </a:rPr>
              <a:t>患者一项开放性、随机、对照、</a:t>
            </a:r>
            <a:r>
              <a:rPr lang="en-US" altLang="zh-CN" sz="1100" dirty="0" smtClean="0">
                <a:solidFill>
                  <a:schemeClr val="tx1"/>
                </a:solidFill>
              </a:rPr>
              <a:t>II</a:t>
            </a:r>
            <a:r>
              <a:rPr lang="zh-CN" altLang="en-US" sz="1100" dirty="0" smtClean="0">
                <a:solidFill>
                  <a:schemeClr val="tx1"/>
                </a:solidFill>
              </a:rPr>
              <a:t>期临床试验，旨在</a:t>
            </a:r>
            <a:r>
              <a:rPr lang="zh-CN" altLang="en-US" sz="1100" dirty="0" smtClean="0">
                <a:solidFill>
                  <a:prstClr val="black"/>
                </a:solidFill>
                <a:latin typeface="微软雅黑"/>
                <a:ea typeface="微软雅黑"/>
                <a:cs typeface="+mn-ea"/>
                <a:sym typeface="+mn-lt"/>
              </a:rPr>
              <a:t>探讨卡培他滨相关性皮肤毒性（</a:t>
            </a:r>
            <a:r>
              <a:rPr lang="en-US" altLang="zh-CN" sz="1100" dirty="0" smtClean="0">
                <a:solidFill>
                  <a:prstClr val="black"/>
                </a:solidFill>
                <a:latin typeface="微软雅黑"/>
                <a:ea typeface="微软雅黑"/>
                <a:cs typeface="+mn-ea"/>
                <a:sym typeface="+mn-lt"/>
              </a:rPr>
              <a:t>Cape-ST</a:t>
            </a:r>
            <a:r>
              <a:rPr lang="zh-CN" altLang="en-US" sz="1100" dirty="0" smtClean="0">
                <a:solidFill>
                  <a:prstClr val="black"/>
                </a:solidFill>
                <a:latin typeface="微软雅黑"/>
                <a:ea typeface="微软雅黑"/>
                <a:cs typeface="+mn-ea"/>
                <a:sym typeface="+mn-lt"/>
              </a:rPr>
              <a:t>）与疗效参数的相关性 </a:t>
            </a:r>
            <a:endParaRPr lang="en-US" altLang="zh-CN" sz="1100" b="1" dirty="0">
              <a:solidFill>
                <a:prstClr val="black"/>
              </a:solidFill>
              <a:latin typeface="微软雅黑"/>
              <a:ea typeface="微软雅黑"/>
              <a:cs typeface="+mn-ea"/>
              <a:sym typeface="+mn-lt"/>
            </a:endParaRPr>
          </a:p>
        </p:txBody>
      </p:sp>
    </p:spTree>
    <p:extLst>
      <p:ext uri="{BB962C8B-B14F-4D97-AF65-F5344CB8AC3E}">
        <p14:creationId xmlns:p14="http://schemas.microsoft.com/office/powerpoint/2010/main" val="1073534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19ADE8F-EB2C-4772-B0E7-5F91C5A84B8A}"/>
              </a:ext>
            </a:extLst>
          </p:cNvPr>
          <p:cNvSpPr>
            <a:spLocks noGrp="1"/>
          </p:cNvSpPr>
          <p:nvPr>
            <p:ph type="title"/>
          </p:nvPr>
        </p:nvSpPr>
        <p:spPr/>
        <p:txBody>
          <a:bodyPr/>
          <a:lstStyle/>
          <a:p>
            <a:r>
              <a:rPr lang="en-US" altLang="zh-CN" sz="2000" dirty="0">
                <a:cs typeface="+mn-ea"/>
                <a:sym typeface="+mn-lt"/>
              </a:rPr>
              <a:t>AIO KRK-0104</a:t>
            </a:r>
            <a:r>
              <a:rPr lang="zh-CN" altLang="en-US" sz="2000" dirty="0">
                <a:cs typeface="+mn-ea"/>
                <a:sym typeface="+mn-lt"/>
              </a:rPr>
              <a:t>研究：</a:t>
            </a:r>
            <a:r>
              <a:rPr lang="en-US" altLang="zh-CN" sz="2000" dirty="0">
                <a:cs typeface="+mn-ea"/>
                <a:sym typeface="+mn-lt"/>
              </a:rPr>
              <a:t/>
            </a:r>
            <a:br>
              <a:rPr lang="en-US" altLang="zh-CN" sz="2000" dirty="0">
                <a:cs typeface="+mn-ea"/>
                <a:sym typeface="+mn-lt"/>
              </a:rPr>
            </a:br>
            <a:r>
              <a:rPr lang="en-US" altLang="zh-CN" spc="-80" dirty="0"/>
              <a:t>PFS</a:t>
            </a:r>
            <a:r>
              <a:rPr lang="zh-CN" altLang="en-US" spc="-80" dirty="0"/>
              <a:t>及</a:t>
            </a:r>
            <a:r>
              <a:rPr lang="en-US" altLang="zh-CN" spc="-80" dirty="0"/>
              <a:t>OS</a:t>
            </a:r>
            <a:r>
              <a:rPr lang="zh-CN" altLang="en-US" spc="-80" dirty="0"/>
              <a:t>与卡培他滨</a:t>
            </a:r>
            <a:r>
              <a:rPr lang="zh-CN" altLang="en-US" spc="-80" dirty="0">
                <a:latin typeface="微软雅黑" panose="020B0503020204020204" pitchFamily="34" charset="-122"/>
                <a:ea typeface="微软雅黑" panose="020B0503020204020204" pitchFamily="34" charset="-122"/>
              </a:rPr>
              <a:t>所致的</a:t>
            </a:r>
            <a:r>
              <a:rPr lang="en-US" altLang="zh-CN" spc="-80" dirty="0"/>
              <a:t>HFS</a:t>
            </a:r>
            <a:r>
              <a:rPr lang="zh-CN" altLang="en-US" spc="-80" dirty="0"/>
              <a:t>呈正相关性</a:t>
            </a:r>
          </a:p>
        </p:txBody>
      </p:sp>
      <p:grpSp>
        <p:nvGrpSpPr>
          <p:cNvPr id="5" name="组合 4"/>
          <p:cNvGrpSpPr/>
          <p:nvPr/>
        </p:nvGrpSpPr>
        <p:grpSpPr>
          <a:xfrm>
            <a:off x="334782" y="1484109"/>
            <a:ext cx="8303472" cy="4630707"/>
            <a:chOff x="334782" y="1484109"/>
            <a:chExt cx="8303472" cy="4630707"/>
          </a:xfrm>
        </p:grpSpPr>
        <p:pic>
          <p:nvPicPr>
            <p:cNvPr id="4" name="图片 3"/>
            <p:cNvPicPr>
              <a:picLocks noChangeAspect="1"/>
            </p:cNvPicPr>
            <p:nvPr/>
          </p:nvPicPr>
          <p:blipFill>
            <a:blip r:embed="rId3"/>
            <a:stretch>
              <a:fillRect/>
            </a:stretch>
          </p:blipFill>
          <p:spPr>
            <a:xfrm>
              <a:off x="334782" y="1902115"/>
              <a:ext cx="8303472" cy="4212701"/>
            </a:xfrm>
            <a:prstGeom prst="rect">
              <a:avLst/>
            </a:prstGeom>
          </p:spPr>
        </p:pic>
        <p:sp>
          <p:nvSpPr>
            <p:cNvPr id="14" name="矩形 13">
              <a:extLst>
                <a:ext uri="{FF2B5EF4-FFF2-40B4-BE49-F238E27FC236}">
                  <a16:creationId xmlns:a16="http://schemas.microsoft.com/office/drawing/2014/main" xmlns="" id="{0390949C-7044-410B-8E81-A831DD0FCDB5}"/>
                </a:ext>
              </a:extLst>
            </p:cNvPr>
            <p:cNvSpPr/>
            <p:nvPr/>
          </p:nvSpPr>
          <p:spPr>
            <a:xfrm>
              <a:off x="1082499" y="1484109"/>
              <a:ext cx="3175554" cy="307777"/>
            </a:xfrm>
            <a:prstGeom prst="rect">
              <a:avLst/>
            </a:prstGeom>
          </p:spPr>
          <p:txBody>
            <a:bodyPr wrap="square">
              <a:spAutoFit/>
            </a:bodyPr>
            <a:lstStyle/>
            <a:p>
              <a:pPr algn="ctr" eaLnBrk="1" fontAlgn="auto" hangingPunct="1">
                <a:spcBef>
                  <a:spcPts val="0"/>
                </a:spcBef>
                <a:spcAft>
                  <a:spcPts val="0"/>
                </a:spcAft>
                <a:defRPr/>
              </a:pPr>
              <a:r>
                <a:rPr lang="en-US" altLang="zh-CN" sz="1400" b="1" dirty="0">
                  <a:solidFill>
                    <a:prstClr val="black"/>
                  </a:solidFill>
                  <a:latin typeface="微软雅黑"/>
                  <a:ea typeface="微软雅黑"/>
                </a:rPr>
                <a:t>PFS</a:t>
              </a:r>
              <a:r>
                <a:rPr lang="zh-CN" altLang="en-US" sz="1400" b="1" dirty="0">
                  <a:solidFill>
                    <a:prstClr val="black"/>
                  </a:solidFill>
                  <a:latin typeface="微软雅黑"/>
                  <a:ea typeface="微软雅黑"/>
                </a:rPr>
                <a:t>随</a:t>
              </a:r>
              <a:r>
                <a:rPr lang="en-US" altLang="zh-CN" sz="1400" b="1" dirty="0">
                  <a:solidFill>
                    <a:prstClr val="black"/>
                  </a:solidFill>
                  <a:latin typeface="微软雅黑"/>
                  <a:ea typeface="微软雅黑"/>
                </a:rPr>
                <a:t>HFS</a:t>
              </a:r>
              <a:r>
                <a:rPr lang="zh-CN" altLang="en-US" sz="1400" b="1" dirty="0">
                  <a:solidFill>
                    <a:prstClr val="black"/>
                  </a:solidFill>
                  <a:latin typeface="微软雅黑"/>
                  <a:ea typeface="微软雅黑"/>
                </a:rPr>
                <a:t>级别的增加而延长</a:t>
              </a:r>
            </a:p>
          </p:txBody>
        </p:sp>
        <p:sp>
          <p:nvSpPr>
            <p:cNvPr id="15" name="矩形 14">
              <a:extLst>
                <a:ext uri="{FF2B5EF4-FFF2-40B4-BE49-F238E27FC236}">
                  <a16:creationId xmlns:a16="http://schemas.microsoft.com/office/drawing/2014/main" xmlns="" id="{AB45EEB1-B317-4E2C-8441-3958BF5FF1B9}"/>
                </a:ext>
              </a:extLst>
            </p:cNvPr>
            <p:cNvSpPr/>
            <p:nvPr/>
          </p:nvSpPr>
          <p:spPr>
            <a:xfrm>
              <a:off x="5420866" y="1484109"/>
              <a:ext cx="3133903" cy="307777"/>
            </a:xfrm>
            <a:prstGeom prst="rect">
              <a:avLst/>
            </a:prstGeom>
          </p:spPr>
          <p:txBody>
            <a:bodyPr wrap="square">
              <a:spAutoFit/>
            </a:bodyPr>
            <a:lstStyle/>
            <a:p>
              <a:pPr algn="ctr" eaLnBrk="1" fontAlgn="auto" hangingPunct="1">
                <a:spcBef>
                  <a:spcPts val="0"/>
                </a:spcBef>
                <a:spcAft>
                  <a:spcPts val="0"/>
                </a:spcAft>
                <a:defRPr/>
              </a:pPr>
              <a:r>
                <a:rPr lang="en-US" altLang="zh-CN" sz="1400" b="1" dirty="0">
                  <a:solidFill>
                    <a:prstClr val="black"/>
                  </a:solidFill>
                  <a:latin typeface="微软雅黑"/>
                  <a:ea typeface="微软雅黑"/>
                </a:rPr>
                <a:t>OS</a:t>
              </a:r>
              <a:r>
                <a:rPr lang="zh-CN" altLang="en-US" sz="1400" b="1" dirty="0">
                  <a:solidFill>
                    <a:prstClr val="black"/>
                  </a:solidFill>
                  <a:latin typeface="微软雅黑"/>
                  <a:ea typeface="微软雅黑"/>
                </a:rPr>
                <a:t>随</a:t>
              </a:r>
              <a:r>
                <a:rPr lang="en-US" altLang="zh-CN" sz="1400" b="1" dirty="0">
                  <a:solidFill>
                    <a:prstClr val="black"/>
                  </a:solidFill>
                  <a:latin typeface="微软雅黑"/>
                  <a:ea typeface="微软雅黑"/>
                </a:rPr>
                <a:t>HFS</a:t>
              </a:r>
              <a:r>
                <a:rPr lang="zh-CN" altLang="en-US" sz="1400" b="1" dirty="0">
                  <a:solidFill>
                    <a:prstClr val="black"/>
                  </a:solidFill>
                  <a:latin typeface="微软雅黑"/>
                  <a:ea typeface="微软雅黑"/>
                </a:rPr>
                <a:t>级别的增加而延长</a:t>
              </a:r>
            </a:p>
          </p:txBody>
        </p:sp>
        <p:sp>
          <p:nvSpPr>
            <p:cNvPr id="7" name="文本框 6">
              <a:extLst>
                <a:ext uri="{FF2B5EF4-FFF2-40B4-BE49-F238E27FC236}">
                  <a16:creationId xmlns:a16="http://schemas.microsoft.com/office/drawing/2014/main" xmlns="" id="{39C0823E-BB69-47F4-8902-0FC338596F29}"/>
                </a:ext>
              </a:extLst>
            </p:cNvPr>
            <p:cNvSpPr txBox="1"/>
            <p:nvPr/>
          </p:nvSpPr>
          <p:spPr>
            <a:xfrm>
              <a:off x="1253214" y="2329535"/>
              <a:ext cx="2073218" cy="468334"/>
            </a:xfrm>
            <a:prstGeom prst="rect">
              <a:avLst/>
            </a:prstGeom>
            <a:noFill/>
          </p:spPr>
          <p:txBody>
            <a:bodyPr wrap="square" rtlCol="0">
              <a:spAutoFit/>
            </a:bodyPr>
            <a:lstStyle/>
            <a:p>
              <a:pPr eaLnBrk="1" fontAlgn="auto" hangingPunct="1">
                <a:spcBef>
                  <a:spcPts val="225"/>
                </a:spcBef>
                <a:spcAft>
                  <a:spcPts val="0"/>
                </a:spcAft>
                <a:defRPr/>
              </a:pPr>
              <a:r>
                <a:rPr lang="en-US" altLang="zh-CN" sz="1000" dirty="0">
                  <a:solidFill>
                    <a:prstClr val="black"/>
                  </a:solidFill>
                  <a:latin typeface="Microsoft YaHei"/>
                  <a:ea typeface="Microsoft YaHei"/>
                </a:rPr>
                <a:t>HR 0.72</a:t>
              </a:r>
              <a:r>
                <a:rPr lang="zh-CN" altLang="en-US" sz="1000" dirty="0">
                  <a:solidFill>
                    <a:prstClr val="black"/>
                  </a:solidFill>
                  <a:latin typeface="Microsoft YaHei"/>
                  <a:ea typeface="Microsoft YaHei"/>
                </a:rPr>
                <a:t>（</a:t>
              </a:r>
              <a:r>
                <a:rPr lang="en-US" altLang="zh-CN" sz="1000" dirty="0">
                  <a:solidFill>
                    <a:prstClr val="black"/>
                  </a:solidFill>
                  <a:latin typeface="Microsoft YaHei"/>
                  <a:ea typeface="Microsoft YaHei"/>
                </a:rPr>
                <a:t>95% CI</a:t>
              </a:r>
              <a:r>
                <a:rPr lang="zh-CN" altLang="en-US" sz="1000" dirty="0">
                  <a:solidFill>
                    <a:prstClr val="black"/>
                  </a:solidFill>
                  <a:latin typeface="Microsoft YaHei"/>
                  <a:ea typeface="Microsoft YaHei"/>
                </a:rPr>
                <a:t>：</a:t>
              </a:r>
              <a:r>
                <a:rPr lang="en-US" altLang="zh-CN" sz="1000" dirty="0">
                  <a:solidFill>
                    <a:prstClr val="black"/>
                  </a:solidFill>
                  <a:latin typeface="Microsoft YaHei"/>
                  <a:ea typeface="Microsoft YaHei"/>
                </a:rPr>
                <a:t>0.60-0.86)</a:t>
              </a:r>
            </a:p>
            <a:p>
              <a:pPr eaLnBrk="1" fontAlgn="auto" hangingPunct="1">
                <a:spcBef>
                  <a:spcPts val="225"/>
                </a:spcBef>
                <a:spcAft>
                  <a:spcPts val="0"/>
                </a:spcAft>
                <a:defRPr/>
              </a:pPr>
              <a:r>
                <a:rPr lang="en-US" altLang="zh-CN" sz="1000" dirty="0">
                  <a:solidFill>
                    <a:prstClr val="black"/>
                  </a:solidFill>
                  <a:latin typeface="Microsoft YaHei"/>
                  <a:ea typeface="Microsoft YaHei"/>
                </a:rPr>
                <a:t>P=0.002</a:t>
              </a:r>
              <a:endParaRPr lang="zh-CN" altLang="en-US" sz="1000" dirty="0">
                <a:solidFill>
                  <a:prstClr val="black"/>
                </a:solidFill>
                <a:latin typeface="Microsoft YaHei"/>
                <a:ea typeface="Microsoft YaHei"/>
              </a:endParaRPr>
            </a:p>
          </p:txBody>
        </p:sp>
        <p:sp>
          <p:nvSpPr>
            <p:cNvPr id="13" name="矩形 12"/>
            <p:cNvSpPr/>
            <p:nvPr/>
          </p:nvSpPr>
          <p:spPr>
            <a:xfrm>
              <a:off x="1129860" y="5126644"/>
              <a:ext cx="839965"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0级</a:t>
              </a:r>
            </a:p>
            <a:p>
              <a:pPr algn="ctr" eaLnBrk="1" fontAlgn="auto" hangingPunct="1">
                <a:spcBef>
                  <a:spcPts val="0"/>
                </a:spcBef>
                <a:spcAft>
                  <a:spcPts val="0"/>
                </a:spcAft>
              </a:pPr>
              <a:r>
                <a:rPr lang="zh-CN" altLang="en-US" sz="1000" dirty="0">
                  <a:solidFill>
                    <a:prstClr val="black"/>
                  </a:solidFill>
                  <a:latin typeface="Microsoft YaHei"/>
                  <a:ea typeface="Microsoft YaHei"/>
                </a:rPr>
                <a:t>（n=101）</a:t>
              </a:r>
            </a:p>
          </p:txBody>
        </p:sp>
        <p:sp>
          <p:nvSpPr>
            <p:cNvPr id="16" name="矩形 15"/>
            <p:cNvSpPr/>
            <p:nvPr/>
          </p:nvSpPr>
          <p:spPr>
            <a:xfrm>
              <a:off x="1820540" y="5126924"/>
              <a:ext cx="953806"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1级（n=16）</a:t>
              </a:r>
            </a:p>
          </p:txBody>
        </p:sp>
        <p:sp>
          <p:nvSpPr>
            <p:cNvPr id="17" name="矩形 16"/>
            <p:cNvSpPr/>
            <p:nvPr/>
          </p:nvSpPr>
          <p:spPr>
            <a:xfrm>
              <a:off x="2661984" y="5126924"/>
              <a:ext cx="795421"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2级（n=22）</a:t>
              </a:r>
            </a:p>
          </p:txBody>
        </p:sp>
        <p:sp>
          <p:nvSpPr>
            <p:cNvPr id="18" name="矩形 17"/>
            <p:cNvSpPr/>
            <p:nvPr/>
          </p:nvSpPr>
          <p:spPr>
            <a:xfrm>
              <a:off x="3361546" y="5106919"/>
              <a:ext cx="901382"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3级</a:t>
              </a:r>
              <a:endParaRPr lang="en-US" altLang="zh-CN" sz="1000" dirty="0">
                <a:solidFill>
                  <a:prstClr val="black"/>
                </a:solidFill>
                <a:latin typeface="Microsoft YaHei"/>
                <a:ea typeface="Microsoft YaHei"/>
              </a:endParaRPr>
            </a:p>
            <a:p>
              <a:pPr algn="ctr" eaLnBrk="1" fontAlgn="auto" hangingPunct="1">
                <a:spcBef>
                  <a:spcPts val="0"/>
                </a:spcBef>
                <a:spcAft>
                  <a:spcPts val="0"/>
                </a:spcAft>
              </a:pPr>
              <a:r>
                <a:rPr lang="zh-CN" altLang="en-US" sz="1000" dirty="0">
                  <a:solidFill>
                    <a:prstClr val="black"/>
                  </a:solidFill>
                  <a:latin typeface="Microsoft YaHei"/>
                  <a:ea typeface="Microsoft YaHei"/>
                </a:rPr>
                <a:t>（n=10）</a:t>
              </a:r>
            </a:p>
          </p:txBody>
        </p:sp>
        <p:sp>
          <p:nvSpPr>
            <p:cNvPr id="8" name="文本框 7">
              <a:extLst>
                <a:ext uri="{FF2B5EF4-FFF2-40B4-BE49-F238E27FC236}">
                  <a16:creationId xmlns:a16="http://schemas.microsoft.com/office/drawing/2014/main" xmlns="" id="{90269E65-BEEC-4440-A25E-DC1B180EAEF3}"/>
                </a:ext>
              </a:extLst>
            </p:cNvPr>
            <p:cNvSpPr txBox="1"/>
            <p:nvPr/>
          </p:nvSpPr>
          <p:spPr>
            <a:xfrm>
              <a:off x="5561936" y="2329535"/>
              <a:ext cx="2527964" cy="468334"/>
            </a:xfrm>
            <a:prstGeom prst="rect">
              <a:avLst/>
            </a:prstGeom>
            <a:noFill/>
          </p:spPr>
          <p:txBody>
            <a:bodyPr wrap="square" rtlCol="0">
              <a:spAutoFit/>
            </a:bodyPr>
            <a:lstStyle/>
            <a:p>
              <a:pPr eaLnBrk="1" fontAlgn="auto" hangingPunct="1">
                <a:spcBef>
                  <a:spcPts val="225"/>
                </a:spcBef>
                <a:spcAft>
                  <a:spcPts val="0"/>
                </a:spcAft>
                <a:defRPr/>
              </a:pPr>
              <a:r>
                <a:rPr lang="en-US" altLang="zh-CN" sz="1000" dirty="0">
                  <a:solidFill>
                    <a:prstClr val="black"/>
                  </a:solidFill>
                  <a:latin typeface="Microsoft YaHei"/>
                  <a:ea typeface="Microsoft YaHei"/>
                </a:rPr>
                <a:t>HR 0.74</a:t>
              </a:r>
              <a:r>
                <a:rPr lang="zh-CN" altLang="en-US" sz="1000" dirty="0">
                  <a:solidFill>
                    <a:prstClr val="black"/>
                  </a:solidFill>
                  <a:latin typeface="Microsoft YaHei"/>
                  <a:ea typeface="Microsoft YaHei"/>
                </a:rPr>
                <a:t>（</a:t>
              </a:r>
              <a:r>
                <a:rPr lang="en-US" altLang="zh-CN" sz="1000" dirty="0">
                  <a:solidFill>
                    <a:prstClr val="black"/>
                  </a:solidFill>
                  <a:latin typeface="Microsoft YaHei"/>
                  <a:ea typeface="Microsoft YaHei"/>
                </a:rPr>
                <a:t>95% CI</a:t>
              </a:r>
              <a:r>
                <a:rPr lang="zh-CN" altLang="en-US" sz="1000" dirty="0">
                  <a:solidFill>
                    <a:prstClr val="black"/>
                  </a:solidFill>
                  <a:latin typeface="Microsoft YaHei"/>
                  <a:ea typeface="Microsoft YaHei"/>
                </a:rPr>
                <a:t>：</a:t>
              </a:r>
              <a:r>
                <a:rPr lang="en-US" altLang="zh-CN" sz="1000" dirty="0">
                  <a:solidFill>
                    <a:prstClr val="black"/>
                  </a:solidFill>
                  <a:latin typeface="Microsoft YaHei"/>
                  <a:ea typeface="Microsoft YaHei"/>
                </a:rPr>
                <a:t>0.60-0.92)</a:t>
              </a:r>
            </a:p>
            <a:p>
              <a:pPr eaLnBrk="1" fontAlgn="auto" hangingPunct="1">
                <a:spcBef>
                  <a:spcPts val="225"/>
                </a:spcBef>
                <a:spcAft>
                  <a:spcPts val="0"/>
                </a:spcAft>
                <a:defRPr/>
              </a:pPr>
              <a:r>
                <a:rPr lang="en-US" altLang="zh-CN" sz="1000" dirty="0">
                  <a:solidFill>
                    <a:prstClr val="black"/>
                  </a:solidFill>
                  <a:latin typeface="Microsoft YaHei"/>
                  <a:ea typeface="Microsoft YaHei"/>
                </a:rPr>
                <a:t>P=0.053</a:t>
              </a:r>
              <a:endParaRPr lang="zh-CN" altLang="en-US" sz="1000" dirty="0">
                <a:solidFill>
                  <a:prstClr val="black"/>
                </a:solidFill>
                <a:latin typeface="Microsoft YaHei"/>
                <a:ea typeface="Microsoft YaHei"/>
              </a:endParaRPr>
            </a:p>
          </p:txBody>
        </p:sp>
        <p:sp>
          <p:nvSpPr>
            <p:cNvPr id="19" name="矩形 18"/>
            <p:cNvSpPr/>
            <p:nvPr/>
          </p:nvSpPr>
          <p:spPr>
            <a:xfrm>
              <a:off x="5431994" y="5126924"/>
              <a:ext cx="890956"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0级（n=101）</a:t>
              </a:r>
            </a:p>
          </p:txBody>
        </p:sp>
        <p:sp>
          <p:nvSpPr>
            <p:cNvPr id="20" name="矩形 19"/>
            <p:cNvSpPr/>
            <p:nvPr/>
          </p:nvSpPr>
          <p:spPr>
            <a:xfrm>
              <a:off x="6232600" y="5126924"/>
              <a:ext cx="767780"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1级（n=16）</a:t>
              </a:r>
            </a:p>
          </p:txBody>
        </p:sp>
        <p:sp>
          <p:nvSpPr>
            <p:cNvPr id="21" name="矩形 20"/>
            <p:cNvSpPr/>
            <p:nvPr/>
          </p:nvSpPr>
          <p:spPr>
            <a:xfrm>
              <a:off x="6917193" y="5106919"/>
              <a:ext cx="901700"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2级</a:t>
              </a:r>
              <a:endParaRPr lang="en-US" altLang="zh-CN" sz="1000" dirty="0">
                <a:solidFill>
                  <a:prstClr val="black"/>
                </a:solidFill>
                <a:latin typeface="Microsoft YaHei"/>
                <a:ea typeface="Microsoft YaHei"/>
              </a:endParaRPr>
            </a:p>
            <a:p>
              <a:pPr algn="ctr" eaLnBrk="1" fontAlgn="auto" hangingPunct="1">
                <a:spcBef>
                  <a:spcPts val="0"/>
                </a:spcBef>
                <a:spcAft>
                  <a:spcPts val="0"/>
                </a:spcAft>
              </a:pPr>
              <a:r>
                <a:rPr lang="zh-CN" altLang="en-US" sz="1000" dirty="0">
                  <a:solidFill>
                    <a:prstClr val="black"/>
                  </a:solidFill>
                  <a:latin typeface="Microsoft YaHei"/>
                  <a:ea typeface="Microsoft YaHei"/>
                </a:rPr>
                <a:t>（n=22）</a:t>
              </a:r>
            </a:p>
          </p:txBody>
        </p:sp>
        <p:sp>
          <p:nvSpPr>
            <p:cNvPr id="22" name="矩形 21"/>
            <p:cNvSpPr/>
            <p:nvPr/>
          </p:nvSpPr>
          <p:spPr>
            <a:xfrm>
              <a:off x="7706239" y="5126924"/>
              <a:ext cx="820053" cy="400110"/>
            </a:xfrm>
            <a:prstGeom prst="rect">
              <a:avLst/>
            </a:prstGeom>
          </p:spPr>
          <p:txBody>
            <a:bodyPr wrap="square" anchor="ctr">
              <a:spAutoFit/>
            </a:bodyPr>
            <a:lstStyle/>
            <a:p>
              <a:pPr algn="ctr" eaLnBrk="1" fontAlgn="auto" hangingPunct="1">
                <a:spcBef>
                  <a:spcPts val="0"/>
                </a:spcBef>
                <a:spcAft>
                  <a:spcPts val="0"/>
                </a:spcAft>
              </a:pPr>
              <a:r>
                <a:rPr lang="zh-CN" altLang="en-US" sz="1000" dirty="0">
                  <a:solidFill>
                    <a:prstClr val="black"/>
                  </a:solidFill>
                  <a:latin typeface="Microsoft YaHei"/>
                  <a:ea typeface="Microsoft YaHei"/>
                </a:rPr>
                <a:t>3级（n=10）</a:t>
              </a:r>
            </a:p>
          </p:txBody>
        </p:sp>
      </p:grpSp>
      <p:sp>
        <p:nvSpPr>
          <p:cNvPr id="37" name="矩形 36"/>
          <p:cNvSpPr/>
          <p:nvPr/>
        </p:nvSpPr>
        <p:spPr>
          <a:xfrm>
            <a:off x="5878523" y="6627168"/>
            <a:ext cx="3265477" cy="230832"/>
          </a:xfrm>
          <a:prstGeom prst="rect">
            <a:avLst/>
          </a:prstGeom>
        </p:spPr>
        <p:txBody>
          <a:bodyPr wrap="square">
            <a:spAutoFit/>
          </a:bodyPr>
          <a:lstStyle/>
          <a:p>
            <a:pPr algn="r" eaLnBrk="1" fontAlgn="auto" hangingPunct="1">
              <a:spcBef>
                <a:spcPts val="0"/>
              </a:spcBef>
              <a:spcAft>
                <a:spcPts val="0"/>
              </a:spcAft>
            </a:pPr>
            <a:r>
              <a:rPr lang="zh-CN" altLang="en-US" sz="900" dirty="0">
                <a:solidFill>
                  <a:prstClr val="black"/>
                </a:solidFill>
                <a:latin typeface="Microsoft YaHei"/>
                <a:ea typeface="Microsoft YaHei"/>
              </a:rPr>
              <a:t>Stintzing S et al., Br J Cancer. 2011;105(2):206-11.</a:t>
            </a:r>
          </a:p>
        </p:txBody>
      </p:sp>
      <p:sp>
        <p:nvSpPr>
          <p:cNvPr id="24" name="矩形 23"/>
          <p:cNvSpPr/>
          <p:nvPr/>
        </p:nvSpPr>
        <p:spPr>
          <a:xfrm>
            <a:off x="753677" y="6022188"/>
            <a:ext cx="7780138" cy="360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1" fontAlgn="auto" hangingPunct="1">
              <a:lnSpc>
                <a:spcPct val="120000"/>
              </a:lnSpc>
              <a:spcBef>
                <a:spcPts val="600"/>
              </a:spcBef>
              <a:spcAft>
                <a:spcPts val="0"/>
              </a:spcAft>
              <a:buFont typeface="Arial" panose="020B0604020202020204" pitchFamily="34" charset="0"/>
              <a:buChar char="•"/>
            </a:pPr>
            <a:r>
              <a:rPr lang="zh-CN" altLang="en-US" sz="1100" dirty="0" smtClean="0">
                <a:solidFill>
                  <a:schemeClr val="tx1"/>
                </a:solidFill>
              </a:rPr>
              <a:t>对来自德国</a:t>
            </a:r>
            <a:r>
              <a:rPr lang="en-US" altLang="zh-CN" sz="1100" dirty="0" smtClean="0">
                <a:solidFill>
                  <a:schemeClr val="tx1"/>
                </a:solidFill>
              </a:rPr>
              <a:t>35</a:t>
            </a:r>
            <a:r>
              <a:rPr lang="zh-CN" altLang="en-US" sz="1100" dirty="0" smtClean="0">
                <a:solidFill>
                  <a:schemeClr val="tx1"/>
                </a:solidFill>
              </a:rPr>
              <a:t>家研究中心的</a:t>
            </a:r>
            <a:r>
              <a:rPr lang="en-US" altLang="zh-CN" sz="1100" dirty="0" smtClean="0">
                <a:solidFill>
                  <a:schemeClr val="tx1"/>
                </a:solidFill>
              </a:rPr>
              <a:t>185</a:t>
            </a:r>
            <a:r>
              <a:rPr lang="zh-CN" altLang="en-US" sz="1100" dirty="0" smtClean="0">
                <a:solidFill>
                  <a:schemeClr val="tx1"/>
                </a:solidFill>
              </a:rPr>
              <a:t>例</a:t>
            </a:r>
            <a:r>
              <a:rPr lang="en-US" altLang="zh-CN" sz="1100" dirty="0" smtClean="0">
                <a:solidFill>
                  <a:schemeClr val="tx1"/>
                </a:solidFill>
              </a:rPr>
              <a:t>IV</a:t>
            </a:r>
            <a:r>
              <a:rPr lang="zh-CN" altLang="en-US" sz="1100" dirty="0">
                <a:solidFill>
                  <a:schemeClr val="tx1"/>
                </a:solidFill>
              </a:rPr>
              <a:t>期结直肠</a:t>
            </a:r>
            <a:r>
              <a:rPr lang="zh-CN" altLang="en-US" sz="1100" dirty="0" smtClean="0">
                <a:solidFill>
                  <a:schemeClr val="tx1"/>
                </a:solidFill>
              </a:rPr>
              <a:t>腺癌患者进行的一项</a:t>
            </a:r>
            <a:r>
              <a:rPr lang="en-US" altLang="zh-CN" sz="1100" dirty="0" smtClean="0">
                <a:solidFill>
                  <a:schemeClr val="tx1"/>
                </a:solidFill>
              </a:rPr>
              <a:t>IV</a:t>
            </a:r>
            <a:r>
              <a:rPr lang="zh-CN" altLang="en-US" sz="1100" dirty="0" smtClean="0">
                <a:solidFill>
                  <a:schemeClr val="tx1"/>
                </a:solidFill>
              </a:rPr>
              <a:t>期</a:t>
            </a:r>
            <a:r>
              <a:rPr lang="en-US" altLang="zh-CN" sz="1100" dirty="0" smtClean="0">
                <a:solidFill>
                  <a:schemeClr val="tx1"/>
                </a:solidFill>
              </a:rPr>
              <a:t>CRC</a:t>
            </a:r>
            <a:r>
              <a:rPr lang="zh-CN" altLang="en-US" sz="1100" dirty="0" smtClean="0">
                <a:solidFill>
                  <a:schemeClr val="tx1"/>
                </a:solidFill>
              </a:rPr>
              <a:t>患者一项开放性、随机、对照、</a:t>
            </a:r>
            <a:r>
              <a:rPr lang="en-US" altLang="zh-CN" sz="1100" dirty="0" smtClean="0">
                <a:solidFill>
                  <a:schemeClr val="tx1"/>
                </a:solidFill>
              </a:rPr>
              <a:t>II</a:t>
            </a:r>
            <a:r>
              <a:rPr lang="zh-CN" altLang="en-US" sz="1100" dirty="0" smtClean="0">
                <a:solidFill>
                  <a:schemeClr val="tx1"/>
                </a:solidFill>
              </a:rPr>
              <a:t>期临床试验，旨在</a:t>
            </a:r>
            <a:r>
              <a:rPr lang="zh-CN" altLang="en-US" sz="1100" dirty="0" smtClean="0">
                <a:solidFill>
                  <a:prstClr val="black"/>
                </a:solidFill>
                <a:latin typeface="微软雅黑"/>
                <a:ea typeface="微软雅黑"/>
                <a:cs typeface="+mn-ea"/>
                <a:sym typeface="+mn-lt"/>
              </a:rPr>
              <a:t>探讨卡培他滨相关性皮肤毒性（</a:t>
            </a:r>
            <a:r>
              <a:rPr lang="en-US" altLang="zh-CN" sz="1100" dirty="0" smtClean="0">
                <a:solidFill>
                  <a:prstClr val="black"/>
                </a:solidFill>
                <a:latin typeface="微软雅黑"/>
                <a:ea typeface="微软雅黑"/>
                <a:cs typeface="+mn-ea"/>
                <a:sym typeface="+mn-lt"/>
              </a:rPr>
              <a:t>Cape-ST</a:t>
            </a:r>
            <a:r>
              <a:rPr lang="zh-CN" altLang="en-US" sz="1100" dirty="0" smtClean="0">
                <a:solidFill>
                  <a:prstClr val="black"/>
                </a:solidFill>
                <a:latin typeface="微软雅黑"/>
                <a:ea typeface="微软雅黑"/>
                <a:cs typeface="+mn-ea"/>
                <a:sym typeface="+mn-lt"/>
              </a:rPr>
              <a:t>）与疗效参数的相关性 </a:t>
            </a:r>
            <a:endParaRPr lang="en-US" altLang="zh-CN" sz="1100" b="1" dirty="0">
              <a:solidFill>
                <a:prstClr val="black"/>
              </a:solidFill>
              <a:latin typeface="微软雅黑"/>
              <a:ea typeface="微软雅黑"/>
              <a:cs typeface="+mn-ea"/>
              <a:sym typeface="+mn-lt"/>
            </a:endParaRPr>
          </a:p>
        </p:txBody>
      </p:sp>
    </p:spTree>
    <p:extLst>
      <p:ext uri="{BB962C8B-B14F-4D97-AF65-F5344CB8AC3E}">
        <p14:creationId xmlns:p14="http://schemas.microsoft.com/office/powerpoint/2010/main" val="1736656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55CE53-2DFC-47FB-BD2B-CAA15137D72C}"/>
              </a:ext>
            </a:extLst>
          </p:cNvPr>
          <p:cNvSpPr>
            <a:spLocks noGrp="1"/>
          </p:cNvSpPr>
          <p:nvPr>
            <p:ph type="title"/>
          </p:nvPr>
        </p:nvSpPr>
        <p:spPr/>
        <p:txBody>
          <a:bodyPr>
            <a:normAutofit/>
          </a:bodyPr>
          <a:lstStyle/>
          <a:p>
            <a:r>
              <a:rPr lang="zh-CN" altLang="en-US" sz="2000" dirty="0">
                <a:solidFill>
                  <a:prstClr val="black"/>
                </a:solidFill>
              </a:rPr>
              <a:t>直肠癌</a:t>
            </a:r>
            <a:r>
              <a:rPr lang="en-US" altLang="zh-CN" sz="2000" dirty="0">
                <a:solidFill>
                  <a:prstClr val="black"/>
                </a:solidFill>
              </a:rPr>
              <a:t>III</a:t>
            </a:r>
            <a:r>
              <a:rPr lang="zh-CN" altLang="en-US" sz="2000" dirty="0">
                <a:solidFill>
                  <a:prstClr val="black"/>
                </a:solidFill>
              </a:rPr>
              <a:t>期研究：</a:t>
            </a:r>
            <a:r>
              <a:rPr lang="en-US" altLang="zh-CN" sz="2200" dirty="0">
                <a:solidFill>
                  <a:prstClr val="black"/>
                </a:solidFill>
              </a:rPr>
              <a:t/>
            </a:r>
            <a:br>
              <a:rPr lang="en-US" altLang="zh-CN" sz="2200" dirty="0">
                <a:solidFill>
                  <a:prstClr val="black"/>
                </a:solidFill>
              </a:rPr>
            </a:br>
            <a:r>
              <a:rPr lang="zh-CN" altLang="en-US" dirty="0">
                <a:latin typeface="+mn-lt"/>
                <a:ea typeface="+mn-ea"/>
                <a:cs typeface="+mn-ea"/>
                <a:sym typeface="+mn-lt"/>
              </a:rPr>
              <a:t>卡培他滨治疗时，出现</a:t>
            </a:r>
            <a:r>
              <a:rPr lang="en-US" altLang="zh-CN" dirty="0">
                <a:latin typeface="+mn-lt"/>
                <a:ea typeface="+mn-ea"/>
                <a:cs typeface="+mn-ea"/>
                <a:sym typeface="+mn-lt"/>
              </a:rPr>
              <a:t>HFS</a:t>
            </a:r>
            <a:r>
              <a:rPr lang="zh-CN" altLang="en-US" dirty="0">
                <a:latin typeface="+mn-lt"/>
                <a:ea typeface="+mn-ea"/>
                <a:cs typeface="+mn-ea"/>
                <a:sym typeface="+mn-lt"/>
              </a:rPr>
              <a:t>的患者疗效显著更佳</a:t>
            </a:r>
          </a:p>
        </p:txBody>
      </p:sp>
      <p:sp>
        <p:nvSpPr>
          <p:cNvPr id="12" name="矩形 11"/>
          <p:cNvSpPr/>
          <p:nvPr/>
        </p:nvSpPr>
        <p:spPr>
          <a:xfrm>
            <a:off x="6107591" y="6627168"/>
            <a:ext cx="3036409" cy="230832"/>
          </a:xfrm>
          <a:prstGeom prst="rect">
            <a:avLst/>
          </a:prstGeom>
        </p:spPr>
        <p:txBody>
          <a:bodyPr wrap="none">
            <a:spAutoFit/>
          </a:bodyPr>
          <a:lstStyle/>
          <a:p>
            <a:pPr algn="r"/>
            <a:r>
              <a:rPr lang="en-US" altLang="zh-CN" sz="900" dirty="0" err="1">
                <a:solidFill>
                  <a:prstClr val="black"/>
                </a:solidFill>
                <a:latin typeface="微软雅黑" panose="020F0502020204030204"/>
                <a:ea typeface="微软雅黑"/>
                <a:cs typeface="+mn-ea"/>
                <a:sym typeface="+mn-lt"/>
              </a:rPr>
              <a:t>Hofheinz</a:t>
            </a:r>
            <a:r>
              <a:rPr lang="en-US" altLang="zh-CN" sz="900" dirty="0">
                <a:solidFill>
                  <a:prstClr val="black"/>
                </a:solidFill>
                <a:latin typeface="微软雅黑" panose="020F0502020204030204"/>
                <a:ea typeface="微软雅黑"/>
                <a:cs typeface="+mn-ea"/>
                <a:sym typeface="+mn-lt"/>
              </a:rPr>
              <a:t> RD et al., Lancet </a:t>
            </a:r>
            <a:r>
              <a:rPr lang="en-US" altLang="zh-CN" sz="900" dirty="0" err="1">
                <a:solidFill>
                  <a:prstClr val="black"/>
                </a:solidFill>
                <a:latin typeface="微软雅黑" panose="020F0502020204030204"/>
                <a:ea typeface="微软雅黑"/>
                <a:cs typeface="+mn-ea"/>
                <a:sym typeface="+mn-lt"/>
              </a:rPr>
              <a:t>Oncol</a:t>
            </a:r>
            <a:r>
              <a:rPr lang="en-US" altLang="zh-CN" sz="900" dirty="0">
                <a:solidFill>
                  <a:prstClr val="black"/>
                </a:solidFill>
                <a:latin typeface="微软雅黑" panose="020F0502020204030204"/>
                <a:ea typeface="微软雅黑"/>
                <a:cs typeface="+mn-ea"/>
                <a:sym typeface="+mn-lt"/>
              </a:rPr>
              <a:t>. 2012;13(6):579-88.</a:t>
            </a:r>
            <a:endParaRPr lang="zh-CN" altLang="en-US" sz="900" dirty="0">
              <a:solidFill>
                <a:prstClr val="black"/>
              </a:solidFill>
              <a:latin typeface="微软雅黑" panose="020F0502020204030204"/>
              <a:ea typeface="微软雅黑"/>
              <a:cs typeface="+mn-ea"/>
              <a:sym typeface="+mn-lt"/>
            </a:endParaRPr>
          </a:p>
        </p:txBody>
      </p:sp>
      <p:grpSp>
        <p:nvGrpSpPr>
          <p:cNvPr id="10" name="组合 9"/>
          <p:cNvGrpSpPr/>
          <p:nvPr/>
        </p:nvGrpSpPr>
        <p:grpSpPr>
          <a:xfrm>
            <a:off x="462000" y="1300124"/>
            <a:ext cx="8273937" cy="4593742"/>
            <a:chOff x="462000" y="1472717"/>
            <a:chExt cx="8273937" cy="4593742"/>
          </a:xfrm>
        </p:grpSpPr>
        <p:pic>
          <p:nvPicPr>
            <p:cNvPr id="6" name="图片 5"/>
            <p:cNvPicPr>
              <a:picLocks noChangeAspect="1"/>
            </p:cNvPicPr>
            <p:nvPr/>
          </p:nvPicPr>
          <p:blipFill>
            <a:blip r:embed="rId3"/>
            <a:stretch>
              <a:fillRect/>
            </a:stretch>
          </p:blipFill>
          <p:spPr>
            <a:xfrm>
              <a:off x="462000" y="2219550"/>
              <a:ext cx="8108383" cy="3846909"/>
            </a:xfrm>
            <a:prstGeom prst="rect">
              <a:avLst/>
            </a:prstGeom>
          </p:spPr>
        </p:pic>
        <p:sp>
          <p:nvSpPr>
            <p:cNvPr id="9" name="矩形 8">
              <a:extLst>
                <a:ext uri="{FF2B5EF4-FFF2-40B4-BE49-F238E27FC236}">
                  <a16:creationId xmlns:a16="http://schemas.microsoft.com/office/drawing/2014/main" xmlns="" id="{AB16576F-22DA-4331-B3C7-20992E6F2292}"/>
                </a:ext>
              </a:extLst>
            </p:cNvPr>
            <p:cNvSpPr/>
            <p:nvPr/>
          </p:nvSpPr>
          <p:spPr>
            <a:xfrm>
              <a:off x="5337922" y="1472717"/>
              <a:ext cx="3398015" cy="634020"/>
            </a:xfrm>
            <a:prstGeom prst="rect">
              <a:avLst/>
            </a:prstGeom>
          </p:spPr>
          <p:txBody>
            <a:bodyPr wrap="square">
              <a:spAutoFit/>
            </a:bodyPr>
            <a:lstStyle/>
            <a:p>
              <a:pPr algn="ctr" eaLnBrk="1" fontAlgn="auto" hangingPunct="1">
                <a:lnSpc>
                  <a:spcPct val="110000"/>
                </a:lnSpc>
                <a:spcBef>
                  <a:spcPts val="0"/>
                </a:spcBef>
                <a:spcAft>
                  <a:spcPts val="0"/>
                </a:spcAft>
                <a:defRPr/>
              </a:pPr>
              <a:r>
                <a:rPr lang="zh-CN" altLang="en-US" sz="1600" b="1" dirty="0">
                  <a:solidFill>
                    <a:prstClr val="black"/>
                  </a:solidFill>
                  <a:latin typeface="微软雅黑" panose="020F0502020204030204"/>
                  <a:ea typeface="微软雅黑"/>
                  <a:cs typeface="+mn-ea"/>
                  <a:sym typeface="+mn-lt"/>
                </a:rPr>
                <a:t>出现</a:t>
              </a:r>
              <a:r>
                <a:rPr lang="en-US" altLang="zh-CN" sz="1600" b="1" dirty="0">
                  <a:solidFill>
                    <a:prstClr val="black"/>
                  </a:solidFill>
                  <a:latin typeface="微软雅黑" panose="020F0502020204030204"/>
                  <a:ea typeface="微软雅黑"/>
                  <a:cs typeface="+mn-ea"/>
                  <a:sym typeface="+mn-lt"/>
                </a:rPr>
                <a:t> vs. </a:t>
              </a:r>
              <a:r>
                <a:rPr lang="zh-CN" altLang="en-US" sz="1600" b="1" dirty="0">
                  <a:solidFill>
                    <a:prstClr val="black"/>
                  </a:solidFill>
                  <a:latin typeface="微软雅黑" panose="020F0502020204030204"/>
                  <a:ea typeface="微软雅黑"/>
                  <a:cs typeface="+mn-ea"/>
                  <a:sym typeface="+mn-lt"/>
                </a:rPr>
                <a:t>未出现</a:t>
              </a:r>
              <a:r>
                <a:rPr lang="en-US" altLang="zh-CN" sz="1600" b="1" dirty="0">
                  <a:solidFill>
                    <a:prstClr val="black"/>
                  </a:solidFill>
                  <a:latin typeface="微软雅黑" panose="020F0502020204030204"/>
                  <a:ea typeface="微软雅黑"/>
                  <a:cs typeface="+mn-ea"/>
                  <a:sym typeface="+mn-lt"/>
                </a:rPr>
                <a:t>HFS</a:t>
              </a:r>
              <a:r>
                <a:rPr lang="zh-CN" altLang="en-US" sz="1600" b="1" dirty="0">
                  <a:solidFill>
                    <a:prstClr val="black"/>
                  </a:solidFill>
                  <a:latin typeface="微软雅黑" panose="020F0502020204030204"/>
                  <a:ea typeface="微软雅黑"/>
                  <a:cs typeface="+mn-ea"/>
                  <a:sym typeface="+mn-lt"/>
                </a:rPr>
                <a:t>，</a:t>
              </a:r>
              <a:endParaRPr lang="en-US" altLang="zh-CN" sz="1600" b="1" dirty="0">
                <a:solidFill>
                  <a:prstClr val="black"/>
                </a:solidFill>
                <a:latin typeface="微软雅黑" panose="020F0502020204030204"/>
                <a:ea typeface="微软雅黑"/>
                <a:cs typeface="+mn-ea"/>
                <a:sym typeface="+mn-lt"/>
              </a:endParaRPr>
            </a:p>
            <a:p>
              <a:pPr algn="ctr" eaLnBrk="1" fontAlgn="auto" hangingPunct="1">
                <a:lnSpc>
                  <a:spcPct val="110000"/>
                </a:lnSpc>
                <a:spcBef>
                  <a:spcPts val="0"/>
                </a:spcBef>
                <a:spcAft>
                  <a:spcPts val="0"/>
                </a:spcAft>
                <a:defRPr/>
              </a:pPr>
              <a:r>
                <a:rPr lang="en-US" altLang="zh-CN" sz="1600" b="1" dirty="0">
                  <a:solidFill>
                    <a:prstClr val="black"/>
                  </a:solidFill>
                  <a:latin typeface="微软雅黑" panose="020F0502020204030204"/>
                  <a:ea typeface="微软雅黑"/>
                  <a:cs typeface="+mn-ea"/>
                  <a:sym typeface="+mn-lt"/>
                </a:rPr>
                <a:t>5</a:t>
              </a:r>
              <a:r>
                <a:rPr lang="zh-CN" altLang="en-US" sz="1600" b="1" dirty="0">
                  <a:solidFill>
                    <a:prstClr val="black"/>
                  </a:solidFill>
                  <a:latin typeface="微软雅黑" panose="020F0502020204030204"/>
                  <a:ea typeface="微软雅黑"/>
                  <a:cs typeface="+mn-ea"/>
                  <a:sym typeface="+mn-lt"/>
                </a:rPr>
                <a:t>年生存率显著更高</a:t>
              </a:r>
            </a:p>
          </p:txBody>
        </p:sp>
        <p:sp>
          <p:nvSpPr>
            <p:cNvPr id="8" name="矩形 7">
              <a:extLst>
                <a:ext uri="{FF2B5EF4-FFF2-40B4-BE49-F238E27FC236}">
                  <a16:creationId xmlns:a16="http://schemas.microsoft.com/office/drawing/2014/main" xmlns="" id="{55D12C8E-7B04-46B2-AB4E-C8C3CCCBD69E}"/>
                </a:ext>
              </a:extLst>
            </p:cNvPr>
            <p:cNvSpPr/>
            <p:nvPr/>
          </p:nvSpPr>
          <p:spPr>
            <a:xfrm>
              <a:off x="645585" y="1472717"/>
              <a:ext cx="4111597" cy="634020"/>
            </a:xfrm>
            <a:prstGeom prst="rect">
              <a:avLst/>
            </a:prstGeom>
          </p:spPr>
          <p:txBody>
            <a:bodyPr wrap="square">
              <a:spAutoFit/>
            </a:bodyPr>
            <a:lstStyle/>
            <a:p>
              <a:pPr algn="ctr" eaLnBrk="1" fontAlgn="auto" hangingPunct="1">
                <a:lnSpc>
                  <a:spcPct val="110000"/>
                </a:lnSpc>
                <a:spcBef>
                  <a:spcPts val="0"/>
                </a:spcBef>
                <a:spcAft>
                  <a:spcPts val="0"/>
                </a:spcAft>
                <a:defRPr/>
              </a:pPr>
              <a:r>
                <a:rPr lang="zh-CN" altLang="en-US" sz="1600" b="1" dirty="0">
                  <a:solidFill>
                    <a:prstClr val="black"/>
                  </a:solidFill>
                  <a:latin typeface="微软雅黑" panose="020F0502020204030204"/>
                  <a:ea typeface="微软雅黑"/>
                  <a:cs typeface="+mn-ea"/>
                  <a:sym typeface="+mn-lt"/>
                </a:rPr>
                <a:t>出现</a:t>
              </a:r>
              <a:r>
                <a:rPr lang="en-US" altLang="zh-CN" sz="1600" b="1" dirty="0">
                  <a:solidFill>
                    <a:prstClr val="black"/>
                  </a:solidFill>
                  <a:latin typeface="微软雅黑" panose="020F0502020204030204"/>
                  <a:ea typeface="微软雅黑"/>
                  <a:cs typeface="+mn-ea"/>
                  <a:sym typeface="+mn-lt"/>
                </a:rPr>
                <a:t> vs. </a:t>
              </a:r>
              <a:r>
                <a:rPr lang="zh-CN" altLang="en-US" sz="1600" b="1" dirty="0">
                  <a:solidFill>
                    <a:prstClr val="black"/>
                  </a:solidFill>
                  <a:latin typeface="微软雅黑" panose="020F0502020204030204"/>
                  <a:ea typeface="微软雅黑"/>
                  <a:cs typeface="+mn-ea"/>
                  <a:sym typeface="+mn-lt"/>
                </a:rPr>
                <a:t>未出现</a:t>
              </a:r>
              <a:r>
                <a:rPr lang="en-US" altLang="zh-CN" sz="1600" b="1" dirty="0">
                  <a:solidFill>
                    <a:prstClr val="black"/>
                  </a:solidFill>
                  <a:latin typeface="微软雅黑" panose="020F0502020204030204"/>
                  <a:ea typeface="微软雅黑"/>
                  <a:cs typeface="+mn-ea"/>
                  <a:sym typeface="+mn-lt"/>
                </a:rPr>
                <a:t>HFS</a:t>
              </a:r>
              <a:r>
                <a:rPr lang="zh-CN" altLang="en-US" sz="1600" b="1" dirty="0">
                  <a:solidFill>
                    <a:prstClr val="black"/>
                  </a:solidFill>
                  <a:latin typeface="微软雅黑" panose="020F0502020204030204"/>
                  <a:ea typeface="微软雅黑"/>
                  <a:cs typeface="+mn-ea"/>
                  <a:sym typeface="+mn-lt"/>
                </a:rPr>
                <a:t>，</a:t>
              </a:r>
              <a:endParaRPr lang="en-US" altLang="zh-CN" sz="1600" b="1" dirty="0">
                <a:solidFill>
                  <a:prstClr val="black"/>
                </a:solidFill>
                <a:latin typeface="微软雅黑" panose="020F0502020204030204"/>
                <a:ea typeface="微软雅黑"/>
                <a:cs typeface="+mn-ea"/>
                <a:sym typeface="+mn-lt"/>
              </a:endParaRPr>
            </a:p>
            <a:p>
              <a:pPr algn="ctr" eaLnBrk="1" fontAlgn="auto" hangingPunct="1">
                <a:lnSpc>
                  <a:spcPct val="110000"/>
                </a:lnSpc>
                <a:spcBef>
                  <a:spcPts val="0"/>
                </a:spcBef>
                <a:spcAft>
                  <a:spcPts val="0"/>
                </a:spcAft>
                <a:defRPr/>
              </a:pPr>
              <a:r>
                <a:rPr lang="en-US" altLang="zh-CN" sz="1600" b="1" dirty="0">
                  <a:solidFill>
                    <a:prstClr val="black"/>
                  </a:solidFill>
                  <a:latin typeface="微软雅黑" panose="020F0502020204030204"/>
                  <a:ea typeface="微软雅黑"/>
                  <a:cs typeface="+mn-ea"/>
                  <a:sym typeface="+mn-lt"/>
                </a:rPr>
                <a:t>3</a:t>
              </a:r>
              <a:r>
                <a:rPr lang="zh-CN" altLang="en-US" sz="1600" b="1" dirty="0">
                  <a:solidFill>
                    <a:prstClr val="black"/>
                  </a:solidFill>
                  <a:latin typeface="微软雅黑" panose="020F0502020204030204"/>
                  <a:ea typeface="微软雅黑"/>
                  <a:cs typeface="+mn-ea"/>
                  <a:sym typeface="+mn-lt"/>
                </a:rPr>
                <a:t>年复发率显著更低</a:t>
              </a:r>
            </a:p>
          </p:txBody>
        </p:sp>
        <p:sp>
          <p:nvSpPr>
            <p:cNvPr id="23" name="文本框 22"/>
            <p:cNvSpPr txBox="1"/>
            <p:nvPr/>
          </p:nvSpPr>
          <p:spPr>
            <a:xfrm rot="16200000">
              <a:off x="-77561" y="3640112"/>
              <a:ext cx="1539204" cy="307777"/>
            </a:xfrm>
            <a:prstGeom prst="rect">
              <a:avLst/>
            </a:prstGeom>
            <a:noFill/>
          </p:spPr>
          <p:txBody>
            <a:bodyPr wrap="none" rtlCol="0">
              <a:spAutoFit/>
            </a:bodyPr>
            <a:lstStyle/>
            <a:p>
              <a:pPr algn="ctr"/>
              <a:r>
                <a:rPr lang="en-US" altLang="zh-CN" sz="1400" b="1" dirty="0">
                  <a:solidFill>
                    <a:prstClr val="black"/>
                  </a:solidFill>
                  <a:latin typeface="微软雅黑" panose="020F0502020204030204"/>
                  <a:ea typeface="微软雅黑"/>
                  <a:cs typeface="+mn-ea"/>
                  <a:sym typeface="+mn-lt"/>
                </a:rPr>
                <a:t>3</a:t>
              </a:r>
              <a:r>
                <a:rPr lang="zh-CN" altLang="en-US" sz="1400" b="1" dirty="0">
                  <a:solidFill>
                    <a:prstClr val="black"/>
                  </a:solidFill>
                  <a:latin typeface="微软雅黑" panose="020F0502020204030204"/>
                  <a:ea typeface="微软雅黑"/>
                  <a:cs typeface="+mn-ea"/>
                  <a:sym typeface="+mn-lt"/>
                </a:rPr>
                <a:t>年复发率（</a:t>
              </a:r>
              <a:r>
                <a:rPr lang="en-US" altLang="zh-CN" sz="1400" b="1" dirty="0">
                  <a:solidFill>
                    <a:prstClr val="black"/>
                  </a:solidFill>
                  <a:latin typeface="微软雅黑" panose="020F0502020204030204"/>
                  <a:ea typeface="微软雅黑"/>
                  <a:cs typeface="+mn-ea"/>
                  <a:sym typeface="+mn-lt"/>
                </a:rPr>
                <a:t>%</a:t>
              </a:r>
              <a:r>
                <a:rPr lang="zh-CN" altLang="en-US" sz="1400" b="1" dirty="0">
                  <a:solidFill>
                    <a:prstClr val="black"/>
                  </a:solidFill>
                  <a:latin typeface="微软雅黑" panose="020F0502020204030204"/>
                  <a:ea typeface="微软雅黑"/>
                  <a:cs typeface="+mn-ea"/>
                  <a:sym typeface="+mn-lt"/>
                </a:rPr>
                <a:t>）</a:t>
              </a:r>
            </a:p>
          </p:txBody>
        </p:sp>
        <p:sp>
          <p:nvSpPr>
            <p:cNvPr id="7" name="文本框 6"/>
            <p:cNvSpPr txBox="1"/>
            <p:nvPr/>
          </p:nvSpPr>
          <p:spPr>
            <a:xfrm rot="16200000">
              <a:off x="4290179" y="3611537"/>
              <a:ext cx="1539204" cy="307777"/>
            </a:xfrm>
            <a:prstGeom prst="rect">
              <a:avLst/>
            </a:prstGeom>
            <a:noFill/>
          </p:spPr>
          <p:txBody>
            <a:bodyPr wrap="none" rtlCol="0">
              <a:spAutoFit/>
            </a:bodyPr>
            <a:lstStyle/>
            <a:p>
              <a:pPr algn="ctr"/>
              <a:r>
                <a:rPr lang="en-US" altLang="zh-CN" sz="1400" b="1" dirty="0">
                  <a:solidFill>
                    <a:prstClr val="black"/>
                  </a:solidFill>
                  <a:latin typeface="微软雅黑" panose="020F0502020204030204"/>
                  <a:ea typeface="微软雅黑"/>
                  <a:cs typeface="+mn-ea"/>
                  <a:sym typeface="+mn-lt"/>
                </a:rPr>
                <a:t>5</a:t>
              </a:r>
              <a:r>
                <a:rPr lang="zh-CN" altLang="en-US" sz="1400" b="1" dirty="0">
                  <a:solidFill>
                    <a:prstClr val="black"/>
                  </a:solidFill>
                  <a:latin typeface="微软雅黑" panose="020F0502020204030204"/>
                  <a:ea typeface="微软雅黑"/>
                  <a:cs typeface="+mn-ea"/>
                  <a:sym typeface="+mn-lt"/>
                </a:rPr>
                <a:t>年生存率（</a:t>
              </a:r>
              <a:r>
                <a:rPr lang="en-US" altLang="zh-CN" sz="1400" b="1" dirty="0">
                  <a:solidFill>
                    <a:prstClr val="black"/>
                  </a:solidFill>
                  <a:latin typeface="微软雅黑" panose="020F0502020204030204"/>
                  <a:ea typeface="微软雅黑"/>
                  <a:cs typeface="+mn-ea"/>
                  <a:sym typeface="+mn-lt"/>
                </a:rPr>
                <a:t>%</a:t>
              </a:r>
              <a:r>
                <a:rPr lang="zh-CN" altLang="en-US" sz="1400" b="1" dirty="0">
                  <a:solidFill>
                    <a:prstClr val="black"/>
                  </a:solidFill>
                  <a:latin typeface="微软雅黑" panose="020F0502020204030204"/>
                  <a:ea typeface="微软雅黑"/>
                  <a:cs typeface="+mn-ea"/>
                  <a:sym typeface="+mn-lt"/>
                </a:rPr>
                <a:t>）</a:t>
              </a:r>
            </a:p>
          </p:txBody>
        </p:sp>
        <p:sp>
          <p:nvSpPr>
            <p:cNvPr id="18" name="文本框 17">
              <a:extLst>
                <a:ext uri="{FF2B5EF4-FFF2-40B4-BE49-F238E27FC236}">
                  <a16:creationId xmlns:a16="http://schemas.microsoft.com/office/drawing/2014/main" xmlns="" id="{E06EA87C-DE45-4AA8-B414-ADFEF4E85275}"/>
                </a:ext>
              </a:extLst>
            </p:cNvPr>
            <p:cNvSpPr txBox="1"/>
            <p:nvPr/>
          </p:nvSpPr>
          <p:spPr>
            <a:xfrm>
              <a:off x="2119114" y="2414191"/>
              <a:ext cx="1151201" cy="246221"/>
            </a:xfrm>
            <a:prstGeom prst="rect">
              <a:avLst/>
            </a:prstGeom>
            <a:noFill/>
          </p:spPr>
          <p:txBody>
            <a:bodyPr wrap="square" rtlCol="0">
              <a:spAutoFit/>
            </a:bodyPr>
            <a:lstStyle/>
            <a:p>
              <a:pPr algn="ctr" eaLnBrk="1" fontAlgn="auto" hangingPunct="1">
                <a:spcBef>
                  <a:spcPts val="0"/>
                </a:spcBef>
                <a:spcAft>
                  <a:spcPts val="0"/>
                </a:spcAft>
                <a:defRPr/>
              </a:pPr>
              <a:r>
                <a:rPr lang="en-US" altLang="zh-CN" sz="1000" dirty="0">
                  <a:solidFill>
                    <a:prstClr val="black"/>
                  </a:solidFill>
                  <a:latin typeface="微软雅黑" panose="020F0502020204030204"/>
                  <a:ea typeface="微软雅黑"/>
                  <a:cs typeface="+mn-ea"/>
                  <a:sym typeface="+mn-lt"/>
                </a:rPr>
                <a:t>P = 0.03</a:t>
              </a:r>
              <a:endParaRPr lang="zh-CN" altLang="en-US" sz="1000" dirty="0">
                <a:solidFill>
                  <a:prstClr val="black"/>
                </a:solidFill>
                <a:latin typeface="微软雅黑" panose="020F0502020204030204"/>
                <a:ea typeface="微软雅黑"/>
                <a:cs typeface="+mn-ea"/>
                <a:sym typeface="+mn-lt"/>
              </a:endParaRPr>
            </a:p>
          </p:txBody>
        </p:sp>
        <p:sp>
          <p:nvSpPr>
            <p:cNvPr id="19" name="文本框 18">
              <a:extLst>
                <a:ext uri="{FF2B5EF4-FFF2-40B4-BE49-F238E27FC236}">
                  <a16:creationId xmlns:a16="http://schemas.microsoft.com/office/drawing/2014/main" xmlns="" id="{9E6C9342-0C40-4D5D-A2CA-F6A8C506CEE7}"/>
                </a:ext>
              </a:extLst>
            </p:cNvPr>
            <p:cNvSpPr txBox="1"/>
            <p:nvPr/>
          </p:nvSpPr>
          <p:spPr>
            <a:xfrm>
              <a:off x="6448850" y="2221393"/>
              <a:ext cx="1151201" cy="246221"/>
            </a:xfrm>
            <a:prstGeom prst="rect">
              <a:avLst/>
            </a:prstGeom>
            <a:noFill/>
          </p:spPr>
          <p:txBody>
            <a:bodyPr wrap="square" rtlCol="0">
              <a:spAutoFit/>
            </a:bodyPr>
            <a:lstStyle/>
            <a:p>
              <a:pPr algn="ctr" eaLnBrk="1" fontAlgn="auto" hangingPunct="1">
                <a:spcBef>
                  <a:spcPts val="0"/>
                </a:spcBef>
                <a:spcAft>
                  <a:spcPts val="0"/>
                </a:spcAft>
                <a:defRPr/>
              </a:pPr>
              <a:r>
                <a:rPr lang="en-US" altLang="zh-CN" sz="1000" dirty="0">
                  <a:solidFill>
                    <a:prstClr val="black"/>
                  </a:solidFill>
                  <a:latin typeface="微软雅黑" panose="020F0502020204030204"/>
                  <a:ea typeface="微软雅黑"/>
                  <a:cs typeface="+mn-ea"/>
                  <a:sym typeface="+mn-lt"/>
                </a:rPr>
                <a:t>P = 0.0001</a:t>
              </a:r>
              <a:endParaRPr lang="zh-CN" altLang="en-US" sz="1000" dirty="0">
                <a:solidFill>
                  <a:prstClr val="black"/>
                </a:solidFill>
                <a:latin typeface="微软雅黑" panose="020F0502020204030204"/>
                <a:ea typeface="微软雅黑"/>
                <a:cs typeface="+mn-ea"/>
                <a:sym typeface="+mn-lt"/>
              </a:endParaRPr>
            </a:p>
          </p:txBody>
        </p:sp>
      </p:grpSp>
      <p:sp>
        <p:nvSpPr>
          <p:cNvPr id="14" name="矩形 13"/>
          <p:cNvSpPr/>
          <p:nvPr/>
        </p:nvSpPr>
        <p:spPr>
          <a:xfrm>
            <a:off x="538152" y="6006651"/>
            <a:ext cx="8293905" cy="400110"/>
          </a:xfrm>
          <a:prstGeom prst="rect">
            <a:avLst/>
          </a:prstGeom>
        </p:spPr>
        <p:txBody>
          <a:bodyPr wrap="square">
            <a:spAutoFit/>
          </a:bodyPr>
          <a:lstStyle/>
          <a:p>
            <a:pPr marL="171450" indent="-171450" eaLnBrk="1" fontAlgn="auto" hangingPunct="1">
              <a:spcBef>
                <a:spcPts val="0"/>
              </a:spcBef>
              <a:spcAft>
                <a:spcPts val="0"/>
              </a:spcAft>
              <a:buFont typeface="Arial" panose="020B0604020202020204" pitchFamily="34" charset="0"/>
              <a:buChar char="•"/>
            </a:pPr>
            <a:r>
              <a:rPr lang="zh-CN" altLang="en-US" sz="1000" dirty="0" smtClean="0">
                <a:solidFill>
                  <a:prstClr val="black"/>
                </a:solidFill>
                <a:latin typeface="Microsoft YaHei"/>
                <a:ea typeface="Microsoft YaHei"/>
              </a:rPr>
              <a:t>对来自德国</a:t>
            </a:r>
            <a:r>
              <a:rPr lang="en-US" altLang="zh-CN" sz="1000" dirty="0">
                <a:solidFill>
                  <a:prstClr val="black"/>
                </a:solidFill>
                <a:latin typeface="Microsoft YaHei"/>
                <a:ea typeface="Microsoft YaHei"/>
              </a:rPr>
              <a:t>35</a:t>
            </a:r>
            <a:r>
              <a:rPr lang="zh-CN" altLang="en-US" sz="1000" dirty="0">
                <a:solidFill>
                  <a:prstClr val="black"/>
                </a:solidFill>
                <a:latin typeface="Microsoft YaHei"/>
                <a:ea typeface="Microsoft YaHei"/>
              </a:rPr>
              <a:t>家</a:t>
            </a:r>
            <a:r>
              <a:rPr lang="zh-CN" altLang="en-US" sz="1000" dirty="0" smtClean="0">
                <a:solidFill>
                  <a:prstClr val="black"/>
                </a:solidFill>
                <a:latin typeface="Microsoft YaHei"/>
                <a:ea typeface="Microsoft YaHei"/>
              </a:rPr>
              <a:t>研究中心的</a:t>
            </a:r>
            <a:r>
              <a:rPr lang="en-US" altLang="zh-CN" sz="1000" dirty="0" smtClean="0">
                <a:solidFill>
                  <a:prstClr val="black"/>
                </a:solidFill>
                <a:latin typeface="Microsoft YaHei"/>
                <a:ea typeface="Microsoft YaHei"/>
              </a:rPr>
              <a:t>392</a:t>
            </a:r>
            <a:r>
              <a:rPr lang="zh-CN" altLang="en-US" sz="1000" dirty="0" smtClean="0">
                <a:solidFill>
                  <a:prstClr val="black"/>
                </a:solidFill>
                <a:latin typeface="Microsoft YaHei"/>
                <a:ea typeface="Microsoft YaHei"/>
              </a:rPr>
              <a:t>例晚期直肠癌进行</a:t>
            </a:r>
            <a:r>
              <a:rPr lang="zh-CN" altLang="en-US" sz="1000" dirty="0">
                <a:solidFill>
                  <a:prstClr val="black"/>
                </a:solidFill>
                <a:latin typeface="Microsoft YaHei"/>
                <a:ea typeface="Microsoft YaHei"/>
              </a:rPr>
              <a:t>的一项</a:t>
            </a:r>
            <a:r>
              <a:rPr lang="zh-CN" altLang="en-US" sz="1000" dirty="0">
                <a:latin typeface="Microsoft YaHei"/>
                <a:ea typeface="Microsoft YaHei"/>
              </a:rPr>
              <a:t>两组、双队列、</a:t>
            </a:r>
            <a:r>
              <a:rPr lang="zh-CN" altLang="en-US" sz="1000" dirty="0">
                <a:solidFill>
                  <a:prstClr val="black"/>
                </a:solidFill>
                <a:latin typeface="Microsoft YaHei"/>
                <a:ea typeface="Microsoft YaHei"/>
              </a:rPr>
              <a:t>多中心、开放性、随机、对照、非劣效性</a:t>
            </a:r>
            <a:r>
              <a:rPr lang="en-US" altLang="zh-CN" sz="1000" dirty="0">
                <a:solidFill>
                  <a:prstClr val="black"/>
                </a:solidFill>
                <a:latin typeface="Microsoft YaHei"/>
                <a:ea typeface="Microsoft YaHei"/>
              </a:rPr>
              <a:t>III</a:t>
            </a:r>
            <a:r>
              <a:rPr lang="zh-CN" altLang="en-US" sz="1000" dirty="0">
                <a:solidFill>
                  <a:prstClr val="black"/>
                </a:solidFill>
                <a:latin typeface="Microsoft YaHei"/>
                <a:ea typeface="Microsoft YaHei"/>
              </a:rPr>
              <a:t>期</a:t>
            </a:r>
            <a:r>
              <a:rPr lang="zh-CN" altLang="en-US" sz="1000" dirty="0" smtClean="0">
                <a:solidFill>
                  <a:prstClr val="black"/>
                </a:solidFill>
                <a:latin typeface="Microsoft YaHei"/>
                <a:ea typeface="Microsoft YaHei"/>
              </a:rPr>
              <a:t>临床试验，旨在在晚期直肠腺癌</a:t>
            </a:r>
            <a:r>
              <a:rPr lang="zh-CN" altLang="en-US" sz="1000" dirty="0">
                <a:solidFill>
                  <a:prstClr val="black"/>
                </a:solidFill>
                <a:latin typeface="Microsoft YaHei"/>
                <a:ea typeface="Microsoft YaHei"/>
              </a:rPr>
              <a:t>患者</a:t>
            </a:r>
            <a:r>
              <a:rPr lang="zh-CN" altLang="en-US" sz="1000" dirty="0" smtClean="0">
                <a:solidFill>
                  <a:prstClr val="black"/>
                </a:solidFill>
                <a:latin typeface="Microsoft YaHei"/>
                <a:ea typeface="Microsoft YaHei"/>
              </a:rPr>
              <a:t>中，对</a:t>
            </a:r>
            <a:r>
              <a:rPr lang="zh-CN" altLang="en-US" sz="1000" dirty="0">
                <a:solidFill>
                  <a:prstClr val="black"/>
                </a:solidFill>
                <a:latin typeface="微软雅黑" panose="020B0503020204020204" pitchFamily="34" charset="-122"/>
                <a:ea typeface="微软雅黑" panose="020B0503020204020204" pitchFamily="34" charset="-122"/>
              </a:rPr>
              <a:t>卡培他滨 </a:t>
            </a:r>
            <a:r>
              <a:rPr lang="en-US" altLang="zh-CN" sz="1000" dirty="0">
                <a:solidFill>
                  <a:prstClr val="black"/>
                </a:solidFill>
                <a:latin typeface="Microsoft YaHei"/>
                <a:ea typeface="Microsoft YaHei"/>
              </a:rPr>
              <a:t>vs. </a:t>
            </a:r>
            <a:r>
              <a:rPr lang="zh-CN" altLang="en-US" sz="1000" dirty="0">
                <a:solidFill>
                  <a:prstClr val="black"/>
                </a:solidFill>
                <a:latin typeface="Microsoft YaHei"/>
                <a:ea typeface="Microsoft YaHei"/>
              </a:rPr>
              <a:t>氟尿嘧啶进行</a:t>
            </a:r>
            <a:r>
              <a:rPr lang="zh-CN" altLang="en-US" sz="1000" dirty="0" smtClean="0">
                <a:solidFill>
                  <a:prstClr val="black"/>
                </a:solidFill>
                <a:latin typeface="Microsoft YaHei"/>
                <a:ea typeface="Microsoft YaHei"/>
              </a:rPr>
              <a:t>比较</a:t>
            </a:r>
            <a:endParaRPr lang="zh-CN" altLang="en-US" sz="1000" dirty="0">
              <a:solidFill>
                <a:prstClr val="black"/>
              </a:solidFill>
              <a:latin typeface="Microsoft YaHei"/>
              <a:ea typeface="Microsoft YaHei"/>
            </a:endParaRPr>
          </a:p>
        </p:txBody>
      </p:sp>
    </p:spTree>
    <p:extLst>
      <p:ext uri="{BB962C8B-B14F-4D97-AF65-F5344CB8AC3E}">
        <p14:creationId xmlns:p14="http://schemas.microsoft.com/office/powerpoint/2010/main" val="1579424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255CE53-2DFC-47FB-BD2B-CAA15137D72C}"/>
              </a:ext>
            </a:extLst>
          </p:cNvPr>
          <p:cNvSpPr>
            <a:spLocks noGrp="1"/>
          </p:cNvSpPr>
          <p:nvPr>
            <p:ph type="title"/>
          </p:nvPr>
        </p:nvSpPr>
        <p:spPr/>
        <p:txBody>
          <a:bodyPr>
            <a:normAutofit/>
          </a:bodyPr>
          <a:lstStyle/>
          <a:p>
            <a:r>
              <a:rPr lang="zh-CN" altLang="en-US" sz="2000" dirty="0">
                <a:solidFill>
                  <a:prstClr val="black"/>
                </a:solidFill>
              </a:rPr>
              <a:t>汇总分析：</a:t>
            </a:r>
            <a:r>
              <a:rPr lang="en-US" altLang="zh-CN" sz="2400" dirty="0">
                <a:solidFill>
                  <a:prstClr val="black"/>
                </a:solidFill>
              </a:rPr>
              <a:t/>
            </a:r>
            <a:br>
              <a:rPr lang="en-US" altLang="zh-CN" sz="2400" dirty="0">
                <a:solidFill>
                  <a:prstClr val="black"/>
                </a:solidFill>
              </a:rPr>
            </a:br>
            <a:r>
              <a:rPr lang="zh-CN" altLang="en-US" dirty="0">
                <a:solidFill>
                  <a:prstClr val="black"/>
                </a:solidFill>
              </a:rPr>
              <a:t>卡培他滨</a:t>
            </a:r>
            <a:r>
              <a:rPr lang="zh-CN" altLang="en-US" sz="2800" dirty="0">
                <a:solidFill>
                  <a:prstClr val="black"/>
                </a:solidFill>
              </a:rPr>
              <a:t>治疗出现</a:t>
            </a:r>
            <a:r>
              <a:rPr lang="en-US" altLang="zh-CN" sz="2800" dirty="0">
                <a:solidFill>
                  <a:prstClr val="black"/>
                </a:solidFill>
              </a:rPr>
              <a:t>HFS</a:t>
            </a:r>
            <a:r>
              <a:rPr lang="zh-CN" altLang="en-US" sz="2800" dirty="0">
                <a:solidFill>
                  <a:prstClr val="black"/>
                </a:solidFill>
              </a:rPr>
              <a:t>的患者的预后显著更佳</a:t>
            </a:r>
            <a:endParaRPr lang="zh-CN" altLang="en-US" sz="2400" dirty="0"/>
          </a:p>
        </p:txBody>
      </p:sp>
      <p:grpSp>
        <p:nvGrpSpPr>
          <p:cNvPr id="33" name="组合 32"/>
          <p:cNvGrpSpPr/>
          <p:nvPr/>
        </p:nvGrpSpPr>
        <p:grpSpPr>
          <a:xfrm>
            <a:off x="273539" y="1238443"/>
            <a:ext cx="8438687" cy="5028131"/>
            <a:chOff x="273539" y="1238443"/>
            <a:chExt cx="8438687" cy="5028131"/>
          </a:xfrm>
        </p:grpSpPr>
        <p:pic>
          <p:nvPicPr>
            <p:cNvPr id="17" name="图片 16"/>
            <p:cNvPicPr>
              <a:picLocks noChangeAspect="1"/>
            </p:cNvPicPr>
            <p:nvPr/>
          </p:nvPicPr>
          <p:blipFill>
            <a:blip r:embed="rId3"/>
            <a:stretch>
              <a:fillRect/>
            </a:stretch>
          </p:blipFill>
          <p:spPr>
            <a:xfrm>
              <a:off x="672283" y="1994457"/>
              <a:ext cx="7724301" cy="3785944"/>
            </a:xfrm>
            <a:prstGeom prst="rect">
              <a:avLst/>
            </a:prstGeom>
          </p:spPr>
        </p:pic>
        <p:sp>
          <p:nvSpPr>
            <p:cNvPr id="23" name="矩形 22">
              <a:extLst>
                <a:ext uri="{FF2B5EF4-FFF2-40B4-BE49-F238E27FC236}">
                  <a16:creationId xmlns:a16="http://schemas.microsoft.com/office/drawing/2014/main" xmlns="" id="{A04BA812-477B-4E7C-9756-D8883AD1727C}"/>
                </a:ext>
              </a:extLst>
            </p:cNvPr>
            <p:cNvSpPr/>
            <p:nvPr/>
          </p:nvSpPr>
          <p:spPr>
            <a:xfrm>
              <a:off x="540311" y="1238443"/>
              <a:ext cx="4358013" cy="615600"/>
            </a:xfrm>
            <a:prstGeom prst="rect">
              <a:avLst/>
            </a:prstGeom>
          </p:spPr>
          <p:txBody>
            <a:bodyPr wrap="square">
              <a:noAutofit/>
            </a:bodyPr>
            <a:lstStyle/>
            <a:p>
              <a:pPr algn="ctr" eaLnBrk="1" fontAlgn="auto" hangingPunct="1">
                <a:lnSpc>
                  <a:spcPct val="110000"/>
                </a:lnSpc>
                <a:spcBef>
                  <a:spcPts val="0"/>
                </a:spcBef>
                <a:spcAft>
                  <a:spcPts val="0"/>
                </a:spcAft>
                <a:defRPr/>
              </a:pPr>
              <a:r>
                <a:rPr lang="zh-CN" altLang="en-US" sz="1600" b="1" dirty="0">
                  <a:solidFill>
                    <a:prstClr val="black"/>
                  </a:solidFill>
                  <a:latin typeface="微软雅黑"/>
                  <a:ea typeface="微软雅黑"/>
                </a:rPr>
                <a:t>出现</a:t>
              </a:r>
              <a:r>
                <a:rPr lang="en-US" altLang="zh-CN" sz="1600" b="1" dirty="0">
                  <a:solidFill>
                    <a:prstClr val="black"/>
                  </a:solidFill>
                  <a:latin typeface="微软雅黑"/>
                  <a:ea typeface="微软雅黑"/>
                </a:rPr>
                <a:t> vs. </a:t>
              </a:r>
              <a:r>
                <a:rPr lang="zh-CN" altLang="en-US" sz="1600" b="1" dirty="0">
                  <a:solidFill>
                    <a:prstClr val="black"/>
                  </a:solidFill>
                  <a:latin typeface="微软雅黑"/>
                  <a:ea typeface="微软雅黑"/>
                </a:rPr>
                <a:t>未出现</a:t>
              </a:r>
              <a:r>
                <a:rPr lang="en-US" altLang="zh-CN" sz="1600" b="1" dirty="0">
                  <a:solidFill>
                    <a:prstClr val="black"/>
                  </a:solidFill>
                  <a:latin typeface="微软雅黑"/>
                  <a:ea typeface="微软雅黑"/>
                </a:rPr>
                <a:t>HFS</a:t>
              </a:r>
              <a:r>
                <a:rPr lang="zh-CN" altLang="en-US" sz="1600" b="1" dirty="0">
                  <a:solidFill>
                    <a:prstClr val="black"/>
                  </a:solidFill>
                  <a:latin typeface="微软雅黑"/>
                  <a:ea typeface="微软雅黑"/>
                </a:rPr>
                <a:t>，</a:t>
              </a:r>
              <a:endParaRPr lang="en-US" altLang="zh-CN" sz="1600" b="1" dirty="0">
                <a:solidFill>
                  <a:prstClr val="black"/>
                </a:solidFill>
                <a:latin typeface="微软雅黑"/>
                <a:ea typeface="微软雅黑"/>
              </a:endParaRPr>
            </a:p>
            <a:p>
              <a:pPr algn="ctr" eaLnBrk="1" fontAlgn="auto" hangingPunct="1">
                <a:lnSpc>
                  <a:spcPct val="110000"/>
                </a:lnSpc>
                <a:spcBef>
                  <a:spcPts val="0"/>
                </a:spcBef>
                <a:spcAft>
                  <a:spcPts val="0"/>
                </a:spcAft>
                <a:defRPr/>
              </a:pPr>
              <a:r>
                <a:rPr lang="zh-CN" altLang="en-US" sz="1600" b="1" dirty="0">
                  <a:solidFill>
                    <a:prstClr val="black"/>
                  </a:solidFill>
                  <a:latin typeface="微软雅黑"/>
                  <a:ea typeface="微软雅黑"/>
                </a:rPr>
                <a:t>疾病复发或进展风险显著降低</a:t>
              </a:r>
              <a:r>
                <a:rPr lang="en-US" altLang="zh-CN" sz="1600" b="1" baseline="30000" dirty="0">
                  <a:solidFill>
                    <a:prstClr val="black"/>
                  </a:solidFill>
                  <a:latin typeface="微软雅黑"/>
                  <a:ea typeface="微软雅黑"/>
                </a:rPr>
                <a:t>1</a:t>
              </a:r>
              <a:endParaRPr lang="zh-CN" altLang="en-US" sz="1600" b="1" dirty="0">
                <a:solidFill>
                  <a:prstClr val="black"/>
                </a:solidFill>
                <a:latin typeface="微软雅黑"/>
                <a:ea typeface="微软雅黑"/>
              </a:endParaRPr>
            </a:p>
          </p:txBody>
        </p:sp>
        <p:sp>
          <p:nvSpPr>
            <p:cNvPr id="24" name="矩形 23">
              <a:extLst>
                <a:ext uri="{FF2B5EF4-FFF2-40B4-BE49-F238E27FC236}">
                  <a16:creationId xmlns:a16="http://schemas.microsoft.com/office/drawing/2014/main" xmlns="" id="{20451F61-5AE8-41E6-9320-9F02D1189031}"/>
                </a:ext>
              </a:extLst>
            </p:cNvPr>
            <p:cNvSpPr/>
            <p:nvPr/>
          </p:nvSpPr>
          <p:spPr>
            <a:xfrm>
              <a:off x="5341087" y="1238443"/>
              <a:ext cx="3371139" cy="615600"/>
            </a:xfrm>
            <a:prstGeom prst="rect">
              <a:avLst/>
            </a:prstGeom>
          </p:spPr>
          <p:txBody>
            <a:bodyPr wrap="square">
              <a:noAutofit/>
            </a:bodyPr>
            <a:lstStyle/>
            <a:p>
              <a:pPr algn="ctr" eaLnBrk="1" fontAlgn="auto" hangingPunct="1">
                <a:lnSpc>
                  <a:spcPct val="110000"/>
                </a:lnSpc>
                <a:spcBef>
                  <a:spcPts val="0"/>
                </a:spcBef>
                <a:spcAft>
                  <a:spcPts val="0"/>
                </a:spcAft>
                <a:defRPr/>
              </a:pPr>
              <a:r>
                <a:rPr lang="zh-CN" altLang="en-US" sz="1600" b="1" dirty="0">
                  <a:solidFill>
                    <a:prstClr val="black"/>
                  </a:solidFill>
                  <a:latin typeface="微软雅黑"/>
                  <a:ea typeface="微软雅黑"/>
                </a:rPr>
                <a:t>出现</a:t>
              </a:r>
              <a:r>
                <a:rPr lang="en-US" altLang="zh-CN" sz="1600" b="1" dirty="0">
                  <a:solidFill>
                    <a:prstClr val="black"/>
                  </a:solidFill>
                  <a:latin typeface="微软雅黑"/>
                  <a:ea typeface="微软雅黑"/>
                </a:rPr>
                <a:t> vs. </a:t>
              </a:r>
              <a:r>
                <a:rPr lang="zh-CN" altLang="en-US" sz="1600" b="1" dirty="0">
                  <a:solidFill>
                    <a:prstClr val="black"/>
                  </a:solidFill>
                  <a:latin typeface="微软雅黑"/>
                  <a:ea typeface="微软雅黑"/>
                </a:rPr>
                <a:t>未出现</a:t>
              </a:r>
              <a:r>
                <a:rPr lang="en-US" altLang="zh-CN" sz="1600" b="1" dirty="0">
                  <a:solidFill>
                    <a:prstClr val="black"/>
                  </a:solidFill>
                  <a:latin typeface="微软雅黑"/>
                  <a:ea typeface="微软雅黑"/>
                </a:rPr>
                <a:t>HFS</a:t>
              </a:r>
              <a:r>
                <a:rPr lang="zh-CN" altLang="en-US" sz="1600" b="1" dirty="0">
                  <a:solidFill>
                    <a:prstClr val="black"/>
                  </a:solidFill>
                  <a:latin typeface="微软雅黑"/>
                  <a:ea typeface="微软雅黑"/>
                </a:rPr>
                <a:t>，</a:t>
              </a:r>
              <a:endParaRPr lang="en-US" altLang="zh-CN" sz="1600" b="1" dirty="0">
                <a:solidFill>
                  <a:prstClr val="black"/>
                </a:solidFill>
                <a:latin typeface="微软雅黑"/>
                <a:ea typeface="微软雅黑"/>
              </a:endParaRPr>
            </a:p>
            <a:p>
              <a:pPr algn="ctr" eaLnBrk="1" fontAlgn="auto" hangingPunct="1">
                <a:lnSpc>
                  <a:spcPct val="110000"/>
                </a:lnSpc>
                <a:spcBef>
                  <a:spcPts val="0"/>
                </a:spcBef>
                <a:spcAft>
                  <a:spcPts val="0"/>
                </a:spcAft>
                <a:defRPr/>
              </a:pPr>
              <a:r>
                <a:rPr lang="zh-CN" altLang="en-US" sz="1600" b="1" dirty="0">
                  <a:solidFill>
                    <a:prstClr val="black"/>
                  </a:solidFill>
                  <a:latin typeface="微软雅黑"/>
                  <a:ea typeface="微软雅黑"/>
                </a:rPr>
                <a:t>死亡风险显著降低</a:t>
              </a:r>
              <a:r>
                <a:rPr lang="en-US" altLang="zh-CN" sz="1600" b="1" baseline="30000" dirty="0">
                  <a:solidFill>
                    <a:prstClr val="black"/>
                  </a:solidFill>
                  <a:latin typeface="微软雅黑"/>
                  <a:ea typeface="微软雅黑"/>
                </a:rPr>
                <a:t>1</a:t>
              </a:r>
              <a:endParaRPr lang="zh-CN" altLang="en-US" sz="1600" b="1" dirty="0">
                <a:solidFill>
                  <a:prstClr val="black"/>
                </a:solidFill>
                <a:latin typeface="微软雅黑"/>
                <a:ea typeface="微软雅黑"/>
              </a:endParaRPr>
            </a:p>
          </p:txBody>
        </p:sp>
        <p:sp>
          <p:nvSpPr>
            <p:cNvPr id="30" name="文本框 29">
              <a:extLst>
                <a:ext uri="{FF2B5EF4-FFF2-40B4-BE49-F238E27FC236}">
                  <a16:creationId xmlns:a16="http://schemas.microsoft.com/office/drawing/2014/main" xmlns="" id="{4E2C1CDC-C4CF-4358-BF68-76129E205F5D}"/>
                </a:ext>
              </a:extLst>
            </p:cNvPr>
            <p:cNvSpPr txBox="1"/>
            <p:nvPr/>
          </p:nvSpPr>
          <p:spPr>
            <a:xfrm>
              <a:off x="2125286" y="2170052"/>
              <a:ext cx="939512" cy="230832"/>
            </a:xfrm>
            <a:prstGeom prst="rect">
              <a:avLst/>
            </a:prstGeom>
            <a:noFill/>
          </p:spPr>
          <p:txBody>
            <a:bodyPr wrap="square" rtlCol="0">
              <a:spAutoFit/>
            </a:bodyPr>
            <a:lstStyle/>
            <a:p>
              <a:pPr algn="ctr" eaLnBrk="1" fontAlgn="auto" hangingPunct="1">
                <a:spcBef>
                  <a:spcPts val="0"/>
                </a:spcBef>
                <a:spcAft>
                  <a:spcPts val="0"/>
                </a:spcAft>
                <a:defRPr/>
              </a:pPr>
              <a:r>
                <a:rPr lang="en-US" altLang="zh-CN" sz="900" dirty="0">
                  <a:solidFill>
                    <a:prstClr val="black"/>
                  </a:solidFill>
                  <a:latin typeface="微软雅黑"/>
                  <a:ea typeface="微软雅黑"/>
                </a:rPr>
                <a:t>P</a:t>
              </a:r>
              <a:r>
                <a:rPr lang="zh-CN" altLang="en-US" sz="900" dirty="0">
                  <a:solidFill>
                    <a:prstClr val="black"/>
                  </a:solidFill>
                  <a:latin typeface="微软雅黑"/>
                  <a:ea typeface="微软雅黑"/>
                </a:rPr>
                <a:t>＜</a:t>
              </a:r>
              <a:r>
                <a:rPr lang="en-US" altLang="zh-CN" sz="900" dirty="0">
                  <a:solidFill>
                    <a:prstClr val="black"/>
                  </a:solidFill>
                  <a:latin typeface="微软雅黑"/>
                  <a:ea typeface="微软雅黑"/>
                </a:rPr>
                <a:t>0.001</a:t>
              </a:r>
              <a:endParaRPr lang="zh-CN" altLang="en-US" sz="900" dirty="0">
                <a:solidFill>
                  <a:prstClr val="black"/>
                </a:solidFill>
                <a:latin typeface="微软雅黑"/>
                <a:ea typeface="微软雅黑"/>
              </a:endParaRPr>
            </a:p>
          </p:txBody>
        </p:sp>
        <p:sp>
          <p:nvSpPr>
            <p:cNvPr id="31" name="文本框 30">
              <a:extLst>
                <a:ext uri="{FF2B5EF4-FFF2-40B4-BE49-F238E27FC236}">
                  <a16:creationId xmlns:a16="http://schemas.microsoft.com/office/drawing/2014/main" xmlns="" id="{DD6312A1-6D92-498A-B102-3B25FDC0AF1D}"/>
                </a:ext>
              </a:extLst>
            </p:cNvPr>
            <p:cNvSpPr txBox="1"/>
            <p:nvPr/>
          </p:nvSpPr>
          <p:spPr>
            <a:xfrm>
              <a:off x="6437234" y="2163760"/>
              <a:ext cx="939512" cy="230832"/>
            </a:xfrm>
            <a:prstGeom prst="rect">
              <a:avLst/>
            </a:prstGeom>
            <a:noFill/>
          </p:spPr>
          <p:txBody>
            <a:bodyPr wrap="square" rtlCol="0">
              <a:spAutoFit/>
            </a:bodyPr>
            <a:lstStyle/>
            <a:p>
              <a:pPr algn="ctr" eaLnBrk="1" fontAlgn="auto" hangingPunct="1">
                <a:spcBef>
                  <a:spcPts val="0"/>
                </a:spcBef>
                <a:spcAft>
                  <a:spcPts val="0"/>
                </a:spcAft>
                <a:defRPr/>
              </a:pPr>
              <a:r>
                <a:rPr lang="en-US" altLang="zh-CN" sz="900" dirty="0">
                  <a:solidFill>
                    <a:prstClr val="black"/>
                  </a:solidFill>
                  <a:latin typeface="微软雅黑"/>
                  <a:ea typeface="微软雅黑"/>
                </a:rPr>
                <a:t>P=0.001</a:t>
              </a:r>
              <a:endParaRPr lang="zh-CN" altLang="en-US" sz="900" dirty="0">
                <a:solidFill>
                  <a:prstClr val="black"/>
                </a:solidFill>
                <a:latin typeface="微软雅黑"/>
                <a:ea typeface="微软雅黑"/>
              </a:endParaRPr>
            </a:p>
          </p:txBody>
        </p:sp>
        <p:sp>
          <p:nvSpPr>
            <p:cNvPr id="18" name="文本框 17"/>
            <p:cNvSpPr txBox="1"/>
            <p:nvPr/>
          </p:nvSpPr>
          <p:spPr>
            <a:xfrm>
              <a:off x="273539" y="5866464"/>
              <a:ext cx="8425978" cy="400110"/>
            </a:xfrm>
            <a:prstGeom prst="rect">
              <a:avLst/>
            </a:prstGeom>
            <a:noFill/>
          </p:spPr>
          <p:txBody>
            <a:bodyPr wrap="square" rtlCol="0">
              <a:spAutoFit/>
            </a:bodyPr>
            <a:lstStyle/>
            <a:p>
              <a:pPr marL="171450" indent="-171450">
                <a:buFont typeface="Arial" panose="020B0604020202020204" pitchFamily="34" charset="0"/>
                <a:buChar char="•"/>
              </a:pPr>
              <a:r>
                <a:rPr lang="zh-CN" altLang="en-US" sz="1000" dirty="0">
                  <a:solidFill>
                    <a:prstClr val="black"/>
                  </a:solidFill>
                  <a:latin typeface="微软雅黑"/>
                  <a:ea typeface="微软雅黑"/>
                </a:rPr>
                <a:t>对共纳入</a:t>
              </a:r>
              <a:r>
                <a:rPr lang="en-US" altLang="zh-CN" sz="1000" dirty="0">
                  <a:solidFill>
                    <a:prstClr val="black"/>
                  </a:solidFill>
                  <a:latin typeface="微软雅黑"/>
                  <a:ea typeface="微软雅黑"/>
                </a:rPr>
                <a:t>374</a:t>
              </a:r>
              <a:r>
                <a:rPr lang="zh-CN" altLang="en-US" sz="1000" dirty="0">
                  <a:solidFill>
                    <a:prstClr val="black"/>
                  </a:solidFill>
                  <a:latin typeface="微软雅黑"/>
                  <a:ea typeface="微软雅黑"/>
                </a:rPr>
                <a:t>例结直肠癌患者的两项德国前瞻性、随机对照临床试验（</a:t>
              </a:r>
              <a:r>
                <a:rPr lang="en-US" altLang="zh-CN" sz="1000" dirty="0">
                  <a:solidFill>
                    <a:prstClr val="black"/>
                  </a:solidFill>
                  <a:latin typeface="微软雅黑"/>
                  <a:ea typeface="微软雅黑"/>
                </a:rPr>
                <a:t>AIO KRK-0104</a:t>
              </a:r>
              <a:r>
                <a:rPr lang="zh-CN" altLang="en-US" sz="1000" dirty="0">
                  <a:solidFill>
                    <a:prstClr val="black"/>
                  </a:solidFill>
                  <a:latin typeface="微软雅黑"/>
                  <a:ea typeface="微软雅黑"/>
                </a:rPr>
                <a:t>、</a:t>
              </a:r>
              <a:r>
                <a:rPr lang="en-US" altLang="zh-CN" sz="1000" dirty="0">
                  <a:solidFill>
                    <a:prstClr val="black"/>
                  </a:solidFill>
                  <a:latin typeface="微软雅黑"/>
                  <a:ea typeface="微软雅黑"/>
                </a:rPr>
                <a:t>Mannheim</a:t>
              </a:r>
              <a:r>
                <a:rPr lang="zh-CN" altLang="en-US" sz="1000" dirty="0">
                  <a:solidFill>
                    <a:prstClr val="black"/>
                  </a:solidFill>
                  <a:latin typeface="微软雅黑"/>
                  <a:ea typeface="微软雅黑"/>
                </a:rPr>
                <a:t>直肠癌</a:t>
              </a:r>
              <a:r>
                <a:rPr lang="en-US" altLang="zh-CN" sz="1000" dirty="0">
                  <a:solidFill>
                    <a:prstClr val="black"/>
                  </a:solidFill>
                  <a:latin typeface="微软雅黑"/>
                  <a:ea typeface="微软雅黑"/>
                </a:rPr>
                <a:t>III</a:t>
              </a:r>
              <a:r>
                <a:rPr lang="zh-CN" altLang="en-US" sz="1000" dirty="0">
                  <a:solidFill>
                    <a:prstClr val="black"/>
                  </a:solidFill>
                  <a:latin typeface="微软雅黑"/>
                  <a:ea typeface="微软雅黑"/>
                </a:rPr>
                <a:t>期研究）进行的一项探索性、汇总分析，旨在评估卡培他滨治疗此类患者的</a:t>
              </a:r>
              <a:r>
                <a:rPr lang="en-US" altLang="zh-CN" sz="1000" dirty="0">
                  <a:solidFill>
                    <a:prstClr val="black"/>
                  </a:solidFill>
                  <a:latin typeface="微软雅黑"/>
                  <a:ea typeface="微软雅黑"/>
                </a:rPr>
                <a:t>HFS</a:t>
              </a:r>
              <a:r>
                <a:rPr lang="zh-CN" altLang="en-US" sz="1000" dirty="0">
                  <a:solidFill>
                    <a:prstClr val="black"/>
                  </a:solidFill>
                  <a:latin typeface="微软雅黑"/>
                  <a:ea typeface="微软雅黑"/>
                </a:rPr>
                <a:t>与患者生存的潜在相关性等</a:t>
              </a:r>
              <a:r>
                <a:rPr lang="en-US" altLang="zh-CN" sz="1000" baseline="30000" dirty="0">
                  <a:solidFill>
                    <a:prstClr val="black"/>
                  </a:solidFill>
                  <a:latin typeface="微软雅黑"/>
                  <a:ea typeface="微软雅黑"/>
                </a:rPr>
                <a:t>1</a:t>
              </a:r>
              <a:endParaRPr lang="zh-CN" altLang="en-US" sz="1000" baseline="30000" dirty="0">
                <a:solidFill>
                  <a:prstClr val="black"/>
                </a:solidFill>
                <a:latin typeface="微软雅黑"/>
                <a:ea typeface="微软雅黑"/>
              </a:endParaRPr>
            </a:p>
          </p:txBody>
        </p:sp>
        <p:sp>
          <p:nvSpPr>
            <p:cNvPr id="16" name="文本框 15">
              <a:extLst>
                <a:ext uri="{FF2B5EF4-FFF2-40B4-BE49-F238E27FC236}">
                  <a16:creationId xmlns:a16="http://schemas.microsoft.com/office/drawing/2014/main" xmlns="" id="{A58D22EC-E0BE-404F-AF37-B7FBC3638052}"/>
                </a:ext>
              </a:extLst>
            </p:cNvPr>
            <p:cNvSpPr txBox="1"/>
            <p:nvPr/>
          </p:nvSpPr>
          <p:spPr>
            <a:xfrm>
              <a:off x="7533990" y="2720634"/>
              <a:ext cx="789756" cy="893578"/>
            </a:xfrm>
            <a:prstGeom prst="rect">
              <a:avLst/>
            </a:prstGeom>
            <a:noFill/>
          </p:spPr>
          <p:txBody>
            <a:bodyPr wrap="square" rtlCol="0">
              <a:spAutoFit/>
            </a:bodyPr>
            <a:lstStyle/>
            <a:p>
              <a:pPr algn="ctr" eaLnBrk="1" fontAlgn="auto" hangingPunct="1">
                <a:lnSpc>
                  <a:spcPct val="120000"/>
                </a:lnSpc>
                <a:spcBef>
                  <a:spcPts val="200"/>
                </a:spcBef>
                <a:spcAft>
                  <a:spcPts val="0"/>
                </a:spcAft>
                <a:defRPr/>
              </a:pPr>
              <a:r>
                <a:rPr lang="zh-CN" altLang="en-US" sz="900" b="1" dirty="0">
                  <a:solidFill>
                    <a:prstClr val="black"/>
                  </a:solidFill>
                  <a:effectLst>
                    <a:glow rad="101600">
                      <a:prstClr val="white">
                        <a:alpha val="60000"/>
                      </a:prstClr>
                    </a:glow>
                  </a:effectLst>
                  <a:latin typeface="微软雅黑"/>
                  <a:ea typeface="微软雅黑"/>
                </a:rPr>
                <a:t>死亡</a:t>
              </a:r>
              <a:r>
                <a:rPr lang="en-US" altLang="zh-CN" sz="900" b="1" dirty="0">
                  <a:solidFill>
                    <a:prstClr val="black"/>
                  </a:solidFill>
                  <a:effectLst>
                    <a:glow rad="101600">
                      <a:prstClr val="white">
                        <a:alpha val="60000"/>
                      </a:prstClr>
                    </a:glow>
                  </a:effectLst>
                  <a:latin typeface="微软雅黑"/>
                  <a:ea typeface="微软雅黑"/>
                </a:rPr>
                <a:t/>
              </a:r>
              <a:br>
                <a:rPr lang="en-US" altLang="zh-CN" sz="900" b="1" dirty="0">
                  <a:solidFill>
                    <a:prstClr val="black"/>
                  </a:solidFill>
                  <a:effectLst>
                    <a:glow rad="101600">
                      <a:prstClr val="white">
                        <a:alpha val="60000"/>
                      </a:prstClr>
                    </a:glow>
                  </a:effectLst>
                  <a:latin typeface="微软雅黑"/>
                  <a:ea typeface="微软雅黑"/>
                </a:rPr>
              </a:br>
              <a:r>
                <a:rPr lang="zh-CN" altLang="en-US" sz="900" b="1" dirty="0">
                  <a:solidFill>
                    <a:prstClr val="black"/>
                  </a:solidFill>
                  <a:effectLst>
                    <a:glow rad="101600">
                      <a:prstClr val="white">
                        <a:alpha val="60000"/>
                      </a:prstClr>
                    </a:glow>
                  </a:effectLst>
                  <a:latin typeface="微软雅黑"/>
                  <a:ea typeface="微软雅黑"/>
                </a:rPr>
                <a:t>风险</a:t>
              </a:r>
              <a:r>
                <a:rPr lang="en-US" altLang="zh-CN" sz="900" b="1" dirty="0">
                  <a:solidFill>
                    <a:prstClr val="black"/>
                  </a:solidFill>
                  <a:effectLst>
                    <a:glow rad="101600">
                      <a:prstClr val="white">
                        <a:alpha val="60000"/>
                      </a:prstClr>
                    </a:glow>
                  </a:effectLst>
                  <a:latin typeface="微软雅黑"/>
                  <a:ea typeface="微软雅黑"/>
                </a:rPr>
                <a:t/>
              </a:r>
              <a:br>
                <a:rPr lang="en-US" altLang="zh-CN" sz="900" b="1" dirty="0">
                  <a:solidFill>
                    <a:prstClr val="black"/>
                  </a:solidFill>
                  <a:effectLst>
                    <a:glow rad="101600">
                      <a:prstClr val="white">
                        <a:alpha val="60000"/>
                      </a:prstClr>
                    </a:glow>
                  </a:effectLst>
                  <a:latin typeface="微软雅黑"/>
                  <a:ea typeface="微软雅黑"/>
                </a:rPr>
              </a:br>
              <a:r>
                <a:rPr lang="zh-CN" altLang="en-US" sz="900" b="1" dirty="0">
                  <a:solidFill>
                    <a:prstClr val="black"/>
                  </a:solidFill>
                  <a:effectLst>
                    <a:glow rad="101600">
                      <a:prstClr val="white">
                        <a:alpha val="60000"/>
                      </a:prstClr>
                    </a:glow>
                  </a:effectLst>
                  <a:latin typeface="微软雅黑"/>
                  <a:ea typeface="微软雅黑"/>
                </a:rPr>
                <a:t>降低</a:t>
              </a:r>
              <a:endParaRPr lang="en-US" altLang="zh-CN" sz="900" b="1" dirty="0">
                <a:solidFill>
                  <a:prstClr val="black"/>
                </a:solidFill>
                <a:effectLst>
                  <a:glow rad="101600">
                    <a:prstClr val="white">
                      <a:alpha val="60000"/>
                    </a:prstClr>
                  </a:glow>
                </a:effectLst>
                <a:latin typeface="微软雅黑"/>
                <a:ea typeface="微软雅黑"/>
              </a:endParaRPr>
            </a:p>
            <a:p>
              <a:pPr algn="ctr" eaLnBrk="1" fontAlgn="auto" hangingPunct="1">
                <a:spcBef>
                  <a:spcPts val="200"/>
                </a:spcBef>
                <a:spcAft>
                  <a:spcPts val="0"/>
                </a:spcAft>
                <a:defRPr/>
              </a:pPr>
              <a:r>
                <a:rPr lang="en-US" altLang="zh-CN" b="1" dirty="0">
                  <a:solidFill>
                    <a:prstClr val="white"/>
                  </a:solidFill>
                  <a:effectLst>
                    <a:glow rad="101600">
                      <a:srgbClr val="ED7D31">
                        <a:alpha val="60000"/>
                      </a:srgbClr>
                    </a:glow>
                  </a:effectLst>
                  <a:latin typeface="微软雅黑"/>
                  <a:ea typeface="微软雅黑"/>
                </a:rPr>
                <a:t>46%</a:t>
              </a:r>
              <a:endParaRPr lang="zh-CN" altLang="en-US" sz="900" b="1" dirty="0">
                <a:solidFill>
                  <a:prstClr val="white"/>
                </a:solidFill>
                <a:effectLst>
                  <a:glow rad="101600">
                    <a:srgbClr val="ED7D31">
                      <a:alpha val="60000"/>
                    </a:srgbClr>
                  </a:glow>
                </a:effectLst>
                <a:latin typeface="微软雅黑"/>
                <a:ea typeface="微软雅黑"/>
              </a:endParaRPr>
            </a:p>
          </p:txBody>
        </p:sp>
        <p:sp>
          <p:nvSpPr>
            <p:cNvPr id="32" name="文本框 31">
              <a:extLst>
                <a:ext uri="{FF2B5EF4-FFF2-40B4-BE49-F238E27FC236}">
                  <a16:creationId xmlns:a16="http://schemas.microsoft.com/office/drawing/2014/main" xmlns="" id="{C9C361A1-987B-445B-870C-BBC63D157898}"/>
                </a:ext>
              </a:extLst>
            </p:cNvPr>
            <p:cNvSpPr txBox="1"/>
            <p:nvPr/>
          </p:nvSpPr>
          <p:spPr>
            <a:xfrm>
              <a:off x="3222592" y="2650518"/>
              <a:ext cx="789756" cy="948978"/>
            </a:xfrm>
            <a:prstGeom prst="rect">
              <a:avLst/>
            </a:prstGeom>
            <a:noFill/>
          </p:spPr>
          <p:txBody>
            <a:bodyPr wrap="square" rtlCol="0">
              <a:spAutoFit/>
            </a:bodyPr>
            <a:lstStyle/>
            <a:p>
              <a:pPr algn="ctr" eaLnBrk="1" fontAlgn="auto" hangingPunct="1">
                <a:spcBef>
                  <a:spcPts val="200"/>
                </a:spcBef>
                <a:spcAft>
                  <a:spcPts val="0"/>
                </a:spcAft>
                <a:defRPr/>
              </a:pPr>
              <a:r>
                <a:rPr lang="zh-CN" altLang="en-US" sz="900" b="1" dirty="0">
                  <a:solidFill>
                    <a:prstClr val="black"/>
                  </a:solidFill>
                  <a:effectLst>
                    <a:glow rad="101600">
                      <a:prstClr val="white">
                        <a:alpha val="60000"/>
                      </a:prstClr>
                    </a:glow>
                  </a:effectLst>
                  <a:latin typeface="微软雅黑"/>
                  <a:ea typeface="微软雅黑"/>
                </a:rPr>
                <a:t>复发或</a:t>
              </a:r>
              <a:r>
                <a:rPr lang="en-US" altLang="zh-CN" sz="900" b="1" dirty="0">
                  <a:solidFill>
                    <a:prstClr val="black"/>
                  </a:solidFill>
                  <a:effectLst>
                    <a:glow rad="101600">
                      <a:prstClr val="white">
                        <a:alpha val="60000"/>
                      </a:prstClr>
                    </a:glow>
                  </a:effectLst>
                  <a:latin typeface="微软雅黑"/>
                  <a:ea typeface="微软雅黑"/>
                </a:rPr>
                <a:t/>
              </a:r>
              <a:br>
                <a:rPr lang="en-US" altLang="zh-CN" sz="900" b="1" dirty="0">
                  <a:solidFill>
                    <a:prstClr val="black"/>
                  </a:solidFill>
                  <a:effectLst>
                    <a:glow rad="101600">
                      <a:prstClr val="white">
                        <a:alpha val="60000"/>
                      </a:prstClr>
                    </a:glow>
                  </a:effectLst>
                  <a:latin typeface="微软雅黑"/>
                  <a:ea typeface="微软雅黑"/>
                </a:rPr>
              </a:br>
              <a:r>
                <a:rPr lang="zh-CN" altLang="en-US" sz="900" b="1" dirty="0">
                  <a:solidFill>
                    <a:prstClr val="black"/>
                  </a:solidFill>
                  <a:effectLst>
                    <a:glow rad="101600">
                      <a:prstClr val="white">
                        <a:alpha val="60000"/>
                      </a:prstClr>
                    </a:glow>
                  </a:effectLst>
                  <a:latin typeface="微软雅黑"/>
                  <a:ea typeface="微软雅黑"/>
                </a:rPr>
                <a:t>进展</a:t>
              </a:r>
              <a:r>
                <a:rPr lang="en-US" altLang="zh-CN" sz="900" b="1" dirty="0">
                  <a:solidFill>
                    <a:prstClr val="black"/>
                  </a:solidFill>
                  <a:effectLst>
                    <a:glow rad="101600">
                      <a:prstClr val="white">
                        <a:alpha val="60000"/>
                      </a:prstClr>
                    </a:glow>
                  </a:effectLst>
                  <a:latin typeface="微软雅黑"/>
                  <a:ea typeface="微软雅黑"/>
                </a:rPr>
                <a:t/>
              </a:r>
              <a:br>
                <a:rPr lang="en-US" altLang="zh-CN" sz="900" b="1" dirty="0">
                  <a:solidFill>
                    <a:prstClr val="black"/>
                  </a:solidFill>
                  <a:effectLst>
                    <a:glow rad="101600">
                      <a:prstClr val="white">
                        <a:alpha val="60000"/>
                      </a:prstClr>
                    </a:glow>
                  </a:effectLst>
                  <a:latin typeface="微软雅黑"/>
                  <a:ea typeface="微软雅黑"/>
                </a:rPr>
              </a:br>
              <a:r>
                <a:rPr lang="zh-CN" altLang="en-US" sz="900" b="1" dirty="0">
                  <a:solidFill>
                    <a:prstClr val="black"/>
                  </a:solidFill>
                  <a:effectLst>
                    <a:glow rad="101600">
                      <a:prstClr val="white">
                        <a:alpha val="60000"/>
                      </a:prstClr>
                    </a:glow>
                  </a:effectLst>
                  <a:latin typeface="微软雅黑"/>
                  <a:ea typeface="微软雅黑"/>
                </a:rPr>
                <a:t>风险</a:t>
              </a:r>
              <a:r>
                <a:rPr lang="en-US" altLang="zh-CN" sz="900" b="1" dirty="0">
                  <a:solidFill>
                    <a:prstClr val="black"/>
                  </a:solidFill>
                  <a:effectLst>
                    <a:glow rad="101600">
                      <a:prstClr val="white">
                        <a:alpha val="60000"/>
                      </a:prstClr>
                    </a:glow>
                  </a:effectLst>
                  <a:latin typeface="微软雅黑"/>
                  <a:ea typeface="微软雅黑"/>
                </a:rPr>
                <a:t/>
              </a:r>
              <a:br>
                <a:rPr lang="en-US" altLang="zh-CN" sz="900" b="1" dirty="0">
                  <a:solidFill>
                    <a:prstClr val="black"/>
                  </a:solidFill>
                  <a:effectLst>
                    <a:glow rad="101600">
                      <a:prstClr val="white">
                        <a:alpha val="60000"/>
                      </a:prstClr>
                    </a:glow>
                  </a:effectLst>
                  <a:latin typeface="微软雅黑"/>
                  <a:ea typeface="微软雅黑"/>
                </a:rPr>
              </a:br>
              <a:r>
                <a:rPr lang="zh-CN" altLang="en-US" sz="900" b="1" dirty="0">
                  <a:solidFill>
                    <a:prstClr val="black"/>
                  </a:solidFill>
                  <a:effectLst>
                    <a:glow rad="101600">
                      <a:prstClr val="white">
                        <a:alpha val="60000"/>
                      </a:prstClr>
                    </a:glow>
                  </a:effectLst>
                  <a:latin typeface="微软雅黑"/>
                  <a:ea typeface="微软雅黑"/>
                </a:rPr>
                <a:t>降低</a:t>
              </a:r>
              <a:endParaRPr lang="en-US" altLang="zh-CN" sz="900" b="1" dirty="0">
                <a:solidFill>
                  <a:prstClr val="black"/>
                </a:solidFill>
                <a:effectLst>
                  <a:glow rad="101600">
                    <a:prstClr val="white">
                      <a:alpha val="60000"/>
                    </a:prstClr>
                  </a:glow>
                </a:effectLst>
                <a:latin typeface="微软雅黑"/>
                <a:ea typeface="微软雅黑"/>
              </a:endParaRPr>
            </a:p>
            <a:p>
              <a:pPr algn="ctr" eaLnBrk="1" fontAlgn="auto" hangingPunct="1">
                <a:spcBef>
                  <a:spcPts val="200"/>
                </a:spcBef>
                <a:spcAft>
                  <a:spcPts val="0"/>
                </a:spcAft>
                <a:defRPr/>
              </a:pPr>
              <a:r>
                <a:rPr lang="en-US" altLang="zh-CN" b="1" dirty="0">
                  <a:solidFill>
                    <a:prstClr val="white"/>
                  </a:solidFill>
                  <a:effectLst>
                    <a:glow rad="101600">
                      <a:srgbClr val="ED7D31">
                        <a:alpha val="60000"/>
                      </a:srgbClr>
                    </a:glow>
                  </a:effectLst>
                  <a:latin typeface="微软雅黑"/>
                  <a:ea typeface="微软雅黑"/>
                </a:rPr>
                <a:t>43%</a:t>
              </a:r>
              <a:endParaRPr lang="zh-CN" altLang="en-US" sz="900" b="1" dirty="0">
                <a:solidFill>
                  <a:prstClr val="white"/>
                </a:solidFill>
                <a:effectLst>
                  <a:glow rad="101600">
                    <a:srgbClr val="ED7D31">
                      <a:alpha val="60000"/>
                    </a:srgbClr>
                  </a:glow>
                </a:effectLst>
                <a:latin typeface="微软雅黑"/>
                <a:ea typeface="微软雅黑"/>
              </a:endParaRPr>
            </a:p>
          </p:txBody>
        </p:sp>
      </p:grpSp>
      <p:pic>
        <p:nvPicPr>
          <p:cNvPr id="37" name="图片 36"/>
          <p:cNvPicPr>
            <a:picLocks noChangeAspect="1"/>
          </p:cNvPicPr>
          <p:nvPr/>
        </p:nvPicPr>
        <p:blipFill>
          <a:blip r:embed="rId4"/>
          <a:stretch>
            <a:fillRect/>
          </a:stretch>
        </p:blipFill>
        <p:spPr>
          <a:xfrm>
            <a:off x="1017643" y="3694251"/>
            <a:ext cx="7736495" cy="2054530"/>
          </a:xfrm>
          <a:prstGeom prst="rect">
            <a:avLst/>
          </a:prstGeom>
        </p:spPr>
      </p:pic>
      <p:sp>
        <p:nvSpPr>
          <p:cNvPr id="38" name="矩形 37"/>
          <p:cNvSpPr/>
          <p:nvPr/>
        </p:nvSpPr>
        <p:spPr>
          <a:xfrm rot="21300000">
            <a:off x="1104028" y="4187743"/>
            <a:ext cx="7563724" cy="1080128"/>
          </a:xfrm>
          <a:prstGeom prst="rect">
            <a:avLst/>
          </a:prstGeom>
          <a:noFill/>
          <a:ln w="76200" cmpd="thickThin">
            <a:noFill/>
          </a:ln>
        </p:spPr>
        <p:style>
          <a:lnRef idx="2">
            <a:schemeClr val="accent1">
              <a:shade val="50000"/>
            </a:schemeClr>
          </a:lnRef>
          <a:fillRef idx="1">
            <a:schemeClr val="accent1"/>
          </a:fillRef>
          <a:effectRef idx="0">
            <a:schemeClr val="accent1"/>
          </a:effectRef>
          <a:fontRef idx="minor">
            <a:schemeClr val="lt1"/>
          </a:fontRef>
        </p:style>
        <p:txBody>
          <a:bodyPr lIns="360000" rIns="360000" rtlCol="0" anchor="ctr"/>
          <a:lstStyle/>
          <a:p>
            <a:pPr algn="just">
              <a:lnSpc>
                <a:spcPct val="120000"/>
              </a:lnSpc>
            </a:pPr>
            <a:r>
              <a:rPr lang="zh-CN" altLang="en-US" b="1" dirty="0">
                <a:solidFill>
                  <a:prstClr val="black"/>
                </a:solidFill>
                <a:cs typeface="+mn-ea"/>
                <a:sym typeface="+mn-lt"/>
              </a:rPr>
              <a:t>大量研究表明：卡培他滨治疗有效的肿瘤患者，对该药的皮肤反应也同样敏感。</a:t>
            </a:r>
            <a:r>
              <a:rPr lang="zh-CN" altLang="en-US" b="1" dirty="0">
                <a:solidFill>
                  <a:srgbClr val="108638"/>
                </a:solidFill>
                <a:cs typeface="+mn-ea"/>
                <a:sym typeface="+mn-lt"/>
              </a:rPr>
              <a:t>卡培他滨诱导的皮肤反应可作为患者获得更佳生存预后的预测因素</a:t>
            </a:r>
            <a:r>
              <a:rPr lang="en-US" altLang="zh-CN" b="1" baseline="30000" dirty="0">
                <a:solidFill>
                  <a:srgbClr val="108638"/>
                </a:solidFill>
                <a:cs typeface="+mn-ea"/>
                <a:sym typeface="+mn-lt"/>
              </a:rPr>
              <a:t>1-4</a:t>
            </a:r>
            <a:endParaRPr lang="zh-CN" altLang="en-US" b="1" baseline="30000" dirty="0">
              <a:solidFill>
                <a:srgbClr val="108638"/>
              </a:solidFill>
              <a:cs typeface="+mn-ea"/>
              <a:sym typeface="+mn-lt"/>
            </a:endParaRPr>
          </a:p>
        </p:txBody>
      </p:sp>
      <p:sp>
        <p:nvSpPr>
          <p:cNvPr id="15" name="矩形 14"/>
          <p:cNvSpPr/>
          <p:nvPr/>
        </p:nvSpPr>
        <p:spPr>
          <a:xfrm>
            <a:off x="1546614" y="6488668"/>
            <a:ext cx="4068743" cy="369332"/>
          </a:xfrm>
          <a:prstGeom prst="rect">
            <a:avLst/>
          </a:prstGeom>
        </p:spPr>
        <p:txBody>
          <a:bodyPr wrap="none">
            <a:spAutoFit/>
          </a:bodyPr>
          <a:lstStyle/>
          <a:p>
            <a:pPr marL="228600" indent="-228600" algn="r">
              <a:buFont typeface="+mj-lt"/>
              <a:buAutoNum type="arabicPeriod"/>
            </a:pPr>
            <a:r>
              <a:rPr lang="en-US" altLang="zh-CN" sz="900" dirty="0" err="1">
                <a:solidFill>
                  <a:prstClr val="black"/>
                </a:solidFill>
                <a:latin typeface="微软雅黑"/>
                <a:ea typeface="微软雅黑"/>
              </a:rPr>
              <a:t>Hofheinz</a:t>
            </a:r>
            <a:r>
              <a:rPr lang="en-US" altLang="zh-CN" sz="900" dirty="0">
                <a:solidFill>
                  <a:prstClr val="black"/>
                </a:solidFill>
                <a:latin typeface="微软雅黑"/>
                <a:ea typeface="微软雅黑"/>
              </a:rPr>
              <a:t> RD et al., British Journal of Cancer 2012;107(10):1678–83.</a:t>
            </a:r>
          </a:p>
          <a:p>
            <a:pPr marL="228600" indent="-228600" algn="r">
              <a:buFont typeface="+mj-lt"/>
              <a:buAutoNum type="arabicPeriod"/>
            </a:pPr>
            <a:r>
              <a:rPr lang="en-US" altLang="zh-CN" sz="900" dirty="0" err="1">
                <a:solidFill>
                  <a:prstClr val="black"/>
                </a:solidFill>
                <a:latin typeface="微软雅黑"/>
                <a:ea typeface="微软雅黑"/>
              </a:rPr>
              <a:t>Kwakman</a:t>
            </a:r>
            <a:r>
              <a:rPr lang="en-US" altLang="zh-CN" sz="900" dirty="0">
                <a:solidFill>
                  <a:prstClr val="black"/>
                </a:solidFill>
                <a:latin typeface="微软雅黑"/>
                <a:ea typeface="微软雅黑"/>
              </a:rPr>
              <a:t> JJM et al., </a:t>
            </a:r>
            <a:r>
              <a:rPr lang="en-US" altLang="zh-CN" sz="900" dirty="0" err="1">
                <a:solidFill>
                  <a:prstClr val="black"/>
                </a:solidFill>
                <a:latin typeface="微软雅黑"/>
                <a:ea typeface="微软雅黑"/>
              </a:rPr>
              <a:t>Acta</a:t>
            </a:r>
            <a:r>
              <a:rPr lang="en-US" altLang="zh-CN" sz="900" dirty="0">
                <a:solidFill>
                  <a:prstClr val="black"/>
                </a:solidFill>
                <a:latin typeface="微软雅黑"/>
                <a:ea typeface="微软雅黑"/>
              </a:rPr>
              <a:t> </a:t>
            </a:r>
            <a:r>
              <a:rPr lang="en-US" altLang="zh-CN" sz="900" dirty="0" err="1">
                <a:solidFill>
                  <a:prstClr val="black"/>
                </a:solidFill>
                <a:latin typeface="微软雅黑"/>
                <a:ea typeface="微软雅黑"/>
              </a:rPr>
              <a:t>Oncol</a:t>
            </a:r>
            <a:r>
              <a:rPr lang="en-US" altLang="zh-CN" sz="900" dirty="0">
                <a:solidFill>
                  <a:prstClr val="black"/>
                </a:solidFill>
                <a:latin typeface="微软雅黑"/>
                <a:ea typeface="微软雅黑"/>
              </a:rPr>
              <a:t>. 2017;56(7):1023-1026.</a:t>
            </a:r>
          </a:p>
        </p:txBody>
      </p:sp>
      <p:sp>
        <p:nvSpPr>
          <p:cNvPr id="19" name="矩形 18"/>
          <p:cNvSpPr/>
          <p:nvPr/>
        </p:nvSpPr>
        <p:spPr>
          <a:xfrm>
            <a:off x="4572000" y="6488668"/>
            <a:ext cx="4572000" cy="369332"/>
          </a:xfrm>
          <a:prstGeom prst="rect">
            <a:avLst/>
          </a:prstGeom>
        </p:spPr>
        <p:txBody>
          <a:bodyPr>
            <a:spAutoFit/>
          </a:bodyPr>
          <a:lstStyle/>
          <a:p>
            <a:pPr marL="228600" indent="-228600" algn="r">
              <a:buFont typeface="+mj-lt"/>
              <a:buAutoNum type="arabicPeriod" startAt="3"/>
            </a:pPr>
            <a:r>
              <a:rPr lang="zh-CN" altLang="en-US" sz="900" dirty="0">
                <a:solidFill>
                  <a:prstClr val="black"/>
                </a:solidFill>
                <a:latin typeface="微软雅黑"/>
                <a:ea typeface="微软雅黑"/>
              </a:rPr>
              <a:t>Stintzing S et al., Br J Cancer. 2011;105(2):206-11.</a:t>
            </a:r>
          </a:p>
          <a:p>
            <a:pPr marL="228600" indent="-228600" algn="r">
              <a:buFont typeface="+mj-lt"/>
              <a:buAutoNum type="arabicPeriod" startAt="3"/>
            </a:pPr>
            <a:r>
              <a:rPr lang="zh-CN" altLang="en-US" sz="900" dirty="0">
                <a:solidFill>
                  <a:prstClr val="black"/>
                </a:solidFill>
                <a:latin typeface="微软雅黑"/>
                <a:ea typeface="微软雅黑"/>
              </a:rPr>
              <a:t>Hofheinz RD et al., Lancet Oncol. 2012;13(6):579-88.</a:t>
            </a:r>
          </a:p>
        </p:txBody>
      </p:sp>
    </p:spTree>
    <p:extLst>
      <p:ext uri="{BB962C8B-B14F-4D97-AF65-F5344CB8AC3E}">
        <p14:creationId xmlns:p14="http://schemas.microsoft.com/office/powerpoint/2010/main" val="2050801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小</a:t>
            </a:r>
            <a:r>
              <a:rPr lang="zh-CN" altLang="en-US" dirty="0" smtClean="0"/>
              <a:t>结</a:t>
            </a:r>
            <a:endParaRPr lang="zh-CN" altLang="en-US" dirty="0"/>
          </a:p>
        </p:txBody>
      </p:sp>
      <p:grpSp>
        <p:nvGrpSpPr>
          <p:cNvPr id="5" name="组合 4"/>
          <p:cNvGrpSpPr/>
          <p:nvPr/>
        </p:nvGrpSpPr>
        <p:grpSpPr>
          <a:xfrm>
            <a:off x="696642" y="1543742"/>
            <a:ext cx="7699915" cy="4115157"/>
            <a:chOff x="696642" y="1543742"/>
            <a:chExt cx="7699915" cy="4115157"/>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642" y="1543742"/>
              <a:ext cx="7699915" cy="4115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组合 3"/>
            <p:cNvGrpSpPr/>
            <p:nvPr/>
          </p:nvGrpSpPr>
          <p:grpSpPr>
            <a:xfrm>
              <a:off x="1267591" y="2065353"/>
              <a:ext cx="6965392" cy="3325656"/>
              <a:chOff x="1267591" y="2065353"/>
              <a:chExt cx="6965392" cy="3325656"/>
            </a:xfrm>
          </p:grpSpPr>
          <p:sp>
            <p:nvSpPr>
              <p:cNvPr id="20" name="矩形 19"/>
              <p:cNvSpPr/>
              <p:nvPr/>
            </p:nvSpPr>
            <p:spPr>
              <a:xfrm>
                <a:off x="1267591" y="2065353"/>
                <a:ext cx="6965392" cy="472437"/>
              </a:xfrm>
              <a:prstGeom prst="rect">
                <a:avLst/>
              </a:prstGeom>
            </p:spPr>
            <p:txBody>
              <a:bodyPr wrap="square" anchor="ctr">
                <a:spAutoFit/>
              </a:bodyPr>
              <a:lstStyle/>
              <a:p>
                <a:pPr algn="just">
                  <a:lnSpc>
                    <a:spcPct val="130000"/>
                  </a:lnSpc>
                  <a:spcBef>
                    <a:spcPts val="0"/>
                  </a:spcBef>
                </a:pPr>
                <a:r>
                  <a:rPr lang="zh-CN" altLang="en-US" sz="1900" kern="0" spc="-30" dirty="0">
                    <a:solidFill>
                      <a:prstClr val="black"/>
                    </a:solidFill>
                    <a:latin typeface="Arial"/>
                    <a:ea typeface="Microsoft YaHei"/>
                  </a:rPr>
                  <a:t>卡培他滨治疗</a:t>
                </a:r>
                <a:r>
                  <a:rPr lang="en-US" altLang="zh-CN" sz="1900" kern="0" spc="-30" dirty="0">
                    <a:solidFill>
                      <a:prstClr val="black"/>
                    </a:solidFill>
                    <a:latin typeface="Arial"/>
                    <a:ea typeface="Microsoft YaHei"/>
                  </a:rPr>
                  <a:t>CRC</a:t>
                </a:r>
                <a:r>
                  <a:rPr lang="zh-CN" altLang="en-US" sz="1900" kern="0" spc="-30" dirty="0">
                    <a:solidFill>
                      <a:prstClr val="black"/>
                    </a:solidFill>
                    <a:latin typeface="Arial"/>
                    <a:ea typeface="Microsoft YaHei"/>
                  </a:rPr>
                  <a:t>时的</a:t>
                </a:r>
                <a:r>
                  <a:rPr lang="en-US" altLang="zh-CN" sz="1900" kern="0" spc="-30" dirty="0">
                    <a:solidFill>
                      <a:prstClr val="black"/>
                    </a:solidFill>
                    <a:latin typeface="Arial"/>
                    <a:ea typeface="Microsoft YaHei"/>
                  </a:rPr>
                  <a:t>HFS</a:t>
                </a:r>
                <a:r>
                  <a:rPr lang="zh-CN" altLang="en-US" sz="1900" kern="0" spc="-30" dirty="0">
                    <a:solidFill>
                      <a:prstClr val="black"/>
                    </a:solidFill>
                    <a:latin typeface="Arial"/>
                    <a:ea typeface="Microsoft YaHei"/>
                  </a:rPr>
                  <a:t>多为轻</a:t>
                </a:r>
                <a:r>
                  <a:rPr lang="en-US" altLang="zh-CN" sz="1900" kern="0" spc="-30" dirty="0">
                    <a:solidFill>
                      <a:prstClr val="black"/>
                    </a:solidFill>
                    <a:latin typeface="Arial"/>
                    <a:ea typeface="Microsoft YaHei"/>
                  </a:rPr>
                  <a:t>-</a:t>
                </a:r>
                <a:r>
                  <a:rPr lang="zh-CN" altLang="en-US" sz="1900" kern="0" spc="-30" dirty="0">
                    <a:solidFill>
                      <a:prstClr val="black"/>
                    </a:solidFill>
                    <a:latin typeface="Arial"/>
                    <a:ea typeface="Microsoft YaHei"/>
                  </a:rPr>
                  <a:t>中度，</a:t>
                </a:r>
                <a:r>
                  <a:rPr lang="en-US" altLang="zh-CN" sz="1900" kern="0" spc="-30" dirty="0">
                    <a:solidFill>
                      <a:prstClr val="black"/>
                    </a:solidFill>
                    <a:latin typeface="Arial"/>
                    <a:ea typeface="Microsoft YaHei"/>
                  </a:rPr>
                  <a:t>3/4</a:t>
                </a:r>
                <a:r>
                  <a:rPr lang="zh-CN" altLang="en-US" sz="1900" kern="0" spc="-30" dirty="0">
                    <a:solidFill>
                      <a:prstClr val="black"/>
                    </a:solidFill>
                    <a:latin typeface="Arial"/>
                    <a:ea typeface="Microsoft YaHei"/>
                  </a:rPr>
                  <a:t>级发生率仅</a:t>
                </a:r>
                <a:r>
                  <a:rPr lang="en-US" altLang="zh-CN" sz="1900" kern="0" spc="-30" dirty="0">
                    <a:solidFill>
                      <a:prstClr val="black"/>
                    </a:solidFill>
                    <a:latin typeface="Arial"/>
                    <a:ea typeface="Microsoft YaHei"/>
                  </a:rPr>
                  <a:t>5-18%</a:t>
                </a:r>
              </a:p>
            </p:txBody>
          </p:sp>
          <p:sp>
            <p:nvSpPr>
              <p:cNvPr id="21" name="矩形 20"/>
              <p:cNvSpPr/>
              <p:nvPr/>
            </p:nvSpPr>
            <p:spPr>
              <a:xfrm>
                <a:off x="1267591" y="3895215"/>
                <a:ext cx="6742800" cy="1495794"/>
              </a:xfrm>
              <a:prstGeom prst="rect">
                <a:avLst/>
              </a:prstGeom>
            </p:spPr>
            <p:txBody>
              <a:bodyPr wrap="square" anchor="ctr">
                <a:spAutoFit/>
              </a:bodyPr>
              <a:lstStyle/>
              <a:p>
                <a:pPr algn="just">
                  <a:lnSpc>
                    <a:spcPct val="160000"/>
                  </a:lnSpc>
                  <a:spcBef>
                    <a:spcPts val="0"/>
                  </a:spcBef>
                </a:pPr>
                <a:r>
                  <a:rPr lang="zh-CN" altLang="en-US" sz="1900" kern="0" dirty="0">
                    <a:solidFill>
                      <a:srgbClr val="211D1E"/>
                    </a:solidFill>
                    <a:latin typeface="Arial"/>
                    <a:ea typeface="Microsoft YaHei"/>
                  </a:rPr>
                  <a:t>大量研究显示：卡培他滨治疗转移性</a:t>
                </a:r>
                <a:r>
                  <a:rPr lang="en-US" altLang="zh-CN" sz="1900" kern="0" dirty="0">
                    <a:solidFill>
                      <a:srgbClr val="211D1E"/>
                    </a:solidFill>
                    <a:latin typeface="Arial"/>
                    <a:ea typeface="Microsoft YaHei"/>
                  </a:rPr>
                  <a:t>CRC</a:t>
                </a:r>
                <a:r>
                  <a:rPr lang="zh-CN" altLang="en-US" sz="1900" kern="0" dirty="0">
                    <a:solidFill>
                      <a:srgbClr val="211D1E"/>
                    </a:solidFill>
                    <a:latin typeface="Arial"/>
                    <a:ea typeface="Microsoft YaHei"/>
                  </a:rPr>
                  <a:t>所致的</a:t>
                </a:r>
                <a:r>
                  <a:rPr lang="en-US" altLang="zh-CN" sz="1900" kern="0" dirty="0">
                    <a:solidFill>
                      <a:srgbClr val="211D1E"/>
                    </a:solidFill>
                    <a:latin typeface="Arial"/>
                    <a:ea typeface="Microsoft YaHei"/>
                  </a:rPr>
                  <a:t>HFS</a:t>
                </a:r>
                <a:r>
                  <a:rPr lang="zh-CN" altLang="en-US" sz="1900" kern="0" dirty="0">
                    <a:solidFill>
                      <a:srgbClr val="211D1E"/>
                    </a:solidFill>
                    <a:latin typeface="Arial"/>
                    <a:ea typeface="Microsoft YaHei"/>
                  </a:rPr>
                  <a:t>与其疗效呈正相关性：</a:t>
                </a:r>
                <a:r>
                  <a:rPr lang="en-US" altLang="zh-CN" sz="1900" kern="0" dirty="0">
                    <a:solidFill>
                      <a:srgbClr val="211D1E"/>
                    </a:solidFill>
                    <a:latin typeface="Arial"/>
                    <a:ea typeface="Microsoft YaHei"/>
                  </a:rPr>
                  <a:t>PFS</a:t>
                </a:r>
                <a:r>
                  <a:rPr lang="zh-CN" altLang="en-US" sz="1900" kern="0" dirty="0">
                    <a:solidFill>
                      <a:srgbClr val="211D1E"/>
                    </a:solidFill>
                    <a:latin typeface="Arial"/>
                    <a:ea typeface="Microsoft YaHei"/>
                  </a:rPr>
                  <a:t>及</a:t>
                </a:r>
                <a:r>
                  <a:rPr lang="en-US" altLang="zh-CN" sz="1900" kern="0" dirty="0">
                    <a:solidFill>
                      <a:srgbClr val="211D1E"/>
                    </a:solidFill>
                    <a:latin typeface="Arial"/>
                    <a:ea typeface="Microsoft YaHei"/>
                  </a:rPr>
                  <a:t>OS</a:t>
                </a:r>
                <a:r>
                  <a:rPr lang="zh-CN" altLang="en-US" sz="1900" kern="0" dirty="0">
                    <a:solidFill>
                      <a:srgbClr val="211D1E"/>
                    </a:solidFill>
                    <a:latin typeface="Arial"/>
                    <a:ea typeface="Microsoft YaHei"/>
                  </a:rPr>
                  <a:t>显著更高、复发率显著更低。可将卡培他滨诱导的</a:t>
                </a:r>
                <a:r>
                  <a:rPr lang="en-US" altLang="zh-CN" sz="1900" kern="0" dirty="0">
                    <a:solidFill>
                      <a:srgbClr val="211D1E"/>
                    </a:solidFill>
                    <a:latin typeface="Arial"/>
                    <a:ea typeface="Microsoft YaHei"/>
                  </a:rPr>
                  <a:t>HFS</a:t>
                </a:r>
                <a:r>
                  <a:rPr lang="zh-CN" altLang="en-US" sz="1900" kern="0" dirty="0">
                    <a:solidFill>
                      <a:srgbClr val="211D1E"/>
                    </a:solidFill>
                    <a:latin typeface="Arial"/>
                    <a:ea typeface="Microsoft YaHei"/>
                  </a:rPr>
                  <a:t>作为患者获得更佳生存预后的预测因素</a:t>
                </a:r>
              </a:p>
            </p:txBody>
          </p:sp>
        </p:grpSp>
      </p:grpSp>
    </p:spTree>
    <p:extLst>
      <p:ext uri="{BB962C8B-B14F-4D97-AF65-F5344CB8AC3E}">
        <p14:creationId xmlns:p14="http://schemas.microsoft.com/office/powerpoint/2010/main" val="27049927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a:t>
            </a:r>
          </a:p>
        </p:txBody>
      </p:sp>
      <p:grpSp>
        <p:nvGrpSpPr>
          <p:cNvPr id="8" name="组合 7"/>
          <p:cNvGrpSpPr/>
          <p:nvPr/>
        </p:nvGrpSpPr>
        <p:grpSpPr>
          <a:xfrm>
            <a:off x="759418" y="1349449"/>
            <a:ext cx="7395089" cy="4298053"/>
            <a:chOff x="759418" y="1349449"/>
            <a:chExt cx="7395089" cy="4298053"/>
          </a:xfrm>
        </p:grpSpPr>
        <p:pic>
          <p:nvPicPr>
            <p:cNvPr id="6" name="图片 5"/>
            <p:cNvPicPr>
              <a:picLocks noChangeAspect="1"/>
            </p:cNvPicPr>
            <p:nvPr/>
          </p:nvPicPr>
          <p:blipFill>
            <a:blip r:embed="rId3"/>
            <a:stretch>
              <a:fillRect/>
            </a:stretch>
          </p:blipFill>
          <p:spPr>
            <a:xfrm>
              <a:off x="759418" y="1349449"/>
              <a:ext cx="7395089" cy="4298053"/>
            </a:xfrm>
            <a:prstGeom prst="rect">
              <a:avLst/>
            </a:prstGeom>
          </p:spPr>
        </p:pic>
        <p:sp>
          <p:nvSpPr>
            <p:cNvPr id="7" name="矩形 6"/>
            <p:cNvSpPr/>
            <p:nvPr/>
          </p:nvSpPr>
          <p:spPr>
            <a:xfrm>
              <a:off x="1934234" y="1653886"/>
              <a:ext cx="4582657" cy="430887"/>
            </a:xfrm>
            <a:prstGeom prst="rect">
              <a:avLst/>
            </a:prstGeom>
          </p:spPr>
          <p:txBody>
            <a:bodyPr wrap="square" anchor="ctr">
              <a:spAutoFit/>
            </a:bodyPr>
            <a:lstStyle/>
            <a:p>
              <a:r>
                <a:rPr lang="zh-CN" altLang="en-US" sz="2200" b="1" dirty="0">
                  <a:solidFill>
                    <a:srgbClr val="BFBFBF"/>
                  </a:solidFill>
                  <a:latin typeface="Microsoft YaHei"/>
                  <a:ea typeface="Microsoft YaHei"/>
                </a:rPr>
                <a:t>手</a:t>
              </a:r>
              <a:r>
                <a:rPr lang="en-US" altLang="zh-CN" sz="2200" b="1" dirty="0">
                  <a:solidFill>
                    <a:srgbClr val="BFBFBF"/>
                  </a:solidFill>
                  <a:latin typeface="Microsoft YaHei"/>
                  <a:ea typeface="Microsoft YaHei"/>
                </a:rPr>
                <a:t>-</a:t>
              </a:r>
              <a:r>
                <a:rPr lang="zh-CN" altLang="en-US" sz="2200" b="1" dirty="0">
                  <a:solidFill>
                    <a:srgbClr val="BFBFBF"/>
                  </a:solidFill>
                  <a:latin typeface="Microsoft YaHei"/>
                  <a:ea typeface="Microsoft YaHei"/>
                </a:rPr>
                <a:t>足综合征（</a:t>
              </a:r>
              <a:r>
                <a:rPr lang="en-US" altLang="zh-CN" sz="2200" b="1" dirty="0">
                  <a:solidFill>
                    <a:srgbClr val="BFBFBF"/>
                  </a:solidFill>
                  <a:latin typeface="Microsoft YaHei"/>
                  <a:ea typeface="Microsoft YaHei"/>
                </a:rPr>
                <a:t>HFS</a:t>
              </a:r>
              <a:r>
                <a:rPr lang="zh-CN" altLang="en-US" sz="2200" b="1" dirty="0">
                  <a:solidFill>
                    <a:srgbClr val="BFBFBF"/>
                  </a:solidFill>
                  <a:latin typeface="Microsoft YaHei"/>
                  <a:ea typeface="Microsoft YaHei"/>
                </a:rPr>
                <a:t>） 概述</a:t>
              </a:r>
              <a:endParaRPr lang="en-US" altLang="zh-CN" sz="2200" b="1" dirty="0">
                <a:solidFill>
                  <a:srgbClr val="BFBFBF"/>
                </a:solidFill>
                <a:latin typeface="Microsoft YaHei"/>
                <a:ea typeface="Microsoft YaHei"/>
              </a:endParaRPr>
            </a:p>
          </p:txBody>
        </p:sp>
        <p:sp>
          <p:nvSpPr>
            <p:cNvPr id="28" name="矩形 27"/>
            <p:cNvSpPr/>
            <p:nvPr/>
          </p:nvSpPr>
          <p:spPr>
            <a:xfrm>
              <a:off x="1934234" y="3254458"/>
              <a:ext cx="3714222" cy="430887"/>
            </a:xfrm>
            <a:prstGeom prst="rect">
              <a:avLst/>
            </a:prstGeom>
          </p:spPr>
          <p:txBody>
            <a:bodyPr wrap="none" anchor="ctr">
              <a:spAutoFit/>
            </a:bodyPr>
            <a:lstStyle/>
            <a:p>
              <a:r>
                <a:rPr lang="zh-CN" altLang="en-US" sz="2200" b="1" dirty="0">
                  <a:solidFill>
                    <a:srgbClr val="BFBFBF"/>
                  </a:solidFill>
                  <a:latin typeface="Microsoft YaHei"/>
                  <a:ea typeface="Microsoft YaHei"/>
                </a:rPr>
                <a:t>卡培他滨 </a:t>
              </a:r>
              <a:r>
                <a:rPr lang="en-US" altLang="zh-CN" sz="2200" b="1" dirty="0">
                  <a:solidFill>
                    <a:srgbClr val="BFBFBF"/>
                  </a:solidFill>
                  <a:latin typeface="Microsoft YaHei"/>
                  <a:ea typeface="Microsoft YaHei"/>
                </a:rPr>
                <a:t>&amp; CRC</a:t>
              </a:r>
              <a:r>
                <a:rPr lang="zh-CN" altLang="en-US" sz="2200" b="1" dirty="0">
                  <a:solidFill>
                    <a:srgbClr val="BFBFBF"/>
                  </a:solidFill>
                  <a:latin typeface="Microsoft YaHei"/>
                  <a:ea typeface="Microsoft YaHei"/>
                </a:rPr>
                <a:t>患者的</a:t>
              </a:r>
              <a:r>
                <a:rPr lang="en-US" altLang="zh-CN" sz="2200" b="1" dirty="0">
                  <a:solidFill>
                    <a:srgbClr val="BFBFBF"/>
                  </a:solidFill>
                  <a:latin typeface="Microsoft YaHei"/>
                  <a:ea typeface="Microsoft YaHei"/>
                </a:rPr>
                <a:t>HFS</a:t>
              </a:r>
            </a:p>
          </p:txBody>
        </p:sp>
        <p:sp>
          <p:nvSpPr>
            <p:cNvPr id="29" name="矩形 28"/>
            <p:cNvSpPr/>
            <p:nvPr/>
          </p:nvSpPr>
          <p:spPr>
            <a:xfrm>
              <a:off x="1934234" y="4855030"/>
              <a:ext cx="2997808" cy="430887"/>
            </a:xfrm>
            <a:prstGeom prst="rect">
              <a:avLst/>
            </a:prstGeom>
          </p:spPr>
          <p:txBody>
            <a:bodyPr wrap="none" anchor="ctr">
              <a:spAutoFit/>
            </a:bodyPr>
            <a:lstStyle/>
            <a:p>
              <a:r>
                <a:rPr lang="en-US" altLang="zh-CN" sz="2200" b="1" dirty="0" smtClean="0">
                  <a:solidFill>
                    <a:prstClr val="black"/>
                  </a:solidFill>
                  <a:latin typeface="Microsoft YaHei"/>
                  <a:ea typeface="Microsoft YaHei"/>
                </a:rPr>
                <a:t>HFS</a:t>
              </a:r>
              <a:r>
                <a:rPr lang="zh-CN" altLang="en-US" sz="2200" b="1" dirty="0">
                  <a:solidFill>
                    <a:prstClr val="black"/>
                  </a:solidFill>
                  <a:latin typeface="Microsoft YaHei"/>
                  <a:ea typeface="Microsoft YaHei"/>
                </a:rPr>
                <a:t>的防治和处理建议</a:t>
              </a:r>
            </a:p>
          </p:txBody>
        </p:sp>
      </p:grpSp>
    </p:spTree>
    <p:extLst>
      <p:ext uri="{BB962C8B-B14F-4D97-AF65-F5344CB8AC3E}">
        <p14:creationId xmlns:p14="http://schemas.microsoft.com/office/powerpoint/2010/main" val="2631542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000" dirty="0">
                <a:latin typeface="+mn-ea"/>
              </a:rPr>
              <a:t>HFS</a:t>
            </a:r>
            <a:r>
              <a:rPr lang="zh-CN" altLang="en-US" sz="2000" dirty="0">
                <a:latin typeface="+mn-ea"/>
              </a:rPr>
              <a:t>可能机制之</a:t>
            </a:r>
            <a:r>
              <a:rPr lang="en-US" altLang="zh-CN" sz="2000" dirty="0">
                <a:latin typeface="+mn-ea"/>
              </a:rPr>
              <a:t>1——</a:t>
            </a:r>
            <a:br>
              <a:rPr lang="en-US" altLang="zh-CN" sz="2000" dirty="0">
                <a:latin typeface="+mn-ea"/>
              </a:rPr>
            </a:br>
            <a:r>
              <a:rPr lang="zh-CN" altLang="en-US" dirty="0">
                <a:latin typeface="+mn-ea"/>
              </a:rPr>
              <a:t>药物通过汗腺分泌及毛细血管损伤引起</a:t>
            </a:r>
            <a:r>
              <a:rPr lang="en-US" altLang="zh-CN" dirty="0">
                <a:latin typeface="+mn-ea"/>
              </a:rPr>
              <a:t>HFS</a:t>
            </a:r>
            <a:endParaRPr lang="zh-CN" altLang="en-US" dirty="0"/>
          </a:p>
        </p:txBody>
      </p:sp>
      <p:sp>
        <p:nvSpPr>
          <p:cNvPr id="69" name="矩形 68"/>
          <p:cNvSpPr/>
          <p:nvPr/>
        </p:nvSpPr>
        <p:spPr>
          <a:xfrm>
            <a:off x="5377063" y="6355919"/>
            <a:ext cx="3764172" cy="507831"/>
          </a:xfrm>
          <a:prstGeom prst="rect">
            <a:avLst/>
          </a:prstGeom>
        </p:spPr>
        <p:txBody>
          <a:bodyPr wrap="none" anchor="ctr">
            <a:spAutoFit/>
          </a:bodyPr>
          <a:lstStyle/>
          <a:p>
            <a:pPr marL="228600" indent="-228600" algn="r">
              <a:buFont typeface="+mj-lt"/>
              <a:buAutoNum type="arabicPeriod"/>
            </a:pPr>
            <a:r>
              <a:rPr lang="en-US" altLang="zh-CN" sz="900" dirty="0">
                <a:solidFill>
                  <a:prstClr val="black"/>
                </a:solidFill>
                <a:latin typeface="Microsoft YaHei" panose="020F0502020204030204"/>
                <a:ea typeface="Microsoft YaHei"/>
              </a:rPr>
              <a:t>Nikolaou V et al.,</a:t>
            </a:r>
            <a:r>
              <a:rPr lang="nl-NL" altLang="zh-CN" sz="900" dirty="0">
                <a:solidFill>
                  <a:prstClr val="black"/>
                </a:solidFill>
                <a:latin typeface="Microsoft YaHei" panose="020F0502020204030204"/>
                <a:ea typeface="Microsoft YaHei"/>
              </a:rPr>
              <a:t> Expert Opin Drug Saf. 2016;15(12):1625-33.</a:t>
            </a:r>
            <a:endParaRPr lang="en-US" altLang="zh-CN" sz="900" dirty="0">
              <a:solidFill>
                <a:prstClr val="black"/>
              </a:solidFill>
              <a:latin typeface="Microsoft YaHei" panose="020F0502020204030204"/>
              <a:ea typeface="Microsoft YaHei"/>
            </a:endParaRPr>
          </a:p>
          <a:p>
            <a:pPr marL="228600" indent="-228600" algn="r">
              <a:buFont typeface="+mj-lt"/>
              <a:buAutoNum type="arabicPeriod"/>
            </a:pPr>
            <a:r>
              <a:rPr lang="zh-CN" altLang="en-US" sz="900" dirty="0">
                <a:solidFill>
                  <a:prstClr val="black"/>
                </a:solidFill>
                <a:latin typeface="Microsoft YaHei" panose="020F0502020204030204"/>
                <a:ea typeface="Microsoft YaHei"/>
              </a:rPr>
              <a:t>赵德华等</a:t>
            </a:r>
            <a:r>
              <a:rPr lang="en-US" altLang="zh-CN" sz="900" dirty="0">
                <a:solidFill>
                  <a:prstClr val="black"/>
                </a:solidFill>
                <a:latin typeface="Microsoft YaHei" panose="020F0502020204030204"/>
                <a:ea typeface="Microsoft YaHei"/>
              </a:rPr>
              <a:t>, </a:t>
            </a:r>
            <a:r>
              <a:rPr lang="zh-CN" altLang="en-US" sz="900" dirty="0">
                <a:solidFill>
                  <a:prstClr val="black"/>
                </a:solidFill>
                <a:latin typeface="Microsoft YaHei" panose="020F0502020204030204"/>
                <a:ea typeface="Microsoft YaHei"/>
              </a:rPr>
              <a:t>中国现代应用药学 </a:t>
            </a:r>
            <a:r>
              <a:rPr lang="en-US" altLang="zh-CN" sz="900" dirty="0">
                <a:solidFill>
                  <a:prstClr val="black"/>
                </a:solidFill>
                <a:latin typeface="Microsoft YaHei" panose="020F0502020204030204"/>
                <a:ea typeface="Microsoft YaHei"/>
              </a:rPr>
              <a:t>2019;36(11):1437-42.</a:t>
            </a:r>
          </a:p>
          <a:p>
            <a:pPr marL="228600" indent="-228600" algn="r">
              <a:buFont typeface="+mj-lt"/>
              <a:buAutoNum type="arabicPeriod"/>
            </a:pPr>
            <a:r>
              <a:rPr lang="fr-FR" altLang="zh-CN" sz="900" dirty="0">
                <a:solidFill>
                  <a:prstClr val="black"/>
                </a:solidFill>
                <a:latin typeface="Microsoft YaHei" panose="020F0502020204030204"/>
                <a:ea typeface="Microsoft YaHei"/>
              </a:rPr>
              <a:t>Milano G  et al., Br J Clin Pharmacol. 2008;66(1):88–95.</a:t>
            </a:r>
            <a:endParaRPr lang="zh-CN" altLang="en-US" sz="900" dirty="0">
              <a:solidFill>
                <a:prstClr val="black"/>
              </a:solidFill>
              <a:latin typeface="Microsoft YaHei" panose="020F0502020204030204"/>
              <a:ea typeface="Microsoft YaHei"/>
            </a:endParaRPr>
          </a:p>
        </p:txBody>
      </p:sp>
      <p:grpSp>
        <p:nvGrpSpPr>
          <p:cNvPr id="14" name="组合 13">
            <a:extLst>
              <a:ext uri="{FF2B5EF4-FFF2-40B4-BE49-F238E27FC236}">
                <a16:creationId xmlns:a16="http://schemas.microsoft.com/office/drawing/2014/main" xmlns="" id="{21B6F716-D441-4640-AC70-2553EC0447DA}"/>
              </a:ext>
            </a:extLst>
          </p:cNvPr>
          <p:cNvGrpSpPr/>
          <p:nvPr/>
        </p:nvGrpSpPr>
        <p:grpSpPr>
          <a:xfrm>
            <a:off x="278320" y="1550150"/>
            <a:ext cx="8549852" cy="3999323"/>
            <a:chOff x="278320" y="1550150"/>
            <a:chExt cx="8549852" cy="3999323"/>
          </a:xfrm>
        </p:grpSpPr>
        <p:pic>
          <p:nvPicPr>
            <p:cNvPr id="10" name="图片 9">
              <a:extLst>
                <a:ext uri="{FF2B5EF4-FFF2-40B4-BE49-F238E27FC236}">
                  <a16:creationId xmlns:a16="http://schemas.microsoft.com/office/drawing/2014/main" xmlns="" id="{E351A935-0DED-433F-B748-0CD4C1EC907A}"/>
                </a:ext>
              </a:extLst>
            </p:cNvPr>
            <p:cNvPicPr>
              <a:picLocks noChangeAspect="1"/>
            </p:cNvPicPr>
            <p:nvPr/>
          </p:nvPicPr>
          <p:blipFill>
            <a:blip r:embed="rId3"/>
            <a:stretch>
              <a:fillRect/>
            </a:stretch>
          </p:blipFill>
          <p:spPr>
            <a:xfrm>
              <a:off x="278320" y="1550150"/>
              <a:ext cx="8547333" cy="3999323"/>
            </a:xfrm>
            <a:prstGeom prst="rect">
              <a:avLst/>
            </a:prstGeom>
          </p:spPr>
        </p:pic>
        <p:sp>
          <p:nvSpPr>
            <p:cNvPr id="56" name="矩形 55"/>
            <p:cNvSpPr/>
            <p:nvPr/>
          </p:nvSpPr>
          <p:spPr>
            <a:xfrm>
              <a:off x="5448468" y="2344662"/>
              <a:ext cx="1557677" cy="743480"/>
            </a:xfrm>
            <a:prstGeom prst="rect">
              <a:avLst/>
            </a:prstGeom>
            <a:noFill/>
          </p:spPr>
          <p:txBody>
            <a:bodyPr wrap="square" anchor="ctr">
              <a:noAutofit/>
            </a:bodyPr>
            <a:lstStyle/>
            <a:p>
              <a:pPr algn="ctr" eaLnBrk="1" hangingPunct="1">
                <a:lnSpc>
                  <a:spcPct val="120000"/>
                </a:lnSpc>
                <a:spcBef>
                  <a:spcPts val="600"/>
                </a:spcBef>
              </a:pPr>
              <a:r>
                <a:rPr lang="zh-CN" altLang="en-US" sz="1400" b="1" dirty="0">
                  <a:solidFill>
                    <a:prstClr val="black"/>
                  </a:solidFill>
                  <a:latin typeface="Microsoft YaHei" panose="020F0502020204030204"/>
                  <a:ea typeface="Microsoft YaHei"/>
                  <a:sym typeface="Arial Unicode MS" panose="020B0604020202020204" pitchFamily="34" charset="-122"/>
                </a:rPr>
                <a:t>药物代谢产物在</a:t>
              </a:r>
              <a:endParaRPr lang="en-US" altLang="zh-CN" sz="1400" b="1" dirty="0">
                <a:solidFill>
                  <a:prstClr val="black"/>
                </a:solidFill>
                <a:latin typeface="Microsoft YaHei" panose="020F0502020204030204"/>
                <a:ea typeface="Microsoft YaHei"/>
                <a:sym typeface="Arial Unicode MS" panose="020B0604020202020204" pitchFamily="34" charset="-122"/>
              </a:endParaRPr>
            </a:p>
            <a:p>
              <a:pPr algn="ctr" eaLnBrk="1" hangingPunct="1">
                <a:lnSpc>
                  <a:spcPct val="120000"/>
                </a:lnSpc>
                <a:spcBef>
                  <a:spcPts val="100"/>
                </a:spcBef>
              </a:pPr>
              <a:r>
                <a:rPr lang="zh-CN" altLang="en-US" sz="1400" b="1" dirty="0">
                  <a:solidFill>
                    <a:prstClr val="black"/>
                  </a:solidFill>
                  <a:latin typeface="Microsoft YaHei" panose="020F0502020204030204"/>
                  <a:ea typeface="Microsoft YaHei"/>
                  <a:sym typeface="Arial Unicode MS" panose="020B0604020202020204" pitchFamily="34" charset="-122"/>
                </a:rPr>
                <a:t>手足部浓度增加</a:t>
              </a:r>
              <a:r>
                <a:rPr lang="en-US" altLang="zh-CN" sz="1400" b="1" baseline="30000" dirty="0">
                  <a:solidFill>
                    <a:prstClr val="black"/>
                  </a:solidFill>
                  <a:latin typeface="Microsoft YaHei" panose="020F0502020204030204"/>
                  <a:ea typeface="Microsoft YaHei"/>
                  <a:sym typeface="Arial Unicode MS" panose="020B0604020202020204" pitchFamily="34" charset="-122"/>
                </a:rPr>
                <a:t>1</a:t>
              </a:r>
              <a:endParaRPr lang="en-US" altLang="zh-CN" sz="1400" b="1" dirty="0">
                <a:solidFill>
                  <a:prstClr val="black"/>
                </a:solidFill>
                <a:latin typeface="Microsoft YaHei" panose="020F0502020204030204"/>
                <a:ea typeface="Microsoft YaHei"/>
                <a:sym typeface="Arial Unicode MS" panose="020B0604020202020204" pitchFamily="34" charset="-122"/>
              </a:endParaRPr>
            </a:p>
          </p:txBody>
        </p:sp>
        <p:grpSp>
          <p:nvGrpSpPr>
            <p:cNvPr id="3" name="组合 2"/>
            <p:cNvGrpSpPr/>
            <p:nvPr/>
          </p:nvGrpSpPr>
          <p:grpSpPr>
            <a:xfrm>
              <a:off x="372734" y="1660357"/>
              <a:ext cx="4128660" cy="609398"/>
              <a:chOff x="372734" y="1660357"/>
              <a:chExt cx="4128660" cy="609398"/>
            </a:xfrm>
          </p:grpSpPr>
          <p:sp>
            <p:nvSpPr>
              <p:cNvPr id="50" name="矩形 49"/>
              <p:cNvSpPr/>
              <p:nvPr/>
            </p:nvSpPr>
            <p:spPr>
              <a:xfrm>
                <a:off x="372734" y="1660357"/>
                <a:ext cx="2245372" cy="609398"/>
              </a:xfrm>
              <a:prstGeom prst="rect">
                <a:avLst/>
              </a:prstGeom>
            </p:spPr>
            <p:txBody>
              <a:bodyPr wrap="square" anchor="ctr">
                <a:spAutoFit/>
              </a:bodyPr>
              <a:lstStyle/>
              <a:p>
                <a:pPr>
                  <a:lnSpc>
                    <a:spcPct val="120000"/>
                  </a:lnSpc>
                  <a:spcBef>
                    <a:spcPts val="0"/>
                  </a:spcBef>
                </a:pPr>
                <a:r>
                  <a:rPr lang="zh-CN" altLang="en-US" sz="1400" dirty="0">
                    <a:solidFill>
                      <a:prstClr val="black"/>
                    </a:solidFill>
                    <a:latin typeface="Microsoft YaHei" panose="020F0502020204030204"/>
                    <a:ea typeface="Microsoft YaHei"/>
                  </a:rPr>
                  <a:t>手足部外分泌腺密集，</a:t>
                </a:r>
                <a:endParaRPr lang="en-US" altLang="zh-CN" sz="1400" dirty="0">
                  <a:solidFill>
                    <a:prstClr val="black"/>
                  </a:solidFill>
                  <a:latin typeface="Microsoft YaHei" panose="020F0502020204030204"/>
                  <a:ea typeface="Microsoft YaHei"/>
                </a:endParaRPr>
              </a:p>
              <a:p>
                <a:pPr>
                  <a:lnSpc>
                    <a:spcPct val="120000"/>
                  </a:lnSpc>
                  <a:spcBef>
                    <a:spcPts val="0"/>
                  </a:spcBef>
                </a:pPr>
                <a:r>
                  <a:rPr lang="zh-CN" altLang="en-US" sz="1400" dirty="0">
                    <a:solidFill>
                      <a:prstClr val="black"/>
                    </a:solidFill>
                    <a:latin typeface="Microsoft YaHei" panose="020F0502020204030204"/>
                    <a:ea typeface="Microsoft YaHei"/>
                  </a:rPr>
                  <a:t>而药物通过外分泌腺排泄</a:t>
                </a:r>
                <a:r>
                  <a:rPr lang="en-US" altLang="zh-CN" sz="1400" baseline="30000" dirty="0">
                    <a:solidFill>
                      <a:prstClr val="black"/>
                    </a:solidFill>
                    <a:latin typeface="Microsoft YaHei" panose="020F0502020204030204"/>
                    <a:ea typeface="Microsoft YaHei"/>
                  </a:rPr>
                  <a:t>1</a:t>
                </a:r>
                <a:endParaRPr lang="en-US" altLang="zh-CN" sz="1400" dirty="0">
                  <a:solidFill>
                    <a:prstClr val="black"/>
                  </a:solidFill>
                  <a:latin typeface="Microsoft YaHei" panose="020F0502020204030204"/>
                  <a:ea typeface="Microsoft YaHei"/>
                </a:endParaRPr>
              </a:p>
            </p:txBody>
          </p:sp>
          <p:sp>
            <p:nvSpPr>
              <p:cNvPr id="51" name="矩形 50"/>
              <p:cNvSpPr/>
              <p:nvPr/>
            </p:nvSpPr>
            <p:spPr>
              <a:xfrm>
                <a:off x="3158486" y="1682056"/>
                <a:ext cx="1342908" cy="565999"/>
              </a:xfrm>
              <a:prstGeom prst="rect">
                <a:avLst/>
              </a:prstGeom>
              <a:noFill/>
              <a:ln>
                <a:noFill/>
              </a:ln>
            </p:spPr>
            <p:txBody>
              <a:bodyPr wrap="square" anchor="ctr">
                <a:noAutofit/>
              </a:bodyPr>
              <a:lstStyle/>
              <a:p>
                <a:pPr algn="ctr"/>
                <a:r>
                  <a:rPr lang="zh-CN" altLang="en-US" sz="1400" dirty="0">
                    <a:solidFill>
                      <a:prstClr val="black"/>
                    </a:solidFill>
                    <a:latin typeface="Microsoft YaHei" panose="020F0502020204030204"/>
                    <a:ea typeface="Microsoft YaHei"/>
                    <a:sym typeface="Arial Unicode MS" panose="020B0604020202020204" pitchFamily="34" charset="-122"/>
                  </a:rPr>
                  <a:t>药物外渗</a:t>
                </a:r>
                <a:r>
                  <a:rPr lang="en-US" altLang="zh-CN" sz="1400" baseline="30000" dirty="0">
                    <a:solidFill>
                      <a:prstClr val="black"/>
                    </a:solidFill>
                    <a:latin typeface="Microsoft YaHei" panose="020F0502020204030204"/>
                    <a:ea typeface="Microsoft YaHei"/>
                    <a:sym typeface="Arial Unicode MS" panose="020B0604020202020204" pitchFamily="34" charset="-122"/>
                  </a:rPr>
                  <a:t>2</a:t>
                </a:r>
                <a:endParaRPr lang="zh-CN" altLang="en-US" sz="1400" dirty="0">
                  <a:solidFill>
                    <a:prstClr val="black"/>
                  </a:solidFill>
                  <a:latin typeface="Microsoft YaHei" panose="020F0502020204030204"/>
                  <a:ea typeface="Microsoft YaHei"/>
                </a:endParaRPr>
              </a:p>
            </p:txBody>
          </p:sp>
        </p:grpSp>
        <p:grpSp>
          <p:nvGrpSpPr>
            <p:cNvPr id="4" name="组合 3"/>
            <p:cNvGrpSpPr/>
            <p:nvPr/>
          </p:nvGrpSpPr>
          <p:grpSpPr>
            <a:xfrm>
              <a:off x="312180" y="3059414"/>
              <a:ext cx="4189214" cy="863865"/>
              <a:chOff x="312180" y="3059414"/>
              <a:chExt cx="4189214" cy="863865"/>
            </a:xfrm>
          </p:grpSpPr>
          <p:sp>
            <p:nvSpPr>
              <p:cNvPr id="52" name="矩形 51"/>
              <p:cNvSpPr/>
              <p:nvPr/>
            </p:nvSpPr>
            <p:spPr>
              <a:xfrm>
                <a:off x="3158486" y="3208347"/>
                <a:ext cx="1342908" cy="565999"/>
              </a:xfrm>
              <a:prstGeom prst="rect">
                <a:avLst/>
              </a:prstGeom>
              <a:noFill/>
              <a:ln>
                <a:noFill/>
              </a:ln>
            </p:spPr>
            <p:txBody>
              <a:bodyPr wrap="square" anchor="ctr">
                <a:noAutofit/>
              </a:bodyPr>
              <a:lstStyle/>
              <a:p>
                <a:pPr algn="ctr"/>
                <a:r>
                  <a:rPr lang="zh-CN" altLang="en-US" sz="1400" dirty="0">
                    <a:solidFill>
                      <a:prstClr val="black"/>
                    </a:solidFill>
                    <a:latin typeface="Microsoft YaHei" panose="020F0502020204030204"/>
                    <a:ea typeface="Microsoft YaHei"/>
                    <a:sym typeface="Arial Unicode MS" panose="020B0604020202020204" pitchFamily="34" charset="-122"/>
                  </a:rPr>
                  <a:t>毛细血管</a:t>
                </a:r>
                <a:endParaRPr lang="en-US" altLang="zh-CN" sz="1400" dirty="0">
                  <a:solidFill>
                    <a:prstClr val="black"/>
                  </a:solidFill>
                  <a:latin typeface="Microsoft YaHei" panose="020F0502020204030204"/>
                  <a:ea typeface="Microsoft YaHei"/>
                  <a:sym typeface="Arial Unicode MS" panose="020B0604020202020204" pitchFamily="34" charset="-122"/>
                </a:endParaRPr>
              </a:p>
              <a:p>
                <a:pPr algn="ctr"/>
                <a:r>
                  <a:rPr lang="zh-CN" altLang="en-US" sz="1400" dirty="0">
                    <a:solidFill>
                      <a:prstClr val="black"/>
                    </a:solidFill>
                    <a:latin typeface="Microsoft YaHei" panose="020F0502020204030204"/>
                    <a:ea typeface="Microsoft YaHei"/>
                    <a:sym typeface="Arial Unicode MS" panose="020B0604020202020204" pitchFamily="34" charset="-122"/>
                  </a:rPr>
                  <a:t>损伤</a:t>
                </a:r>
                <a:r>
                  <a:rPr lang="en-US" altLang="zh-CN" sz="1400" baseline="30000" dirty="0">
                    <a:solidFill>
                      <a:prstClr val="black"/>
                    </a:solidFill>
                    <a:latin typeface="Microsoft YaHei" panose="020F0502020204030204"/>
                    <a:ea typeface="Microsoft YaHei"/>
                    <a:sym typeface="Arial Unicode MS" panose="020B0604020202020204" pitchFamily="34" charset="-122"/>
                  </a:rPr>
                  <a:t>2</a:t>
                </a:r>
                <a:endParaRPr lang="zh-CN" altLang="en-US" sz="1400" dirty="0">
                  <a:solidFill>
                    <a:prstClr val="black"/>
                  </a:solidFill>
                  <a:latin typeface="Microsoft YaHei" panose="020F0502020204030204"/>
                  <a:ea typeface="Microsoft YaHei"/>
                </a:endParaRPr>
              </a:p>
            </p:txBody>
          </p:sp>
          <p:sp>
            <p:nvSpPr>
              <p:cNvPr id="53" name="矩形 52"/>
              <p:cNvSpPr/>
              <p:nvPr/>
            </p:nvSpPr>
            <p:spPr>
              <a:xfrm>
                <a:off x="312180" y="3059414"/>
                <a:ext cx="2351934" cy="863865"/>
              </a:xfrm>
              <a:prstGeom prst="rect">
                <a:avLst/>
              </a:prstGeom>
              <a:noFill/>
              <a:ln>
                <a:noFill/>
              </a:ln>
            </p:spPr>
            <p:txBody>
              <a:bodyPr wrap="square" anchor="ctr">
                <a:noAutofit/>
              </a:bodyPr>
              <a:lstStyle/>
              <a:p>
                <a:pPr>
                  <a:lnSpc>
                    <a:spcPct val="120000"/>
                  </a:lnSpc>
                  <a:spcBef>
                    <a:spcPts val="0"/>
                  </a:spcBef>
                </a:pPr>
                <a:r>
                  <a:rPr lang="zh-CN" altLang="en-US" sz="1400" dirty="0">
                    <a:solidFill>
                      <a:prstClr val="black"/>
                    </a:solidFill>
                    <a:latin typeface="Microsoft YaHei" panose="020F0502020204030204"/>
                    <a:ea typeface="Microsoft YaHei"/>
                    <a:sym typeface="Arial Unicode MS" panose="020B0604020202020204" pitchFamily="34" charset="-122"/>
                  </a:rPr>
                  <a:t>手足部毛细血管较多、血运丰富，且易受摩擦、创伤</a:t>
                </a:r>
                <a:r>
                  <a:rPr lang="en-US" altLang="zh-CN" sz="1400" baseline="30000" dirty="0">
                    <a:solidFill>
                      <a:prstClr val="black"/>
                    </a:solidFill>
                    <a:latin typeface="Microsoft YaHei" panose="020F0502020204030204"/>
                    <a:ea typeface="Microsoft YaHei"/>
                    <a:sym typeface="Arial Unicode MS" panose="020B0604020202020204" pitchFamily="34" charset="-122"/>
                  </a:rPr>
                  <a:t>1</a:t>
                </a:r>
                <a:endParaRPr lang="en-US" altLang="zh-CN" sz="1400" dirty="0">
                  <a:solidFill>
                    <a:prstClr val="black"/>
                  </a:solidFill>
                  <a:latin typeface="Microsoft YaHei" panose="020F0502020204030204"/>
                  <a:ea typeface="Microsoft YaHei"/>
                  <a:sym typeface="Arial Unicode MS" panose="020B0604020202020204" pitchFamily="34" charset="-122"/>
                </a:endParaRPr>
              </a:p>
            </p:txBody>
          </p:sp>
        </p:grpSp>
        <p:grpSp>
          <p:nvGrpSpPr>
            <p:cNvPr id="6" name="组合 5"/>
            <p:cNvGrpSpPr/>
            <p:nvPr/>
          </p:nvGrpSpPr>
          <p:grpSpPr>
            <a:xfrm>
              <a:off x="386129" y="4701202"/>
              <a:ext cx="6620016" cy="743480"/>
              <a:chOff x="386129" y="4701202"/>
              <a:chExt cx="6620016" cy="743480"/>
            </a:xfrm>
          </p:grpSpPr>
          <p:sp>
            <p:nvSpPr>
              <p:cNvPr id="54" name="矩形 53"/>
              <p:cNvSpPr/>
              <p:nvPr/>
            </p:nvSpPr>
            <p:spPr>
              <a:xfrm>
                <a:off x="386129" y="4807494"/>
                <a:ext cx="2216102" cy="511844"/>
              </a:xfrm>
              <a:prstGeom prst="rect">
                <a:avLst/>
              </a:prstGeom>
              <a:noFill/>
              <a:ln>
                <a:noFill/>
              </a:ln>
            </p:spPr>
            <p:txBody>
              <a:bodyPr wrap="square" anchor="ctr">
                <a:noAutofit/>
              </a:bodyPr>
              <a:lstStyle/>
              <a:p>
                <a:pPr>
                  <a:lnSpc>
                    <a:spcPct val="120000"/>
                  </a:lnSpc>
                </a:pPr>
                <a:r>
                  <a:rPr lang="zh-CN" altLang="zh-CN" sz="1400" dirty="0">
                    <a:solidFill>
                      <a:prstClr val="black"/>
                    </a:solidFill>
                    <a:latin typeface="Microsoft YaHei" panose="020F0502020204030204"/>
                    <a:ea typeface="Microsoft YaHei"/>
                  </a:rPr>
                  <a:t>手掌和脚底表皮细胞增生活跃</a:t>
                </a:r>
                <a:r>
                  <a:rPr lang="en-US" altLang="zh-CN" sz="1400" baseline="30000" dirty="0">
                    <a:solidFill>
                      <a:prstClr val="black"/>
                    </a:solidFill>
                    <a:latin typeface="Microsoft YaHei" panose="020F0502020204030204"/>
                    <a:ea typeface="Microsoft YaHei"/>
                  </a:rPr>
                  <a:t>2,3</a:t>
                </a:r>
                <a:endParaRPr lang="en-US" altLang="zh-CN" sz="1400" dirty="0">
                  <a:solidFill>
                    <a:prstClr val="black"/>
                  </a:solidFill>
                  <a:latin typeface="Microsoft YaHei" panose="020F0502020204030204"/>
                  <a:ea typeface="Microsoft YaHei"/>
                </a:endParaRPr>
              </a:p>
            </p:txBody>
          </p:sp>
          <p:sp>
            <p:nvSpPr>
              <p:cNvPr id="55" name="矩形 54"/>
              <p:cNvSpPr/>
              <p:nvPr/>
            </p:nvSpPr>
            <p:spPr>
              <a:xfrm>
                <a:off x="3158486" y="4701202"/>
                <a:ext cx="3847659" cy="743480"/>
              </a:xfrm>
              <a:prstGeom prst="rect">
                <a:avLst/>
              </a:prstGeom>
              <a:noFill/>
            </p:spPr>
            <p:txBody>
              <a:bodyPr wrap="square" anchor="ctr">
                <a:noAutofit/>
              </a:bodyPr>
              <a:lstStyle/>
              <a:p>
                <a:pPr algn="ctr" eaLnBrk="1" hangingPunct="1">
                  <a:lnSpc>
                    <a:spcPct val="120000"/>
                  </a:lnSpc>
                  <a:spcBef>
                    <a:spcPts val="600"/>
                  </a:spcBef>
                </a:pPr>
                <a:r>
                  <a:rPr lang="zh-CN" altLang="en-US" sz="1400" b="1" dirty="0">
                    <a:solidFill>
                      <a:prstClr val="black"/>
                    </a:solidFill>
                    <a:latin typeface="Microsoft YaHei" panose="020F0502020204030204"/>
                    <a:ea typeface="Microsoft YaHei"/>
                    <a:sym typeface="Arial Unicode MS" panose="020B0604020202020204" pitchFamily="34" charset="-122"/>
                  </a:rPr>
                  <a:t>手足部位对</a:t>
                </a:r>
                <a:r>
                  <a:rPr lang="en-US" altLang="zh-CN" sz="1400" b="1" dirty="0">
                    <a:solidFill>
                      <a:prstClr val="black"/>
                    </a:solidFill>
                    <a:latin typeface="Microsoft YaHei" panose="020F0502020204030204"/>
                    <a:ea typeface="Microsoft YaHei"/>
                    <a:sym typeface="Arial Unicode MS" panose="020B0604020202020204" pitchFamily="34" charset="-122"/>
                  </a:rPr>
                  <a:t>5-FU</a:t>
                </a:r>
                <a:r>
                  <a:rPr lang="zh-CN" altLang="en-US" sz="1400" b="1" dirty="0">
                    <a:solidFill>
                      <a:prstClr val="black"/>
                    </a:solidFill>
                    <a:latin typeface="Microsoft YaHei" panose="020F0502020204030204"/>
                    <a:ea typeface="Microsoft YaHei"/>
                    <a:sym typeface="Arial Unicode MS" panose="020B0604020202020204" pitchFamily="34" charset="-122"/>
                  </a:rPr>
                  <a:t>代谢产物更为敏感</a:t>
                </a:r>
                <a:r>
                  <a:rPr lang="en-US" altLang="zh-CN" sz="1400" b="1" baseline="30000" dirty="0">
                    <a:solidFill>
                      <a:prstClr val="black"/>
                    </a:solidFill>
                    <a:latin typeface="Microsoft YaHei" panose="020F0502020204030204"/>
                    <a:ea typeface="Microsoft YaHei"/>
                    <a:sym typeface="Arial Unicode MS" panose="020B0604020202020204" pitchFamily="34" charset="-122"/>
                  </a:rPr>
                  <a:t>3</a:t>
                </a:r>
              </a:p>
            </p:txBody>
          </p:sp>
        </p:grpSp>
        <p:sp>
          <p:nvSpPr>
            <p:cNvPr id="57" name="矩形 56"/>
            <p:cNvSpPr/>
            <p:nvPr/>
          </p:nvSpPr>
          <p:spPr>
            <a:xfrm>
              <a:off x="7623395" y="3618609"/>
              <a:ext cx="1204777" cy="558586"/>
            </a:xfrm>
            <a:prstGeom prst="rect">
              <a:avLst/>
            </a:prstGeom>
            <a:noFill/>
          </p:spPr>
          <p:txBody>
            <a:bodyPr wrap="square" anchor="ctr">
              <a:noAutofit/>
            </a:bodyPr>
            <a:lstStyle/>
            <a:p>
              <a:pPr algn="ctr" eaLnBrk="1" hangingPunct="1">
                <a:spcBef>
                  <a:spcPts val="600"/>
                </a:spcBef>
              </a:pPr>
              <a:r>
                <a:rPr lang="zh-CN" altLang="en-US" sz="1600" b="1" dirty="0">
                  <a:solidFill>
                    <a:prstClr val="black"/>
                  </a:solidFill>
                  <a:effectLst>
                    <a:glow rad="177800">
                      <a:prstClr val="white">
                        <a:alpha val="70000"/>
                      </a:prstClr>
                    </a:glow>
                  </a:effectLst>
                  <a:latin typeface="Microsoft YaHei" panose="020F0502020204030204"/>
                  <a:ea typeface="Microsoft YaHei"/>
                  <a:sym typeface="Arial Unicode MS" panose="020B0604020202020204" pitchFamily="34" charset="-122"/>
                </a:rPr>
                <a:t>出现</a:t>
              </a:r>
              <a:r>
                <a:rPr lang="en-US" altLang="zh-CN" sz="1600" b="1" dirty="0">
                  <a:solidFill>
                    <a:prstClr val="black"/>
                  </a:solidFill>
                  <a:effectLst>
                    <a:glow rad="177800">
                      <a:prstClr val="white">
                        <a:alpha val="70000"/>
                      </a:prstClr>
                    </a:glow>
                  </a:effectLst>
                  <a:latin typeface="Microsoft YaHei" panose="020F0502020204030204"/>
                  <a:ea typeface="Microsoft YaHei"/>
                  <a:sym typeface="Arial Unicode MS" panose="020B0604020202020204" pitchFamily="34" charset="-122"/>
                </a:rPr>
                <a:t>HFS</a:t>
              </a:r>
            </a:p>
          </p:txBody>
        </p:sp>
        <p:sp>
          <p:nvSpPr>
            <p:cNvPr id="58" name="矩形 57"/>
            <p:cNvSpPr/>
            <p:nvPr/>
          </p:nvSpPr>
          <p:spPr>
            <a:xfrm>
              <a:off x="3629422" y="2525669"/>
              <a:ext cx="390657" cy="429625"/>
            </a:xfrm>
            <a:prstGeom prst="rect">
              <a:avLst/>
            </a:prstGeom>
            <a:noFill/>
            <a:ln>
              <a:noFill/>
            </a:ln>
          </p:spPr>
          <p:txBody>
            <a:bodyPr wrap="square" anchor="ctr">
              <a:noAutofit/>
            </a:bodyPr>
            <a:lstStyle/>
            <a:p>
              <a:pPr algn="ctr"/>
              <a:r>
                <a:rPr lang="zh-CN" altLang="en-US" sz="1100" b="1" dirty="0">
                  <a:solidFill>
                    <a:prstClr val="black"/>
                  </a:solidFill>
                  <a:latin typeface="Microsoft YaHei" panose="020F0502020204030204"/>
                  <a:ea typeface="Microsoft YaHei"/>
                  <a:sym typeface="Arial Unicode MS" panose="020B0604020202020204" pitchFamily="34" charset="-122"/>
                </a:rPr>
                <a:t>加</a:t>
              </a:r>
              <a:endParaRPr lang="en-US" altLang="zh-CN" sz="1100" b="1" dirty="0">
                <a:solidFill>
                  <a:prstClr val="black"/>
                </a:solidFill>
                <a:latin typeface="Microsoft YaHei" panose="020F0502020204030204"/>
                <a:ea typeface="Microsoft YaHei"/>
                <a:sym typeface="Arial Unicode MS" panose="020B0604020202020204" pitchFamily="34" charset="-122"/>
              </a:endParaRPr>
            </a:p>
            <a:p>
              <a:pPr algn="ctr"/>
              <a:r>
                <a:rPr lang="zh-CN" altLang="en-US" sz="1100" b="1" dirty="0">
                  <a:solidFill>
                    <a:prstClr val="black"/>
                  </a:solidFill>
                  <a:latin typeface="Microsoft YaHei" panose="020F0502020204030204"/>
                  <a:ea typeface="Microsoft YaHei"/>
                  <a:sym typeface="Arial Unicode MS" panose="020B0604020202020204" pitchFamily="34" charset="-122"/>
                </a:rPr>
                <a:t>剧</a:t>
              </a:r>
              <a:endParaRPr lang="en-US" altLang="zh-CN" sz="1100" b="1" dirty="0">
                <a:solidFill>
                  <a:prstClr val="black"/>
                </a:solidFill>
                <a:latin typeface="Microsoft YaHei" panose="020F0502020204030204"/>
                <a:ea typeface="Microsoft YaHei"/>
                <a:sym typeface="Arial Unicode MS" panose="020B0604020202020204" pitchFamily="34" charset="-122"/>
              </a:endParaRPr>
            </a:p>
            <a:p>
              <a:pPr algn="ctr"/>
              <a:r>
                <a:rPr lang="en-US" altLang="zh-CN" sz="1100" b="1" baseline="30000" dirty="0">
                  <a:solidFill>
                    <a:prstClr val="black"/>
                  </a:solidFill>
                  <a:latin typeface="Microsoft YaHei" panose="020F0502020204030204"/>
                  <a:ea typeface="Microsoft YaHei"/>
                  <a:sym typeface="Arial Unicode MS" panose="020B0604020202020204" pitchFamily="34" charset="-122"/>
                </a:rPr>
                <a:t>2</a:t>
              </a:r>
              <a:endParaRPr lang="zh-CN" altLang="en-US" sz="1100" b="1" dirty="0">
                <a:solidFill>
                  <a:prstClr val="black"/>
                </a:solidFill>
                <a:latin typeface="Microsoft YaHei" panose="020F0502020204030204"/>
                <a:ea typeface="Microsoft YaHei"/>
              </a:endParaRPr>
            </a:p>
          </p:txBody>
        </p:sp>
      </p:grpSp>
    </p:spTree>
    <p:extLst>
      <p:ext uri="{BB962C8B-B14F-4D97-AF65-F5344CB8AC3E}">
        <p14:creationId xmlns:p14="http://schemas.microsoft.com/office/powerpoint/2010/main" val="415960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mn-lt"/>
                <a:ea typeface="+mn-ea"/>
                <a:cs typeface="+mn-ea"/>
                <a:sym typeface="+mn-lt"/>
              </a:rPr>
              <a:t>HFS</a:t>
            </a:r>
            <a:r>
              <a:rPr lang="zh-CN" altLang="en-US" dirty="0">
                <a:latin typeface="+mn-lt"/>
                <a:ea typeface="+mn-ea"/>
                <a:cs typeface="+mn-ea"/>
                <a:sym typeface="+mn-lt"/>
              </a:rPr>
              <a:t>的常规护理建议</a:t>
            </a:r>
          </a:p>
        </p:txBody>
      </p:sp>
      <p:graphicFrame>
        <p:nvGraphicFramePr>
          <p:cNvPr id="4" name="表格 3"/>
          <p:cNvGraphicFramePr>
            <a:graphicFrameLocks noGrp="1"/>
          </p:cNvGraphicFramePr>
          <p:nvPr>
            <p:extLst>
              <p:ext uri="{D42A27DB-BD31-4B8C-83A1-F6EECF244321}">
                <p14:modId xmlns:p14="http://schemas.microsoft.com/office/powerpoint/2010/main" val="2718188382"/>
              </p:ext>
            </p:extLst>
          </p:nvPr>
        </p:nvGraphicFramePr>
        <p:xfrm>
          <a:off x="612000" y="1123944"/>
          <a:ext cx="7920000" cy="4929351"/>
        </p:xfrm>
        <a:graphic>
          <a:graphicData uri="http://schemas.openxmlformats.org/drawingml/2006/table">
            <a:tbl>
              <a:tblPr firstRow="1" bandRow="1">
                <a:tableStyleId>{5C22544A-7EE6-4342-B048-85BDC9FD1C3A}</a:tableStyleId>
              </a:tblPr>
              <a:tblGrid>
                <a:gridCol w="2111123">
                  <a:extLst>
                    <a:ext uri="{9D8B030D-6E8A-4147-A177-3AD203B41FA5}">
                      <a16:colId xmlns:a16="http://schemas.microsoft.com/office/drawing/2014/main" xmlns="" val="20000"/>
                    </a:ext>
                  </a:extLst>
                </a:gridCol>
                <a:gridCol w="5808877">
                  <a:extLst>
                    <a:ext uri="{9D8B030D-6E8A-4147-A177-3AD203B41FA5}">
                      <a16:colId xmlns:a16="http://schemas.microsoft.com/office/drawing/2014/main" xmlns="" val="20001"/>
                    </a:ext>
                  </a:extLst>
                </a:gridCol>
              </a:tblGrid>
              <a:tr h="4043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baseline="0" dirty="0">
                          <a:solidFill>
                            <a:schemeClr val="bg1"/>
                          </a:solidFill>
                          <a:latin typeface="+mn-lt"/>
                          <a:ea typeface="+mn-ea"/>
                          <a:cs typeface="+mn-ea"/>
                          <a:sym typeface="+mn-lt"/>
                        </a:rPr>
                        <a:t>护理要点</a:t>
                      </a:r>
                    </a:p>
                  </a:txBody>
                  <a:tcPr marL="0" marR="0" marT="0" marB="0" anchor="ctr">
                    <a:lnR w="6350" cap="flat" cmpd="sng" algn="ctr">
                      <a:solidFill>
                        <a:schemeClr val="bg1">
                          <a:lumMod val="50000"/>
                        </a:schemeClr>
                      </a:solidFill>
                      <a:prstDash val="sysDot"/>
                      <a:round/>
                      <a:headEnd type="none" w="med" len="med"/>
                      <a:tailEnd type="none" w="med" len="med"/>
                    </a:lnR>
                    <a:lnT w="28575"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108638"/>
                    </a:solidFill>
                  </a:tcPr>
                </a:tc>
                <a:tc>
                  <a:txBody>
                    <a:bodyPr/>
                    <a:lstStyle/>
                    <a:p>
                      <a:pPr marL="0" marR="0" indent="0" algn="ctr" defTabSz="914400" rtl="0" eaLnBrk="1" fontAlgn="auto" latinLnBrk="0" hangingPunct="1">
                        <a:lnSpc>
                          <a:spcPct val="100000"/>
                        </a:lnSpc>
                        <a:spcBef>
                          <a:spcPts val="600"/>
                        </a:spcBef>
                        <a:spcAft>
                          <a:spcPts val="600"/>
                        </a:spcAft>
                        <a:buClrTx/>
                        <a:buSzTx/>
                        <a:buFontTx/>
                        <a:buNone/>
                        <a:tabLst/>
                        <a:defRPr/>
                      </a:pPr>
                      <a:r>
                        <a:rPr lang="zh-CN" altLang="en-US" sz="1600" b="1" baseline="0" dirty="0">
                          <a:solidFill>
                            <a:schemeClr val="bg1"/>
                          </a:solidFill>
                          <a:effectLst/>
                          <a:latin typeface="+mn-lt"/>
                          <a:ea typeface="+mn-ea"/>
                          <a:cs typeface="+mn-ea"/>
                          <a:sym typeface="+mn-lt"/>
                        </a:rPr>
                        <a:t>具体措施</a:t>
                      </a:r>
                    </a:p>
                  </a:txBody>
                  <a:tcPr marL="0" marR="0" marT="0" marB="0" anchor="ctr">
                    <a:lnL w="6350" cap="flat" cmpd="sng" algn="ctr">
                      <a:solidFill>
                        <a:schemeClr val="bg1">
                          <a:lumMod val="50000"/>
                        </a:schemeClr>
                      </a:solidFill>
                      <a:prstDash val="sysDot"/>
                      <a:round/>
                      <a:headEnd type="none" w="med" len="med"/>
                      <a:tailEnd type="none" w="med" len="med"/>
                    </a:lnL>
                    <a:lnT w="28575"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108638"/>
                    </a:solidFill>
                  </a:tcPr>
                </a:tc>
                <a:extLst>
                  <a:ext uri="{0D108BD9-81ED-4DB2-BD59-A6C34878D82A}">
                    <a16:rowId xmlns:a16="http://schemas.microsoft.com/office/drawing/2014/main" xmlns="" val="10000"/>
                  </a:ext>
                </a:extLst>
              </a:tr>
              <a:tr h="290996">
                <a:tc rowSpan="4">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effectLst/>
                          <a:latin typeface="+mn-lt"/>
                          <a:ea typeface="+mn-ea"/>
                          <a:cs typeface="+mn-ea"/>
                          <a:sym typeface="+mn-lt"/>
                        </a:rPr>
                        <a:t>避免物理</a:t>
                      </a:r>
                      <a:r>
                        <a:rPr lang="en-US" altLang="zh-CN" sz="1200" b="1" dirty="0">
                          <a:solidFill>
                            <a:schemeClr val="tx1"/>
                          </a:solidFill>
                          <a:effectLst/>
                          <a:latin typeface="+mn-lt"/>
                          <a:ea typeface="+mn-ea"/>
                          <a:cs typeface="+mn-ea"/>
                          <a:sym typeface="+mn-lt"/>
                        </a:rPr>
                        <a:t>/</a:t>
                      </a:r>
                      <a:r>
                        <a:rPr lang="zh-CN" altLang="en-US" sz="1200" b="1" dirty="0">
                          <a:solidFill>
                            <a:schemeClr val="tx1"/>
                          </a:solidFill>
                          <a:effectLst/>
                          <a:latin typeface="+mn-lt"/>
                          <a:ea typeface="+mn-ea"/>
                          <a:cs typeface="+mn-ea"/>
                          <a:sym typeface="+mn-lt"/>
                        </a:rPr>
                        <a:t>化学刺激</a:t>
                      </a:r>
                      <a:r>
                        <a:rPr lang="en-US" altLang="zh-CN" sz="1200" b="1" baseline="30000" dirty="0">
                          <a:solidFill>
                            <a:schemeClr val="tx1"/>
                          </a:solidFill>
                          <a:effectLst/>
                          <a:latin typeface="+mn-lt"/>
                          <a:ea typeface="+mn-ea"/>
                          <a:cs typeface="+mn-ea"/>
                          <a:sym typeface="+mn-lt"/>
                        </a:rPr>
                        <a:t>1</a:t>
                      </a:r>
                      <a:endParaRPr lang="zh-CN" altLang="en-US" sz="1200" b="1" baseline="30000" dirty="0">
                        <a:solidFill>
                          <a:schemeClr val="tx1"/>
                        </a:solidFill>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4F9F1"/>
                    </a:solidFill>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en-US" sz="1100" b="0" dirty="0">
                          <a:solidFill>
                            <a:schemeClr val="tx1"/>
                          </a:solidFill>
                          <a:latin typeface="+mn-lt"/>
                          <a:ea typeface="+mn-ea"/>
                          <a:cs typeface="+mn-ea"/>
                          <a:sym typeface="+mn-lt"/>
                        </a:rPr>
                        <a:t>不要穿紧身袜，</a:t>
                      </a:r>
                      <a:r>
                        <a:rPr lang="zh-CN" altLang="en-US" sz="1100" b="0" dirty="0">
                          <a:solidFill>
                            <a:schemeClr val="tx1"/>
                          </a:solidFill>
                          <a:effectLst/>
                          <a:latin typeface="+mn-lt"/>
                          <a:ea typeface="+mn-ea"/>
                          <a:cs typeface="+mn-ea"/>
                          <a:sym typeface="+mn-lt"/>
                        </a:rPr>
                        <a:t>穿合脚的软鞋</a:t>
                      </a:r>
                      <a:endParaRPr lang="zh-CN" altLang="en-US" sz="1100" b="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190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01"/>
                  </a:ext>
                </a:extLst>
              </a:tr>
              <a:tr h="290996">
                <a:tc vMerge="1">
                  <a:txBody>
                    <a:bodyPr/>
                    <a:lstStyle/>
                    <a:p>
                      <a:endParaRPr lang="zh-CN" altLang="en-US" dirty="0"/>
                    </a:p>
                  </a:txBody>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en-US" sz="1100" dirty="0">
                          <a:solidFill>
                            <a:schemeClr val="tx1"/>
                          </a:solidFill>
                          <a:effectLst/>
                          <a:latin typeface="+mn-lt"/>
                          <a:ea typeface="+mn-ea"/>
                          <a:cs typeface="+mn-ea"/>
                          <a:sym typeface="+mn-lt"/>
                        </a:rPr>
                        <a:t>避免剧烈运动 或 手、足部位受压</a:t>
                      </a:r>
                      <a:r>
                        <a:rPr lang="en-US" altLang="zh-CN" sz="1100" baseline="30000" dirty="0">
                          <a:solidFill>
                            <a:schemeClr val="tx1"/>
                          </a:solidFill>
                          <a:effectLst/>
                          <a:latin typeface="+mn-lt"/>
                          <a:ea typeface="+mn-ea"/>
                          <a:cs typeface="+mn-ea"/>
                          <a:sym typeface="+mn-lt"/>
                        </a:rPr>
                        <a:t>1,2</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02"/>
                  </a:ext>
                </a:extLst>
              </a:tr>
              <a:tr h="290996">
                <a:tc vMerge="1">
                  <a:txBody>
                    <a:bodyPr/>
                    <a:lstStyle/>
                    <a:p>
                      <a:endParaRPr lang="zh-CN" altLang="en-US" dirty="0"/>
                    </a:p>
                  </a:txBody>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en-US" sz="1100" dirty="0">
                          <a:solidFill>
                            <a:schemeClr val="tx1"/>
                          </a:solidFill>
                          <a:effectLst/>
                          <a:latin typeface="+mn-lt"/>
                          <a:ea typeface="+mn-ea"/>
                          <a:cs typeface="+mn-ea"/>
                          <a:sym typeface="+mn-lt"/>
                        </a:rPr>
                        <a:t>双手不要带戒指、手表、皮筋等过紧的首饰，</a:t>
                      </a:r>
                      <a:r>
                        <a:rPr lang="zh-CN" altLang="zh-CN" sz="1100" dirty="0">
                          <a:solidFill>
                            <a:schemeClr val="tx1"/>
                          </a:solidFill>
                          <a:effectLst/>
                          <a:latin typeface="+mn-lt"/>
                          <a:ea typeface="+mn-ea"/>
                          <a:cs typeface="+mn-ea"/>
                          <a:sym typeface="+mn-lt"/>
                        </a:rPr>
                        <a:t>避免</a:t>
                      </a:r>
                      <a:r>
                        <a:rPr lang="zh-CN" altLang="en-US" sz="1100" dirty="0">
                          <a:solidFill>
                            <a:schemeClr val="tx1"/>
                          </a:solidFill>
                          <a:effectLst/>
                          <a:latin typeface="+mn-lt"/>
                          <a:ea typeface="+mn-ea"/>
                          <a:cs typeface="+mn-ea"/>
                          <a:sym typeface="+mn-lt"/>
                        </a:rPr>
                        <a:t>手部用力挤压</a:t>
                      </a:r>
                      <a:r>
                        <a:rPr lang="en-US" altLang="zh-CN" sz="1100" baseline="30000" dirty="0">
                          <a:solidFill>
                            <a:schemeClr val="tx1"/>
                          </a:solidFill>
                          <a:effectLst/>
                          <a:latin typeface="+mn-lt"/>
                          <a:ea typeface="+mn-ea"/>
                          <a:cs typeface="+mn-ea"/>
                          <a:sym typeface="+mn-lt"/>
                        </a:rPr>
                        <a:t>1-3</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03"/>
                  </a:ext>
                </a:extLst>
              </a:tr>
              <a:tr h="290996">
                <a:tc vMerge="1">
                  <a:txBody>
                    <a:bodyPr/>
                    <a:lstStyle/>
                    <a:p>
                      <a:endParaRPr lang="zh-CN" altLang="en-US" dirty="0"/>
                    </a:p>
                  </a:txBody>
                  <a:tcPr/>
                </a:tc>
                <a:tc>
                  <a:txBody>
                    <a:bodyPr/>
                    <a:lstStyle/>
                    <a:p>
                      <a:pPr marL="216000" algn="l">
                        <a:spcBef>
                          <a:spcPts val="600"/>
                        </a:spcBef>
                        <a:spcAft>
                          <a:spcPts val="600"/>
                        </a:spcAft>
                      </a:pPr>
                      <a:r>
                        <a:rPr lang="zh-CN" altLang="en-US" sz="1100" dirty="0">
                          <a:solidFill>
                            <a:schemeClr val="tx1"/>
                          </a:solidFill>
                          <a:effectLst/>
                          <a:latin typeface="+mn-lt"/>
                          <a:ea typeface="+mn-ea"/>
                          <a:cs typeface="+mn-ea"/>
                          <a:sym typeface="+mn-lt"/>
                        </a:rPr>
                        <a:t>避免接触刺激性药物及酒精、碘酒、肥皂、洗衣液等化学制剂</a:t>
                      </a:r>
                      <a:r>
                        <a:rPr lang="en-US" altLang="zh-CN" sz="1100" baseline="30000" dirty="0">
                          <a:solidFill>
                            <a:schemeClr val="tx1"/>
                          </a:solidFill>
                          <a:effectLst/>
                          <a:latin typeface="+mn-lt"/>
                          <a:ea typeface="+mn-ea"/>
                          <a:cs typeface="+mn-ea"/>
                          <a:sym typeface="+mn-lt"/>
                        </a:rPr>
                        <a:t>3</a:t>
                      </a:r>
                      <a:endParaRPr lang="zh-CN" altLang="en-US"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19050" cap="flat" cmpd="sng" algn="ctr">
                      <a:noFill/>
                      <a:prstDash val="solid"/>
                      <a:round/>
                      <a:headEnd type="none" w="med" len="med"/>
                      <a:tailEnd type="none" w="med" len="med"/>
                    </a:lnB>
                    <a:solidFill>
                      <a:srgbClr val="F4F9F1"/>
                    </a:solidFill>
                  </a:tcPr>
                </a:tc>
                <a:extLst>
                  <a:ext uri="{0D108BD9-81ED-4DB2-BD59-A6C34878D82A}">
                    <a16:rowId xmlns:a16="http://schemas.microsoft.com/office/drawing/2014/main" xmlns="" val="10004"/>
                  </a:ext>
                </a:extLst>
              </a:tr>
              <a:tr h="344362">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effectLst/>
                          <a:latin typeface="+mn-lt"/>
                          <a:ea typeface="+mn-ea"/>
                          <a:cs typeface="+mn-ea"/>
                          <a:sym typeface="+mn-lt"/>
                        </a:rPr>
                        <a:t>避免热</a:t>
                      </a:r>
                      <a:r>
                        <a:rPr lang="en-US" altLang="zh-CN" sz="1200" b="1" baseline="30000" dirty="0">
                          <a:solidFill>
                            <a:schemeClr val="tx1"/>
                          </a:solidFill>
                          <a:effectLst/>
                          <a:latin typeface="+mn-lt"/>
                          <a:ea typeface="+mn-ea"/>
                          <a:cs typeface="+mn-ea"/>
                          <a:sym typeface="+mn-lt"/>
                        </a:rPr>
                        <a:t>1</a:t>
                      </a:r>
                      <a:r>
                        <a:rPr lang="en-US" altLang="zh-CN" sz="1200" b="1" dirty="0">
                          <a:solidFill>
                            <a:schemeClr val="tx1"/>
                          </a:solidFill>
                          <a:effectLst/>
                          <a:latin typeface="+mn-lt"/>
                          <a:ea typeface="+mn-ea"/>
                          <a:cs typeface="+mn-ea"/>
                          <a:sym typeface="+mn-lt"/>
                        </a:rPr>
                        <a:t>/</a:t>
                      </a:r>
                      <a:r>
                        <a:rPr lang="zh-CN" altLang="en-US" sz="1200" b="1" dirty="0">
                          <a:solidFill>
                            <a:schemeClr val="tx1"/>
                          </a:solidFill>
                          <a:effectLst/>
                          <a:latin typeface="+mn-lt"/>
                          <a:ea typeface="+mn-ea"/>
                          <a:cs typeface="+mn-ea"/>
                          <a:sym typeface="+mn-lt"/>
                        </a:rPr>
                        <a:t>冷</a:t>
                      </a:r>
                      <a:r>
                        <a:rPr lang="en-US" altLang="zh-CN" sz="1200" b="1" baseline="30000" dirty="0">
                          <a:solidFill>
                            <a:schemeClr val="tx1"/>
                          </a:solidFill>
                          <a:effectLst/>
                          <a:latin typeface="+mn-lt"/>
                          <a:ea typeface="+mn-ea"/>
                          <a:cs typeface="+mn-ea"/>
                          <a:sym typeface="+mn-lt"/>
                        </a:rPr>
                        <a:t>2</a:t>
                      </a:r>
                      <a:r>
                        <a:rPr lang="zh-CN" altLang="en-US" sz="1200" b="1" dirty="0">
                          <a:solidFill>
                            <a:schemeClr val="tx1"/>
                          </a:solidFill>
                          <a:effectLst/>
                          <a:latin typeface="+mn-lt"/>
                          <a:ea typeface="+mn-ea"/>
                          <a:cs typeface="+mn-ea"/>
                          <a:sym typeface="+mn-lt"/>
                        </a:rPr>
                        <a:t>刺激</a:t>
                      </a:r>
                      <a:endParaRPr lang="zh-CN" altLang="zh-CN" sz="1200" b="1"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FFFF"/>
                    </a:solidFill>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en-US" sz="1100" dirty="0">
                          <a:solidFill>
                            <a:schemeClr val="tx1"/>
                          </a:solidFill>
                          <a:effectLst/>
                          <a:latin typeface="+mn-lt"/>
                          <a:ea typeface="+mn-ea"/>
                          <a:cs typeface="+mn-ea"/>
                          <a:sym typeface="+mn-lt"/>
                        </a:rPr>
                        <a:t>避免过热</a:t>
                      </a:r>
                      <a:r>
                        <a:rPr lang="en-US" altLang="zh-CN" sz="1100" dirty="0">
                          <a:solidFill>
                            <a:schemeClr val="tx1"/>
                          </a:solidFill>
                          <a:effectLst/>
                          <a:latin typeface="+mn-lt"/>
                          <a:ea typeface="+mn-ea"/>
                          <a:cs typeface="+mn-ea"/>
                          <a:sym typeface="+mn-lt"/>
                        </a:rPr>
                        <a:t>/</a:t>
                      </a:r>
                      <a:r>
                        <a:rPr lang="zh-CN" altLang="en-US" sz="1100" dirty="0">
                          <a:solidFill>
                            <a:schemeClr val="tx1"/>
                          </a:solidFill>
                          <a:effectLst/>
                          <a:latin typeface="+mn-lt"/>
                          <a:ea typeface="+mn-ea"/>
                          <a:cs typeface="+mn-ea"/>
                          <a:sym typeface="+mn-lt"/>
                        </a:rPr>
                        <a:t>过冷水洗澡和淋浴，避免接触过热</a:t>
                      </a:r>
                      <a:r>
                        <a:rPr lang="en-US" altLang="zh-CN" sz="1100" dirty="0">
                          <a:solidFill>
                            <a:schemeClr val="tx1"/>
                          </a:solidFill>
                          <a:effectLst/>
                          <a:latin typeface="+mn-lt"/>
                          <a:ea typeface="+mn-ea"/>
                          <a:cs typeface="+mn-ea"/>
                          <a:sym typeface="+mn-lt"/>
                        </a:rPr>
                        <a:t>/</a:t>
                      </a:r>
                      <a:r>
                        <a:rPr lang="zh-CN" altLang="en-US" sz="1100" dirty="0">
                          <a:solidFill>
                            <a:schemeClr val="tx1"/>
                          </a:solidFill>
                          <a:effectLst/>
                          <a:latin typeface="+mn-lt"/>
                          <a:ea typeface="+mn-ea"/>
                          <a:cs typeface="+mn-ea"/>
                          <a:sym typeface="+mn-lt"/>
                        </a:rPr>
                        <a:t>过冷的物品</a:t>
                      </a:r>
                      <a:endParaRPr lang="zh-CN" altLang="en-US"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290996">
                <a:tc rowSpan="3">
                  <a:txBody>
                    <a:bodyPr/>
                    <a:lstStyle/>
                    <a:p>
                      <a:pPr marL="216000" algn="l">
                        <a:spcAft>
                          <a:spcPts val="0"/>
                        </a:spcAft>
                      </a:pPr>
                      <a:r>
                        <a:rPr lang="zh-CN" altLang="zh-CN" sz="1200" b="1" dirty="0">
                          <a:solidFill>
                            <a:schemeClr val="tx1"/>
                          </a:solidFill>
                          <a:effectLst/>
                          <a:latin typeface="+mn-lt"/>
                          <a:ea typeface="+mn-ea"/>
                          <a:cs typeface="+mn-ea"/>
                          <a:sym typeface="+mn-lt"/>
                        </a:rPr>
                        <a:t>皮肤保护</a:t>
                      </a:r>
                      <a:r>
                        <a:rPr lang="en-US" altLang="zh-CN" sz="1200" b="1" baseline="30000" dirty="0">
                          <a:solidFill>
                            <a:schemeClr val="tx1"/>
                          </a:solidFill>
                          <a:effectLst/>
                          <a:latin typeface="+mn-lt"/>
                          <a:ea typeface="+mn-ea"/>
                          <a:cs typeface="+mn-ea"/>
                          <a:sym typeface="+mn-lt"/>
                        </a:rPr>
                        <a:t>1</a:t>
                      </a:r>
                      <a:endParaRPr lang="zh-CN" altLang="zh-CN" sz="1200" b="1"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4F9F1"/>
                    </a:solidFill>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zh-CN" sz="1100" dirty="0">
                          <a:solidFill>
                            <a:schemeClr val="tx1"/>
                          </a:solidFill>
                          <a:effectLst/>
                          <a:latin typeface="+mn-lt"/>
                          <a:ea typeface="+mn-ea"/>
                          <a:cs typeface="+mn-ea"/>
                          <a:sym typeface="+mn-lt"/>
                        </a:rPr>
                        <a:t>涂抹保湿霜</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190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06"/>
                  </a:ext>
                </a:extLst>
              </a:tr>
              <a:tr h="290996">
                <a:tc vMerge="1">
                  <a:txBody>
                    <a:bodyPr/>
                    <a:lstStyle/>
                    <a:p>
                      <a:endParaRPr lang="zh-CN" altLang="en-US" dirty="0"/>
                    </a:p>
                  </a:txBody>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en-US" sz="1100" dirty="0">
                          <a:solidFill>
                            <a:schemeClr val="tx1"/>
                          </a:solidFill>
                          <a:effectLst/>
                          <a:latin typeface="+mn-lt"/>
                          <a:ea typeface="+mn-ea"/>
                          <a:cs typeface="+mn-ea"/>
                          <a:sym typeface="+mn-lt"/>
                        </a:rPr>
                        <a:t>冬季注意保暖</a:t>
                      </a:r>
                      <a:r>
                        <a:rPr lang="en-US" altLang="zh-CN" sz="1100" baseline="30000" dirty="0">
                          <a:solidFill>
                            <a:schemeClr val="tx1"/>
                          </a:solidFill>
                          <a:effectLst/>
                          <a:latin typeface="+mn-lt"/>
                          <a:ea typeface="+mn-ea"/>
                          <a:cs typeface="+mn-ea"/>
                          <a:sym typeface="+mn-lt"/>
                        </a:rPr>
                        <a:t>3</a:t>
                      </a:r>
                      <a:r>
                        <a:rPr lang="zh-CN" altLang="en-US" sz="1100" dirty="0">
                          <a:solidFill>
                            <a:schemeClr val="tx1"/>
                          </a:solidFill>
                          <a:effectLst/>
                          <a:latin typeface="+mn-lt"/>
                          <a:ea typeface="+mn-ea"/>
                          <a:cs typeface="+mn-ea"/>
                          <a:sym typeface="+mn-lt"/>
                        </a:rPr>
                        <a:t>，</a:t>
                      </a:r>
                      <a:r>
                        <a:rPr lang="zh-CN" altLang="zh-CN" sz="1100" dirty="0">
                          <a:solidFill>
                            <a:schemeClr val="tx1"/>
                          </a:solidFill>
                          <a:effectLst/>
                          <a:latin typeface="+mn-lt"/>
                          <a:ea typeface="+mn-ea"/>
                          <a:cs typeface="+mn-ea"/>
                          <a:sym typeface="+mn-lt"/>
                        </a:rPr>
                        <a:t>穿上厚厚的棉袜</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07"/>
                  </a:ext>
                </a:extLst>
              </a:tr>
              <a:tr h="290996">
                <a:tc vMerge="1">
                  <a:txBody>
                    <a:bodyPr/>
                    <a:lstStyle/>
                    <a:p>
                      <a:endParaRPr lang="zh-CN" altLang="en-US" dirty="0"/>
                    </a:p>
                  </a:txBody>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zh-CN" sz="1100" dirty="0">
                          <a:solidFill>
                            <a:schemeClr val="tx1"/>
                          </a:solidFill>
                          <a:effectLst/>
                          <a:latin typeface="+mn-lt"/>
                          <a:ea typeface="+mn-ea"/>
                          <a:cs typeface="+mn-ea"/>
                          <a:sym typeface="+mn-lt"/>
                        </a:rPr>
                        <a:t>使用柔软的鞋垫</a:t>
                      </a: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19050" cap="flat" cmpd="sng" algn="ctr">
                      <a:noFill/>
                      <a:prstDash val="solid"/>
                      <a:round/>
                      <a:headEnd type="none" w="med" len="med"/>
                      <a:tailEnd type="none" w="med" len="med"/>
                    </a:lnB>
                    <a:solidFill>
                      <a:srgbClr val="F4F9F1"/>
                    </a:solidFill>
                  </a:tcPr>
                </a:tc>
                <a:extLst>
                  <a:ext uri="{0D108BD9-81ED-4DB2-BD59-A6C34878D82A}">
                    <a16:rowId xmlns:a16="http://schemas.microsoft.com/office/drawing/2014/main" xmlns="" val="10008"/>
                  </a:ext>
                </a:extLst>
              </a:tr>
              <a:tr h="344362">
                <a:tc>
                  <a:txBody>
                    <a:bodyPr/>
                    <a:lstStyle/>
                    <a:p>
                      <a:pPr marL="216000" marR="0" indent="0" algn="l" defTabSz="914400" rtl="0" eaLnBrk="1" fontAlgn="auto" latinLnBrk="0" hangingPunct="1">
                        <a:lnSpc>
                          <a:spcPct val="100000"/>
                        </a:lnSpc>
                        <a:spcBef>
                          <a:spcPts val="0"/>
                        </a:spcBef>
                        <a:spcAft>
                          <a:spcPts val="0"/>
                        </a:spcAft>
                        <a:buClrTx/>
                        <a:buSzTx/>
                        <a:buFontTx/>
                        <a:buNone/>
                        <a:tabLst/>
                        <a:defRPr/>
                      </a:pPr>
                      <a:r>
                        <a:rPr lang="zh-CN" altLang="zh-CN" sz="1200" b="1" dirty="0">
                          <a:solidFill>
                            <a:schemeClr val="tx1"/>
                          </a:solidFill>
                          <a:effectLst/>
                          <a:latin typeface="+mn-lt"/>
                          <a:ea typeface="+mn-ea"/>
                          <a:cs typeface="+mn-ea"/>
                          <a:sym typeface="+mn-lt"/>
                        </a:rPr>
                        <a:t>预防继发感染</a:t>
                      </a:r>
                      <a:r>
                        <a:rPr lang="en-US" altLang="zh-CN" sz="1200" b="1" baseline="30000" dirty="0">
                          <a:solidFill>
                            <a:schemeClr val="tx1"/>
                          </a:solidFill>
                          <a:effectLst/>
                          <a:latin typeface="+mn-lt"/>
                          <a:ea typeface="+mn-ea"/>
                          <a:cs typeface="+mn-ea"/>
                          <a:sym typeface="+mn-lt"/>
                        </a:rPr>
                        <a:t>1</a:t>
                      </a:r>
                      <a:endParaRPr lang="zh-CN" altLang="zh-CN" sz="1200" b="1" baseline="30000"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FFFF"/>
                    </a:solidFill>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en-US" altLang="zh-CN" sz="1100" dirty="0" err="1">
                          <a:effectLst/>
                          <a:latin typeface="+mn-lt"/>
                          <a:ea typeface="+mn-ea"/>
                          <a:cs typeface="+mn-ea"/>
                          <a:sym typeface="+mn-lt"/>
                        </a:rPr>
                        <a:t>保持</a:t>
                      </a:r>
                      <a:r>
                        <a:rPr lang="zh-CN" altLang="en-US" sz="1100" dirty="0">
                          <a:effectLst/>
                          <a:latin typeface="+mn-lt"/>
                          <a:ea typeface="+mn-ea"/>
                          <a:cs typeface="+mn-ea"/>
                          <a:sym typeface="+mn-lt"/>
                        </a:rPr>
                        <a:t>手足部位</a:t>
                      </a:r>
                      <a:r>
                        <a:rPr lang="en-US" altLang="zh-CN" sz="1100" dirty="0" err="1">
                          <a:effectLst/>
                          <a:latin typeface="+mn-lt"/>
                          <a:ea typeface="+mn-ea"/>
                          <a:cs typeface="+mn-ea"/>
                          <a:sym typeface="+mn-lt"/>
                        </a:rPr>
                        <a:t>清洁</a:t>
                      </a:r>
                      <a:endParaRPr lang="zh-CN" altLang="zh-CN" sz="1100" baseline="30000" dirty="0">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xmlns="" val="10009"/>
                  </a:ext>
                </a:extLst>
              </a:tr>
              <a:tr h="290996">
                <a:tc rowSpan="2">
                  <a:txBody>
                    <a:bodyPr/>
                    <a:lstStyle/>
                    <a:p>
                      <a:pPr marL="216000" marR="148590" indent="0" algn="l">
                        <a:lnSpc>
                          <a:spcPct val="100000"/>
                        </a:lnSpc>
                        <a:spcAft>
                          <a:spcPts val="0"/>
                        </a:spcAft>
                      </a:pPr>
                      <a:r>
                        <a:rPr lang="zh-CN" altLang="zh-CN" sz="1200" b="1" dirty="0">
                          <a:solidFill>
                            <a:schemeClr val="tx1"/>
                          </a:solidFill>
                          <a:effectLst/>
                          <a:latin typeface="+mn-lt"/>
                          <a:ea typeface="+mn-ea"/>
                          <a:cs typeface="+mn-ea"/>
                          <a:sym typeface="+mn-lt"/>
                        </a:rPr>
                        <a:t>避免阳光直射</a:t>
                      </a:r>
                      <a:r>
                        <a:rPr lang="en-US" altLang="zh-CN" sz="1200" b="1" baseline="30000" dirty="0">
                          <a:solidFill>
                            <a:schemeClr val="tx1"/>
                          </a:solidFill>
                          <a:effectLst/>
                          <a:latin typeface="+mn-lt"/>
                          <a:ea typeface="+mn-ea"/>
                          <a:cs typeface="+mn-ea"/>
                          <a:sym typeface="+mn-lt"/>
                        </a:rPr>
                        <a:t>1</a:t>
                      </a:r>
                      <a:endParaRPr lang="zh-CN" altLang="zh-CN" sz="1200" b="1" baseline="30000"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rgbClr val="F4F9F1"/>
                    </a:solidFill>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zh-CN" sz="1100" dirty="0">
                          <a:solidFill>
                            <a:schemeClr val="tx1"/>
                          </a:solidFill>
                          <a:effectLst/>
                          <a:latin typeface="+mn-lt"/>
                          <a:ea typeface="+mn-ea"/>
                          <a:cs typeface="+mn-ea"/>
                          <a:sym typeface="+mn-lt"/>
                        </a:rPr>
                        <a:t>外出时使用遮阳伞，帽子和手套</a:t>
                      </a:r>
                      <a:r>
                        <a:rPr lang="zh-CN" altLang="en-US" sz="1100" dirty="0">
                          <a:solidFill>
                            <a:schemeClr val="tx1"/>
                          </a:solidFill>
                          <a:effectLst/>
                          <a:latin typeface="+mn-lt"/>
                          <a:ea typeface="+mn-ea"/>
                          <a:cs typeface="+mn-ea"/>
                          <a:sym typeface="+mn-lt"/>
                        </a:rPr>
                        <a:t>，</a:t>
                      </a:r>
                      <a:r>
                        <a:rPr lang="zh-CN" altLang="en-US" sz="1100" b="0" dirty="0">
                          <a:solidFill>
                            <a:schemeClr val="tx1"/>
                          </a:solidFill>
                          <a:effectLst/>
                          <a:latin typeface="+mn-lt"/>
                          <a:ea typeface="+mn-ea"/>
                          <a:cs typeface="+mn-ea"/>
                          <a:sym typeface="+mn-lt"/>
                        </a:rPr>
                        <a:t>建议穿长袖长裤</a:t>
                      </a:r>
                      <a:r>
                        <a:rPr lang="en-US" altLang="zh-CN" sz="1100" b="0" baseline="30000" dirty="0">
                          <a:solidFill>
                            <a:schemeClr val="tx1"/>
                          </a:solidFill>
                          <a:effectLst/>
                          <a:latin typeface="+mn-lt"/>
                          <a:ea typeface="+mn-ea"/>
                          <a:cs typeface="+mn-ea"/>
                          <a:sym typeface="+mn-lt"/>
                        </a:rPr>
                        <a:t>3</a:t>
                      </a:r>
                      <a:endParaRPr lang="zh-CN" altLang="zh-CN" sz="1100" b="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19050" cap="flat" cmpd="sng" algn="ctr">
                      <a:noFill/>
                      <a:prstDash val="solid"/>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10"/>
                  </a:ext>
                </a:extLst>
              </a:tr>
              <a:tr h="290996">
                <a:tc vMerge="1">
                  <a:txBody>
                    <a:bodyPr/>
                    <a:lstStyle/>
                    <a:p>
                      <a:endParaRPr lang="zh-CN" altLang="en-US" dirty="0"/>
                    </a:p>
                  </a:txBody>
                  <a:tcPr/>
                </a:tc>
                <a:tc>
                  <a:txBody>
                    <a:bodyPr/>
                    <a:lstStyle/>
                    <a:p>
                      <a:pPr marL="216000" marR="0" indent="0" algn="l" defTabSz="914400" rtl="0" eaLnBrk="1" fontAlgn="auto" latinLnBrk="0" hangingPunct="1">
                        <a:lnSpc>
                          <a:spcPct val="100000"/>
                        </a:lnSpc>
                        <a:spcBef>
                          <a:spcPts val="600"/>
                        </a:spcBef>
                        <a:spcAft>
                          <a:spcPts val="600"/>
                        </a:spcAft>
                        <a:buClrTx/>
                        <a:buSzTx/>
                        <a:buFontTx/>
                        <a:buNone/>
                        <a:tabLst/>
                        <a:defRPr/>
                      </a:pPr>
                      <a:r>
                        <a:rPr lang="zh-CN" altLang="zh-CN" sz="1100" dirty="0">
                          <a:solidFill>
                            <a:schemeClr val="tx1"/>
                          </a:solidFill>
                          <a:effectLst/>
                          <a:latin typeface="+mn-lt"/>
                          <a:ea typeface="+mn-ea"/>
                          <a:cs typeface="+mn-ea"/>
                          <a:sym typeface="+mn-lt"/>
                        </a:rPr>
                        <a:t>在暴露区域使用防晒霜</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6350" cap="flat" cmpd="sng" algn="ctr">
                      <a:noFill/>
                      <a:prstDash val="sysDot"/>
                      <a:round/>
                      <a:headEnd type="none" w="med" len="med"/>
                      <a:tailEnd type="none" w="med" len="med"/>
                    </a:lnB>
                    <a:solidFill>
                      <a:srgbClr val="F4F9F1"/>
                    </a:solidFill>
                  </a:tcPr>
                </a:tc>
                <a:extLst>
                  <a:ext uri="{0D108BD9-81ED-4DB2-BD59-A6C34878D82A}">
                    <a16:rowId xmlns:a16="http://schemas.microsoft.com/office/drawing/2014/main" xmlns="" val="10011"/>
                  </a:ext>
                </a:extLst>
              </a:tr>
              <a:tr h="344362">
                <a:tc>
                  <a:txBody>
                    <a:bodyPr/>
                    <a:lstStyle/>
                    <a:p>
                      <a:pPr marL="216000" marR="14859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solidFill>
                          <a:effectLst/>
                          <a:latin typeface="+mn-lt"/>
                          <a:ea typeface="+mn-ea"/>
                          <a:cs typeface="+mn-ea"/>
                          <a:sym typeface="+mn-lt"/>
                        </a:rPr>
                        <a:t>肢体活动</a:t>
                      </a:r>
                      <a:r>
                        <a:rPr lang="en-US" altLang="zh-CN" sz="1200" b="1" baseline="30000" dirty="0">
                          <a:solidFill>
                            <a:schemeClr val="tx1"/>
                          </a:solidFill>
                          <a:effectLst/>
                          <a:latin typeface="+mn-lt"/>
                          <a:ea typeface="+mn-ea"/>
                          <a:cs typeface="+mn-ea"/>
                          <a:sym typeface="+mn-lt"/>
                        </a:rPr>
                        <a:t>3</a:t>
                      </a:r>
                      <a:endParaRPr lang="zh-CN" altLang="zh-CN" sz="1200" b="1" baseline="30000"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solidFill>
                  </a:tcPr>
                </a:tc>
                <a:tc>
                  <a:txBody>
                    <a:bodyPr/>
                    <a:lstStyle/>
                    <a:p>
                      <a:pPr marL="216000" marR="0" lvl="0" indent="0" algn="l" defTabSz="914400" rtl="0" eaLnBrk="1" fontAlgn="auto" latinLnBrk="0" hangingPunct="1">
                        <a:lnSpc>
                          <a:spcPct val="100000"/>
                        </a:lnSpc>
                        <a:spcBef>
                          <a:spcPts val="600"/>
                        </a:spcBef>
                        <a:spcAft>
                          <a:spcPts val="600"/>
                        </a:spcAft>
                        <a:buClrTx/>
                        <a:buSzTx/>
                        <a:buFontTx/>
                        <a:buNone/>
                        <a:tabLst/>
                        <a:defRPr/>
                      </a:pPr>
                      <a:r>
                        <a:rPr lang="zh-CN" altLang="en-US" sz="1100" dirty="0">
                          <a:solidFill>
                            <a:schemeClr val="tx1"/>
                          </a:solidFill>
                          <a:effectLst/>
                          <a:latin typeface="+mn-lt"/>
                          <a:ea typeface="+mn-ea"/>
                          <a:cs typeface="+mn-ea"/>
                          <a:sym typeface="+mn-lt"/>
                        </a:rPr>
                        <a:t>坐或躺着的时候，将手和脚放在较高的位置，以促进静脉血液回流</a:t>
                      </a:r>
                      <a:endParaRPr lang="zh-CN" altLang="zh-CN" sz="1100" baseline="300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noFill/>
                      <a:prstDash val="sysDot"/>
                      <a:round/>
                      <a:headEnd type="none" w="med" len="med"/>
                      <a:tailEnd type="none" w="med" len="med"/>
                    </a:lnT>
                    <a:lnB w="6350" cap="flat" cmpd="sng" algn="ctr">
                      <a:noFill/>
                      <a:prstDash val="sysDot"/>
                      <a:round/>
                      <a:headEnd type="none" w="med" len="med"/>
                      <a:tailEnd type="none" w="med" len="med"/>
                    </a:lnB>
                    <a:solidFill>
                      <a:schemeClr val="bg1"/>
                    </a:solidFill>
                  </a:tcPr>
                </a:tc>
                <a:extLst>
                  <a:ext uri="{0D108BD9-81ED-4DB2-BD59-A6C34878D82A}">
                    <a16:rowId xmlns:a16="http://schemas.microsoft.com/office/drawing/2014/main" xmlns="" val="10012"/>
                  </a:ext>
                </a:extLst>
              </a:tr>
              <a:tr h="290996">
                <a:tc rowSpan="3">
                  <a:txBody>
                    <a:bodyPr/>
                    <a:lstStyle/>
                    <a:p>
                      <a:pPr marL="216000" marR="148590" indent="0" algn="l">
                        <a:lnSpc>
                          <a:spcPct val="100000"/>
                        </a:lnSpc>
                        <a:spcAft>
                          <a:spcPts val="0"/>
                        </a:spcAft>
                      </a:pPr>
                      <a:r>
                        <a:rPr lang="zh-CN" altLang="en-US" sz="1200" b="1" dirty="0">
                          <a:solidFill>
                            <a:schemeClr val="tx1"/>
                          </a:solidFill>
                          <a:effectLst/>
                          <a:latin typeface="+mn-lt"/>
                          <a:ea typeface="+mn-ea"/>
                          <a:cs typeface="+mn-ea"/>
                          <a:sym typeface="+mn-lt"/>
                        </a:rPr>
                        <a:t>注意饮食</a:t>
                      </a:r>
                      <a:r>
                        <a:rPr lang="en-US" altLang="zh-CN" sz="1200" b="1" baseline="30000" dirty="0">
                          <a:solidFill>
                            <a:schemeClr val="tx1"/>
                          </a:solidFill>
                          <a:effectLst/>
                          <a:latin typeface="+mn-lt"/>
                          <a:ea typeface="+mn-ea"/>
                          <a:cs typeface="+mn-ea"/>
                          <a:sym typeface="+mn-lt"/>
                        </a:rPr>
                        <a:t>3</a:t>
                      </a:r>
                      <a:endParaRPr lang="zh-CN" altLang="zh-CN" sz="1200" b="1" baseline="30000" dirty="0">
                        <a:solidFill>
                          <a:schemeClr val="tx1"/>
                        </a:solidFill>
                        <a:effectLst/>
                        <a:latin typeface="+mn-lt"/>
                        <a:ea typeface="+mn-ea"/>
                        <a:cs typeface="+mn-ea"/>
                        <a:sym typeface="+mn-lt"/>
                      </a:endParaRPr>
                    </a:p>
                  </a:txBody>
                  <a:tcPr marL="0" marR="0" marT="0" marB="0" anchor="ctr">
                    <a:lnR w="6350" cap="flat" cmpd="sng" algn="ctr">
                      <a:solidFill>
                        <a:schemeClr val="bg1">
                          <a:lumMod val="50000"/>
                        </a:schemeClr>
                      </a:solidFill>
                      <a:prstDash val="sysDot"/>
                      <a:round/>
                      <a:headEnd type="none" w="med" len="med"/>
                      <a:tailEnd type="none" w="med" len="med"/>
                    </a:lnR>
                    <a:lnT w="19050" cap="flat" cmpd="sng" algn="ctr">
                      <a:noFill/>
                      <a:prstDash val="solid"/>
                      <a:round/>
                      <a:headEnd type="none" w="med" len="med"/>
                      <a:tailEnd type="none" w="med" len="med"/>
                    </a:lnT>
                    <a:lnB w="28575" cap="flat" cmpd="sng" algn="ctr">
                      <a:solidFill>
                        <a:srgbClr val="108638"/>
                      </a:solidFill>
                      <a:prstDash val="solid"/>
                      <a:round/>
                      <a:headEnd type="none" w="med" len="med"/>
                      <a:tailEnd type="none" w="med" len="med"/>
                    </a:lnB>
                    <a:solidFill>
                      <a:srgbClr val="F4F9F1"/>
                    </a:solidFill>
                  </a:tcPr>
                </a:tc>
                <a:tc>
                  <a:txBody>
                    <a:bodyPr/>
                    <a:lstStyle/>
                    <a:p>
                      <a:pPr marL="21600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zh-CN" altLang="en-US" sz="1100" b="0" dirty="0">
                          <a:solidFill>
                            <a:schemeClr val="tx1"/>
                          </a:solidFill>
                          <a:effectLst/>
                          <a:latin typeface="+mn-lt"/>
                          <a:ea typeface="+mn-ea"/>
                          <a:cs typeface="+mn-ea"/>
                          <a:sym typeface="+mn-lt"/>
                        </a:rPr>
                        <a:t>确保每天饮水量不低于</a:t>
                      </a:r>
                      <a:r>
                        <a:rPr lang="en-US" altLang="zh-CN" sz="1100" b="0" dirty="0">
                          <a:solidFill>
                            <a:schemeClr val="tx1"/>
                          </a:solidFill>
                          <a:effectLst/>
                          <a:latin typeface="+mn-lt"/>
                          <a:ea typeface="+mn-ea"/>
                          <a:cs typeface="+mn-ea"/>
                          <a:sym typeface="+mn-lt"/>
                        </a:rPr>
                        <a:t>2500ml</a:t>
                      </a:r>
                      <a:r>
                        <a:rPr lang="zh-CN" altLang="en-US" sz="1100" b="0" dirty="0">
                          <a:solidFill>
                            <a:schemeClr val="tx1"/>
                          </a:solidFill>
                          <a:effectLst/>
                          <a:latin typeface="+mn-lt"/>
                          <a:ea typeface="+mn-ea"/>
                          <a:cs typeface="+mn-ea"/>
                          <a:sym typeface="+mn-lt"/>
                        </a:rPr>
                        <a:t>，以促进化疗药物代谢</a:t>
                      </a:r>
                      <a:endParaRPr lang="zh-CN" altLang="zh-CN" sz="1100" b="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no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13"/>
                  </a:ext>
                </a:extLst>
              </a:tr>
              <a:tr h="290996">
                <a:tc vMerge="1">
                  <a:txBody>
                    <a:bodyPr/>
                    <a:lstStyle/>
                    <a:p>
                      <a:endParaRPr lang="zh-CN" altLang="en-US"/>
                    </a:p>
                  </a:txBody>
                  <a:tcPr/>
                </a:tc>
                <a:tc>
                  <a:txBody>
                    <a:bodyPr/>
                    <a:lstStyle/>
                    <a:p>
                      <a:pPr marL="21600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zh-CN" altLang="en-US" sz="1100" b="0" dirty="0">
                          <a:solidFill>
                            <a:schemeClr val="tx1"/>
                          </a:solidFill>
                          <a:effectLst/>
                          <a:latin typeface="+mn-lt"/>
                          <a:ea typeface="+mn-ea"/>
                          <a:cs typeface="+mn-ea"/>
                          <a:sym typeface="+mn-lt"/>
                        </a:rPr>
                        <a:t>饮食均衡，避免酒</a:t>
                      </a:r>
                      <a:r>
                        <a:rPr lang="en-US" altLang="zh-CN" sz="1100" b="0" dirty="0">
                          <a:solidFill>
                            <a:schemeClr val="tx1"/>
                          </a:solidFill>
                          <a:effectLst/>
                          <a:latin typeface="+mn-lt"/>
                          <a:ea typeface="+mn-ea"/>
                          <a:cs typeface="+mn-ea"/>
                          <a:sym typeface="+mn-lt"/>
                        </a:rPr>
                        <a:t>/</a:t>
                      </a:r>
                      <a:r>
                        <a:rPr lang="zh-CN" altLang="en-US" sz="1100" b="0" dirty="0">
                          <a:solidFill>
                            <a:schemeClr val="tx1"/>
                          </a:solidFill>
                          <a:effectLst/>
                          <a:latin typeface="+mn-lt"/>
                          <a:ea typeface="+mn-ea"/>
                          <a:cs typeface="+mn-ea"/>
                          <a:sym typeface="+mn-lt"/>
                        </a:rPr>
                        <a:t>辛辣刺激性食物的摄入</a:t>
                      </a:r>
                      <a:endParaRPr lang="en-US" altLang="zh-CN" sz="11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6350" cap="flat" cmpd="sng" algn="ctr">
                      <a:solidFill>
                        <a:schemeClr val="bg1">
                          <a:lumMod val="50000"/>
                        </a:schemeClr>
                      </a:solidFill>
                      <a:prstDash val="sysDot"/>
                      <a:round/>
                      <a:headEnd type="none" w="med" len="med"/>
                      <a:tailEnd type="none" w="med" len="med"/>
                    </a:lnB>
                    <a:solidFill>
                      <a:srgbClr val="F4F9F1"/>
                    </a:solidFill>
                  </a:tcPr>
                </a:tc>
                <a:extLst>
                  <a:ext uri="{0D108BD9-81ED-4DB2-BD59-A6C34878D82A}">
                    <a16:rowId xmlns:a16="http://schemas.microsoft.com/office/drawing/2014/main" xmlns="" val="10014"/>
                  </a:ext>
                </a:extLst>
              </a:tr>
              <a:tr h="290996">
                <a:tc vMerge="1">
                  <a:txBody>
                    <a:bodyPr/>
                    <a:lstStyle/>
                    <a:p>
                      <a:endParaRPr lang="zh-CN" altLang="en-US"/>
                    </a:p>
                  </a:txBody>
                  <a:tcPr/>
                </a:tc>
                <a:tc>
                  <a:txBody>
                    <a:bodyPr/>
                    <a:lstStyle/>
                    <a:p>
                      <a:pPr marL="21600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zh-CN" altLang="en-US" sz="1100" dirty="0">
                          <a:solidFill>
                            <a:schemeClr val="tx1"/>
                          </a:solidFill>
                          <a:effectLst/>
                          <a:latin typeface="+mn-lt"/>
                          <a:ea typeface="+mn-ea"/>
                          <a:cs typeface="+mn-ea"/>
                          <a:sym typeface="+mn-lt"/>
                        </a:rPr>
                        <a:t>服药时不能与牛奶、果汁、浓茶、咖啡等同时服用</a:t>
                      </a:r>
                      <a:endParaRPr lang="en-US" altLang="zh-CN" sz="1100" dirty="0">
                        <a:solidFill>
                          <a:schemeClr val="tx1"/>
                        </a:solidFill>
                        <a:effectLst/>
                        <a:latin typeface="+mn-lt"/>
                        <a:ea typeface="+mn-ea"/>
                        <a:cs typeface="+mn-ea"/>
                        <a:sym typeface="+mn-lt"/>
                      </a:endParaRPr>
                    </a:p>
                  </a:txBody>
                  <a:tcPr marL="0" marR="0" marT="0" marB="0" anchor="ctr">
                    <a:lnL w="6350" cap="flat" cmpd="sng" algn="ctr">
                      <a:solidFill>
                        <a:schemeClr val="bg1">
                          <a:lumMod val="50000"/>
                        </a:schemeClr>
                      </a:solidFill>
                      <a:prstDash val="sysDot"/>
                      <a:round/>
                      <a:headEnd type="none" w="med" len="med"/>
                      <a:tailEnd type="none" w="med" len="med"/>
                    </a:lnL>
                    <a:lnT w="6350" cap="flat" cmpd="sng" algn="ctr">
                      <a:solidFill>
                        <a:schemeClr val="bg1">
                          <a:lumMod val="50000"/>
                        </a:schemeClr>
                      </a:solidFill>
                      <a:prstDash val="sysDot"/>
                      <a:round/>
                      <a:headEnd type="none" w="med" len="med"/>
                      <a:tailEnd type="none" w="med" len="med"/>
                    </a:lnT>
                    <a:lnB w="28575" cap="flat" cmpd="sng" algn="ctr">
                      <a:solidFill>
                        <a:srgbClr val="108638"/>
                      </a:solidFill>
                      <a:prstDash val="solid"/>
                      <a:round/>
                      <a:headEnd type="none" w="med" len="med"/>
                      <a:tailEnd type="none" w="med" len="med"/>
                    </a:lnB>
                    <a:solidFill>
                      <a:srgbClr val="F4F9F1"/>
                    </a:solidFill>
                  </a:tcPr>
                </a:tc>
                <a:extLst>
                  <a:ext uri="{0D108BD9-81ED-4DB2-BD59-A6C34878D82A}">
                    <a16:rowId xmlns:a16="http://schemas.microsoft.com/office/drawing/2014/main" xmlns="" val="10015"/>
                  </a:ext>
                </a:extLst>
              </a:tr>
            </a:tbl>
          </a:graphicData>
        </a:graphic>
      </p:graphicFrame>
      <p:sp>
        <p:nvSpPr>
          <p:cNvPr id="21" name="TextBox 3"/>
          <p:cNvSpPr txBox="1"/>
          <p:nvPr/>
        </p:nvSpPr>
        <p:spPr>
          <a:xfrm>
            <a:off x="5171438" y="6361376"/>
            <a:ext cx="3972562" cy="507831"/>
          </a:xfrm>
          <a:prstGeom prst="rect">
            <a:avLst/>
          </a:prstGeom>
          <a:noFill/>
        </p:spPr>
        <p:txBody>
          <a:bodyPr wrap="none" rtlCol="0">
            <a:spAutoFit/>
          </a:bodyPr>
          <a:lstStyle/>
          <a:p>
            <a:pPr marL="228600" indent="-228600" algn="r" eaLnBrk="1" fontAlgn="auto" hangingPunct="1">
              <a:spcBef>
                <a:spcPts val="0"/>
              </a:spcBef>
              <a:spcAft>
                <a:spcPts val="0"/>
              </a:spcAft>
              <a:buFont typeface="+mj-lt"/>
              <a:buAutoNum type="arabicPeriod"/>
              <a:defRPr/>
            </a:pPr>
            <a:r>
              <a:rPr lang="zh-CN" altLang="en-US" sz="900" kern="0" dirty="0">
                <a:solidFill>
                  <a:prstClr val="black"/>
                </a:solidFill>
                <a:latin typeface="微软雅黑"/>
                <a:ea typeface="微软雅黑"/>
                <a:cs typeface="+mn-ea"/>
                <a:sym typeface="+mn-lt"/>
              </a:rPr>
              <a:t>日本厚生劳动省</a:t>
            </a:r>
            <a:r>
              <a:rPr lang="en-US" altLang="zh-CN" sz="900" kern="0" dirty="0">
                <a:solidFill>
                  <a:prstClr val="black"/>
                </a:solidFill>
                <a:latin typeface="微软雅黑"/>
                <a:ea typeface="微软雅黑"/>
                <a:cs typeface="+mn-ea"/>
                <a:sym typeface="+mn-lt"/>
              </a:rPr>
              <a:t>, </a:t>
            </a:r>
            <a:r>
              <a:rPr lang="zh-CN" altLang="en-US" sz="900" kern="0" dirty="0">
                <a:solidFill>
                  <a:prstClr val="black"/>
                </a:solidFill>
                <a:latin typeface="微软雅黑"/>
                <a:ea typeface="微软雅黑"/>
                <a:cs typeface="+mn-ea"/>
                <a:sym typeface="+mn-lt"/>
              </a:rPr>
              <a:t>重篤副作用疾患別対応</a:t>
            </a:r>
            <a:r>
              <a:rPr lang="ja-JP" altLang="en-US" sz="900" kern="0" dirty="0">
                <a:solidFill>
                  <a:prstClr val="black"/>
                </a:solidFill>
                <a:latin typeface="微软雅黑"/>
                <a:ea typeface="微软雅黑"/>
                <a:cs typeface="+mn-ea"/>
                <a:sym typeface="+mn-lt"/>
              </a:rPr>
              <a:t>マニュアル</a:t>
            </a:r>
            <a:r>
              <a:rPr lang="en-US" altLang="ja-JP" sz="900" kern="0" dirty="0">
                <a:solidFill>
                  <a:prstClr val="black"/>
                </a:solidFill>
                <a:latin typeface="微软雅黑"/>
                <a:ea typeface="微软雅黑"/>
                <a:cs typeface="+mn-ea"/>
                <a:sym typeface="+mn-lt"/>
              </a:rPr>
              <a:t>-</a:t>
            </a:r>
            <a:r>
              <a:rPr lang="zh-CN" altLang="en-US" sz="900" kern="0" dirty="0">
                <a:solidFill>
                  <a:prstClr val="black"/>
                </a:solidFill>
                <a:latin typeface="微软雅黑"/>
                <a:ea typeface="微软雅黑"/>
                <a:cs typeface="+mn-ea"/>
                <a:sym typeface="+mn-lt"/>
              </a:rPr>
              <a:t>手足症候群 </a:t>
            </a:r>
            <a:r>
              <a:rPr lang="en-US" altLang="zh-CN" sz="900" kern="0" dirty="0">
                <a:solidFill>
                  <a:prstClr val="black"/>
                </a:solidFill>
                <a:latin typeface="微软雅黑"/>
                <a:ea typeface="微软雅黑"/>
                <a:cs typeface="+mn-ea"/>
                <a:sym typeface="+mn-lt"/>
              </a:rPr>
              <a:t>2010.</a:t>
            </a:r>
          </a:p>
          <a:p>
            <a:pPr marL="228600" indent="-228600" algn="r" eaLnBrk="1" fontAlgn="auto" hangingPunct="1">
              <a:spcBef>
                <a:spcPts val="0"/>
              </a:spcBef>
              <a:spcAft>
                <a:spcPts val="0"/>
              </a:spcAft>
              <a:buFont typeface="+mj-lt"/>
              <a:buAutoNum type="arabicPeriod"/>
              <a:defRPr/>
            </a:pPr>
            <a:r>
              <a:rPr lang="zh-CN" altLang="en-US" sz="900" kern="0" dirty="0">
                <a:solidFill>
                  <a:prstClr val="black"/>
                </a:solidFill>
                <a:latin typeface="微软雅黑"/>
                <a:ea typeface="微软雅黑"/>
                <a:cs typeface="+mn-ea"/>
                <a:sym typeface="+mn-lt"/>
              </a:rPr>
              <a:t>朱京京 等</a:t>
            </a:r>
            <a:r>
              <a:rPr lang="en-US" altLang="zh-CN" sz="900" kern="0" dirty="0">
                <a:solidFill>
                  <a:prstClr val="black"/>
                </a:solidFill>
                <a:latin typeface="微软雅黑"/>
                <a:ea typeface="微软雅黑"/>
                <a:cs typeface="+mn-ea"/>
                <a:sym typeface="+mn-lt"/>
              </a:rPr>
              <a:t>,</a:t>
            </a:r>
            <a:r>
              <a:rPr lang="zh-CN" altLang="en-US" sz="900" kern="0" dirty="0">
                <a:solidFill>
                  <a:prstClr val="black"/>
                </a:solidFill>
                <a:latin typeface="微软雅黑"/>
                <a:ea typeface="微软雅黑"/>
                <a:cs typeface="+mn-ea"/>
                <a:sym typeface="+mn-lt"/>
              </a:rPr>
              <a:t>护理与康复</a:t>
            </a:r>
            <a:r>
              <a:rPr lang="en-US" altLang="zh-CN" sz="900" kern="0" dirty="0">
                <a:solidFill>
                  <a:prstClr val="black"/>
                </a:solidFill>
                <a:latin typeface="微软雅黑"/>
                <a:ea typeface="微软雅黑"/>
                <a:cs typeface="+mn-ea"/>
                <a:sym typeface="+mn-lt"/>
              </a:rPr>
              <a:t> 2013;1(12): 20-22.</a:t>
            </a:r>
          </a:p>
          <a:p>
            <a:pPr marL="228600" indent="-228600" algn="r" eaLnBrk="1" fontAlgn="auto" hangingPunct="1">
              <a:spcBef>
                <a:spcPts val="0"/>
              </a:spcBef>
              <a:spcAft>
                <a:spcPts val="0"/>
              </a:spcAft>
              <a:buFont typeface="+mj-lt"/>
              <a:buAutoNum type="arabicPeriod"/>
              <a:defRPr/>
            </a:pPr>
            <a:r>
              <a:rPr lang="en-US" altLang="zh-CN" sz="900" kern="0" dirty="0" err="1">
                <a:solidFill>
                  <a:prstClr val="black"/>
                </a:solidFill>
                <a:latin typeface="微软雅黑"/>
                <a:ea typeface="微软雅黑"/>
                <a:cs typeface="+mn-ea"/>
                <a:sym typeface="+mn-lt"/>
              </a:rPr>
              <a:t>Qiyun</a:t>
            </a:r>
            <a:r>
              <a:rPr lang="en-US" altLang="zh-CN" sz="900" kern="0" dirty="0">
                <a:solidFill>
                  <a:prstClr val="black"/>
                </a:solidFill>
                <a:latin typeface="微软雅黑"/>
                <a:ea typeface="微软雅黑"/>
                <a:cs typeface="+mn-ea"/>
                <a:sym typeface="+mn-lt"/>
              </a:rPr>
              <a:t> </a:t>
            </a:r>
            <a:r>
              <a:rPr lang="en-US" altLang="zh-CN" sz="900" kern="0" dirty="0" err="1">
                <a:solidFill>
                  <a:prstClr val="black"/>
                </a:solidFill>
                <a:latin typeface="微软雅黑"/>
                <a:ea typeface="微软雅黑"/>
                <a:cs typeface="+mn-ea"/>
                <a:sym typeface="+mn-lt"/>
              </a:rPr>
              <a:t>Zou</a:t>
            </a:r>
            <a:r>
              <a:rPr lang="en-US" altLang="zh-CN" sz="900" kern="0" dirty="0">
                <a:solidFill>
                  <a:prstClr val="black"/>
                </a:solidFill>
                <a:latin typeface="微软雅黑"/>
                <a:ea typeface="微软雅黑"/>
                <a:cs typeface="+mn-ea"/>
                <a:sym typeface="+mn-lt"/>
              </a:rPr>
              <a:t> et al., China </a:t>
            </a:r>
            <a:r>
              <a:rPr lang="en-US" altLang="zh-CN" sz="900" kern="0" dirty="0" err="1">
                <a:solidFill>
                  <a:prstClr val="black"/>
                </a:solidFill>
                <a:latin typeface="微软雅黑"/>
                <a:ea typeface="微软雅黑"/>
                <a:cs typeface="+mn-ea"/>
                <a:sym typeface="+mn-lt"/>
              </a:rPr>
              <a:t>Prac</a:t>
            </a:r>
            <a:r>
              <a:rPr lang="en-US" altLang="zh-CN" sz="900" kern="0" dirty="0">
                <a:solidFill>
                  <a:prstClr val="black"/>
                </a:solidFill>
                <a:latin typeface="微软雅黑"/>
                <a:ea typeface="微软雅黑"/>
                <a:cs typeface="+mn-ea"/>
                <a:sym typeface="+mn-lt"/>
              </a:rPr>
              <a:t> Med 2012;7(6): 190-191.</a:t>
            </a:r>
          </a:p>
        </p:txBody>
      </p:sp>
    </p:spTree>
    <p:extLst>
      <p:ext uri="{BB962C8B-B14F-4D97-AF65-F5344CB8AC3E}">
        <p14:creationId xmlns:p14="http://schemas.microsoft.com/office/powerpoint/2010/main" val="4241201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表格 21"/>
          <p:cNvGraphicFramePr>
            <a:graphicFrameLocks noGrp="1"/>
          </p:cNvGraphicFramePr>
          <p:nvPr/>
        </p:nvGraphicFramePr>
        <p:xfrm>
          <a:off x="635825" y="1157122"/>
          <a:ext cx="7761000" cy="4572000"/>
        </p:xfrm>
        <a:graphic>
          <a:graphicData uri="http://schemas.openxmlformats.org/drawingml/2006/table">
            <a:tbl>
              <a:tblPr firstRow="1" bandRow="1">
                <a:tableStyleId>{5C22544A-7EE6-4342-B048-85BDC9FD1C3A}</a:tableStyleId>
              </a:tblPr>
              <a:tblGrid>
                <a:gridCol w="2300000">
                  <a:extLst>
                    <a:ext uri="{9D8B030D-6E8A-4147-A177-3AD203B41FA5}">
                      <a16:colId xmlns:a16="http://schemas.microsoft.com/office/drawing/2014/main" xmlns="" val="20000"/>
                    </a:ext>
                  </a:extLst>
                </a:gridCol>
                <a:gridCol w="2959100">
                  <a:extLst>
                    <a:ext uri="{9D8B030D-6E8A-4147-A177-3AD203B41FA5}">
                      <a16:colId xmlns:a16="http://schemas.microsoft.com/office/drawing/2014/main" xmlns="" val="20001"/>
                    </a:ext>
                  </a:extLst>
                </a:gridCol>
                <a:gridCol w="1498600">
                  <a:extLst>
                    <a:ext uri="{9D8B030D-6E8A-4147-A177-3AD203B41FA5}">
                      <a16:colId xmlns:a16="http://schemas.microsoft.com/office/drawing/2014/main" xmlns="" val="20002"/>
                    </a:ext>
                  </a:extLst>
                </a:gridCol>
                <a:gridCol w="1003300">
                  <a:extLst>
                    <a:ext uri="{9D8B030D-6E8A-4147-A177-3AD203B41FA5}">
                      <a16:colId xmlns:a16="http://schemas.microsoft.com/office/drawing/2014/main" xmlns="" val="20003"/>
                    </a:ext>
                  </a:extLst>
                </a:gridCol>
              </a:tblGrid>
              <a:tr h="360000">
                <a:tc>
                  <a:txBody>
                    <a:bodyPr/>
                    <a:lstStyle/>
                    <a:p>
                      <a:pPr marL="0" algn="l"/>
                      <a:r>
                        <a:rPr lang="zh-CN" altLang="en-US" sz="1200" dirty="0">
                          <a:solidFill>
                            <a:schemeClr val="tx1"/>
                          </a:solidFill>
                          <a:latin typeface="+mn-lt"/>
                          <a:ea typeface="+mn-ea"/>
                          <a:cs typeface="+mn-ea"/>
                          <a:sym typeface="+mn-lt"/>
                        </a:rPr>
                        <a:t>         防护措施</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19050" cap="flat" cmpd="sng" algn="ctr">
                      <a:no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tx1"/>
                          </a:solidFill>
                          <a:latin typeface="+mn-lt"/>
                          <a:ea typeface="+mn-ea"/>
                          <a:cs typeface="+mn-ea"/>
                          <a:sym typeface="+mn-lt"/>
                        </a:rPr>
                        <a:t>优势比（</a:t>
                      </a:r>
                      <a:r>
                        <a:rPr lang="en-US" altLang="zh-CN" sz="1200" dirty="0">
                          <a:solidFill>
                            <a:schemeClr val="tx1"/>
                          </a:solidFill>
                          <a:latin typeface="+mn-lt"/>
                          <a:ea typeface="+mn-ea"/>
                          <a:cs typeface="+mn-ea"/>
                          <a:sym typeface="+mn-lt"/>
                        </a:rPr>
                        <a:t>95% Cl</a:t>
                      </a:r>
                      <a:r>
                        <a:rPr lang="zh-CN" altLang="en-US" sz="1200" dirty="0">
                          <a:solidFill>
                            <a:schemeClr val="tx1"/>
                          </a:solidFill>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no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mn-lt"/>
                          <a:ea typeface="+mn-ea"/>
                          <a:cs typeface="+mn-ea"/>
                          <a:sym typeface="+mn-lt"/>
                        </a:rPr>
                        <a:t>优势比（</a:t>
                      </a:r>
                      <a:r>
                        <a:rPr kumimoji="0" lang="en-US" altLang="zh-CN" sz="1200" b="1" i="0" u="none" strike="noStrike" kern="1200" cap="none" spc="0" normalizeH="0" baseline="0" noProof="0" dirty="0">
                          <a:ln>
                            <a:noFill/>
                          </a:ln>
                          <a:solidFill>
                            <a:prstClr val="black"/>
                          </a:solidFill>
                          <a:effectLst/>
                          <a:uLnTx/>
                          <a:uFillTx/>
                          <a:latin typeface="+mn-lt"/>
                          <a:ea typeface="+mn-ea"/>
                          <a:cs typeface="+mn-ea"/>
                          <a:sym typeface="+mn-lt"/>
                        </a:rPr>
                        <a:t>95% Cl</a:t>
                      </a:r>
                      <a:r>
                        <a:rPr kumimoji="0" lang="zh-CN" altLang="en-US" sz="1200" b="1" i="0" u="none" strike="noStrike" kern="1200" cap="none" spc="0" normalizeH="0" baseline="0" noProof="0" dirty="0">
                          <a:ln>
                            <a:noFill/>
                          </a:ln>
                          <a:solidFill>
                            <a:prstClr val="black"/>
                          </a:solidFill>
                          <a:effectLst/>
                          <a:uLnTx/>
                          <a:uFillTx/>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19050" cap="flat" cmpd="sng" algn="ctr">
                      <a:no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black"/>
                          </a:solidFill>
                          <a:effectLst/>
                          <a:uLnTx/>
                          <a:uFillTx/>
                          <a:latin typeface="+mn-lt"/>
                          <a:ea typeface="+mn-ea"/>
                          <a:cs typeface="+mn-ea"/>
                          <a:sym typeface="+mn-lt"/>
                        </a:rPr>
                        <a:t>P</a:t>
                      </a:r>
                      <a:r>
                        <a:rPr kumimoji="0" lang="zh-CN" altLang="en-US" sz="1200" b="1" i="0" u="none" strike="noStrike" kern="1200" cap="none" spc="0" normalizeH="0" baseline="0" noProof="0" dirty="0">
                          <a:ln>
                            <a:noFill/>
                          </a:ln>
                          <a:solidFill>
                            <a:prstClr val="black"/>
                          </a:solidFill>
                          <a:effectLst/>
                          <a:uLnTx/>
                          <a:uFillTx/>
                          <a:latin typeface="+mn-lt"/>
                          <a:ea typeface="+mn-ea"/>
                          <a:cs typeface="+mn-ea"/>
                          <a:sym typeface="+mn-lt"/>
                        </a:rPr>
                        <a:t>值</a:t>
                      </a: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xmlns="" val="10000"/>
                  </a:ext>
                </a:extLst>
              </a:tr>
              <a:tr h="396000">
                <a:tc>
                  <a:txBody>
                    <a:bodyPr/>
                    <a:lstStyle/>
                    <a:p>
                      <a:pPr marL="108000" algn="l">
                        <a:lnSpc>
                          <a:spcPct val="105000"/>
                        </a:lnSpc>
                      </a:pPr>
                      <a:r>
                        <a:rPr lang="zh-CN" altLang="en-US" sz="1000" kern="1200" dirty="0">
                          <a:solidFill>
                            <a:schemeClr val="dk1"/>
                          </a:solidFill>
                          <a:latin typeface="+mn-lt"/>
                          <a:ea typeface="+mn-ea"/>
                          <a:cs typeface="+mn-ea"/>
                          <a:sym typeface="+mn-lt"/>
                        </a:rPr>
                        <a:t>避免手指或手掌受压的活动</a:t>
                      </a:r>
                      <a:endParaRPr lang="en-US" altLang="zh-CN" sz="1000" kern="1200" dirty="0">
                        <a:solidFill>
                          <a:schemeClr val="dk1"/>
                        </a:solidFill>
                        <a:latin typeface="+mn-lt"/>
                        <a:ea typeface="+mn-ea"/>
                        <a:cs typeface="+mn-ea"/>
                        <a:sym typeface="+mn-lt"/>
                      </a:endParaRPr>
                    </a:p>
                    <a:p>
                      <a:pPr marL="108000" algn="l">
                        <a:lnSpc>
                          <a:spcPct val="105000"/>
                        </a:lnSpc>
                      </a:pPr>
                      <a:r>
                        <a:rPr lang="zh-CN" altLang="en-US" sz="1000" kern="1200" dirty="0">
                          <a:solidFill>
                            <a:schemeClr val="dk1"/>
                          </a:solidFill>
                          <a:latin typeface="+mn-lt"/>
                          <a:ea typeface="+mn-ea"/>
                          <a:cs typeface="+mn-ea"/>
                          <a:sym typeface="+mn-lt"/>
                        </a:rPr>
                        <a:t>（如：长时间的指压和书写） </a:t>
                      </a:r>
                      <a:endParaRPr lang="zh-CN" altLang="en-US" sz="1000" dirty="0">
                        <a:latin typeface="+mn-lt"/>
                        <a:ea typeface="+mn-ea"/>
                        <a:cs typeface="+mn-ea"/>
                        <a:sym typeface="+mn-lt"/>
                      </a:endParaRP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r>
                        <a:rPr lang="en-US" altLang="zh-CN" sz="1000" dirty="0">
                          <a:latin typeface="+mn-lt"/>
                          <a:ea typeface="+mn-ea"/>
                          <a:cs typeface="+mn-ea"/>
                          <a:sym typeface="+mn-lt"/>
                        </a:rPr>
                        <a:t>                                               </a:t>
                      </a:r>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0.36</a:t>
                      </a:r>
                      <a:r>
                        <a:rPr lang="zh-CN" altLang="en-US" sz="1100" dirty="0">
                          <a:latin typeface="+mn-lt"/>
                          <a:ea typeface="+mn-ea"/>
                          <a:cs typeface="+mn-ea"/>
                          <a:sym typeface="+mn-lt"/>
                        </a:rPr>
                        <a:t>（</a:t>
                      </a:r>
                      <a:r>
                        <a:rPr lang="en-US" altLang="zh-CN" sz="1100" dirty="0">
                          <a:latin typeface="+mn-lt"/>
                          <a:ea typeface="+mn-ea"/>
                          <a:cs typeface="+mn-ea"/>
                          <a:sym typeface="+mn-lt"/>
                        </a:rPr>
                        <a:t>0.14</a:t>
                      </a:r>
                      <a:r>
                        <a:rPr lang="zh-CN" altLang="en-US" sz="1100" baseline="0" dirty="0">
                          <a:latin typeface="+mn-lt"/>
                          <a:ea typeface="+mn-ea"/>
                          <a:cs typeface="+mn-ea"/>
                          <a:sym typeface="+mn-lt"/>
                        </a:rPr>
                        <a:t> </a:t>
                      </a:r>
                      <a:r>
                        <a:rPr lang="en-US" altLang="zh-CN" sz="1100" baseline="0" dirty="0">
                          <a:latin typeface="+mn-lt"/>
                          <a:ea typeface="+mn-ea"/>
                          <a:cs typeface="+mn-ea"/>
                          <a:sym typeface="+mn-lt"/>
                        </a:rPr>
                        <a:t>- </a:t>
                      </a:r>
                      <a:r>
                        <a:rPr lang="en-US" altLang="zh-CN" sz="1100" dirty="0">
                          <a:latin typeface="+mn-lt"/>
                          <a:ea typeface="+mn-ea"/>
                          <a:cs typeface="+mn-ea"/>
                          <a:sym typeface="+mn-lt"/>
                        </a:rPr>
                        <a:t>0.96</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0.038</a:t>
                      </a:r>
                      <a:r>
                        <a:rPr lang="en-US" altLang="zh-CN" sz="1100" baseline="30000" dirty="0">
                          <a:latin typeface="+mn-lt"/>
                          <a:ea typeface="+mn-ea"/>
                          <a:cs typeface="+mn-ea"/>
                          <a:sym typeface="+mn-lt"/>
                        </a:rPr>
                        <a:t>a,b</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01"/>
                  </a:ext>
                </a:extLst>
              </a:tr>
              <a:tr h="252000">
                <a:tc>
                  <a:txBody>
                    <a:bodyPr/>
                    <a:lstStyle/>
                    <a:p>
                      <a:pPr marL="108000" algn="l">
                        <a:lnSpc>
                          <a:spcPct val="105000"/>
                        </a:lnSpc>
                      </a:pPr>
                      <a:r>
                        <a:rPr lang="zh-CN" altLang="en-US" sz="1000" kern="1200" dirty="0">
                          <a:solidFill>
                            <a:schemeClr val="dk1"/>
                          </a:solidFill>
                          <a:latin typeface="+mn-lt"/>
                          <a:ea typeface="+mn-ea"/>
                          <a:cs typeface="+mn-ea"/>
                          <a:sym typeface="+mn-lt"/>
                        </a:rPr>
                        <a:t>不用过热的水洗澡</a:t>
                      </a:r>
                      <a:endParaRPr lang="zh-CN" altLang="en-US" sz="1000" dirty="0">
                        <a:latin typeface="+mn-lt"/>
                        <a:ea typeface="+mn-ea"/>
                        <a:cs typeface="+mn-ea"/>
                        <a:sym typeface="+mn-lt"/>
                      </a:endParaRP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dirty="0">
                          <a:latin typeface="+mn-lt"/>
                          <a:ea typeface="+mn-ea"/>
                          <a:cs typeface="+mn-ea"/>
                          <a:sym typeface="+mn-lt"/>
                        </a:rPr>
                        <a:t>0.35</a:t>
                      </a:r>
                      <a:r>
                        <a:rPr lang="zh-CN" altLang="en-US" sz="1100" dirty="0">
                          <a:latin typeface="+mn-lt"/>
                          <a:ea typeface="+mn-ea"/>
                          <a:cs typeface="+mn-ea"/>
                          <a:sym typeface="+mn-lt"/>
                        </a:rPr>
                        <a:t>（</a:t>
                      </a:r>
                      <a:r>
                        <a:rPr lang="en-US" altLang="zh-CN" sz="1100" dirty="0">
                          <a:latin typeface="+mn-lt"/>
                          <a:ea typeface="+mn-ea"/>
                          <a:cs typeface="+mn-ea"/>
                          <a:sym typeface="+mn-lt"/>
                        </a:rPr>
                        <a:t>0.13</a:t>
                      </a:r>
                      <a:r>
                        <a:rPr lang="zh-CN" altLang="en-US" sz="1100" baseline="0" dirty="0">
                          <a:latin typeface="+mn-lt"/>
                          <a:ea typeface="+mn-ea"/>
                          <a:cs typeface="+mn-ea"/>
                          <a:sym typeface="+mn-lt"/>
                        </a:rPr>
                        <a:t> </a:t>
                      </a:r>
                      <a:r>
                        <a:rPr lang="en-US" altLang="zh-CN" sz="1100" baseline="0" dirty="0">
                          <a:latin typeface="+mn-lt"/>
                          <a:ea typeface="+mn-ea"/>
                          <a:cs typeface="+mn-ea"/>
                          <a:sym typeface="+mn-lt"/>
                        </a:rPr>
                        <a:t>- </a:t>
                      </a:r>
                      <a:r>
                        <a:rPr lang="en-US" altLang="zh-CN" sz="1100" dirty="0">
                          <a:latin typeface="+mn-lt"/>
                          <a:ea typeface="+mn-ea"/>
                          <a:cs typeface="+mn-ea"/>
                          <a:sym typeface="+mn-lt"/>
                        </a:rPr>
                        <a:t>0.92</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a:latin typeface="+mn-lt"/>
                          <a:ea typeface="+mn-ea"/>
                          <a:cs typeface="+mn-ea"/>
                          <a:sym typeface="+mn-lt"/>
                        </a:rPr>
                        <a:t>0.031</a:t>
                      </a:r>
                      <a:r>
                        <a:rPr lang="en-US" altLang="zh-CN" sz="1100" baseline="30000" dirty="0">
                          <a:latin typeface="+mn-lt"/>
                          <a:ea typeface="+mn-ea"/>
                          <a:cs typeface="+mn-ea"/>
                          <a:sym typeface="+mn-lt"/>
                        </a:rPr>
                        <a:t>a,b</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3"/>
                  </a:ext>
                </a:extLst>
              </a:tr>
              <a:tr h="252000">
                <a:tc>
                  <a:txBody>
                    <a:bodyPr/>
                    <a:lstStyle/>
                    <a:p>
                      <a:pPr marL="108000" algn="l">
                        <a:lnSpc>
                          <a:spcPct val="105000"/>
                        </a:lnSpc>
                      </a:pPr>
                      <a:r>
                        <a:rPr lang="zh-CN" altLang="en-US" sz="1000" kern="1200" dirty="0">
                          <a:solidFill>
                            <a:schemeClr val="dk1"/>
                          </a:solidFill>
                          <a:latin typeface="+mn-lt"/>
                          <a:ea typeface="+mn-ea"/>
                          <a:cs typeface="+mn-ea"/>
                          <a:sym typeface="+mn-lt"/>
                        </a:rPr>
                        <a:t>不穿紧身鞋、袜</a:t>
                      </a:r>
                      <a:endParaRPr lang="zh-CN" altLang="en-US" sz="1000" dirty="0">
                        <a:latin typeface="+mn-lt"/>
                        <a:ea typeface="+mn-ea"/>
                        <a:cs typeface="+mn-ea"/>
                        <a:sym typeface="+mn-lt"/>
                      </a:endParaRP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0.29</a:t>
                      </a:r>
                      <a:r>
                        <a:rPr lang="zh-CN" altLang="en-US" sz="1100" dirty="0">
                          <a:latin typeface="+mn-lt"/>
                          <a:ea typeface="+mn-ea"/>
                          <a:cs typeface="+mn-ea"/>
                          <a:sym typeface="+mn-lt"/>
                        </a:rPr>
                        <a:t>（</a:t>
                      </a:r>
                      <a:r>
                        <a:rPr lang="en-US" altLang="zh-CN" sz="1100" dirty="0">
                          <a:latin typeface="+mn-lt"/>
                          <a:ea typeface="+mn-ea"/>
                          <a:cs typeface="+mn-ea"/>
                          <a:sym typeface="+mn-lt"/>
                        </a:rPr>
                        <a:t>0.11</a:t>
                      </a:r>
                      <a:r>
                        <a:rPr lang="zh-CN" altLang="en-US" sz="1100" baseline="0" dirty="0">
                          <a:latin typeface="+mn-lt"/>
                          <a:ea typeface="+mn-ea"/>
                          <a:cs typeface="+mn-ea"/>
                          <a:sym typeface="+mn-lt"/>
                        </a:rPr>
                        <a:t> </a:t>
                      </a:r>
                      <a:r>
                        <a:rPr lang="en-US" altLang="zh-CN" sz="1100" baseline="0" dirty="0">
                          <a:latin typeface="+mn-lt"/>
                          <a:ea typeface="+mn-ea"/>
                          <a:cs typeface="+mn-ea"/>
                          <a:sym typeface="+mn-lt"/>
                        </a:rPr>
                        <a:t>- </a:t>
                      </a:r>
                      <a:r>
                        <a:rPr lang="en-US" altLang="zh-CN" sz="1100" dirty="0">
                          <a:latin typeface="+mn-lt"/>
                          <a:ea typeface="+mn-ea"/>
                          <a:cs typeface="+mn-ea"/>
                          <a:sym typeface="+mn-lt"/>
                        </a:rPr>
                        <a:t>0.79</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a:latin typeface="+mn-lt"/>
                          <a:ea typeface="+mn-ea"/>
                          <a:cs typeface="+mn-ea"/>
                          <a:sym typeface="+mn-lt"/>
                        </a:rPr>
                        <a:t>0.013</a:t>
                      </a:r>
                      <a:r>
                        <a:rPr lang="en-US" altLang="zh-CN" sz="1100" baseline="30000" dirty="0">
                          <a:latin typeface="+mn-lt"/>
                          <a:ea typeface="+mn-ea"/>
                          <a:cs typeface="+mn-ea"/>
                          <a:sym typeface="+mn-lt"/>
                        </a:rPr>
                        <a:t>a,b</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02"/>
                  </a:ext>
                </a:extLst>
              </a:tr>
              <a:tr h="252000">
                <a:tc>
                  <a:txBody>
                    <a:bodyPr/>
                    <a:lstStyle/>
                    <a:p>
                      <a:pPr marL="108000" marR="0" indent="0" algn="l" defTabSz="914400" rtl="0" eaLnBrk="1" fontAlgn="auto" latinLnBrk="0" hangingPunct="1">
                        <a:lnSpc>
                          <a:spcPct val="105000"/>
                        </a:lnSpc>
                        <a:spcBef>
                          <a:spcPts val="0"/>
                        </a:spcBef>
                        <a:spcAft>
                          <a:spcPts val="0"/>
                        </a:spcAft>
                        <a:buClrTx/>
                        <a:buSzTx/>
                        <a:buFontTx/>
                        <a:buNone/>
                        <a:tabLst/>
                        <a:defRPr/>
                      </a:pPr>
                      <a:r>
                        <a:rPr lang="zh-CN" altLang="en-US" sz="1000" dirty="0">
                          <a:latin typeface="+mn-lt"/>
                          <a:ea typeface="+mn-ea"/>
                          <a:cs typeface="+mn-ea"/>
                          <a:sym typeface="+mn-lt"/>
                        </a:rPr>
                        <a:t>穿着柔软、舒适的鞋子</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dirty="0">
                          <a:latin typeface="+mn-lt"/>
                          <a:ea typeface="+mn-ea"/>
                          <a:cs typeface="+mn-ea"/>
                          <a:sym typeface="+mn-lt"/>
                        </a:rPr>
                        <a:t>0.51</a:t>
                      </a:r>
                      <a:r>
                        <a:rPr lang="zh-CN" altLang="en-US" sz="1100" dirty="0">
                          <a:latin typeface="+mn-lt"/>
                          <a:ea typeface="+mn-ea"/>
                          <a:cs typeface="+mn-ea"/>
                          <a:sym typeface="+mn-lt"/>
                        </a:rPr>
                        <a:t>（</a:t>
                      </a:r>
                      <a:r>
                        <a:rPr lang="en-US" altLang="zh-CN" sz="1100" dirty="0">
                          <a:latin typeface="+mn-lt"/>
                          <a:ea typeface="+mn-ea"/>
                          <a:cs typeface="+mn-ea"/>
                          <a:sym typeface="+mn-lt"/>
                        </a:rPr>
                        <a:t>0.20 - 1.32</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baseline="0" dirty="0">
                          <a:latin typeface="+mn-lt"/>
                          <a:ea typeface="+mn-ea"/>
                          <a:cs typeface="+mn-ea"/>
                          <a:sym typeface="+mn-lt"/>
                        </a:rPr>
                        <a:t>0.161</a:t>
                      </a:r>
                      <a:r>
                        <a:rPr lang="en-US" altLang="zh-CN" sz="1100" baseline="30000" dirty="0">
                          <a:latin typeface="+mn-lt"/>
                          <a:ea typeface="+mn-ea"/>
                          <a:cs typeface="+mn-ea"/>
                          <a:sym typeface="+mn-lt"/>
                        </a:rPr>
                        <a:t>a</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7"/>
                  </a:ext>
                </a:extLst>
              </a:tr>
              <a:tr h="252000">
                <a:tc>
                  <a:txBody>
                    <a:bodyPr/>
                    <a:lstStyle/>
                    <a:p>
                      <a:pPr marL="108000" algn="l">
                        <a:lnSpc>
                          <a:spcPct val="105000"/>
                        </a:lnSpc>
                      </a:pPr>
                      <a:r>
                        <a:rPr lang="zh-CN" altLang="en-US" sz="1000" dirty="0">
                          <a:latin typeface="+mn-lt"/>
                          <a:ea typeface="+mn-ea"/>
                          <a:cs typeface="+mn-ea"/>
                          <a:sym typeface="+mn-lt"/>
                        </a:rPr>
                        <a:t>勿穿着将压力聚于足趾的高跟鞋</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0.62</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0.24 - 1.57</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ctr"/>
                      <a:r>
                        <a:rPr lang="en-US" sz="1100" b="0" i="0" u="none" strike="noStrike" dirty="0">
                          <a:solidFill>
                            <a:srgbClr val="000000"/>
                          </a:solidFill>
                          <a:effectLst/>
                          <a:latin typeface="微软雅黑" panose="020B0503020204020204" pitchFamily="34" charset="-122"/>
                          <a:ea typeface="微软雅黑" panose="020B0503020204020204" pitchFamily="34" charset="-122"/>
                        </a:rPr>
                        <a:t>0.309</a:t>
                      </a:r>
                      <a:r>
                        <a:rPr lang="en-US" sz="1100" b="0" i="0" u="none" strike="noStrike" baseline="30000" dirty="0">
                          <a:solidFill>
                            <a:srgbClr val="000000"/>
                          </a:solidFill>
                          <a:effectLst/>
                          <a:latin typeface="微软雅黑" panose="020B0503020204020204" pitchFamily="34" charset="-122"/>
                          <a:ea typeface="微软雅黑" panose="020B0503020204020204" pitchFamily="34" charset="-122"/>
                        </a:rPr>
                        <a:t>a</a:t>
                      </a:r>
                    </a:p>
                  </a:txBody>
                  <a:tcPr marL="9525" marR="9525" marT="9525"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08"/>
                  </a:ext>
                </a:extLst>
              </a:tr>
              <a:tr h="252000">
                <a:tc>
                  <a:txBody>
                    <a:bodyPr/>
                    <a:lstStyle/>
                    <a:p>
                      <a:pPr marL="108000" algn="l">
                        <a:lnSpc>
                          <a:spcPct val="105000"/>
                        </a:lnSpc>
                      </a:pPr>
                      <a:r>
                        <a:rPr lang="zh-CN" altLang="en-US" sz="1000" dirty="0">
                          <a:latin typeface="+mn-lt"/>
                          <a:ea typeface="+mn-ea"/>
                          <a:cs typeface="+mn-ea"/>
                          <a:sym typeface="+mn-lt"/>
                        </a:rPr>
                        <a:t>穿着厚棉袜</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dirty="0">
                          <a:latin typeface="+mn-lt"/>
                          <a:ea typeface="+mn-ea"/>
                          <a:cs typeface="+mn-ea"/>
                          <a:sym typeface="+mn-lt"/>
                        </a:rPr>
                        <a:t>1.75</a:t>
                      </a:r>
                      <a:r>
                        <a:rPr lang="zh-CN" altLang="en-US" sz="1100" dirty="0">
                          <a:latin typeface="+mn-lt"/>
                          <a:ea typeface="+mn-ea"/>
                          <a:cs typeface="+mn-ea"/>
                          <a:sym typeface="+mn-lt"/>
                        </a:rPr>
                        <a:t>（</a:t>
                      </a:r>
                      <a:r>
                        <a:rPr lang="en-US" altLang="zh-CN" sz="1100" dirty="0">
                          <a:latin typeface="+mn-lt"/>
                          <a:ea typeface="+mn-ea"/>
                          <a:cs typeface="+mn-ea"/>
                          <a:sym typeface="+mn-lt"/>
                        </a:rPr>
                        <a:t>0.52 - 5.92</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baseline="0" dirty="0">
                          <a:latin typeface="+mn-lt"/>
                          <a:ea typeface="+mn-ea"/>
                          <a:cs typeface="+mn-ea"/>
                          <a:sym typeface="+mn-lt"/>
                        </a:rPr>
                        <a:t>0.364</a:t>
                      </a:r>
                      <a:r>
                        <a:rPr lang="en-US" altLang="zh-CN" sz="1100" baseline="30000" dirty="0">
                          <a:latin typeface="+mn-lt"/>
                          <a:ea typeface="+mn-ea"/>
                          <a:cs typeface="+mn-ea"/>
                          <a:sym typeface="+mn-lt"/>
                        </a:rPr>
                        <a:t>a</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10"/>
                  </a:ext>
                </a:extLst>
              </a:tr>
              <a:tr h="252000">
                <a:tc>
                  <a:txBody>
                    <a:bodyPr/>
                    <a:lstStyle/>
                    <a:p>
                      <a:pPr marL="108000" algn="l">
                        <a:lnSpc>
                          <a:spcPct val="105000"/>
                        </a:lnSpc>
                      </a:pPr>
                      <a:r>
                        <a:rPr lang="zh-CN" altLang="en-US" sz="1000" dirty="0">
                          <a:latin typeface="+mn-lt"/>
                          <a:ea typeface="+mn-ea"/>
                          <a:cs typeface="+mn-ea"/>
                          <a:sym typeface="+mn-lt"/>
                        </a:rPr>
                        <a:t>使用柔软的鞋垫</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0.36</a:t>
                      </a:r>
                      <a:r>
                        <a:rPr lang="zh-CN" altLang="en-US" sz="1100" dirty="0">
                          <a:latin typeface="+mn-lt"/>
                          <a:ea typeface="+mn-ea"/>
                          <a:cs typeface="+mn-ea"/>
                          <a:sym typeface="+mn-lt"/>
                        </a:rPr>
                        <a:t>（</a:t>
                      </a:r>
                      <a:r>
                        <a:rPr lang="en-US" altLang="zh-CN" sz="1100" dirty="0">
                          <a:latin typeface="+mn-lt"/>
                          <a:ea typeface="+mn-ea"/>
                          <a:cs typeface="+mn-ea"/>
                          <a:sym typeface="+mn-lt"/>
                        </a:rPr>
                        <a:t>0.10 - 1.39</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baseline="0" dirty="0">
                          <a:latin typeface="+mn-lt"/>
                          <a:ea typeface="+mn-ea"/>
                          <a:cs typeface="+mn-ea"/>
                          <a:sym typeface="+mn-lt"/>
                        </a:rPr>
                        <a:t>0.150</a:t>
                      </a:r>
                      <a:r>
                        <a:rPr lang="en-US" altLang="zh-CN" sz="1100" baseline="30000" dirty="0">
                          <a:latin typeface="+mn-lt"/>
                          <a:ea typeface="+mn-ea"/>
                          <a:cs typeface="+mn-ea"/>
                          <a:sym typeface="+mn-lt"/>
                        </a:rPr>
                        <a:t>c</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13"/>
                  </a:ext>
                </a:extLst>
              </a:tr>
              <a:tr h="252000">
                <a:tc>
                  <a:txBody>
                    <a:bodyPr/>
                    <a:lstStyle/>
                    <a:p>
                      <a:pPr marL="108000" algn="l">
                        <a:lnSpc>
                          <a:spcPct val="105000"/>
                        </a:lnSpc>
                      </a:pPr>
                      <a:r>
                        <a:rPr lang="zh-CN" altLang="en-US" sz="1000" dirty="0">
                          <a:latin typeface="+mn-lt"/>
                          <a:ea typeface="+mn-ea"/>
                          <a:cs typeface="+mn-ea"/>
                          <a:sym typeface="+mn-lt"/>
                        </a:rPr>
                        <a:t>保持皮肤洁净（如：清洗手、足）</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dirty="0">
                          <a:latin typeface="+mn-lt"/>
                          <a:ea typeface="+mn-ea"/>
                          <a:cs typeface="+mn-ea"/>
                          <a:sym typeface="+mn-lt"/>
                        </a:rPr>
                        <a:t>0.47</a:t>
                      </a:r>
                      <a:r>
                        <a:rPr lang="zh-CN" altLang="en-US" sz="1100" dirty="0">
                          <a:latin typeface="+mn-lt"/>
                          <a:ea typeface="+mn-ea"/>
                          <a:cs typeface="+mn-ea"/>
                          <a:sym typeface="+mn-lt"/>
                        </a:rPr>
                        <a:t>（</a:t>
                      </a:r>
                      <a:r>
                        <a:rPr lang="en-US" altLang="zh-CN" sz="1100" dirty="0">
                          <a:latin typeface="+mn-lt"/>
                          <a:ea typeface="+mn-ea"/>
                          <a:cs typeface="+mn-ea"/>
                          <a:sym typeface="+mn-lt"/>
                        </a:rPr>
                        <a:t>0.17 - 1.36</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baseline="0" dirty="0">
                          <a:latin typeface="+mn-lt"/>
                          <a:ea typeface="+mn-ea"/>
                          <a:cs typeface="+mn-ea"/>
                          <a:sym typeface="+mn-lt"/>
                        </a:rPr>
                        <a:t>0.160</a:t>
                      </a:r>
                      <a:r>
                        <a:rPr lang="en-US" altLang="zh-CN" sz="1100" baseline="30000" dirty="0">
                          <a:latin typeface="+mn-lt"/>
                          <a:ea typeface="+mn-ea"/>
                          <a:cs typeface="+mn-ea"/>
                          <a:sym typeface="+mn-lt"/>
                        </a:rPr>
                        <a:t>a</a:t>
                      </a:r>
                      <a:endParaRPr lang="zh-CN" altLang="en-US" sz="1100" baseline="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14"/>
                  </a:ext>
                </a:extLst>
              </a:tr>
              <a:tr h="252000">
                <a:tc>
                  <a:txBody>
                    <a:bodyPr/>
                    <a:lstStyle/>
                    <a:p>
                      <a:pPr marL="108000" algn="l">
                        <a:lnSpc>
                          <a:spcPct val="105000"/>
                        </a:lnSpc>
                      </a:pPr>
                      <a:r>
                        <a:rPr lang="zh-CN" altLang="en-US" sz="1000" dirty="0">
                          <a:latin typeface="+mn-lt"/>
                          <a:ea typeface="+mn-ea"/>
                          <a:cs typeface="+mn-ea"/>
                          <a:sym typeface="+mn-lt"/>
                        </a:rPr>
                        <a:t>使用保湿霜</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0.63</a:t>
                      </a:r>
                      <a:r>
                        <a:rPr lang="zh-CN" altLang="en-US" sz="1100" dirty="0">
                          <a:latin typeface="+mn-lt"/>
                          <a:ea typeface="+mn-ea"/>
                          <a:cs typeface="+mn-ea"/>
                          <a:sym typeface="+mn-lt"/>
                        </a:rPr>
                        <a:t>（</a:t>
                      </a:r>
                      <a:r>
                        <a:rPr lang="en-US" altLang="zh-CN" sz="1100" dirty="0">
                          <a:latin typeface="+mn-lt"/>
                          <a:ea typeface="+mn-ea"/>
                          <a:cs typeface="+mn-ea"/>
                          <a:sym typeface="+mn-lt"/>
                        </a:rPr>
                        <a:t>0.20 - 1.96</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baseline="0" dirty="0">
                          <a:latin typeface="+mn-lt"/>
                          <a:ea typeface="+mn-ea"/>
                          <a:cs typeface="+mn-ea"/>
                          <a:sym typeface="+mn-lt"/>
                        </a:rPr>
                        <a:t>0.424</a:t>
                      </a:r>
                      <a:r>
                        <a:rPr lang="en-US" altLang="zh-CN" sz="1100" baseline="30000" dirty="0">
                          <a:latin typeface="+mn-lt"/>
                          <a:ea typeface="+mn-ea"/>
                          <a:cs typeface="+mn-ea"/>
                          <a:sym typeface="+mn-lt"/>
                        </a:rPr>
                        <a:t>a</a:t>
                      </a:r>
                      <a:endParaRPr lang="zh-CN" altLang="en-US" sz="1100" baseline="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04"/>
                  </a:ext>
                </a:extLst>
              </a:tr>
              <a:tr h="396000">
                <a:tc>
                  <a:txBody>
                    <a:bodyPr/>
                    <a:lstStyle/>
                    <a:p>
                      <a:pPr marL="108000" algn="l">
                        <a:lnSpc>
                          <a:spcPct val="105000"/>
                        </a:lnSpc>
                      </a:pPr>
                      <a:r>
                        <a:rPr lang="zh-CN" altLang="en-US" sz="1000" dirty="0">
                          <a:latin typeface="+mn-lt"/>
                          <a:ea typeface="+mn-ea"/>
                          <a:cs typeface="+mn-ea"/>
                          <a:sym typeface="+mn-lt"/>
                        </a:rPr>
                        <a:t>避免阳光直晒（使用雨伞 </a:t>
                      </a:r>
                      <a:r>
                        <a:rPr lang="en-US" altLang="zh-CN" sz="1000" dirty="0">
                          <a:latin typeface="+mn-lt"/>
                          <a:ea typeface="+mn-ea"/>
                          <a:cs typeface="+mn-ea"/>
                          <a:sym typeface="+mn-lt"/>
                        </a:rPr>
                        <a:t>/ </a:t>
                      </a:r>
                      <a:r>
                        <a:rPr lang="zh-CN" altLang="en-US" sz="1000" dirty="0">
                          <a:latin typeface="+mn-lt"/>
                          <a:ea typeface="+mn-ea"/>
                          <a:cs typeface="+mn-ea"/>
                          <a:sym typeface="+mn-lt"/>
                        </a:rPr>
                        <a:t>帽子 </a:t>
                      </a:r>
                      <a:r>
                        <a:rPr lang="en-US" altLang="zh-CN" sz="1000" dirty="0">
                          <a:latin typeface="+mn-lt"/>
                          <a:ea typeface="+mn-ea"/>
                          <a:cs typeface="+mn-ea"/>
                          <a:sym typeface="+mn-lt"/>
                        </a:rPr>
                        <a:t>/ </a:t>
                      </a:r>
                      <a:br>
                        <a:rPr lang="en-US" altLang="zh-CN" sz="1000" dirty="0">
                          <a:latin typeface="+mn-lt"/>
                          <a:ea typeface="+mn-ea"/>
                          <a:cs typeface="+mn-ea"/>
                          <a:sym typeface="+mn-lt"/>
                        </a:rPr>
                      </a:br>
                      <a:r>
                        <a:rPr lang="zh-CN" altLang="en-US" sz="1000" dirty="0">
                          <a:latin typeface="+mn-lt"/>
                          <a:ea typeface="+mn-ea"/>
                          <a:cs typeface="+mn-ea"/>
                          <a:sym typeface="+mn-lt"/>
                        </a:rPr>
                        <a:t>手套</a:t>
                      </a:r>
                      <a:r>
                        <a:rPr lang="en-US" altLang="zh-CN" sz="1000" dirty="0">
                          <a:latin typeface="+mn-lt"/>
                          <a:ea typeface="+mn-ea"/>
                          <a:cs typeface="+mn-ea"/>
                          <a:sym typeface="+mn-lt"/>
                        </a:rPr>
                        <a:t>/ </a:t>
                      </a:r>
                      <a:r>
                        <a:rPr lang="zh-CN" altLang="en-US" sz="1000" dirty="0">
                          <a:latin typeface="+mn-lt"/>
                          <a:ea typeface="+mn-ea"/>
                          <a:cs typeface="+mn-ea"/>
                          <a:sym typeface="+mn-lt"/>
                        </a:rPr>
                        <a:t>长袖套）</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0.72</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0.28 - 1.85</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b="0" i="0" u="none" strike="noStrike" dirty="0">
                          <a:solidFill>
                            <a:srgbClr val="000000"/>
                          </a:solidFill>
                          <a:effectLst/>
                          <a:latin typeface="微软雅黑" panose="020B0503020204020204" pitchFamily="34" charset="-122"/>
                          <a:ea typeface="微软雅黑" panose="020B0503020204020204" pitchFamily="34" charset="-122"/>
                        </a:rPr>
                        <a:t>0.496</a:t>
                      </a:r>
                      <a:r>
                        <a:rPr lang="en-US" sz="1100" b="0" i="0" u="none" strike="noStrike" baseline="30000" dirty="0">
                          <a:solidFill>
                            <a:srgbClr val="000000"/>
                          </a:solidFill>
                          <a:effectLst/>
                          <a:latin typeface="微软雅黑" panose="020B0503020204020204" pitchFamily="34" charset="-122"/>
                          <a:ea typeface="微软雅黑" panose="020B0503020204020204" pitchFamily="34" charset="-122"/>
                        </a:rPr>
                        <a:t>a</a:t>
                      </a:r>
                    </a:p>
                  </a:txBody>
                  <a:tcPr marL="9525" marR="9525" marT="9525"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5"/>
                  </a:ext>
                </a:extLst>
              </a:tr>
              <a:tr h="252000">
                <a:tc>
                  <a:txBody>
                    <a:bodyPr/>
                    <a:lstStyle/>
                    <a:p>
                      <a:pPr marL="108000" algn="l">
                        <a:lnSpc>
                          <a:spcPct val="105000"/>
                        </a:lnSpc>
                      </a:pPr>
                      <a:r>
                        <a:rPr lang="zh-CN" altLang="en-US" sz="1000" dirty="0">
                          <a:latin typeface="+mn-lt"/>
                          <a:ea typeface="+mn-ea"/>
                          <a:cs typeface="+mn-ea"/>
                          <a:sym typeface="+mn-lt"/>
                        </a:rPr>
                        <a:t>皮肤暴露部位使用防晒霜</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dirty="0">
                          <a:latin typeface="+mn-lt"/>
                          <a:ea typeface="+mn-ea"/>
                          <a:cs typeface="+mn-ea"/>
                          <a:sym typeface="+mn-lt"/>
                        </a:rPr>
                        <a:t>0.81</a:t>
                      </a:r>
                      <a:r>
                        <a:rPr lang="zh-CN" altLang="en-US" sz="1100" dirty="0">
                          <a:latin typeface="+mn-lt"/>
                          <a:ea typeface="+mn-ea"/>
                          <a:cs typeface="+mn-ea"/>
                          <a:sym typeface="+mn-lt"/>
                        </a:rPr>
                        <a:t>（</a:t>
                      </a:r>
                      <a:r>
                        <a:rPr lang="en-US" altLang="zh-CN" sz="1100" dirty="0">
                          <a:latin typeface="+mn-lt"/>
                          <a:ea typeface="+mn-ea"/>
                          <a:cs typeface="+mn-ea"/>
                          <a:sym typeface="+mn-lt"/>
                        </a:rPr>
                        <a:t>0.22 - 2.97</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lgn="ctr"/>
                      <a:r>
                        <a:rPr lang="en-US" altLang="zh-CN" sz="1100" baseline="0" dirty="0">
                          <a:latin typeface="+mn-lt"/>
                          <a:ea typeface="+mn-ea"/>
                          <a:cs typeface="+mn-ea"/>
                          <a:sym typeface="+mn-lt"/>
                        </a:rPr>
                        <a:t>0.742</a:t>
                      </a:r>
                      <a:r>
                        <a:rPr lang="en-US" altLang="zh-CN" sz="1100" baseline="30000" dirty="0">
                          <a:latin typeface="+mn-lt"/>
                          <a:ea typeface="+mn-ea"/>
                          <a:cs typeface="+mn-ea"/>
                          <a:sym typeface="+mn-lt"/>
                        </a:rPr>
                        <a:t>c</a:t>
                      </a:r>
                      <a:endParaRPr lang="zh-CN" altLang="en-US" sz="1100" baseline="30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15"/>
                  </a:ext>
                </a:extLst>
              </a:tr>
              <a:tr h="396000">
                <a:tc>
                  <a:txBody>
                    <a:bodyPr/>
                    <a:lstStyle/>
                    <a:p>
                      <a:pPr marL="108000" marR="0" indent="0" algn="l" defTabSz="914400" rtl="0" eaLnBrk="1" fontAlgn="auto" latinLnBrk="0" hangingPunct="1">
                        <a:lnSpc>
                          <a:spcPct val="105000"/>
                        </a:lnSpc>
                        <a:spcBef>
                          <a:spcPts val="0"/>
                        </a:spcBef>
                        <a:spcAft>
                          <a:spcPts val="0"/>
                        </a:spcAft>
                        <a:buClrTx/>
                        <a:buSzTx/>
                        <a:buFontTx/>
                        <a:buNone/>
                        <a:tabLst/>
                        <a:defRPr/>
                      </a:pPr>
                      <a:r>
                        <a:rPr lang="zh-CN" altLang="en-US" sz="1000" dirty="0">
                          <a:latin typeface="+mn-lt"/>
                          <a:ea typeface="+mn-ea"/>
                          <a:cs typeface="+mn-ea"/>
                          <a:sym typeface="+mn-lt"/>
                        </a:rPr>
                        <a:t>勿进行剧烈运动（如：长距离散步、</a:t>
                      </a:r>
                      <a:r>
                        <a:rPr lang="en-US" altLang="zh-CN" sz="1000" dirty="0">
                          <a:latin typeface="+mn-lt"/>
                          <a:ea typeface="+mn-ea"/>
                          <a:cs typeface="+mn-ea"/>
                          <a:sym typeface="+mn-lt"/>
                        </a:rPr>
                        <a:t/>
                      </a:r>
                      <a:br>
                        <a:rPr lang="en-US" altLang="zh-CN" sz="1000" dirty="0">
                          <a:latin typeface="+mn-lt"/>
                          <a:ea typeface="+mn-ea"/>
                          <a:cs typeface="+mn-ea"/>
                          <a:sym typeface="+mn-lt"/>
                        </a:rPr>
                      </a:br>
                      <a:r>
                        <a:rPr lang="zh-CN" altLang="en-US" sz="1000" dirty="0">
                          <a:latin typeface="+mn-lt"/>
                          <a:ea typeface="+mn-ea"/>
                          <a:cs typeface="+mn-ea"/>
                          <a:sym typeface="+mn-lt"/>
                        </a:rPr>
                        <a:t>慢跑或有氧运动）</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dirty="0">
                          <a:latin typeface="+mn-lt"/>
                          <a:ea typeface="+mn-ea"/>
                          <a:cs typeface="+mn-ea"/>
                          <a:sym typeface="+mn-lt"/>
                        </a:rPr>
                        <a:t>0.47</a:t>
                      </a:r>
                      <a:r>
                        <a:rPr lang="zh-CN" altLang="en-US" sz="1100" dirty="0">
                          <a:latin typeface="+mn-lt"/>
                          <a:ea typeface="+mn-ea"/>
                          <a:cs typeface="+mn-ea"/>
                          <a:sym typeface="+mn-lt"/>
                        </a:rPr>
                        <a:t>（</a:t>
                      </a:r>
                      <a:r>
                        <a:rPr lang="en-US" altLang="zh-CN" sz="1100" dirty="0">
                          <a:latin typeface="+mn-lt"/>
                          <a:ea typeface="+mn-ea"/>
                          <a:cs typeface="+mn-ea"/>
                          <a:sym typeface="+mn-lt"/>
                        </a:rPr>
                        <a:t>0.18 - 1.26</a:t>
                      </a:r>
                      <a:r>
                        <a:rPr lang="zh-CN" altLang="en-US" sz="1100" dirty="0">
                          <a:latin typeface="+mn-lt"/>
                          <a:ea typeface="+mn-ea"/>
                          <a:cs typeface="+mn-ea"/>
                          <a:sym typeface="+mn-lt"/>
                        </a:rPr>
                        <a:t>）</a:t>
                      </a: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a:r>
                        <a:rPr lang="en-US" altLang="zh-CN" sz="1100" baseline="0" dirty="0">
                          <a:latin typeface="+mn-lt"/>
                          <a:ea typeface="+mn-ea"/>
                          <a:cs typeface="+mn-ea"/>
                          <a:sym typeface="+mn-lt"/>
                        </a:rPr>
                        <a:t>0.128</a:t>
                      </a:r>
                      <a:r>
                        <a:rPr lang="en-US" altLang="zh-CN" sz="1100" baseline="30000" dirty="0">
                          <a:latin typeface="+mn-lt"/>
                          <a:ea typeface="+mn-ea"/>
                          <a:cs typeface="+mn-ea"/>
                          <a:sym typeface="+mn-lt"/>
                        </a:rPr>
                        <a:t>a</a:t>
                      </a:r>
                      <a:endParaRPr lang="zh-CN" altLang="en-US" sz="1100" baseline="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06"/>
                  </a:ext>
                </a:extLst>
              </a:tr>
              <a:tr h="252000">
                <a:tc>
                  <a:txBody>
                    <a:bodyPr/>
                    <a:lstStyle/>
                    <a:p>
                      <a:pPr marL="108000" algn="l">
                        <a:lnSpc>
                          <a:spcPct val="105000"/>
                        </a:lnSpc>
                      </a:pPr>
                      <a:r>
                        <a:rPr lang="zh-CN" altLang="en-US" sz="1000" dirty="0">
                          <a:latin typeface="+mn-lt"/>
                          <a:ea typeface="+mn-ea"/>
                          <a:cs typeface="+mn-ea"/>
                          <a:sym typeface="+mn-lt"/>
                        </a:rPr>
                        <a:t>手洗衣服时当心勿使用过热的水</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0.46</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0.18 - 1.17</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0.100</a:t>
                      </a:r>
                      <a:r>
                        <a:rPr lang="en-US" altLang="zh-CN" sz="1100" b="0" i="0" u="none" strike="noStrike" baseline="30000" dirty="0">
                          <a:solidFill>
                            <a:srgbClr val="000000"/>
                          </a:solidFill>
                          <a:effectLst/>
                          <a:latin typeface="微软雅黑" panose="020B0503020204020204" pitchFamily="34" charset="-122"/>
                          <a:ea typeface="微软雅黑" panose="020B0503020204020204" pitchFamily="34" charset="-122"/>
                        </a:rPr>
                        <a:t>a</a:t>
                      </a:r>
                    </a:p>
                  </a:txBody>
                  <a:tcPr marL="9525" marR="9525" marT="9525"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09"/>
                  </a:ext>
                </a:extLst>
              </a:tr>
              <a:tr h="252000">
                <a:tc>
                  <a:txBody>
                    <a:bodyPr/>
                    <a:lstStyle/>
                    <a:p>
                      <a:pPr marL="108000" algn="l">
                        <a:lnSpc>
                          <a:spcPct val="105000"/>
                        </a:lnSpc>
                      </a:pPr>
                      <a:r>
                        <a:rPr lang="zh-CN" altLang="en-US" sz="1000" dirty="0">
                          <a:latin typeface="+mn-lt"/>
                          <a:ea typeface="+mn-ea"/>
                          <a:cs typeface="+mn-ea"/>
                          <a:sym typeface="+mn-lt"/>
                        </a:rPr>
                        <a:t>勿用手拧干湿布</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0.78</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0.27 - 2.26</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b="0" i="0" u="none" strike="noStrike" dirty="0">
                          <a:solidFill>
                            <a:srgbClr val="000000"/>
                          </a:solidFill>
                          <a:effectLst/>
                          <a:latin typeface="微软雅黑" panose="020B0503020204020204" pitchFamily="34" charset="-122"/>
                          <a:ea typeface="微软雅黑" panose="020B0503020204020204" pitchFamily="34" charset="-122"/>
                        </a:rPr>
                        <a:t>0.649</a:t>
                      </a:r>
                      <a:r>
                        <a:rPr lang="en-US" sz="1100" b="0" i="0" u="none" strike="noStrike" baseline="30000" dirty="0">
                          <a:solidFill>
                            <a:srgbClr val="000000"/>
                          </a:solidFill>
                          <a:effectLst/>
                          <a:latin typeface="微软雅黑" panose="020B0503020204020204" pitchFamily="34" charset="-122"/>
                          <a:ea typeface="微软雅黑" panose="020B0503020204020204" pitchFamily="34" charset="-122"/>
                        </a:rPr>
                        <a:t>a</a:t>
                      </a:r>
                    </a:p>
                  </a:txBody>
                  <a:tcPr marL="9525" marR="9525" marT="9525"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011"/>
                  </a:ext>
                </a:extLst>
              </a:tr>
              <a:tr h="252000">
                <a:tc>
                  <a:txBody>
                    <a:bodyPr/>
                    <a:lstStyle/>
                    <a:p>
                      <a:pPr marL="108000" algn="l">
                        <a:lnSpc>
                          <a:spcPct val="105000"/>
                        </a:lnSpc>
                      </a:pPr>
                      <a:r>
                        <a:rPr lang="zh-CN" altLang="en-US" sz="1000" dirty="0">
                          <a:latin typeface="+mn-lt"/>
                          <a:ea typeface="+mn-ea"/>
                          <a:cs typeface="+mn-ea"/>
                          <a:sym typeface="+mn-lt"/>
                        </a:rPr>
                        <a:t>使用菜刀时须小心、轻柔</a:t>
                      </a:r>
                    </a:p>
                  </a:txBody>
                  <a:tcPr marL="0" marR="0" marT="0" marB="0" anchor="ctr">
                    <a:lnL w="19050" cap="flat" cmpd="sng" algn="ctr">
                      <a:noFill/>
                      <a:prstDash val="solid"/>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marL="0"/>
                      <a:endParaRPr lang="zh-CN" altLang="en-US" sz="1000" dirty="0">
                        <a:latin typeface="+mn-lt"/>
                        <a:ea typeface="+mn-ea"/>
                        <a:cs typeface="+mn-ea"/>
                        <a:sym typeface="+mn-lt"/>
                      </a:endParaRPr>
                    </a:p>
                  </a:txBody>
                  <a:tcPr marL="0" marR="0" marT="0"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0.48</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0.16 - 1.38</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en-US" altLang="zh-CN"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lnL w="6350" cap="flat" cmpd="sng" algn="ctr">
                      <a:noFill/>
                      <a:prstDash val="sysDash"/>
                      <a:round/>
                      <a:headEnd type="none" w="med" len="med"/>
                      <a:tailEnd type="none" w="med" len="med"/>
                    </a:lnL>
                    <a:lnR w="6350" cap="flat" cmpd="sng" algn="ctr">
                      <a:noFill/>
                      <a:prstDash val="sysDash"/>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tc>
                  <a:txBody>
                    <a:bodyPr/>
                    <a:lstStyle/>
                    <a:p>
                      <a:pPr algn="ctr" fontAlgn="ctr"/>
                      <a:r>
                        <a:rPr lang="en-US" sz="1100" b="0" i="0" u="none" strike="noStrike" dirty="0">
                          <a:solidFill>
                            <a:srgbClr val="000000"/>
                          </a:solidFill>
                          <a:effectLst/>
                          <a:latin typeface="微软雅黑" panose="020B0503020204020204" pitchFamily="34" charset="-122"/>
                          <a:ea typeface="微软雅黑" panose="020B0503020204020204" pitchFamily="34" charset="-122"/>
                        </a:rPr>
                        <a:t>0.168</a:t>
                      </a:r>
                      <a:r>
                        <a:rPr lang="en-US" sz="1100" b="0" i="0" u="none" strike="noStrike" baseline="30000" dirty="0">
                          <a:solidFill>
                            <a:srgbClr val="000000"/>
                          </a:solidFill>
                          <a:effectLst/>
                          <a:latin typeface="微软雅黑" panose="020B0503020204020204" pitchFamily="34" charset="-122"/>
                          <a:ea typeface="微软雅黑" panose="020B0503020204020204" pitchFamily="34" charset="-122"/>
                        </a:rPr>
                        <a:t>a</a:t>
                      </a:r>
                    </a:p>
                  </a:txBody>
                  <a:tcPr marL="9525" marR="9525" marT="9525" marB="0" anchor="ctr">
                    <a:lnL w="6350" cap="flat" cmpd="sng" algn="ctr">
                      <a:noFill/>
                      <a:prstDash val="sysDash"/>
                      <a:round/>
                      <a:headEnd type="none" w="med" len="med"/>
                      <a:tailEnd type="none" w="med" len="med"/>
                    </a:lnL>
                    <a:lnR w="19050" cap="flat" cmpd="sng" algn="ctr">
                      <a:noFill/>
                      <a:prstDash val="solid"/>
                      <a:round/>
                      <a:headEnd type="none" w="med" len="med"/>
                      <a:tailEnd type="none" w="med" len="med"/>
                    </a:lnR>
                    <a:lnT w="6350" cap="flat" cmpd="sng" algn="ctr">
                      <a:noFill/>
                      <a:prstDash val="sysDash"/>
                      <a:round/>
                      <a:headEnd type="none" w="med" len="med"/>
                      <a:tailEnd type="none" w="med" len="med"/>
                    </a:lnT>
                    <a:lnB w="6350" cap="flat" cmpd="sng" algn="ctr">
                      <a:noFill/>
                      <a:prstDash val="sysDash"/>
                      <a:round/>
                      <a:headEnd type="none" w="med" len="med"/>
                      <a:tailEnd type="none" w="med" len="med"/>
                    </a:lnB>
                    <a:lnTlToBr w="12700" cmpd="sng">
                      <a:noFill/>
                      <a:prstDash val="solid"/>
                    </a:lnTlToBr>
                    <a:lnBlToTr w="12700" cmpd="sng">
                      <a:noFill/>
                      <a:prstDash val="solid"/>
                    </a:lnBlToTr>
                    <a:solidFill>
                      <a:srgbClr val="F4F9F1"/>
                    </a:solidFill>
                  </a:tcPr>
                </a:tc>
                <a:extLst>
                  <a:ext uri="{0D108BD9-81ED-4DB2-BD59-A6C34878D82A}">
                    <a16:rowId xmlns:a16="http://schemas.microsoft.com/office/drawing/2014/main" xmlns="" val="10012"/>
                  </a:ext>
                </a:extLst>
              </a:tr>
            </a:tbl>
          </a:graphicData>
        </a:graphic>
      </p:graphicFrame>
      <p:sp>
        <p:nvSpPr>
          <p:cNvPr id="3" name="标题 2"/>
          <p:cNvSpPr>
            <a:spLocks noGrp="1"/>
          </p:cNvSpPr>
          <p:nvPr>
            <p:ph type="title"/>
          </p:nvPr>
        </p:nvSpPr>
        <p:spPr/>
        <p:txBody>
          <a:bodyPr/>
          <a:lstStyle/>
          <a:p>
            <a:r>
              <a:rPr lang="zh-CN" altLang="en-US" sz="2000" dirty="0">
                <a:solidFill>
                  <a:prstClr val="black"/>
                </a:solidFill>
                <a:latin typeface="+mn-lt"/>
                <a:ea typeface="+mn-ea"/>
                <a:cs typeface="+mn-ea"/>
                <a:sym typeface="+mn-lt"/>
              </a:rPr>
              <a:t>横断面调查：</a:t>
            </a:r>
            <a:r>
              <a:rPr lang="en-US" altLang="zh-CN" sz="2000" dirty="0">
                <a:solidFill>
                  <a:prstClr val="black"/>
                </a:solidFill>
                <a:latin typeface="+mn-lt"/>
                <a:ea typeface="+mn-ea"/>
                <a:cs typeface="+mn-ea"/>
                <a:sym typeface="+mn-lt"/>
              </a:rPr>
              <a:t/>
            </a:r>
            <a:br>
              <a:rPr lang="en-US" altLang="zh-CN" sz="2000" dirty="0">
                <a:solidFill>
                  <a:prstClr val="black"/>
                </a:solidFill>
                <a:latin typeface="+mn-lt"/>
                <a:ea typeface="+mn-ea"/>
                <a:cs typeface="+mn-ea"/>
                <a:sym typeface="+mn-lt"/>
              </a:rPr>
            </a:br>
            <a:r>
              <a:rPr lang="zh-CN" altLang="en-US" dirty="0">
                <a:solidFill>
                  <a:prstClr val="black"/>
                </a:solidFill>
                <a:latin typeface="+mn-lt"/>
                <a:ea typeface="+mn-ea"/>
                <a:cs typeface="+mn-ea"/>
                <a:sym typeface="+mn-lt"/>
              </a:rPr>
              <a:t>常规护理可有效防治</a:t>
            </a:r>
            <a:r>
              <a:rPr lang="en-US" altLang="zh-CN" dirty="0">
                <a:solidFill>
                  <a:prstClr val="black"/>
                </a:solidFill>
                <a:latin typeface="+mn-lt"/>
                <a:ea typeface="+mn-ea"/>
                <a:cs typeface="+mn-ea"/>
                <a:sym typeface="+mn-lt"/>
              </a:rPr>
              <a:t>HFS</a:t>
            </a:r>
            <a:endParaRPr lang="zh-CN" altLang="en-US" dirty="0">
              <a:latin typeface="+mn-lt"/>
              <a:ea typeface="+mn-ea"/>
              <a:cs typeface="+mn-ea"/>
              <a:sym typeface="+mn-lt"/>
            </a:endParaRPr>
          </a:p>
        </p:txBody>
      </p:sp>
      <p:sp>
        <p:nvSpPr>
          <p:cNvPr id="13" name="矩形 12"/>
          <p:cNvSpPr/>
          <p:nvPr/>
        </p:nvSpPr>
        <p:spPr>
          <a:xfrm>
            <a:off x="2933700" y="6642100"/>
            <a:ext cx="6210301" cy="230832"/>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black"/>
                </a:solidFill>
                <a:effectLst/>
                <a:uLnTx/>
                <a:uFillTx/>
                <a:latin typeface="Microsoft YaHei"/>
                <a:ea typeface="Microsoft YaHei"/>
                <a:cs typeface="+mn-ea"/>
                <a:sym typeface="+mn-lt"/>
              </a:rPr>
              <a:t>Suzuki et al., Molecular And Clinical Oncology 2018;(9): 443-448. </a:t>
            </a:r>
          </a:p>
        </p:txBody>
      </p:sp>
      <p:cxnSp>
        <p:nvCxnSpPr>
          <p:cNvPr id="4" name="直接连接符 3"/>
          <p:cNvCxnSpPr/>
          <p:nvPr/>
        </p:nvCxnSpPr>
        <p:spPr>
          <a:xfrm flipH="1">
            <a:off x="635225" y="1517122"/>
            <a:ext cx="776160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635825" y="1512601"/>
            <a:ext cx="7250887" cy="5143370"/>
            <a:chOff x="635825" y="1512601"/>
            <a:chExt cx="7250887" cy="5143370"/>
          </a:xfrm>
        </p:grpSpPr>
        <p:sp>
          <p:nvSpPr>
            <p:cNvPr id="8" name="矩形 7"/>
            <p:cNvSpPr/>
            <p:nvPr/>
          </p:nvSpPr>
          <p:spPr>
            <a:xfrm>
              <a:off x="635825" y="6425139"/>
              <a:ext cx="7250887" cy="230832"/>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900" b="0" i="0" u="none" strike="noStrike" kern="1200" cap="none" spc="0" normalizeH="0" baseline="30000" noProof="0" dirty="0">
                  <a:ln>
                    <a:noFill/>
                  </a:ln>
                  <a:solidFill>
                    <a:prstClr val="black"/>
                  </a:solidFill>
                  <a:effectLst/>
                  <a:uLnTx/>
                  <a:uFillTx/>
                  <a:latin typeface="Microsoft YaHei"/>
                  <a:ea typeface="Microsoft YaHei"/>
                  <a:cs typeface="+mn-cs"/>
                </a:rPr>
                <a:t>a </a:t>
              </a:r>
              <a:r>
                <a:rPr kumimoji="0" lang="en-US" altLang="zh-CN" sz="900" b="0" i="0" u="none" strike="noStrike" kern="1200" cap="none" spc="0" normalizeH="0" baseline="0" noProof="0" dirty="0">
                  <a:ln>
                    <a:noFill/>
                  </a:ln>
                  <a:solidFill>
                    <a:prstClr val="black"/>
                  </a:solidFill>
                  <a:effectLst/>
                  <a:uLnTx/>
                  <a:uFillTx/>
                  <a:latin typeface="Microsoft YaHei"/>
                  <a:ea typeface="Microsoft YaHei"/>
                  <a:cs typeface="+mn-cs"/>
                </a:rPr>
                <a:t>Pearson</a:t>
              </a:r>
              <a:r>
                <a:rPr kumimoji="0" lang="zh-CN" altLang="en-US" sz="900" b="0" i="0" u="none" strike="noStrike" kern="1200" cap="none" spc="-600" normalizeH="0" baseline="0" noProof="0" dirty="0">
                  <a:ln>
                    <a:noFill/>
                  </a:ln>
                  <a:solidFill>
                    <a:prstClr val="black"/>
                  </a:solidFill>
                  <a:effectLst/>
                  <a:uLnTx/>
                  <a:uFillTx/>
                  <a:latin typeface="Arial" panose="020B0604020202020204" pitchFamily="34" charset="0"/>
                  <a:ea typeface="Microsoft YaHei"/>
                  <a:cs typeface="Arial" panose="020B0604020202020204" pitchFamily="34" charset="0"/>
                </a:rPr>
                <a:t>’</a:t>
              </a:r>
              <a:r>
                <a:rPr kumimoji="0" lang="en-US" altLang="zh-CN" sz="900" b="0" i="0" u="none" strike="noStrike" kern="1200" cap="none" spc="0" normalizeH="0" baseline="0" noProof="0" dirty="0">
                  <a:ln>
                    <a:noFill/>
                  </a:ln>
                  <a:solidFill>
                    <a:prstClr val="black"/>
                  </a:solidFill>
                  <a:effectLst/>
                  <a:uLnTx/>
                  <a:uFillTx/>
                  <a:latin typeface="Microsoft YaHei"/>
                  <a:ea typeface="Microsoft YaHei"/>
                  <a:cs typeface="+mn-cs"/>
                </a:rPr>
                <a:t>s χ</a:t>
              </a:r>
              <a:r>
                <a:rPr kumimoji="0" lang="en-US" altLang="zh-CN" sz="900" b="0" i="0" u="none" strike="noStrike" kern="1200" cap="none" spc="0" normalizeH="0" baseline="30000" noProof="0" dirty="0">
                  <a:ln>
                    <a:noFill/>
                  </a:ln>
                  <a:solidFill>
                    <a:prstClr val="black"/>
                  </a:solidFill>
                  <a:effectLst/>
                  <a:uLnTx/>
                  <a:uFillTx/>
                  <a:latin typeface="Microsoft YaHei"/>
                  <a:ea typeface="Microsoft YaHei"/>
                  <a:cs typeface="+mn-cs"/>
                </a:rPr>
                <a:t>2</a:t>
              </a:r>
              <a:r>
                <a:rPr kumimoji="0" lang="zh-CN" altLang="en-US" sz="900" b="0" i="0" u="none" strike="noStrike" kern="1200" cap="none" spc="0" normalizeH="0" baseline="0" noProof="0" dirty="0">
                  <a:ln>
                    <a:noFill/>
                  </a:ln>
                  <a:solidFill>
                    <a:prstClr val="black"/>
                  </a:solidFill>
                  <a:effectLst/>
                  <a:uLnTx/>
                  <a:uFillTx/>
                  <a:latin typeface="Microsoft YaHei"/>
                  <a:ea typeface="Microsoft YaHei"/>
                  <a:cs typeface="+mn-cs"/>
                </a:rPr>
                <a:t>检验；</a:t>
              </a:r>
              <a:r>
                <a:rPr kumimoji="0" lang="en-US" altLang="zh-CN" sz="900" b="0" i="0" u="none" strike="noStrike" kern="1200" cap="none" spc="0" normalizeH="0" baseline="30000" noProof="0" dirty="0">
                  <a:ln>
                    <a:noFill/>
                  </a:ln>
                  <a:solidFill>
                    <a:prstClr val="black"/>
                  </a:solidFill>
                  <a:effectLst/>
                  <a:uLnTx/>
                  <a:uFillTx/>
                  <a:latin typeface="Microsoft YaHei"/>
                  <a:ea typeface="Microsoft YaHei"/>
                  <a:cs typeface="+mn-cs"/>
                </a:rPr>
                <a:t>b </a:t>
              </a:r>
              <a:r>
                <a:rPr kumimoji="0" lang="en-US" altLang="zh-CN" sz="900" b="0" i="0" u="none" strike="noStrike" kern="1200" cap="none" spc="0" normalizeH="0" baseline="0" noProof="0" dirty="0">
                  <a:ln>
                    <a:noFill/>
                  </a:ln>
                  <a:solidFill>
                    <a:prstClr val="black"/>
                  </a:solidFill>
                  <a:effectLst/>
                  <a:uLnTx/>
                  <a:uFillTx/>
                  <a:latin typeface="Microsoft YaHei"/>
                  <a:ea typeface="Microsoft YaHei"/>
                  <a:cs typeface="+mn-cs"/>
                </a:rPr>
                <a:t>P&lt; 0.05</a:t>
              </a:r>
              <a:r>
                <a:rPr kumimoji="0" lang="zh-CN" altLang="en-US" sz="900" b="0" i="0" u="none" strike="noStrike" kern="1200" cap="none" spc="0" normalizeH="0" baseline="0" noProof="0" dirty="0">
                  <a:ln>
                    <a:noFill/>
                  </a:ln>
                  <a:solidFill>
                    <a:prstClr val="black"/>
                  </a:solidFill>
                  <a:effectLst/>
                  <a:uLnTx/>
                  <a:uFillTx/>
                  <a:latin typeface="Microsoft YaHei"/>
                  <a:ea typeface="Microsoft YaHei"/>
                  <a:cs typeface="+mn-cs"/>
                </a:rPr>
                <a:t>；</a:t>
              </a:r>
              <a:r>
                <a:rPr kumimoji="0" lang="en-US" altLang="zh-CN" sz="900" b="0" i="0" u="none" strike="noStrike" kern="1200" cap="none" spc="0" normalizeH="0" baseline="30000" noProof="0" dirty="0">
                  <a:ln>
                    <a:noFill/>
                  </a:ln>
                  <a:solidFill>
                    <a:prstClr val="black"/>
                  </a:solidFill>
                  <a:effectLst/>
                  <a:uLnTx/>
                  <a:uFillTx/>
                  <a:latin typeface="Microsoft YaHei"/>
                  <a:ea typeface="Microsoft YaHei"/>
                  <a:cs typeface="+mn-cs"/>
                </a:rPr>
                <a:t>c </a:t>
              </a:r>
              <a:r>
                <a:rPr kumimoji="0" lang="en-US" altLang="zh-CN" sz="900" b="0" i="0" u="none" strike="noStrike" kern="1200" cap="none" spc="0" normalizeH="0" baseline="0" noProof="0" dirty="0">
                  <a:ln>
                    <a:noFill/>
                  </a:ln>
                  <a:solidFill>
                    <a:prstClr val="black"/>
                  </a:solidFill>
                  <a:effectLst/>
                  <a:uLnTx/>
                  <a:uFillTx/>
                  <a:latin typeface="Microsoft YaHei"/>
                  <a:ea typeface="Microsoft YaHei"/>
                  <a:cs typeface="+mn-cs"/>
                </a:rPr>
                <a:t>Fisher's</a:t>
              </a:r>
              <a:r>
                <a:rPr kumimoji="0" lang="zh-CN" altLang="en-US" sz="900" b="0" i="0" u="none" strike="noStrike" kern="1200" cap="none" spc="0" normalizeH="0" baseline="0" noProof="0" dirty="0">
                  <a:ln>
                    <a:noFill/>
                  </a:ln>
                  <a:solidFill>
                    <a:prstClr val="black"/>
                  </a:solidFill>
                  <a:effectLst/>
                  <a:uLnTx/>
                  <a:uFillTx/>
                  <a:latin typeface="Microsoft YaHei"/>
                  <a:ea typeface="Microsoft YaHei"/>
                  <a:cs typeface="+mn-cs"/>
                </a:rPr>
                <a:t>精确检测。</a:t>
              </a:r>
            </a:p>
          </p:txBody>
        </p:sp>
        <p:grpSp>
          <p:nvGrpSpPr>
            <p:cNvPr id="10" name="组合 9"/>
            <p:cNvGrpSpPr/>
            <p:nvPr/>
          </p:nvGrpSpPr>
          <p:grpSpPr>
            <a:xfrm>
              <a:off x="2742599" y="1512601"/>
              <a:ext cx="3346994" cy="4759351"/>
              <a:chOff x="2742599" y="1512601"/>
              <a:chExt cx="3346994" cy="4759351"/>
            </a:xfrm>
          </p:grpSpPr>
          <p:sp>
            <p:nvSpPr>
              <p:cNvPr id="72" name="矩形 71"/>
              <p:cNvSpPr/>
              <p:nvPr/>
            </p:nvSpPr>
            <p:spPr>
              <a:xfrm>
                <a:off x="2771027" y="6041120"/>
                <a:ext cx="1107996" cy="2308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Microsoft YaHei"/>
                    <a:ea typeface="Microsoft YaHei"/>
                    <a:cs typeface="+mn-ea"/>
                    <a:sym typeface="+mn-lt"/>
                  </a:rPr>
                  <a:t>采取护理措施更佳</a:t>
                </a:r>
              </a:p>
            </p:txBody>
          </p:sp>
          <p:sp>
            <p:nvSpPr>
              <p:cNvPr id="73" name="矩形 72"/>
              <p:cNvSpPr/>
              <p:nvPr/>
            </p:nvSpPr>
            <p:spPr>
              <a:xfrm>
                <a:off x="4751859" y="6041120"/>
                <a:ext cx="1332000" cy="2308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Microsoft YaHei"/>
                    <a:ea typeface="Microsoft YaHei"/>
                    <a:cs typeface="+mn-ea"/>
                    <a:sym typeface="+mn-lt"/>
                  </a:rPr>
                  <a:t>不采取护理措施更佳</a:t>
                </a:r>
              </a:p>
            </p:txBody>
          </p:sp>
          <p:pic>
            <p:nvPicPr>
              <p:cNvPr id="9" name="图片 8"/>
              <p:cNvPicPr>
                <a:picLocks noChangeAspect="1"/>
              </p:cNvPicPr>
              <p:nvPr/>
            </p:nvPicPr>
            <p:blipFill>
              <a:blip r:embed="rId3"/>
              <a:stretch>
                <a:fillRect/>
              </a:stretch>
            </p:blipFill>
            <p:spPr>
              <a:xfrm>
                <a:off x="2742599" y="1512601"/>
                <a:ext cx="3346994" cy="4608975"/>
              </a:xfrm>
              <a:prstGeom prst="rect">
                <a:avLst/>
              </a:prstGeom>
            </p:spPr>
          </p:pic>
        </p:grpSp>
      </p:grpSp>
    </p:spTree>
    <p:extLst>
      <p:ext uri="{BB962C8B-B14F-4D97-AF65-F5344CB8AC3E}">
        <p14:creationId xmlns:p14="http://schemas.microsoft.com/office/powerpoint/2010/main" val="20462635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尿素霜有效预防</a:t>
            </a:r>
            <a:r>
              <a:rPr lang="en-US" altLang="zh-CN" dirty="0"/>
              <a:t>HFS</a:t>
            </a:r>
            <a:r>
              <a:rPr lang="zh-CN" altLang="en-US" dirty="0"/>
              <a:t>的发生</a:t>
            </a:r>
          </a:p>
        </p:txBody>
      </p:sp>
      <p:sp>
        <p:nvSpPr>
          <p:cNvPr id="1027" name="矩形 1026"/>
          <p:cNvSpPr/>
          <p:nvPr/>
        </p:nvSpPr>
        <p:spPr>
          <a:xfrm>
            <a:off x="5855741" y="6488668"/>
            <a:ext cx="3288259" cy="369332"/>
          </a:xfrm>
          <a:prstGeom prst="rect">
            <a:avLst/>
          </a:prstGeom>
        </p:spPr>
        <p:txBody>
          <a:bodyPr wrap="square">
            <a:spAutoFit/>
          </a:bodyPr>
          <a:lstStyle/>
          <a:p>
            <a:pPr marL="228600" indent="-228600" algn="r" eaLnBrk="1" fontAlgn="auto" hangingPunct="1">
              <a:spcBef>
                <a:spcPts val="0"/>
              </a:spcBef>
              <a:spcAft>
                <a:spcPts val="0"/>
              </a:spcAft>
              <a:buFont typeface="+mj-lt"/>
              <a:buAutoNum type="arabicPeriod"/>
            </a:pPr>
            <a:r>
              <a:rPr lang="zh-CN" altLang="en-US" sz="900" dirty="0">
                <a:solidFill>
                  <a:prstClr val="black"/>
                </a:solidFill>
                <a:latin typeface="Microsoft YaHei"/>
                <a:ea typeface="Microsoft YaHei"/>
              </a:rPr>
              <a:t>孙勇生, 谢长生. 肿瘤学杂志 2018;24(3):271-7.</a:t>
            </a:r>
            <a:endParaRPr lang="en-US" altLang="zh-CN" sz="900" dirty="0">
              <a:solidFill>
                <a:prstClr val="black"/>
              </a:solidFill>
              <a:latin typeface="Microsoft YaHei"/>
              <a:ea typeface="Microsoft YaHei"/>
            </a:endParaRPr>
          </a:p>
          <a:p>
            <a:pPr marL="228600" indent="-228600" algn="r" eaLnBrk="1" fontAlgn="auto" hangingPunct="1">
              <a:spcBef>
                <a:spcPts val="0"/>
              </a:spcBef>
              <a:spcAft>
                <a:spcPts val="0"/>
              </a:spcAft>
              <a:buFont typeface="+mj-lt"/>
              <a:buAutoNum type="arabicPeriod"/>
            </a:pPr>
            <a:r>
              <a:rPr lang="en-US" altLang="zh-CN" sz="900" dirty="0" err="1">
                <a:solidFill>
                  <a:prstClr val="black"/>
                </a:solidFill>
                <a:latin typeface="Microsoft YaHei"/>
                <a:ea typeface="Microsoft YaHei"/>
              </a:rPr>
              <a:t>Hofheinz</a:t>
            </a:r>
            <a:r>
              <a:rPr lang="en-US" altLang="zh-CN" sz="900" dirty="0">
                <a:solidFill>
                  <a:prstClr val="black"/>
                </a:solidFill>
                <a:latin typeface="Microsoft YaHei"/>
                <a:ea typeface="Microsoft YaHei"/>
              </a:rPr>
              <a:t> RD et al., J </a:t>
            </a:r>
            <a:r>
              <a:rPr lang="en-US" altLang="zh-CN" sz="900" dirty="0" err="1">
                <a:solidFill>
                  <a:prstClr val="black"/>
                </a:solidFill>
                <a:latin typeface="Microsoft YaHei"/>
                <a:ea typeface="Microsoft YaHei"/>
              </a:rPr>
              <a:t>Clin</a:t>
            </a:r>
            <a:r>
              <a:rPr lang="en-US" altLang="zh-CN" sz="900" dirty="0">
                <a:solidFill>
                  <a:prstClr val="black"/>
                </a:solidFill>
                <a:latin typeface="Microsoft YaHei"/>
                <a:ea typeface="Microsoft YaHei"/>
              </a:rPr>
              <a:t> </a:t>
            </a:r>
            <a:r>
              <a:rPr lang="en-US" altLang="zh-CN" sz="900" dirty="0" err="1">
                <a:solidFill>
                  <a:prstClr val="black"/>
                </a:solidFill>
                <a:latin typeface="Microsoft YaHei"/>
                <a:ea typeface="Microsoft YaHei"/>
              </a:rPr>
              <a:t>Oncol</a:t>
            </a:r>
            <a:r>
              <a:rPr lang="en-US" altLang="zh-CN" sz="900" dirty="0">
                <a:solidFill>
                  <a:prstClr val="black"/>
                </a:solidFill>
                <a:latin typeface="Microsoft YaHei"/>
                <a:ea typeface="Microsoft YaHei"/>
              </a:rPr>
              <a:t>. 2015;33(22):2444-9.</a:t>
            </a:r>
            <a:endParaRPr lang="zh-CN" altLang="en-US" sz="900" dirty="0">
              <a:solidFill>
                <a:prstClr val="black"/>
              </a:solidFill>
              <a:latin typeface="Microsoft YaHei"/>
              <a:ea typeface="Microsoft YaHei"/>
            </a:endParaRPr>
          </a:p>
        </p:txBody>
      </p:sp>
      <p:grpSp>
        <p:nvGrpSpPr>
          <p:cNvPr id="5" name="组合 4"/>
          <p:cNvGrpSpPr/>
          <p:nvPr/>
        </p:nvGrpSpPr>
        <p:grpSpPr>
          <a:xfrm>
            <a:off x="597485" y="1067974"/>
            <a:ext cx="8211762" cy="5369712"/>
            <a:chOff x="597485" y="981119"/>
            <a:chExt cx="8211762" cy="5369712"/>
          </a:xfrm>
        </p:grpSpPr>
        <p:pic>
          <p:nvPicPr>
            <p:cNvPr id="4" name="图片 3"/>
            <p:cNvPicPr>
              <a:picLocks noChangeAspect="1"/>
            </p:cNvPicPr>
            <p:nvPr/>
          </p:nvPicPr>
          <p:blipFill>
            <a:blip r:embed="rId3"/>
            <a:stretch>
              <a:fillRect/>
            </a:stretch>
          </p:blipFill>
          <p:spPr>
            <a:xfrm>
              <a:off x="621754" y="981119"/>
              <a:ext cx="7864522" cy="4993057"/>
            </a:xfrm>
            <a:prstGeom prst="rect">
              <a:avLst/>
            </a:prstGeom>
          </p:spPr>
        </p:pic>
        <p:sp>
          <p:nvSpPr>
            <p:cNvPr id="11" name="矩形 10"/>
            <p:cNvSpPr/>
            <p:nvPr/>
          </p:nvSpPr>
          <p:spPr>
            <a:xfrm>
              <a:off x="894135" y="1037159"/>
              <a:ext cx="7351548" cy="609398"/>
            </a:xfrm>
            <a:prstGeom prst="rect">
              <a:avLst/>
            </a:prstGeom>
          </p:spPr>
          <p:txBody>
            <a:bodyPr wrap="square">
              <a:spAutoFit/>
            </a:bodyPr>
            <a:lstStyle/>
            <a:p>
              <a:pPr marL="171450" indent="-171450" eaLnBrk="1" fontAlgn="auto" hangingPunct="1">
                <a:lnSpc>
                  <a:spcPct val="120000"/>
                </a:lnSpc>
                <a:spcBef>
                  <a:spcPts val="0"/>
                </a:spcBef>
                <a:spcAft>
                  <a:spcPts val="0"/>
                </a:spcAft>
                <a:buFont typeface="Arial" panose="020B0604020202020204" pitchFamily="34" charset="0"/>
                <a:buChar char="•"/>
              </a:pPr>
              <a:r>
                <a:rPr lang="zh-CN" altLang="en-US" sz="1400" dirty="0">
                  <a:solidFill>
                    <a:prstClr val="black"/>
                  </a:solidFill>
                  <a:latin typeface="Microsoft YaHei"/>
                  <a:ea typeface="Microsoft YaHei"/>
                </a:rPr>
                <a:t>尿素霜具有使角质蛋白溶解变性、增加角质层水合的作用，从而使皮肤柔软，防止皲裂</a:t>
              </a:r>
              <a:r>
                <a:rPr lang="en-US" altLang="zh-CN" sz="1400" baseline="30000" dirty="0">
                  <a:solidFill>
                    <a:prstClr val="black"/>
                  </a:solidFill>
                  <a:latin typeface="Microsoft YaHei"/>
                </a:rPr>
                <a:t>1</a:t>
              </a:r>
            </a:p>
            <a:p>
              <a:pPr marL="171450" indent="-171450" eaLnBrk="1" fontAlgn="auto" hangingPunct="1">
                <a:lnSpc>
                  <a:spcPct val="120000"/>
                </a:lnSpc>
                <a:spcBef>
                  <a:spcPts val="0"/>
                </a:spcBef>
                <a:spcAft>
                  <a:spcPts val="0"/>
                </a:spcAft>
                <a:buFont typeface="Arial" panose="020B0604020202020204" pitchFamily="34" charset="0"/>
                <a:buChar char="•"/>
              </a:pPr>
              <a:r>
                <a:rPr lang="zh-CN" altLang="en-US" sz="1400" dirty="0">
                  <a:solidFill>
                    <a:prstClr val="black"/>
                  </a:solidFill>
                  <a:latin typeface="Microsoft YaHei"/>
                  <a:ea typeface="Microsoft YaHei"/>
                </a:rPr>
                <a:t>此外，尿素霜改善了皮肤的通透性屏障功能，并具有抗菌活性</a:t>
              </a:r>
              <a:r>
                <a:rPr lang="en-US" altLang="zh-CN" sz="1400" baseline="30000" dirty="0">
                  <a:solidFill>
                    <a:prstClr val="black"/>
                  </a:solidFill>
                  <a:latin typeface="Microsoft YaHei"/>
                  <a:ea typeface="Microsoft YaHei"/>
                </a:rPr>
                <a:t>2</a:t>
              </a:r>
              <a:r>
                <a:rPr lang="zh-CN" altLang="en-US" sz="1400" baseline="30000" dirty="0">
                  <a:solidFill>
                    <a:prstClr val="black"/>
                  </a:solidFill>
                  <a:latin typeface="Microsoft YaHei"/>
                  <a:ea typeface="Microsoft YaHei"/>
                </a:rPr>
                <a:t> </a:t>
              </a:r>
            </a:p>
          </p:txBody>
        </p:sp>
        <p:sp>
          <p:nvSpPr>
            <p:cNvPr id="1016" name="矩形 1015"/>
            <p:cNvSpPr/>
            <p:nvPr/>
          </p:nvSpPr>
          <p:spPr>
            <a:xfrm>
              <a:off x="1378081" y="4361067"/>
              <a:ext cx="1358064" cy="246221"/>
            </a:xfrm>
            <a:prstGeom prst="rect">
              <a:avLst/>
            </a:prstGeom>
          </p:spPr>
          <p:txBody>
            <a:bodyPr wrap="none">
              <a:spAutoFit/>
            </a:bodyPr>
            <a:lstStyle/>
            <a:p>
              <a:pPr eaLnBrk="1" fontAlgn="auto" hangingPunct="1">
                <a:spcBef>
                  <a:spcPts val="0"/>
                </a:spcBef>
                <a:spcAft>
                  <a:spcPts val="0"/>
                </a:spcAft>
              </a:pPr>
              <a:r>
                <a:rPr lang="zh-CN" altLang="en-US" sz="1000" dirty="0">
                  <a:solidFill>
                    <a:prstClr val="black"/>
                  </a:solidFill>
                  <a:latin typeface="Microsoft YaHei"/>
                  <a:ea typeface="Microsoft YaHei"/>
                </a:rPr>
                <a:t>Log-rank P=0.0303</a:t>
              </a:r>
            </a:p>
          </p:txBody>
        </p:sp>
        <p:sp>
          <p:nvSpPr>
            <p:cNvPr id="1017" name="矩形 1016"/>
            <p:cNvSpPr/>
            <p:nvPr/>
          </p:nvSpPr>
          <p:spPr>
            <a:xfrm>
              <a:off x="778967" y="1860155"/>
              <a:ext cx="3980039" cy="510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prstClr val="black"/>
                  </a:solidFill>
                </a:rPr>
                <a:t>尿素霜 </a:t>
              </a:r>
              <a:r>
                <a:rPr lang="en-US" altLang="zh-CN" sz="1400" b="1" dirty="0">
                  <a:solidFill>
                    <a:prstClr val="black"/>
                  </a:solidFill>
                </a:rPr>
                <a:t>vs. </a:t>
              </a:r>
              <a:r>
                <a:rPr lang="zh-CN" altLang="en-US" sz="1400" b="1" dirty="0">
                  <a:solidFill>
                    <a:prstClr val="black"/>
                  </a:solidFill>
                </a:rPr>
                <a:t>单纯抗氧化软膏*，</a:t>
              </a:r>
              <a:endParaRPr lang="en-US" altLang="zh-CN" sz="1400" b="1" dirty="0">
                <a:solidFill>
                  <a:prstClr val="black"/>
                </a:solidFill>
              </a:endParaRPr>
            </a:p>
            <a:p>
              <a:pPr algn="ctr"/>
              <a:r>
                <a:rPr lang="zh-CN" altLang="en-US" sz="1400" b="1" dirty="0">
                  <a:solidFill>
                    <a:prstClr val="black"/>
                  </a:solidFill>
                </a:rPr>
                <a:t>显著延缓</a:t>
              </a:r>
              <a:r>
                <a:rPr lang="en-US" altLang="zh-CN" sz="1400" b="1" dirty="0">
                  <a:solidFill>
                    <a:prstClr val="black"/>
                  </a:solidFill>
                </a:rPr>
                <a:t>HFS</a:t>
              </a:r>
              <a:r>
                <a:rPr lang="zh-CN" altLang="en-US" sz="1400" b="1" dirty="0">
                  <a:solidFill>
                    <a:prstClr val="black"/>
                  </a:solidFill>
                </a:rPr>
                <a:t>的发生</a:t>
              </a:r>
              <a:r>
                <a:rPr lang="en-US" altLang="zh-CN" sz="1400" b="1" baseline="30000" dirty="0">
                  <a:solidFill>
                    <a:prstClr val="black"/>
                  </a:solidFill>
                </a:rPr>
                <a:t>2</a:t>
              </a:r>
              <a:endParaRPr lang="zh-CN" altLang="en-US" sz="1400" b="1" baseline="30000" dirty="0">
                <a:solidFill>
                  <a:prstClr val="black"/>
                </a:solidFill>
              </a:endParaRPr>
            </a:p>
          </p:txBody>
        </p:sp>
        <p:sp>
          <p:nvSpPr>
            <p:cNvPr id="1018" name="矩形 1017"/>
            <p:cNvSpPr/>
            <p:nvPr/>
          </p:nvSpPr>
          <p:spPr>
            <a:xfrm rot="16200000">
              <a:off x="-243170" y="3500527"/>
              <a:ext cx="2181816" cy="276999"/>
            </a:xfrm>
            <a:prstGeom prst="rect">
              <a:avLst/>
            </a:prstGeom>
          </p:spPr>
          <p:txBody>
            <a:bodyPr wrap="none">
              <a:spAutoFit/>
            </a:bodyPr>
            <a:lstStyle/>
            <a:p>
              <a:pPr algn="ctr" eaLnBrk="1" fontAlgn="auto" hangingPunct="1">
                <a:spcBef>
                  <a:spcPts val="0"/>
                </a:spcBef>
                <a:spcAft>
                  <a:spcPts val="0"/>
                </a:spcAft>
              </a:pPr>
              <a:r>
                <a:rPr lang="zh-CN" altLang="en-US" sz="1200" b="1" dirty="0">
                  <a:solidFill>
                    <a:prstClr val="black"/>
                  </a:solidFill>
                  <a:latin typeface="Microsoft YaHei"/>
                  <a:ea typeface="Microsoft YaHei"/>
                </a:rPr>
                <a:t>未发生</a:t>
              </a:r>
              <a:r>
                <a:rPr lang="en-US" altLang="zh-CN" sz="1200" b="1" dirty="0">
                  <a:solidFill>
                    <a:prstClr val="black"/>
                  </a:solidFill>
                  <a:latin typeface="Microsoft YaHei"/>
                  <a:ea typeface="Microsoft YaHei"/>
                </a:rPr>
                <a:t>HFS</a:t>
              </a:r>
              <a:r>
                <a:rPr lang="zh-CN" altLang="en-US" sz="1200" b="1" dirty="0">
                  <a:solidFill>
                    <a:prstClr val="black"/>
                  </a:solidFill>
                  <a:latin typeface="Microsoft YaHei"/>
                  <a:ea typeface="Microsoft YaHei"/>
                </a:rPr>
                <a:t>事件的患者（％）</a:t>
              </a:r>
            </a:p>
          </p:txBody>
        </p:sp>
        <p:sp>
          <p:nvSpPr>
            <p:cNvPr id="1019" name="矩形 1018"/>
            <p:cNvSpPr/>
            <p:nvPr/>
          </p:nvSpPr>
          <p:spPr>
            <a:xfrm>
              <a:off x="2206736" y="4971154"/>
              <a:ext cx="954107" cy="276999"/>
            </a:xfrm>
            <a:prstGeom prst="rect">
              <a:avLst/>
            </a:prstGeom>
          </p:spPr>
          <p:txBody>
            <a:bodyPr wrap="none">
              <a:spAutoFit/>
            </a:bodyPr>
            <a:lstStyle/>
            <a:p>
              <a:pPr algn="ctr" eaLnBrk="1" fontAlgn="auto" hangingPunct="1">
                <a:spcBef>
                  <a:spcPts val="0"/>
                </a:spcBef>
                <a:spcAft>
                  <a:spcPts val="0"/>
                </a:spcAft>
              </a:pPr>
              <a:r>
                <a:rPr lang="zh-CN" altLang="en-US" sz="1200" b="1" dirty="0">
                  <a:solidFill>
                    <a:prstClr val="black"/>
                  </a:solidFill>
                  <a:latin typeface="Microsoft YaHei"/>
                  <a:ea typeface="Microsoft YaHei"/>
                </a:rPr>
                <a:t>时间（天）</a:t>
              </a:r>
            </a:p>
          </p:txBody>
        </p:sp>
        <p:sp>
          <p:nvSpPr>
            <p:cNvPr id="1020" name="矩形 1019"/>
            <p:cNvSpPr/>
            <p:nvPr/>
          </p:nvSpPr>
          <p:spPr>
            <a:xfrm>
              <a:off x="5325229" y="1791635"/>
              <a:ext cx="3283456" cy="613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prstClr val="black"/>
                  </a:solidFill>
                </a:rPr>
                <a:t>尿素霜 </a:t>
              </a:r>
              <a:r>
                <a:rPr lang="en-US" altLang="zh-CN" sz="1400" b="1" dirty="0">
                  <a:solidFill>
                    <a:prstClr val="black"/>
                  </a:solidFill>
                </a:rPr>
                <a:t>vs. </a:t>
              </a:r>
              <a:r>
                <a:rPr lang="zh-CN" altLang="en-US" sz="1400" b="1" dirty="0">
                  <a:solidFill>
                    <a:prstClr val="black"/>
                  </a:solidFill>
                </a:rPr>
                <a:t>单纯抗氧化软膏*，</a:t>
              </a:r>
              <a:endParaRPr lang="en-US" altLang="zh-CN" sz="1400" b="1" dirty="0">
                <a:solidFill>
                  <a:prstClr val="black"/>
                </a:solidFill>
              </a:endParaRPr>
            </a:p>
            <a:p>
              <a:pPr algn="ctr"/>
              <a:r>
                <a:rPr lang="zh-CN" altLang="en-US" sz="1400" b="1" dirty="0">
                  <a:solidFill>
                    <a:prstClr val="black"/>
                  </a:solidFill>
                </a:rPr>
                <a:t>显著降低</a:t>
              </a:r>
              <a:r>
                <a:rPr lang="en-US" altLang="zh-CN" sz="1400" b="1" dirty="0">
                  <a:solidFill>
                    <a:prstClr val="black"/>
                  </a:solidFill>
                </a:rPr>
                <a:t>HFS</a:t>
              </a:r>
              <a:r>
                <a:rPr lang="zh-CN" altLang="en-US" sz="1400" b="1" dirty="0">
                  <a:solidFill>
                    <a:prstClr val="black"/>
                  </a:solidFill>
                </a:rPr>
                <a:t>发生率</a:t>
              </a:r>
              <a:r>
                <a:rPr lang="en-US" altLang="zh-CN" sz="1400" b="1" baseline="30000" dirty="0">
                  <a:solidFill>
                    <a:prstClr val="black"/>
                  </a:solidFill>
                </a:rPr>
                <a:t>2</a:t>
              </a:r>
              <a:endParaRPr lang="zh-CN" altLang="en-US" sz="1400" b="1" baseline="30000" dirty="0">
                <a:solidFill>
                  <a:prstClr val="black"/>
                </a:solidFill>
              </a:endParaRPr>
            </a:p>
          </p:txBody>
        </p:sp>
        <p:sp>
          <p:nvSpPr>
            <p:cNvPr id="1021" name="矩形 1020"/>
            <p:cNvSpPr/>
            <p:nvPr/>
          </p:nvSpPr>
          <p:spPr>
            <a:xfrm rot="16200000">
              <a:off x="3859664" y="3756842"/>
              <a:ext cx="2027927" cy="276999"/>
            </a:xfrm>
            <a:prstGeom prst="rect">
              <a:avLst/>
            </a:prstGeom>
          </p:spPr>
          <p:txBody>
            <a:bodyPr wrap="none">
              <a:spAutoFit/>
            </a:bodyPr>
            <a:lstStyle/>
            <a:p>
              <a:pPr algn="ctr" eaLnBrk="1" fontAlgn="auto" hangingPunct="1">
                <a:spcBef>
                  <a:spcPts val="0"/>
                </a:spcBef>
                <a:spcAft>
                  <a:spcPts val="0"/>
                </a:spcAft>
              </a:pPr>
              <a:r>
                <a:rPr lang="zh-CN" altLang="en-US" sz="1200" b="1" dirty="0">
                  <a:solidFill>
                    <a:prstClr val="black"/>
                  </a:solidFill>
                  <a:latin typeface="Microsoft YaHei"/>
                  <a:ea typeface="Microsoft YaHei"/>
                </a:rPr>
                <a:t>发生</a:t>
              </a:r>
              <a:r>
                <a:rPr lang="en-US" altLang="zh-CN" sz="1200" b="1" dirty="0">
                  <a:solidFill>
                    <a:prstClr val="black"/>
                  </a:solidFill>
                  <a:latin typeface="Microsoft YaHei"/>
                  <a:ea typeface="Microsoft YaHei"/>
                </a:rPr>
                <a:t>HFS</a:t>
              </a:r>
              <a:r>
                <a:rPr lang="zh-CN" altLang="en-US" sz="1200" b="1" dirty="0">
                  <a:solidFill>
                    <a:prstClr val="black"/>
                  </a:solidFill>
                  <a:latin typeface="Microsoft YaHei"/>
                  <a:ea typeface="Microsoft YaHei"/>
                </a:rPr>
                <a:t>的患者比例（％）</a:t>
              </a:r>
            </a:p>
          </p:txBody>
        </p:sp>
        <p:sp>
          <p:nvSpPr>
            <p:cNvPr id="1022" name="文本框 1021"/>
            <p:cNvSpPr txBox="1"/>
            <p:nvPr/>
          </p:nvSpPr>
          <p:spPr>
            <a:xfrm>
              <a:off x="6586847" y="2642584"/>
              <a:ext cx="617477" cy="246221"/>
            </a:xfrm>
            <a:prstGeom prst="rect">
              <a:avLst/>
            </a:prstGeom>
            <a:noFill/>
          </p:spPr>
          <p:txBody>
            <a:bodyPr wrap="none" rtlCol="0" anchor="ctr">
              <a:spAutoFit/>
            </a:bodyPr>
            <a:lstStyle/>
            <a:p>
              <a:pPr algn="ctr" eaLnBrk="1" fontAlgn="auto" hangingPunct="1">
                <a:spcBef>
                  <a:spcPts val="0"/>
                </a:spcBef>
                <a:spcAft>
                  <a:spcPts val="0"/>
                </a:spcAft>
              </a:pPr>
              <a:r>
                <a:rPr lang="en-US" altLang="zh-CN" sz="1000" dirty="0">
                  <a:solidFill>
                    <a:prstClr val="black"/>
                  </a:solidFill>
                  <a:latin typeface="Microsoft YaHei"/>
                  <a:ea typeface="Microsoft YaHei"/>
                </a:rPr>
                <a:t>p=0.02</a:t>
              </a:r>
              <a:endParaRPr lang="zh-CN" altLang="en-US" sz="1000" dirty="0">
                <a:solidFill>
                  <a:prstClr val="black"/>
                </a:solidFill>
                <a:latin typeface="Microsoft YaHei"/>
                <a:ea typeface="Microsoft YaHei"/>
              </a:endParaRPr>
            </a:p>
          </p:txBody>
        </p:sp>
        <p:sp>
          <p:nvSpPr>
            <p:cNvPr id="1023" name="文本框 1022"/>
            <p:cNvSpPr txBox="1"/>
            <p:nvPr/>
          </p:nvSpPr>
          <p:spPr>
            <a:xfrm>
              <a:off x="6433812" y="3511923"/>
              <a:ext cx="2375435" cy="489365"/>
            </a:xfrm>
            <a:prstGeom prst="rect">
              <a:avLst/>
            </a:prstGeom>
            <a:noFill/>
          </p:spPr>
          <p:txBody>
            <a:bodyPr wrap="square" rtlCol="0" anchor="ctr">
              <a:spAutoFit/>
            </a:bodyPr>
            <a:lstStyle/>
            <a:p>
              <a:pPr algn="ctr" eaLnBrk="1" fontAlgn="auto" hangingPunct="1">
                <a:lnSpc>
                  <a:spcPct val="120000"/>
                </a:lnSpc>
                <a:spcBef>
                  <a:spcPts val="0"/>
                </a:spcBef>
                <a:spcAft>
                  <a:spcPts val="0"/>
                </a:spcAft>
              </a:pPr>
              <a:r>
                <a:rPr lang="zh-CN" altLang="en-US" sz="1100" b="1" dirty="0">
                  <a:solidFill>
                    <a:prstClr val="black"/>
                  </a:solidFill>
                  <a:latin typeface="Microsoft YaHei"/>
                  <a:ea typeface="Microsoft YaHei"/>
                </a:rPr>
                <a:t>优势比：</a:t>
              </a:r>
              <a:endParaRPr lang="en-US" altLang="zh-CN" sz="1100" b="1" dirty="0">
                <a:solidFill>
                  <a:prstClr val="black"/>
                </a:solidFill>
                <a:latin typeface="Microsoft YaHei"/>
                <a:ea typeface="Microsoft YaHei"/>
              </a:endParaRPr>
            </a:p>
            <a:p>
              <a:pPr algn="ctr" eaLnBrk="1" fontAlgn="auto" hangingPunct="1">
                <a:lnSpc>
                  <a:spcPct val="120000"/>
                </a:lnSpc>
                <a:spcBef>
                  <a:spcPts val="0"/>
                </a:spcBef>
                <a:spcAft>
                  <a:spcPts val="0"/>
                </a:spcAft>
              </a:pPr>
              <a:r>
                <a:rPr lang="en-US" altLang="zh-CN" sz="1050" b="1" dirty="0">
                  <a:solidFill>
                    <a:prstClr val="black"/>
                  </a:solidFill>
                  <a:latin typeface="Microsoft YaHei"/>
                  <a:ea typeface="Microsoft YaHei"/>
                </a:rPr>
                <a:t>2.37</a:t>
              </a:r>
              <a:r>
                <a:rPr lang="zh-CN" altLang="en-US" sz="1050" dirty="0">
                  <a:solidFill>
                    <a:prstClr val="black"/>
                  </a:solidFill>
                  <a:latin typeface="Microsoft YaHei"/>
                  <a:ea typeface="Microsoft YaHei"/>
                </a:rPr>
                <a:t>（</a:t>
              </a:r>
              <a:r>
                <a:rPr lang="en-US" altLang="zh-CN" sz="1050" dirty="0">
                  <a:solidFill>
                    <a:prstClr val="black"/>
                  </a:solidFill>
                  <a:latin typeface="Microsoft YaHei"/>
                  <a:ea typeface="Microsoft YaHei"/>
                </a:rPr>
                <a:t>95% CI</a:t>
              </a:r>
              <a:r>
                <a:rPr lang="zh-CN" altLang="en-US" sz="1050" dirty="0">
                  <a:solidFill>
                    <a:prstClr val="black"/>
                  </a:solidFill>
                  <a:latin typeface="Microsoft YaHei"/>
                  <a:ea typeface="Microsoft YaHei"/>
                </a:rPr>
                <a:t>：</a:t>
              </a:r>
              <a:r>
                <a:rPr lang="en-US" altLang="zh-CN" sz="1050" dirty="0">
                  <a:solidFill>
                    <a:prstClr val="black"/>
                  </a:solidFill>
                  <a:latin typeface="Microsoft YaHei"/>
                  <a:ea typeface="Microsoft YaHei"/>
                </a:rPr>
                <a:t>1.14-4.84</a:t>
              </a:r>
              <a:r>
                <a:rPr lang="zh-CN" altLang="en-US" sz="1050" dirty="0">
                  <a:solidFill>
                    <a:prstClr val="black"/>
                  </a:solidFill>
                  <a:latin typeface="Microsoft YaHei"/>
                  <a:ea typeface="Microsoft YaHei"/>
                </a:rPr>
                <a:t>）</a:t>
              </a:r>
            </a:p>
          </p:txBody>
        </p:sp>
        <p:sp>
          <p:nvSpPr>
            <p:cNvPr id="1024" name="矩形 1023"/>
            <p:cNvSpPr/>
            <p:nvPr/>
          </p:nvSpPr>
          <p:spPr>
            <a:xfrm>
              <a:off x="597485" y="5706817"/>
              <a:ext cx="2205920" cy="2164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900" dirty="0">
                  <a:solidFill>
                    <a:prstClr val="black"/>
                  </a:solidFill>
                </a:rPr>
                <a:t>* 一种在德国上市的新型抗氧化软膏</a:t>
              </a:r>
              <a:endParaRPr lang="zh-CN" altLang="en-US" sz="900" baseline="30000" dirty="0">
                <a:solidFill>
                  <a:prstClr val="black"/>
                </a:solidFill>
              </a:endParaRPr>
            </a:p>
          </p:txBody>
        </p:sp>
        <p:sp>
          <p:nvSpPr>
            <p:cNvPr id="31" name="矩形 30"/>
            <p:cNvSpPr/>
            <p:nvPr/>
          </p:nvSpPr>
          <p:spPr>
            <a:xfrm>
              <a:off x="597485" y="5935333"/>
              <a:ext cx="8211762" cy="415498"/>
            </a:xfrm>
            <a:prstGeom prst="rect">
              <a:avLst/>
            </a:prstGeom>
          </p:spPr>
          <p:txBody>
            <a:bodyPr wrap="square">
              <a:spAutoFit/>
            </a:bodyPr>
            <a:lstStyle/>
            <a:p>
              <a:pPr marL="171450" indent="-171450">
                <a:buFont typeface="Arial" panose="020B0604020202020204" pitchFamily="34" charset="0"/>
                <a:buChar char="•"/>
              </a:pPr>
              <a:r>
                <a:rPr lang="zh-CN" altLang="en-US" sz="1050" dirty="0" smtClean="0">
                  <a:latin typeface="+mn-ea"/>
                  <a:ea typeface="+mn-ea"/>
                </a:rPr>
                <a:t>对</a:t>
              </a:r>
              <a:r>
                <a:rPr lang="en-US" altLang="zh-CN" sz="1050" dirty="0" smtClean="0">
                  <a:latin typeface="+mn-ea"/>
                  <a:ea typeface="+mn-ea"/>
                </a:rPr>
                <a:t>152</a:t>
              </a:r>
              <a:r>
                <a:rPr lang="zh-CN" altLang="en-US" sz="1050" dirty="0" smtClean="0">
                  <a:latin typeface="+mn-ea"/>
                  <a:ea typeface="+mn-ea"/>
                </a:rPr>
                <a:t>例接受化疗</a:t>
              </a:r>
              <a:r>
                <a:rPr lang="zh-CN" altLang="en-US" sz="1050" dirty="0">
                  <a:latin typeface="+mn-ea"/>
                  <a:ea typeface="+mn-ea"/>
                </a:rPr>
                <a:t>的</a:t>
              </a:r>
              <a:r>
                <a:rPr lang="en-US" altLang="zh-CN" sz="1050" dirty="0" smtClean="0">
                  <a:latin typeface="+mn-ea"/>
                  <a:ea typeface="+mn-ea"/>
                </a:rPr>
                <a:t>GI</a:t>
              </a:r>
              <a:r>
                <a:rPr lang="zh-CN" altLang="en-US" sz="1050" dirty="0" smtClean="0">
                  <a:latin typeface="+mn-ea"/>
                  <a:ea typeface="+mn-ea"/>
                </a:rPr>
                <a:t>肿瘤或乳腺癌患者进行的一项随机、对照性、</a:t>
              </a:r>
              <a:r>
                <a:rPr lang="en-US" altLang="zh-CN" sz="1050" dirty="0" smtClean="0">
                  <a:latin typeface="+mn-ea"/>
                  <a:ea typeface="+mn-ea"/>
                </a:rPr>
                <a:t>III</a:t>
              </a:r>
              <a:r>
                <a:rPr lang="zh-CN" altLang="en-US" sz="1050" dirty="0" smtClean="0">
                  <a:latin typeface="+mn-ea"/>
                  <a:ea typeface="+mn-ea"/>
                </a:rPr>
                <a:t>期临床研究，</a:t>
              </a:r>
              <a:r>
                <a:rPr lang="zh-CN" altLang="en-US" sz="1050" dirty="0">
                  <a:latin typeface="+mn-ea"/>
                  <a:ea typeface="+mn-ea"/>
                </a:rPr>
                <a:t>旨在对单纯抗氧化软膏 </a:t>
              </a:r>
              <a:r>
                <a:rPr lang="en-US" altLang="zh-CN" sz="1050" dirty="0">
                  <a:latin typeface="+mn-ea"/>
                  <a:ea typeface="+mn-ea"/>
                </a:rPr>
                <a:t>vs. </a:t>
              </a:r>
              <a:r>
                <a:rPr lang="zh-CN" altLang="en-US" sz="1050" dirty="0">
                  <a:latin typeface="+mn-ea"/>
                  <a:ea typeface="+mn-ea"/>
                </a:rPr>
                <a:t>尿素预防</a:t>
              </a:r>
              <a:r>
                <a:rPr lang="en-US" altLang="zh-CN" sz="1050" dirty="0">
                  <a:latin typeface="+mn-ea"/>
                  <a:ea typeface="+mn-ea"/>
                </a:rPr>
                <a:t>HFS</a:t>
              </a:r>
              <a:r>
                <a:rPr lang="zh-CN" altLang="en-US" sz="1050" dirty="0">
                  <a:latin typeface="+mn-ea"/>
                  <a:ea typeface="+mn-ea"/>
                </a:rPr>
                <a:t>的疗效进行比较</a:t>
              </a:r>
              <a:r>
                <a:rPr lang="en-US" altLang="zh-CN" sz="1050" dirty="0" smtClean="0">
                  <a:latin typeface="+mn-ea"/>
                  <a:ea typeface="+mn-ea"/>
                </a:rPr>
                <a:t> </a:t>
              </a:r>
              <a:endParaRPr lang="zh-CN" altLang="en-US" sz="1050" dirty="0">
                <a:latin typeface="+mn-ea"/>
                <a:ea typeface="+mn-ea"/>
              </a:endParaRPr>
            </a:p>
          </p:txBody>
        </p:sp>
      </p:grpSp>
    </p:spTree>
    <p:extLst>
      <p:ext uri="{BB962C8B-B14F-4D97-AF65-F5344CB8AC3E}">
        <p14:creationId xmlns:p14="http://schemas.microsoft.com/office/powerpoint/2010/main" val="42849372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mn-lt"/>
                <a:ea typeface="+mn-ea"/>
                <a:cs typeface="+mn-ea"/>
                <a:sym typeface="+mn-lt"/>
              </a:rPr>
              <a:t>甘油甘草外涂可有效</a:t>
            </a:r>
            <a:r>
              <a:rPr lang="zh-CN" altLang="en-US" dirty="0" smtClean="0">
                <a:latin typeface="+mn-lt"/>
                <a:ea typeface="+mn-ea"/>
                <a:cs typeface="+mn-ea"/>
                <a:sym typeface="+mn-lt"/>
              </a:rPr>
              <a:t>防治</a:t>
            </a:r>
            <a:r>
              <a:rPr lang="en-US" altLang="zh-CN" dirty="0" smtClean="0">
                <a:latin typeface="+mn-lt"/>
                <a:ea typeface="+mn-ea"/>
                <a:cs typeface="+mn-ea"/>
                <a:sym typeface="+mn-lt"/>
              </a:rPr>
              <a:t>HFS</a:t>
            </a:r>
            <a:endParaRPr lang="zh-CN" altLang="en-US" dirty="0">
              <a:latin typeface="+mn-lt"/>
              <a:ea typeface="+mn-ea"/>
              <a:cs typeface="+mn-ea"/>
              <a:sym typeface="+mn-lt"/>
            </a:endParaRPr>
          </a:p>
        </p:txBody>
      </p:sp>
      <p:sp>
        <p:nvSpPr>
          <p:cNvPr id="24" name="矩形 23"/>
          <p:cNvSpPr/>
          <p:nvPr/>
        </p:nvSpPr>
        <p:spPr>
          <a:xfrm>
            <a:off x="5878523" y="6627168"/>
            <a:ext cx="3265477" cy="230832"/>
          </a:xfrm>
          <a:prstGeom prst="rect">
            <a:avLst/>
          </a:prstGeom>
        </p:spPr>
        <p:txBody>
          <a:bodyPr wrap="square">
            <a:spAutoFit/>
          </a:bodyPr>
          <a:lstStyle/>
          <a:p>
            <a:pPr algn="r" eaLnBrk="1" fontAlgn="auto" hangingPunct="1">
              <a:spcBef>
                <a:spcPts val="0"/>
              </a:spcBef>
              <a:spcAft>
                <a:spcPts val="0"/>
              </a:spcAft>
            </a:pPr>
            <a:r>
              <a:rPr lang="zh-CN" altLang="en-US" sz="900" dirty="0">
                <a:solidFill>
                  <a:prstClr val="black"/>
                </a:solidFill>
                <a:latin typeface="微软雅黑"/>
                <a:ea typeface="微软雅黑"/>
                <a:cs typeface="+mn-ea"/>
                <a:sym typeface="+mn-lt"/>
              </a:rPr>
              <a:t>李艳</a:t>
            </a:r>
            <a:r>
              <a:rPr lang="en-US" altLang="zh-CN" sz="900" dirty="0">
                <a:solidFill>
                  <a:prstClr val="black"/>
                </a:solidFill>
                <a:latin typeface="微软雅黑"/>
                <a:ea typeface="微软雅黑"/>
                <a:cs typeface="+mn-ea"/>
                <a:sym typeface="+mn-lt"/>
              </a:rPr>
              <a:t>, </a:t>
            </a:r>
            <a:r>
              <a:rPr lang="zh-CN" altLang="en-US" sz="900" dirty="0">
                <a:solidFill>
                  <a:prstClr val="black"/>
                </a:solidFill>
                <a:latin typeface="微软雅黑"/>
                <a:ea typeface="微软雅黑"/>
                <a:cs typeface="+mn-ea"/>
                <a:sym typeface="+mn-lt"/>
              </a:rPr>
              <a:t>天津护理</a:t>
            </a:r>
            <a:r>
              <a:rPr lang="en-US" altLang="zh-CN" sz="900" dirty="0">
                <a:solidFill>
                  <a:prstClr val="black"/>
                </a:solidFill>
                <a:latin typeface="微软雅黑"/>
                <a:ea typeface="微软雅黑"/>
                <a:cs typeface="+mn-ea"/>
                <a:sym typeface="+mn-lt"/>
              </a:rPr>
              <a:t> 2016;24(1): 38.</a:t>
            </a:r>
            <a:endParaRPr lang="zh-CN" altLang="en-US" sz="900" i="1" dirty="0">
              <a:solidFill>
                <a:prstClr val="black"/>
              </a:solidFill>
              <a:latin typeface="微软雅黑"/>
              <a:ea typeface="微软雅黑"/>
              <a:cs typeface="+mn-ea"/>
              <a:sym typeface="+mn-lt"/>
            </a:endParaRPr>
          </a:p>
        </p:txBody>
      </p:sp>
      <p:grpSp>
        <p:nvGrpSpPr>
          <p:cNvPr id="22" name="组合 21"/>
          <p:cNvGrpSpPr/>
          <p:nvPr/>
        </p:nvGrpSpPr>
        <p:grpSpPr>
          <a:xfrm>
            <a:off x="326917" y="1340688"/>
            <a:ext cx="8711129" cy="4670367"/>
            <a:chOff x="326917" y="1340688"/>
            <a:chExt cx="8711129" cy="4670367"/>
          </a:xfrm>
        </p:grpSpPr>
        <p:pic>
          <p:nvPicPr>
            <p:cNvPr id="20" name="图片 19"/>
            <p:cNvPicPr>
              <a:picLocks noChangeAspect="1"/>
            </p:cNvPicPr>
            <p:nvPr/>
          </p:nvPicPr>
          <p:blipFill>
            <a:blip r:embed="rId3"/>
            <a:stretch>
              <a:fillRect/>
            </a:stretch>
          </p:blipFill>
          <p:spPr>
            <a:xfrm>
              <a:off x="326917" y="1354116"/>
              <a:ext cx="8291279" cy="4212701"/>
            </a:xfrm>
            <a:prstGeom prst="rect">
              <a:avLst/>
            </a:prstGeom>
          </p:spPr>
        </p:pic>
        <p:sp>
          <p:nvSpPr>
            <p:cNvPr id="25" name="矩形 24"/>
            <p:cNvSpPr/>
            <p:nvPr/>
          </p:nvSpPr>
          <p:spPr>
            <a:xfrm>
              <a:off x="1042383" y="5734056"/>
              <a:ext cx="7995663" cy="276999"/>
            </a:xfrm>
            <a:prstGeom prst="rect">
              <a:avLst/>
            </a:prstGeom>
          </p:spPr>
          <p:txBody>
            <a:bodyPr wrap="square">
              <a:spAutoFit/>
            </a:bodyPr>
            <a:lstStyle/>
            <a:p>
              <a:pPr marL="171450" indent="-171450" eaLnBrk="1" fontAlgn="auto" hangingPunct="1">
                <a:lnSpc>
                  <a:spcPct val="120000"/>
                </a:lnSpc>
                <a:spcBef>
                  <a:spcPts val="0"/>
                </a:spcBef>
                <a:spcAft>
                  <a:spcPts val="0"/>
                </a:spcAft>
                <a:buFont typeface="Arial" panose="020B0604020202020204" pitchFamily="34" charset="0"/>
                <a:buChar char="•"/>
              </a:pPr>
              <a:r>
                <a:rPr lang="zh-CN" altLang="en-US" sz="1000" dirty="0" smtClean="0">
                  <a:solidFill>
                    <a:prstClr val="black"/>
                  </a:solidFill>
                  <a:latin typeface="微软雅黑"/>
                  <a:ea typeface="微软雅黑"/>
                  <a:cs typeface="+mn-ea"/>
                  <a:sym typeface="+mn-lt"/>
                </a:rPr>
                <a:t>对</a:t>
              </a:r>
              <a:r>
                <a:rPr lang="en-US" altLang="zh-CN" sz="1000" dirty="0" smtClean="0">
                  <a:solidFill>
                    <a:prstClr val="black"/>
                  </a:solidFill>
                  <a:latin typeface="微软雅黑"/>
                  <a:ea typeface="微软雅黑"/>
                  <a:cs typeface="+mn-ea"/>
                  <a:sym typeface="+mn-lt"/>
                </a:rPr>
                <a:t>105</a:t>
              </a:r>
              <a:r>
                <a:rPr lang="zh-CN" altLang="en-US" sz="1000" dirty="0" smtClean="0">
                  <a:solidFill>
                    <a:prstClr val="black"/>
                  </a:solidFill>
                  <a:latin typeface="微软雅黑"/>
                  <a:ea typeface="微软雅黑"/>
                  <a:cs typeface="+mn-ea"/>
                  <a:sym typeface="+mn-lt"/>
                </a:rPr>
                <a:t>例接受化疗治疗的胃癌、</a:t>
              </a:r>
              <a:r>
                <a:rPr lang="en-US" altLang="zh-CN" sz="1000" dirty="0" smtClean="0">
                  <a:solidFill>
                    <a:prstClr val="black"/>
                  </a:solidFill>
                  <a:latin typeface="微软雅黑"/>
                  <a:ea typeface="微软雅黑"/>
                  <a:cs typeface="+mn-ea"/>
                  <a:sym typeface="+mn-lt"/>
                </a:rPr>
                <a:t>CRC</a:t>
              </a:r>
              <a:r>
                <a:rPr lang="zh-CN" altLang="en-US" sz="1000" dirty="0" smtClean="0">
                  <a:solidFill>
                    <a:prstClr val="black"/>
                  </a:solidFill>
                  <a:latin typeface="微软雅黑"/>
                  <a:ea typeface="微软雅黑"/>
                  <a:cs typeface="+mn-ea"/>
                  <a:sym typeface="+mn-lt"/>
                </a:rPr>
                <a:t>肿瘤</a:t>
              </a:r>
              <a:r>
                <a:rPr lang="zh-CN" altLang="en-US" sz="1000" dirty="0">
                  <a:solidFill>
                    <a:prstClr val="black"/>
                  </a:solidFill>
                  <a:latin typeface="微软雅黑"/>
                  <a:ea typeface="微软雅黑"/>
                  <a:cs typeface="+mn-ea"/>
                  <a:sym typeface="+mn-lt"/>
                </a:rPr>
                <a:t>患者进行</a:t>
              </a:r>
              <a:r>
                <a:rPr lang="zh-CN" altLang="en-US" sz="1000" dirty="0" smtClean="0">
                  <a:solidFill>
                    <a:prstClr val="black"/>
                  </a:solidFill>
                  <a:latin typeface="微软雅黑"/>
                  <a:ea typeface="微软雅黑"/>
                  <a:cs typeface="+mn-ea"/>
                  <a:sym typeface="+mn-lt"/>
                </a:rPr>
                <a:t>的一项随机、对照性研究</a:t>
              </a:r>
              <a:r>
                <a:rPr lang="zh-CN" altLang="en-US" sz="1000" dirty="0">
                  <a:solidFill>
                    <a:prstClr val="black"/>
                  </a:solidFill>
                  <a:latin typeface="微软雅黑"/>
                  <a:ea typeface="微软雅黑"/>
                  <a:cs typeface="+mn-ea"/>
                  <a:sym typeface="+mn-lt"/>
                </a:rPr>
                <a:t>，</a:t>
              </a:r>
              <a:r>
                <a:rPr lang="zh-CN" altLang="en-US" sz="1000" dirty="0" smtClean="0">
                  <a:solidFill>
                    <a:prstClr val="black"/>
                  </a:solidFill>
                  <a:latin typeface="微软雅黑"/>
                  <a:ea typeface="微软雅黑"/>
                  <a:cs typeface="+mn-ea"/>
                  <a:sym typeface="+mn-lt"/>
                </a:rPr>
                <a:t>旨在观察甘油</a:t>
              </a:r>
              <a:r>
                <a:rPr lang="zh-CN" altLang="en-US" sz="1000" dirty="0">
                  <a:solidFill>
                    <a:prstClr val="black"/>
                  </a:solidFill>
                  <a:latin typeface="微软雅黑"/>
                  <a:ea typeface="微软雅黑"/>
                  <a:cs typeface="+mn-ea"/>
                  <a:sym typeface="+mn-lt"/>
                </a:rPr>
                <a:t>甘草外涂</a:t>
              </a:r>
              <a:r>
                <a:rPr lang="zh-CN" altLang="en-US" sz="1000" dirty="0" smtClean="0">
                  <a:solidFill>
                    <a:prstClr val="black"/>
                  </a:solidFill>
                  <a:latin typeface="微软雅黑"/>
                  <a:ea typeface="微软雅黑"/>
                  <a:cs typeface="+mn-ea"/>
                  <a:sym typeface="+mn-lt"/>
                </a:rPr>
                <a:t>防治手足综合征的效果</a:t>
              </a:r>
              <a:endParaRPr lang="zh-CN" altLang="en-US" sz="1000" dirty="0">
                <a:solidFill>
                  <a:prstClr val="black"/>
                </a:solidFill>
                <a:latin typeface="微软雅黑"/>
                <a:ea typeface="微软雅黑"/>
                <a:cs typeface="+mn-ea"/>
                <a:sym typeface="+mn-lt"/>
              </a:endParaRPr>
            </a:p>
          </p:txBody>
        </p:sp>
        <p:sp>
          <p:nvSpPr>
            <p:cNvPr id="5" name="矩形 4"/>
            <p:cNvSpPr/>
            <p:nvPr/>
          </p:nvSpPr>
          <p:spPr>
            <a:xfrm>
              <a:off x="1717283" y="1340688"/>
              <a:ext cx="2795680" cy="584775"/>
            </a:xfrm>
            <a:prstGeom prst="rect">
              <a:avLst/>
            </a:prstGeom>
          </p:spPr>
          <p:txBody>
            <a:bodyPr wrap="square">
              <a:spAutoFit/>
            </a:bodyPr>
            <a:lstStyle/>
            <a:p>
              <a:pPr algn="ctr">
                <a:defRPr sz="1862" b="0" i="0" u="none" strike="noStrike" kern="1200" spc="0" baseline="0">
                  <a:solidFill>
                    <a:prstClr val="black"/>
                  </a:solidFill>
                  <a:latin typeface="+mn-lt"/>
                  <a:ea typeface="+mn-ea"/>
                  <a:cs typeface="+mn-ea"/>
                  <a:sym typeface="+mn-lt"/>
                </a:defRPr>
              </a:pPr>
              <a:r>
                <a:rPr lang="zh-CN" altLang="en-US" sz="1600" b="1" dirty="0">
                  <a:cs typeface="+mn-ea"/>
                  <a:sym typeface="+mn-lt"/>
                </a:rPr>
                <a:t>使用</a:t>
              </a:r>
              <a:r>
                <a:rPr lang="zh-CN" altLang="zh-CN" sz="1600" b="1" dirty="0">
                  <a:cs typeface="+mn-ea"/>
                  <a:sym typeface="+mn-lt"/>
                </a:rPr>
                <a:t> </a:t>
              </a:r>
              <a:r>
                <a:rPr lang="en-US" altLang="zh-CN" sz="1600" b="1" dirty="0">
                  <a:cs typeface="+mn-ea"/>
                  <a:sym typeface="+mn-lt"/>
                </a:rPr>
                <a:t>vs. </a:t>
              </a:r>
              <a:r>
                <a:rPr lang="zh-CN" altLang="en-US" sz="1600" b="1" dirty="0">
                  <a:cs typeface="+mn-ea"/>
                  <a:sym typeface="+mn-lt"/>
                </a:rPr>
                <a:t>未使用甘油甘草</a:t>
              </a:r>
              <a:r>
                <a:rPr lang="zh-CN" altLang="zh-CN" sz="1600" b="1" dirty="0">
                  <a:cs typeface="+mn-ea"/>
                  <a:sym typeface="+mn-lt"/>
                </a:rPr>
                <a:t>，</a:t>
              </a:r>
              <a:r>
                <a:rPr lang="en-US" altLang="zh-CN" sz="1600" b="1" dirty="0">
                  <a:cs typeface="+mn-ea"/>
                  <a:sym typeface="+mn-lt"/>
                </a:rPr>
                <a:t>2/3</a:t>
              </a:r>
              <a:r>
                <a:rPr lang="zh-CN" altLang="en-US" sz="1600" b="1" dirty="0">
                  <a:cs typeface="+mn-ea"/>
                  <a:sym typeface="+mn-lt"/>
                </a:rPr>
                <a:t>级</a:t>
              </a:r>
              <a:r>
                <a:rPr lang="en-US" altLang="zh-CN" sz="1600" b="1" dirty="0">
                  <a:cs typeface="+mn-ea"/>
                  <a:sym typeface="+mn-lt"/>
                </a:rPr>
                <a:t>HFS</a:t>
              </a:r>
              <a:r>
                <a:rPr lang="zh-CN" altLang="en-US" sz="1600" b="1" dirty="0">
                  <a:cs typeface="+mn-ea"/>
                  <a:sym typeface="+mn-lt"/>
                </a:rPr>
                <a:t>发生率</a:t>
              </a:r>
              <a:r>
                <a:rPr lang="zh-CN" altLang="zh-CN" sz="1600" b="1" dirty="0">
                  <a:cs typeface="+mn-ea"/>
                  <a:sym typeface="+mn-lt"/>
                </a:rPr>
                <a:t>显著更低</a:t>
              </a:r>
              <a:endParaRPr lang="en-US" altLang="zh-CN" sz="1600" b="1" dirty="0">
                <a:cs typeface="+mn-ea"/>
                <a:sym typeface="+mn-lt"/>
              </a:endParaRPr>
            </a:p>
          </p:txBody>
        </p:sp>
        <p:sp>
          <p:nvSpPr>
            <p:cNvPr id="23" name="矩形 22"/>
            <p:cNvSpPr/>
            <p:nvPr/>
          </p:nvSpPr>
          <p:spPr>
            <a:xfrm>
              <a:off x="5906898" y="2586779"/>
              <a:ext cx="2469446" cy="2292874"/>
            </a:xfrm>
            <a:prstGeom prst="rect">
              <a:avLst/>
            </a:prstGeom>
          </p:spPr>
          <p:txBody>
            <a:bodyPr wrap="square" anchor="ctr">
              <a:noAutofit/>
            </a:bodyPr>
            <a:lstStyle/>
            <a:p>
              <a:pPr eaLnBrk="1" fontAlgn="auto" hangingPunct="1">
                <a:lnSpc>
                  <a:spcPct val="120000"/>
                </a:lnSpc>
                <a:spcBef>
                  <a:spcPts val="600"/>
                </a:spcBef>
                <a:spcAft>
                  <a:spcPts val="0"/>
                </a:spcAft>
              </a:pPr>
              <a:r>
                <a:rPr lang="zh-CN" altLang="en-US" sz="1400" b="1" dirty="0" smtClean="0">
                  <a:solidFill>
                    <a:prstClr val="black"/>
                  </a:solidFill>
                  <a:latin typeface="微软雅黑"/>
                  <a:ea typeface="微软雅黑"/>
                  <a:cs typeface="+mn-ea"/>
                  <a:sym typeface="+mn-lt"/>
                </a:rPr>
                <a:t>甘油甘草的配制和使用方法</a:t>
              </a:r>
              <a:endParaRPr lang="en-US" altLang="zh-CN" sz="1400" b="1" dirty="0" smtClean="0">
                <a:solidFill>
                  <a:prstClr val="black"/>
                </a:solidFill>
                <a:latin typeface="微软雅黑"/>
                <a:ea typeface="微软雅黑"/>
                <a:cs typeface="+mn-ea"/>
                <a:sym typeface="+mn-lt"/>
              </a:endParaRPr>
            </a:p>
            <a:p>
              <a:pPr marL="171450" indent="-171450" eaLnBrk="1" fontAlgn="auto" hangingPunct="1">
                <a:lnSpc>
                  <a:spcPct val="120000"/>
                </a:lnSpc>
                <a:spcBef>
                  <a:spcPts val="1200"/>
                </a:spcBef>
                <a:spcAft>
                  <a:spcPts val="0"/>
                </a:spcAft>
                <a:buFont typeface="Arial" panose="020B0604020202020204" pitchFamily="34" charset="0"/>
                <a:buChar char="•"/>
              </a:pPr>
              <a:r>
                <a:rPr lang="zh-CN" altLang="en-US" sz="1200" b="1" dirty="0" smtClean="0">
                  <a:solidFill>
                    <a:prstClr val="black"/>
                  </a:solidFill>
                  <a:latin typeface="微软雅黑"/>
                  <a:ea typeface="微软雅黑"/>
                  <a:cs typeface="+mn-ea"/>
                  <a:sym typeface="+mn-lt"/>
                </a:rPr>
                <a:t>甘油</a:t>
              </a:r>
              <a:r>
                <a:rPr lang="zh-CN" altLang="en-US" sz="1200" b="1" dirty="0">
                  <a:solidFill>
                    <a:prstClr val="black"/>
                  </a:solidFill>
                  <a:latin typeface="微软雅黑"/>
                  <a:ea typeface="微软雅黑"/>
                  <a:cs typeface="+mn-ea"/>
                  <a:sym typeface="+mn-lt"/>
                </a:rPr>
                <a:t>甘草配制方法：</a:t>
              </a:r>
              <a:r>
                <a:rPr lang="zh-CN" altLang="en-US" sz="1100" dirty="0">
                  <a:solidFill>
                    <a:prstClr val="black"/>
                  </a:solidFill>
                  <a:latin typeface="微软雅黑"/>
                  <a:ea typeface="微软雅黑"/>
                  <a:cs typeface="+mn-ea"/>
                  <a:sym typeface="+mn-lt"/>
                </a:rPr>
                <a:t>甘油</a:t>
              </a:r>
              <a:r>
                <a:rPr lang="en-US" altLang="zh-CN" sz="1100" dirty="0">
                  <a:solidFill>
                    <a:prstClr val="black"/>
                  </a:solidFill>
                  <a:latin typeface="微软雅黑"/>
                  <a:ea typeface="微软雅黑"/>
                  <a:cs typeface="+mn-ea"/>
                  <a:sym typeface="+mn-lt"/>
                </a:rPr>
                <a:t>50mL</a:t>
              </a:r>
              <a:r>
                <a:rPr lang="zh-CN" altLang="en-US" sz="1100" dirty="0">
                  <a:solidFill>
                    <a:prstClr val="black"/>
                  </a:solidFill>
                  <a:latin typeface="微软雅黑"/>
                  <a:ea typeface="微软雅黑"/>
                  <a:cs typeface="+mn-ea"/>
                  <a:sym typeface="+mn-lt"/>
                </a:rPr>
                <a:t>、蒸馏水或冷开水</a:t>
              </a:r>
              <a:r>
                <a:rPr lang="en-US" altLang="zh-CN" sz="1100" dirty="0">
                  <a:solidFill>
                    <a:prstClr val="black"/>
                  </a:solidFill>
                  <a:latin typeface="微软雅黑"/>
                  <a:ea typeface="微软雅黑"/>
                  <a:cs typeface="+mn-ea"/>
                  <a:sym typeface="+mn-lt"/>
                </a:rPr>
                <a:t>50mL</a:t>
              </a:r>
              <a:r>
                <a:rPr lang="zh-CN" altLang="en-US" sz="1100" dirty="0">
                  <a:solidFill>
                    <a:prstClr val="black"/>
                  </a:solidFill>
                  <a:latin typeface="微软雅黑"/>
                  <a:ea typeface="微软雅黑"/>
                  <a:cs typeface="+mn-ea"/>
                  <a:sym typeface="+mn-lt"/>
                </a:rPr>
                <a:t>、甘草</a:t>
              </a:r>
              <a:r>
                <a:rPr lang="en-US" altLang="zh-CN" sz="1100" dirty="0">
                  <a:solidFill>
                    <a:prstClr val="black"/>
                  </a:solidFill>
                  <a:latin typeface="微软雅黑"/>
                  <a:ea typeface="微软雅黑"/>
                  <a:cs typeface="+mn-ea"/>
                  <a:sym typeface="+mn-lt"/>
                </a:rPr>
                <a:t>10g</a:t>
              </a:r>
              <a:r>
                <a:rPr lang="zh-CN" altLang="en-US" sz="1100" dirty="0">
                  <a:solidFill>
                    <a:prstClr val="black"/>
                  </a:solidFill>
                  <a:latin typeface="微软雅黑"/>
                  <a:ea typeface="微软雅黑"/>
                  <a:cs typeface="+mn-ea"/>
                  <a:sym typeface="+mn-lt"/>
                </a:rPr>
                <a:t>，调制</a:t>
              </a:r>
              <a:r>
                <a:rPr lang="en-US" altLang="zh-CN" sz="1100" dirty="0">
                  <a:solidFill>
                    <a:prstClr val="black"/>
                  </a:solidFill>
                  <a:latin typeface="微软雅黑"/>
                  <a:ea typeface="微软雅黑"/>
                  <a:cs typeface="+mn-ea"/>
                  <a:sym typeface="+mn-lt"/>
                </a:rPr>
                <a:t>24</a:t>
              </a:r>
              <a:r>
                <a:rPr lang="zh-CN" altLang="en-US" sz="1100" dirty="0">
                  <a:solidFill>
                    <a:prstClr val="black"/>
                  </a:solidFill>
                  <a:latin typeface="微软雅黑"/>
                  <a:ea typeface="微软雅黑"/>
                  <a:cs typeface="+mn-ea"/>
                  <a:sym typeface="+mn-lt"/>
                </a:rPr>
                <a:t>小时后即可应用</a:t>
              </a:r>
              <a:endParaRPr lang="en-US" altLang="zh-CN" sz="1100" dirty="0">
                <a:solidFill>
                  <a:prstClr val="black"/>
                </a:solidFill>
                <a:latin typeface="微软雅黑"/>
                <a:ea typeface="微软雅黑"/>
                <a:cs typeface="+mn-ea"/>
                <a:sym typeface="+mn-lt"/>
              </a:endParaRPr>
            </a:p>
            <a:p>
              <a:pPr marL="171450" indent="-171450" eaLnBrk="1" fontAlgn="auto" hangingPunct="1">
                <a:lnSpc>
                  <a:spcPct val="120000"/>
                </a:lnSpc>
                <a:spcBef>
                  <a:spcPts val="600"/>
                </a:spcBef>
                <a:spcAft>
                  <a:spcPts val="0"/>
                </a:spcAft>
                <a:buFont typeface="Arial" panose="020B0604020202020204" pitchFamily="34" charset="0"/>
                <a:buChar char="•"/>
              </a:pPr>
              <a:r>
                <a:rPr lang="zh-CN" altLang="en-US" sz="1200" b="1" dirty="0">
                  <a:solidFill>
                    <a:prstClr val="black"/>
                  </a:solidFill>
                  <a:latin typeface="微软雅黑"/>
                  <a:ea typeface="微软雅黑"/>
                  <a:cs typeface="+mn-ea"/>
                  <a:sym typeface="+mn-lt"/>
                </a:rPr>
                <a:t>甘油甘草使用方法：</a:t>
              </a:r>
              <a:r>
                <a:rPr lang="zh-CN" altLang="en-US" sz="1100" dirty="0">
                  <a:solidFill>
                    <a:prstClr val="black"/>
                  </a:solidFill>
                  <a:latin typeface="微软雅黑"/>
                  <a:ea typeface="微软雅黑"/>
                  <a:cs typeface="+mn-ea"/>
                  <a:sym typeface="+mn-lt"/>
                </a:rPr>
                <a:t>化疗开始后每日</a:t>
              </a:r>
              <a:r>
                <a:rPr lang="en-US" altLang="zh-CN" sz="1100" dirty="0">
                  <a:solidFill>
                    <a:prstClr val="black"/>
                  </a:solidFill>
                  <a:latin typeface="微软雅黑"/>
                  <a:ea typeface="微软雅黑"/>
                  <a:cs typeface="+mn-ea"/>
                  <a:sym typeface="+mn-lt"/>
                </a:rPr>
                <a:t>3</a:t>
              </a:r>
              <a:r>
                <a:rPr lang="zh-CN" altLang="en-US" sz="1100" dirty="0">
                  <a:solidFill>
                    <a:prstClr val="black"/>
                  </a:solidFill>
                  <a:latin typeface="微软雅黑"/>
                  <a:ea typeface="微软雅黑"/>
                  <a:cs typeface="+mn-ea"/>
                  <a:sym typeface="+mn-lt"/>
                </a:rPr>
                <a:t>次清洁手、足，并予</a:t>
              </a:r>
              <a:r>
                <a:rPr lang="en-US" altLang="zh-CN" sz="1100" dirty="0">
                  <a:solidFill>
                    <a:prstClr val="black"/>
                  </a:solidFill>
                  <a:latin typeface="微软雅黑"/>
                  <a:ea typeface="微软雅黑"/>
                  <a:cs typeface="+mn-ea"/>
                  <a:sym typeface="+mn-lt"/>
                </a:rPr>
                <a:t>35</a:t>
              </a:r>
              <a:r>
                <a:rPr lang="zh-CN" altLang="en-US" sz="1100" dirty="0">
                  <a:solidFill>
                    <a:prstClr val="black"/>
                  </a:solidFill>
                  <a:latin typeface="微软雅黑"/>
                  <a:ea typeface="微软雅黑"/>
                  <a:cs typeface="+mn-ea"/>
                  <a:sym typeface="+mn-lt"/>
                </a:rPr>
                <a:t>～</a:t>
              </a:r>
              <a:r>
                <a:rPr lang="en-US" altLang="zh-CN" sz="1100" dirty="0">
                  <a:solidFill>
                    <a:prstClr val="black"/>
                  </a:solidFill>
                  <a:latin typeface="微软雅黑"/>
                  <a:ea typeface="微软雅黑"/>
                  <a:cs typeface="+mn-ea"/>
                  <a:sym typeface="+mn-lt"/>
                </a:rPr>
                <a:t>42</a:t>
              </a:r>
              <a:r>
                <a:rPr lang="zh-CN" altLang="en-US" sz="1100" dirty="0">
                  <a:solidFill>
                    <a:prstClr val="black"/>
                  </a:solidFill>
                  <a:latin typeface="微软雅黑"/>
                  <a:ea typeface="微软雅黑"/>
                  <a:cs typeface="+mn-ea"/>
                  <a:sym typeface="+mn-lt"/>
                </a:rPr>
                <a:t>℃温水浸泡手、足，每次</a:t>
              </a:r>
              <a:r>
                <a:rPr lang="en-US" altLang="zh-CN" sz="1100" dirty="0">
                  <a:solidFill>
                    <a:prstClr val="black"/>
                  </a:solidFill>
                  <a:latin typeface="微软雅黑"/>
                  <a:ea typeface="微软雅黑"/>
                  <a:cs typeface="+mn-ea"/>
                  <a:sym typeface="+mn-lt"/>
                </a:rPr>
                <a:t>10min</a:t>
              </a:r>
              <a:r>
                <a:rPr lang="zh-CN" altLang="en-US" sz="1100" dirty="0">
                  <a:solidFill>
                    <a:prstClr val="black"/>
                  </a:solidFill>
                  <a:latin typeface="微软雅黑"/>
                  <a:ea typeface="微软雅黑"/>
                  <a:cs typeface="+mn-ea"/>
                  <a:sym typeface="+mn-lt"/>
                </a:rPr>
                <a:t>。浸泡后给予甘油甘草适量</a:t>
              </a:r>
              <a:r>
                <a:rPr lang="zh-CN" altLang="en-US" sz="1100" dirty="0" smtClean="0">
                  <a:solidFill>
                    <a:prstClr val="black"/>
                  </a:solidFill>
                  <a:latin typeface="微软雅黑"/>
                  <a:ea typeface="微软雅黑"/>
                  <a:cs typeface="+mn-ea"/>
                  <a:sym typeface="+mn-lt"/>
                </a:rPr>
                <a:t>涂抹</a:t>
              </a:r>
              <a:r>
                <a:rPr lang="zh-CN" altLang="en-US" sz="1100" dirty="0">
                  <a:solidFill>
                    <a:prstClr val="black"/>
                  </a:solidFill>
                  <a:latin typeface="微软雅黑"/>
                  <a:ea typeface="微软雅黑"/>
                  <a:cs typeface="+mn-ea"/>
                  <a:sym typeface="+mn-lt"/>
                </a:rPr>
                <a:t>手掌、足底，穿袜子保护皮肤，如此方法至化疗结束</a:t>
              </a:r>
              <a:endParaRPr lang="en-US" altLang="zh-CN" sz="1100" dirty="0">
                <a:solidFill>
                  <a:prstClr val="black"/>
                </a:solidFill>
                <a:latin typeface="微软雅黑"/>
                <a:ea typeface="微软雅黑"/>
                <a:cs typeface="+mn-ea"/>
                <a:sym typeface="+mn-lt"/>
              </a:endParaRPr>
            </a:p>
          </p:txBody>
        </p:sp>
        <p:sp>
          <p:nvSpPr>
            <p:cNvPr id="30" name="文本框 29"/>
            <p:cNvSpPr txBox="1"/>
            <p:nvPr/>
          </p:nvSpPr>
          <p:spPr>
            <a:xfrm>
              <a:off x="2725197" y="2132404"/>
              <a:ext cx="808758" cy="248898"/>
            </a:xfrm>
            <a:prstGeom prst="rect">
              <a:avLst/>
            </a:prstGeom>
            <a:noFill/>
          </p:spPr>
          <p:txBody>
            <a:bodyPr wrap="square" rtlCol="0">
              <a:spAutoFit/>
            </a:bodyPr>
            <a:lstStyle/>
            <a:p>
              <a:pPr algn="ctr" eaLnBrk="1" fontAlgn="auto" hangingPunct="1">
                <a:spcBef>
                  <a:spcPts val="0"/>
                </a:spcBef>
                <a:spcAft>
                  <a:spcPts val="0"/>
                </a:spcAft>
              </a:pPr>
              <a:r>
                <a:rPr lang="en-US" altLang="zh-CN" sz="1100" b="1" dirty="0">
                  <a:solidFill>
                    <a:prstClr val="black"/>
                  </a:solidFill>
                  <a:latin typeface="微软雅黑"/>
                  <a:ea typeface="微软雅黑"/>
                  <a:cs typeface="+mn-ea"/>
                  <a:sym typeface="+mn-lt"/>
                </a:rPr>
                <a:t>P&lt;0.01</a:t>
              </a:r>
              <a:endParaRPr lang="zh-CN" altLang="en-US" sz="1100" b="1" dirty="0">
                <a:solidFill>
                  <a:prstClr val="black"/>
                </a:solidFill>
                <a:latin typeface="微软雅黑"/>
                <a:ea typeface="微软雅黑"/>
                <a:cs typeface="+mn-ea"/>
                <a:sym typeface="+mn-lt"/>
              </a:endParaRPr>
            </a:p>
          </p:txBody>
        </p:sp>
      </p:grpSp>
    </p:spTree>
    <p:extLst>
      <p:ext uri="{BB962C8B-B14F-4D97-AF65-F5344CB8AC3E}">
        <p14:creationId xmlns:p14="http://schemas.microsoft.com/office/powerpoint/2010/main" val="1038882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同时采用多种防护措施，</a:t>
            </a:r>
            <a:r>
              <a:rPr lang="en-US" altLang="zh-CN" dirty="0"/>
              <a:t>HFS</a:t>
            </a:r>
            <a:r>
              <a:rPr lang="zh-CN" altLang="en-US" dirty="0"/>
              <a:t>发生率显著降低</a:t>
            </a:r>
          </a:p>
        </p:txBody>
      </p:sp>
      <p:sp>
        <p:nvSpPr>
          <p:cNvPr id="68" name="矩形 67"/>
          <p:cNvSpPr/>
          <p:nvPr/>
        </p:nvSpPr>
        <p:spPr>
          <a:xfrm>
            <a:off x="5878523" y="6627168"/>
            <a:ext cx="3265477" cy="230832"/>
          </a:xfrm>
          <a:prstGeom prst="rect">
            <a:avLst/>
          </a:prstGeom>
        </p:spPr>
        <p:txBody>
          <a:bodyPr wrap="square">
            <a:spAutoFit/>
          </a:bodyPr>
          <a:lstStyle/>
          <a:p>
            <a:pPr algn="r" eaLnBrk="1" fontAlgn="auto" hangingPunct="1">
              <a:spcBef>
                <a:spcPts val="0"/>
              </a:spcBef>
              <a:spcAft>
                <a:spcPts val="0"/>
              </a:spcAft>
            </a:pPr>
            <a:r>
              <a:rPr lang="zh-CN" altLang="en-US" sz="900" dirty="0">
                <a:solidFill>
                  <a:prstClr val="black"/>
                </a:solidFill>
                <a:latin typeface="Microsoft YaHei"/>
                <a:ea typeface="Microsoft YaHei"/>
              </a:rPr>
              <a:t>Suzuki S et al., Mol Clin Oncol. 2018;9(4):443-448. </a:t>
            </a:r>
          </a:p>
        </p:txBody>
      </p:sp>
      <p:grpSp>
        <p:nvGrpSpPr>
          <p:cNvPr id="5" name="组合 4"/>
          <p:cNvGrpSpPr/>
          <p:nvPr/>
        </p:nvGrpSpPr>
        <p:grpSpPr>
          <a:xfrm>
            <a:off x="911876" y="979878"/>
            <a:ext cx="7496824" cy="4892029"/>
            <a:chOff x="911876" y="1296146"/>
            <a:chExt cx="7496824" cy="4892029"/>
          </a:xfrm>
        </p:grpSpPr>
        <p:pic>
          <p:nvPicPr>
            <p:cNvPr id="4" name="图片 3"/>
            <p:cNvPicPr>
              <a:picLocks noChangeAspect="1"/>
            </p:cNvPicPr>
            <p:nvPr/>
          </p:nvPicPr>
          <p:blipFill>
            <a:blip r:embed="rId3"/>
            <a:stretch>
              <a:fillRect/>
            </a:stretch>
          </p:blipFill>
          <p:spPr>
            <a:xfrm>
              <a:off x="1216397" y="1451302"/>
              <a:ext cx="6931753" cy="3889585"/>
            </a:xfrm>
            <a:prstGeom prst="rect">
              <a:avLst/>
            </a:prstGeom>
          </p:spPr>
        </p:pic>
        <p:sp>
          <p:nvSpPr>
            <p:cNvPr id="50" name="矩形 49"/>
            <p:cNvSpPr/>
            <p:nvPr/>
          </p:nvSpPr>
          <p:spPr>
            <a:xfrm rot="16200000">
              <a:off x="-89911" y="3014552"/>
              <a:ext cx="2380780" cy="307777"/>
            </a:xfrm>
            <a:prstGeom prst="rect">
              <a:avLst/>
            </a:prstGeom>
          </p:spPr>
          <p:txBody>
            <a:bodyPr wrap="none">
              <a:spAutoFit/>
            </a:bodyPr>
            <a:lstStyle/>
            <a:p>
              <a:pPr algn="ctr" eaLnBrk="1" fontAlgn="auto" hangingPunct="1">
                <a:spcBef>
                  <a:spcPts val="0"/>
                </a:spcBef>
                <a:spcAft>
                  <a:spcPts val="0"/>
                </a:spcAft>
              </a:pPr>
              <a:r>
                <a:rPr lang="en-US" altLang="zh-CN" sz="1400" b="1" dirty="0">
                  <a:solidFill>
                    <a:prstClr val="black"/>
                  </a:solidFill>
                  <a:latin typeface="Microsoft YaHei"/>
                  <a:ea typeface="Microsoft YaHei"/>
                </a:rPr>
                <a:t>15</a:t>
              </a:r>
              <a:r>
                <a:rPr lang="zh-CN" altLang="en-US" sz="1400" b="1" dirty="0">
                  <a:solidFill>
                    <a:prstClr val="black"/>
                  </a:solidFill>
                  <a:latin typeface="Microsoft YaHei"/>
                  <a:ea typeface="Microsoft YaHei"/>
                </a:rPr>
                <a:t>项防护措施中采用的项数</a:t>
              </a:r>
            </a:p>
          </p:txBody>
        </p:sp>
        <p:sp>
          <p:nvSpPr>
            <p:cNvPr id="55" name="矩形 54"/>
            <p:cNvSpPr/>
            <p:nvPr/>
          </p:nvSpPr>
          <p:spPr>
            <a:xfrm>
              <a:off x="911877" y="5934259"/>
              <a:ext cx="2730859" cy="253916"/>
            </a:xfrm>
            <a:prstGeom prst="rect">
              <a:avLst/>
            </a:prstGeom>
          </p:spPr>
          <p:txBody>
            <a:bodyPr wrap="square">
              <a:spAutoFit/>
            </a:bodyPr>
            <a:lstStyle/>
            <a:p>
              <a:pPr eaLnBrk="1" fontAlgn="auto" hangingPunct="1">
                <a:spcBef>
                  <a:spcPts val="0"/>
                </a:spcBef>
                <a:spcAft>
                  <a:spcPts val="0"/>
                </a:spcAft>
              </a:pPr>
              <a:r>
                <a:rPr lang="en-US" altLang="zh-CN" sz="1050" dirty="0">
                  <a:solidFill>
                    <a:srgbClr val="211D1E"/>
                  </a:solidFill>
                  <a:latin typeface="Microsoft YaHei"/>
                  <a:ea typeface="Microsoft YaHei"/>
                </a:rPr>
                <a:t>* </a:t>
              </a:r>
              <a:r>
                <a:rPr lang="en-US" altLang="zh-CN" sz="1050" spc="100" dirty="0">
                  <a:solidFill>
                    <a:srgbClr val="211D1E"/>
                  </a:solidFill>
                  <a:latin typeface="Microsoft YaHei"/>
                  <a:ea typeface="Microsoft YaHei"/>
                </a:rPr>
                <a:t>P&lt;</a:t>
              </a:r>
              <a:r>
                <a:rPr lang="en-US" altLang="zh-CN" sz="1050" dirty="0">
                  <a:solidFill>
                    <a:srgbClr val="211D1E"/>
                  </a:solidFill>
                  <a:latin typeface="Microsoft YaHei"/>
                  <a:ea typeface="Microsoft YaHei"/>
                </a:rPr>
                <a:t>0.05</a:t>
              </a:r>
              <a:r>
                <a:rPr lang="zh-CN" altLang="en-US" sz="1050" dirty="0">
                  <a:solidFill>
                    <a:srgbClr val="211D1E"/>
                  </a:solidFill>
                  <a:latin typeface="Microsoft YaHei"/>
                  <a:ea typeface="Microsoft YaHei"/>
                </a:rPr>
                <a:t>，</a:t>
              </a:r>
              <a:r>
                <a:rPr lang="en-US" altLang="zh-CN" sz="1050" dirty="0">
                  <a:solidFill>
                    <a:srgbClr val="211D1E"/>
                  </a:solidFill>
                  <a:latin typeface="Microsoft YaHei"/>
                  <a:ea typeface="Microsoft YaHei"/>
                </a:rPr>
                <a:t>Wilcoxon</a:t>
              </a:r>
              <a:r>
                <a:rPr lang="zh-CN" altLang="en-US" sz="1050" dirty="0">
                  <a:solidFill>
                    <a:srgbClr val="211D1E"/>
                  </a:solidFill>
                  <a:latin typeface="Microsoft YaHei"/>
                  <a:ea typeface="Microsoft YaHei"/>
                </a:rPr>
                <a:t>秩和检测</a:t>
              </a:r>
              <a:endParaRPr lang="zh-CN" altLang="en-US" sz="1050" dirty="0">
                <a:solidFill>
                  <a:prstClr val="black"/>
                </a:solidFill>
                <a:latin typeface="Microsoft YaHei"/>
                <a:ea typeface="Microsoft YaHei"/>
              </a:endParaRPr>
            </a:p>
          </p:txBody>
        </p:sp>
        <p:sp>
          <p:nvSpPr>
            <p:cNvPr id="49" name="文本框 48"/>
            <p:cNvSpPr txBox="1"/>
            <p:nvPr/>
          </p:nvSpPr>
          <p:spPr>
            <a:xfrm>
              <a:off x="4476966" y="1296146"/>
              <a:ext cx="1043912" cy="276999"/>
            </a:xfrm>
            <a:prstGeom prst="rect">
              <a:avLst/>
            </a:prstGeom>
            <a:noFill/>
          </p:spPr>
          <p:txBody>
            <a:bodyPr wrap="none" rtlCol="0" anchor="ctr">
              <a:spAutoFit/>
            </a:bodyPr>
            <a:lstStyle/>
            <a:p>
              <a:pPr algn="ctr" eaLnBrk="1" fontAlgn="auto" hangingPunct="1">
                <a:spcBef>
                  <a:spcPts val="0"/>
                </a:spcBef>
                <a:spcAft>
                  <a:spcPts val="0"/>
                </a:spcAft>
              </a:pPr>
              <a:r>
                <a:rPr lang="en-US" altLang="zh-CN" sz="1200" dirty="0">
                  <a:solidFill>
                    <a:prstClr val="black"/>
                  </a:solidFill>
                  <a:latin typeface="Microsoft YaHei"/>
                  <a:ea typeface="Microsoft YaHei"/>
                </a:rPr>
                <a:t>p=0.022</a:t>
              </a:r>
              <a:r>
                <a:rPr lang="en-US" altLang="zh-CN" sz="1200" dirty="0">
                  <a:solidFill>
                    <a:srgbClr val="211D1E"/>
                  </a:solidFill>
                  <a:latin typeface="Microsoft YaHei"/>
                  <a:ea typeface="Microsoft YaHei"/>
                </a:rPr>
                <a:t>*</a:t>
              </a:r>
              <a:endParaRPr lang="zh-CN" altLang="en-US" sz="1200" dirty="0">
                <a:solidFill>
                  <a:prstClr val="black"/>
                </a:solidFill>
                <a:latin typeface="Microsoft YaHei"/>
                <a:ea typeface="Microsoft YaHei"/>
              </a:endParaRPr>
            </a:p>
          </p:txBody>
        </p:sp>
        <p:sp>
          <p:nvSpPr>
            <p:cNvPr id="9" name="矩形 8"/>
            <p:cNvSpPr/>
            <p:nvPr/>
          </p:nvSpPr>
          <p:spPr>
            <a:xfrm>
              <a:off x="911876" y="5400799"/>
              <a:ext cx="7496824" cy="498598"/>
            </a:xfrm>
            <a:prstGeom prst="rect">
              <a:avLst/>
            </a:prstGeom>
          </p:spPr>
          <p:txBody>
            <a:bodyPr wrap="square" anchor="ctr">
              <a:spAutoFit/>
            </a:bodyPr>
            <a:lstStyle/>
            <a:p>
              <a:pPr eaLnBrk="1" fontAlgn="auto" hangingPunct="1">
                <a:lnSpc>
                  <a:spcPct val="120000"/>
                </a:lnSpc>
                <a:spcBef>
                  <a:spcPts val="0"/>
                </a:spcBef>
                <a:spcAft>
                  <a:spcPts val="0"/>
                </a:spcAft>
                <a:defRPr/>
              </a:pPr>
              <a:r>
                <a:rPr lang="zh-CN" altLang="en-US" sz="1100" dirty="0">
                  <a:solidFill>
                    <a:prstClr val="black"/>
                  </a:solidFill>
                  <a:latin typeface="+mn-ea"/>
                  <a:ea typeface="+mn-ea"/>
                </a:rPr>
                <a:t>防护措施包括：</a:t>
              </a:r>
              <a:r>
                <a:rPr lang="zh-CN" altLang="zh-CN" sz="1100" dirty="0">
                  <a:latin typeface="+mn-ea"/>
                  <a:ea typeface="+mn-ea"/>
                </a:rPr>
                <a:t>清洁皮肤、使用防晒霜和</a:t>
              </a:r>
              <a:r>
                <a:rPr lang="en-US" altLang="zh-CN" sz="1100" dirty="0">
                  <a:latin typeface="+mn-ea"/>
                  <a:ea typeface="+mn-ea"/>
                </a:rPr>
                <a:t>/</a:t>
              </a:r>
              <a:r>
                <a:rPr lang="zh-CN" altLang="zh-CN" sz="1100" dirty="0">
                  <a:latin typeface="+mn-ea"/>
                  <a:ea typeface="+mn-ea"/>
                </a:rPr>
                <a:t>或护肤霜、穿戴柔软及宽松的鞋袜、防止手、足部位受到摩擦或受压等皮肤护理，避免阳光直射或接触过冷</a:t>
              </a:r>
              <a:r>
                <a:rPr lang="en-US" altLang="zh-CN" sz="1100" dirty="0">
                  <a:latin typeface="+mn-ea"/>
                  <a:ea typeface="+mn-ea"/>
                </a:rPr>
                <a:t>/</a:t>
              </a:r>
              <a:r>
                <a:rPr lang="zh-CN" altLang="zh-CN" sz="1100" dirty="0">
                  <a:latin typeface="+mn-ea"/>
                  <a:ea typeface="+mn-ea"/>
                </a:rPr>
                <a:t>过热物体、避免剧烈运动等共</a:t>
              </a:r>
              <a:r>
                <a:rPr lang="en-US" altLang="zh-CN" sz="1100" dirty="0">
                  <a:latin typeface="+mn-ea"/>
                  <a:ea typeface="+mn-ea"/>
                </a:rPr>
                <a:t>15</a:t>
              </a:r>
              <a:r>
                <a:rPr lang="zh-CN" altLang="zh-CN" sz="1100" dirty="0">
                  <a:latin typeface="+mn-ea"/>
                  <a:ea typeface="+mn-ea"/>
                </a:rPr>
                <a:t>条生活注意事项</a:t>
              </a:r>
              <a:endParaRPr lang="zh-CN" altLang="zh-CN" sz="1100" dirty="0">
                <a:solidFill>
                  <a:prstClr val="black"/>
                </a:solidFill>
                <a:latin typeface="+mn-ea"/>
                <a:ea typeface="+mn-ea"/>
                <a:cs typeface="+mn-ea"/>
                <a:sym typeface="+mn-lt"/>
              </a:endParaRPr>
            </a:p>
          </p:txBody>
        </p:sp>
      </p:grpSp>
      <p:sp>
        <p:nvSpPr>
          <p:cNvPr id="12" name="矩形 11"/>
          <p:cNvSpPr/>
          <p:nvPr/>
        </p:nvSpPr>
        <p:spPr>
          <a:xfrm>
            <a:off x="911877" y="5918554"/>
            <a:ext cx="7496823" cy="464743"/>
          </a:xfrm>
          <a:prstGeom prst="rect">
            <a:avLst/>
          </a:prstGeom>
        </p:spPr>
        <p:txBody>
          <a:bodyPr wrap="square">
            <a:spAutoFit/>
          </a:bodyPr>
          <a:lstStyle/>
          <a:p>
            <a:pPr marL="171450" indent="-171450">
              <a:lnSpc>
                <a:spcPct val="110000"/>
              </a:lnSpc>
              <a:buFont typeface="Arial" panose="020B0604020202020204" pitchFamily="34" charset="0"/>
              <a:buChar char="•"/>
            </a:pPr>
            <a:r>
              <a:rPr lang="zh-CN" altLang="en-US" sz="1100" dirty="0" smtClean="0">
                <a:latin typeface="+mn-ea"/>
                <a:ea typeface="+mn-ea"/>
              </a:rPr>
              <a:t>在日本</a:t>
            </a:r>
            <a:r>
              <a:rPr lang="en-US" altLang="zh-CN" sz="1100" dirty="0" smtClean="0">
                <a:latin typeface="+mn-ea"/>
                <a:ea typeface="+mn-ea"/>
              </a:rPr>
              <a:t>4</a:t>
            </a:r>
            <a:r>
              <a:rPr lang="zh-CN" altLang="en-US" sz="1100" dirty="0" smtClean="0">
                <a:latin typeface="+mn-ea"/>
                <a:ea typeface="+mn-ea"/>
              </a:rPr>
              <a:t>家研究中心的</a:t>
            </a:r>
            <a:r>
              <a:rPr lang="en-US" altLang="zh-CN" sz="1100" dirty="0" smtClean="0">
                <a:latin typeface="+mn-ea"/>
                <a:ea typeface="+mn-ea"/>
              </a:rPr>
              <a:t>90</a:t>
            </a:r>
            <a:r>
              <a:rPr lang="zh-CN" altLang="en-US" sz="1100" dirty="0" smtClean="0">
                <a:latin typeface="+mn-ea"/>
                <a:ea typeface="+mn-ea"/>
              </a:rPr>
              <a:t>例胃癌、乳腺癌等肿瘤患者中，对控制</a:t>
            </a:r>
            <a:r>
              <a:rPr lang="en-US" altLang="zh-CN" sz="1100" dirty="0" smtClean="0">
                <a:latin typeface="+mn-ea"/>
                <a:ea typeface="+mn-ea"/>
              </a:rPr>
              <a:t>HFS</a:t>
            </a:r>
            <a:r>
              <a:rPr lang="zh-CN" altLang="en-US" sz="1100" dirty="0">
                <a:latin typeface="+mn-ea"/>
                <a:ea typeface="+mn-ea"/>
              </a:rPr>
              <a:t>的</a:t>
            </a:r>
            <a:r>
              <a:rPr lang="zh-CN" altLang="en-US" sz="1100" dirty="0" smtClean="0">
                <a:latin typeface="+mn-ea"/>
                <a:ea typeface="+mn-ea"/>
              </a:rPr>
              <a:t>方法进行的一项横断面</a:t>
            </a:r>
            <a:r>
              <a:rPr lang="zh-CN" altLang="en-US" sz="1100" dirty="0">
                <a:latin typeface="+mn-ea"/>
                <a:ea typeface="+mn-ea"/>
              </a:rPr>
              <a:t>调查，旨在确定</a:t>
            </a:r>
            <a:r>
              <a:rPr lang="zh-CN" altLang="en-US" sz="1100" dirty="0" smtClean="0">
                <a:latin typeface="+mn-ea"/>
                <a:ea typeface="+mn-ea"/>
              </a:rPr>
              <a:t>患者采用 </a:t>
            </a:r>
            <a:r>
              <a:rPr lang="en-US" altLang="zh-CN" sz="1100" dirty="0" smtClean="0">
                <a:latin typeface="+mn-ea"/>
                <a:ea typeface="+mn-ea"/>
              </a:rPr>
              <a:t>vs. </a:t>
            </a:r>
            <a:r>
              <a:rPr lang="zh-CN" altLang="en-US" sz="1100" dirty="0" smtClean="0">
                <a:latin typeface="+mn-ea"/>
                <a:ea typeface="+mn-ea"/>
              </a:rPr>
              <a:t>未采用预防</a:t>
            </a:r>
            <a:r>
              <a:rPr lang="zh-CN" altLang="en-US" sz="1100" dirty="0">
                <a:latin typeface="+mn-ea"/>
                <a:ea typeface="+mn-ea"/>
              </a:rPr>
              <a:t>和治疗</a:t>
            </a:r>
            <a:r>
              <a:rPr lang="en-US" altLang="zh-CN" sz="1100" dirty="0" smtClean="0">
                <a:latin typeface="+mn-ea"/>
                <a:ea typeface="+mn-ea"/>
              </a:rPr>
              <a:t>HFS</a:t>
            </a:r>
            <a:r>
              <a:rPr lang="zh-CN" altLang="en-US" sz="1100" dirty="0">
                <a:latin typeface="+mn-ea"/>
                <a:ea typeface="+mn-ea"/>
              </a:rPr>
              <a:t>的</a:t>
            </a:r>
            <a:r>
              <a:rPr lang="zh-CN" altLang="en-US" sz="1100" dirty="0" smtClean="0">
                <a:latin typeface="+mn-ea"/>
                <a:ea typeface="+mn-ea"/>
              </a:rPr>
              <a:t>措施与发生</a:t>
            </a:r>
            <a:r>
              <a:rPr lang="en-US" altLang="zh-CN" sz="1100" dirty="0" smtClean="0">
                <a:latin typeface="+mn-ea"/>
                <a:ea typeface="+mn-ea"/>
              </a:rPr>
              <a:t>HFS</a:t>
            </a:r>
            <a:r>
              <a:rPr lang="zh-CN" altLang="en-US" sz="1100" dirty="0" smtClean="0">
                <a:latin typeface="+mn-ea"/>
                <a:ea typeface="+mn-ea"/>
              </a:rPr>
              <a:t>的相关性</a:t>
            </a:r>
            <a:endParaRPr lang="zh-CN" altLang="en-US" sz="1100" dirty="0">
              <a:latin typeface="+mn-ea"/>
              <a:ea typeface="+mn-ea"/>
            </a:endParaRPr>
          </a:p>
        </p:txBody>
      </p:sp>
    </p:spTree>
    <p:extLst>
      <p:ext uri="{BB962C8B-B14F-4D97-AF65-F5344CB8AC3E}">
        <p14:creationId xmlns:p14="http://schemas.microsoft.com/office/powerpoint/2010/main" val="25198456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000" dirty="0">
                <a:latin typeface="+mn-ea"/>
              </a:rPr>
              <a:t>HFS</a:t>
            </a:r>
            <a:r>
              <a:rPr lang="zh-CN" altLang="en-US" sz="2000" dirty="0">
                <a:latin typeface="+mn-ea"/>
              </a:rPr>
              <a:t>可能机制</a:t>
            </a:r>
            <a:r>
              <a:rPr lang="zh-CN" altLang="en-US" sz="2000" dirty="0" smtClean="0">
                <a:latin typeface="+mn-ea"/>
              </a:rPr>
              <a:t>之</a:t>
            </a:r>
            <a:r>
              <a:rPr lang="en-US" altLang="zh-CN" sz="2000" dirty="0" smtClean="0">
                <a:latin typeface="+mn-ea"/>
              </a:rPr>
              <a:t>2——</a:t>
            </a:r>
            <a:r>
              <a:rPr lang="en-US" altLang="zh-CN" dirty="0"/>
              <a:t/>
            </a:r>
            <a:br>
              <a:rPr lang="en-US" altLang="zh-CN" dirty="0"/>
            </a:br>
            <a:r>
              <a:rPr lang="zh-CN" altLang="en-US" dirty="0" smtClean="0"/>
              <a:t>化疗中加</a:t>
            </a:r>
            <a:r>
              <a:rPr lang="zh-CN" altLang="en-US" dirty="0"/>
              <a:t>入</a:t>
            </a:r>
            <a:r>
              <a:rPr lang="zh-CN" altLang="en-US" dirty="0" smtClean="0"/>
              <a:t>塞</a:t>
            </a:r>
            <a:r>
              <a:rPr lang="zh-CN" altLang="en-US" dirty="0"/>
              <a:t>来昔</a:t>
            </a:r>
            <a:r>
              <a:rPr lang="zh-CN" altLang="en-US" dirty="0" smtClean="0"/>
              <a:t>布</a:t>
            </a:r>
            <a:r>
              <a:rPr lang="zh-CN" altLang="en-US" dirty="0"/>
              <a:t>显著降低≥</a:t>
            </a:r>
            <a:r>
              <a:rPr lang="en-US" altLang="zh-CN" dirty="0"/>
              <a:t>2</a:t>
            </a:r>
            <a:r>
              <a:rPr lang="zh-CN" altLang="en-US" dirty="0"/>
              <a:t>级</a:t>
            </a:r>
            <a:r>
              <a:rPr lang="en-US" altLang="zh-CN" dirty="0" smtClean="0"/>
              <a:t>HFS</a:t>
            </a:r>
            <a:r>
              <a:rPr lang="zh-CN" altLang="en-US" dirty="0"/>
              <a:t>发生率</a:t>
            </a:r>
          </a:p>
        </p:txBody>
      </p:sp>
      <p:sp>
        <p:nvSpPr>
          <p:cNvPr id="91" name="矩形 90"/>
          <p:cNvSpPr/>
          <p:nvPr/>
        </p:nvSpPr>
        <p:spPr>
          <a:xfrm>
            <a:off x="5728653" y="6527238"/>
            <a:ext cx="3419526" cy="338554"/>
          </a:xfrm>
          <a:prstGeom prst="rect">
            <a:avLst/>
          </a:prstGeom>
        </p:spPr>
        <p:txBody>
          <a:bodyPr wrap="none" anchor="b">
            <a:spAutoFit/>
          </a:bodyPr>
          <a:lstStyle/>
          <a:p>
            <a:pPr marL="228600" indent="-228600" algn="r" eaLnBrk="1" fontAlgn="auto" hangingPunct="1">
              <a:spcBef>
                <a:spcPts val="0"/>
              </a:spcBef>
              <a:spcAft>
                <a:spcPts val="0"/>
              </a:spcAft>
              <a:buFont typeface="+mj-lt"/>
              <a:buAutoNum type="arabicPeriod" startAt="3"/>
            </a:pPr>
            <a:r>
              <a:rPr lang="zh-CN" altLang="en-US" sz="800" dirty="0" smtClean="0">
                <a:solidFill>
                  <a:prstClr val="black"/>
                </a:solidFill>
                <a:latin typeface="Microsoft YaHei"/>
                <a:ea typeface="Microsoft YaHei"/>
              </a:rPr>
              <a:t>Zhang </a:t>
            </a:r>
            <a:r>
              <a:rPr lang="zh-CN" altLang="en-US" sz="800" dirty="0">
                <a:solidFill>
                  <a:prstClr val="black"/>
                </a:solidFill>
                <a:latin typeface="Microsoft YaHei"/>
                <a:ea typeface="Microsoft YaHei"/>
              </a:rPr>
              <a:t>RX et al., Ann Oncol. 2012;23(5):1348-53</a:t>
            </a:r>
            <a:r>
              <a:rPr lang="zh-CN" altLang="en-US" sz="800" dirty="0" smtClean="0">
                <a:solidFill>
                  <a:prstClr val="black"/>
                </a:solidFill>
                <a:latin typeface="Microsoft YaHei"/>
                <a:ea typeface="Microsoft YaHei"/>
              </a:rPr>
              <a:t>.</a:t>
            </a:r>
            <a:endParaRPr lang="en-US" altLang="zh-CN" sz="800" dirty="0" smtClean="0">
              <a:solidFill>
                <a:srgbClr val="231F20"/>
              </a:solidFill>
              <a:latin typeface="Microsoft YaHei"/>
              <a:ea typeface="Microsoft YaHei"/>
            </a:endParaRPr>
          </a:p>
          <a:p>
            <a:pPr marL="228600" indent="-228600" algn="r">
              <a:buFont typeface="+mj-lt"/>
              <a:buAutoNum type="arabicPeriod" startAt="3"/>
            </a:pPr>
            <a:r>
              <a:rPr lang="en-US" altLang="zh-CN" sz="800" dirty="0" smtClean="0">
                <a:solidFill>
                  <a:srgbClr val="231F20"/>
                </a:solidFill>
                <a:latin typeface="Microsoft YaHei"/>
                <a:ea typeface="Microsoft YaHei"/>
              </a:rPr>
              <a:t>Xuan-Zhang Huang et al., Int</a:t>
            </a:r>
            <a:r>
              <a:rPr lang="en-US" altLang="zh-CN" sz="800" dirty="0">
                <a:solidFill>
                  <a:srgbClr val="231F20"/>
                </a:solidFill>
                <a:latin typeface="Microsoft YaHei"/>
                <a:ea typeface="Microsoft YaHei"/>
              </a:rPr>
              <a:t>. J. </a:t>
            </a:r>
            <a:r>
              <a:rPr lang="en-US" altLang="zh-CN" sz="800" dirty="0" smtClean="0">
                <a:solidFill>
                  <a:srgbClr val="231F20"/>
                </a:solidFill>
                <a:latin typeface="Microsoft YaHei"/>
                <a:ea typeface="Microsoft YaHei"/>
              </a:rPr>
              <a:t>Cancer 2018; 142: 2567–2577</a:t>
            </a:r>
            <a:endParaRPr lang="zh-CN" altLang="en-US" sz="800" dirty="0">
              <a:solidFill>
                <a:prstClr val="black"/>
              </a:solidFill>
              <a:latin typeface="Microsoft YaHei"/>
              <a:ea typeface="Microsoft YaHei"/>
            </a:endParaRPr>
          </a:p>
        </p:txBody>
      </p:sp>
      <p:grpSp>
        <p:nvGrpSpPr>
          <p:cNvPr id="6" name="组合 5"/>
          <p:cNvGrpSpPr/>
          <p:nvPr/>
        </p:nvGrpSpPr>
        <p:grpSpPr>
          <a:xfrm>
            <a:off x="350815" y="1339584"/>
            <a:ext cx="8480271" cy="5001420"/>
            <a:chOff x="350815" y="1339584"/>
            <a:chExt cx="8480271" cy="5001420"/>
          </a:xfrm>
        </p:grpSpPr>
        <p:pic>
          <p:nvPicPr>
            <p:cNvPr id="5" name="图片 4"/>
            <p:cNvPicPr>
              <a:picLocks noChangeAspect="1"/>
            </p:cNvPicPr>
            <p:nvPr/>
          </p:nvPicPr>
          <p:blipFill>
            <a:blip r:embed="rId3"/>
            <a:stretch>
              <a:fillRect/>
            </a:stretch>
          </p:blipFill>
          <p:spPr>
            <a:xfrm>
              <a:off x="350815" y="1339584"/>
              <a:ext cx="8480271" cy="4322439"/>
            </a:xfrm>
            <a:prstGeom prst="rect">
              <a:avLst/>
            </a:prstGeom>
          </p:spPr>
        </p:pic>
        <p:sp>
          <p:nvSpPr>
            <p:cNvPr id="67" name="矩形 66"/>
            <p:cNvSpPr/>
            <p:nvPr/>
          </p:nvSpPr>
          <p:spPr>
            <a:xfrm>
              <a:off x="1430911" y="5566867"/>
              <a:ext cx="3659604" cy="453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50" dirty="0" smtClean="0">
                  <a:solidFill>
                    <a:prstClr val="black"/>
                  </a:solidFill>
                </a:rPr>
                <a:t>接受</a:t>
              </a:r>
              <a:r>
                <a:rPr lang="zh-CN" altLang="en-US" sz="1050" dirty="0">
                  <a:solidFill>
                    <a:prstClr val="black"/>
                  </a:solidFill>
                </a:rPr>
                <a:t>塞来昔</a:t>
              </a:r>
              <a:r>
                <a:rPr lang="zh-CN" altLang="en-US" sz="1050" dirty="0" smtClean="0">
                  <a:solidFill>
                    <a:prstClr val="black"/>
                  </a:solidFill>
                </a:rPr>
                <a:t>布更佳</a:t>
              </a:r>
              <a:endParaRPr lang="zh-CN" altLang="en-US" sz="1050" dirty="0">
                <a:solidFill>
                  <a:prstClr val="black"/>
                </a:solidFill>
              </a:endParaRPr>
            </a:p>
          </p:txBody>
        </p:sp>
        <p:sp>
          <p:nvSpPr>
            <p:cNvPr id="57" name="矩形 56"/>
            <p:cNvSpPr/>
            <p:nvPr/>
          </p:nvSpPr>
          <p:spPr>
            <a:xfrm>
              <a:off x="898485" y="2363761"/>
              <a:ext cx="1729171"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smtClean="0">
                  <a:solidFill>
                    <a:prstClr val="black"/>
                  </a:solidFill>
                </a:rPr>
                <a:t>研究</a:t>
              </a:r>
              <a:endParaRPr lang="zh-CN" altLang="en-US" sz="1400" b="1" dirty="0">
                <a:solidFill>
                  <a:prstClr val="black"/>
                </a:solidFill>
              </a:endParaRPr>
            </a:p>
          </p:txBody>
        </p:sp>
        <p:sp>
          <p:nvSpPr>
            <p:cNvPr id="54" name="矩形 53"/>
            <p:cNvSpPr/>
            <p:nvPr/>
          </p:nvSpPr>
          <p:spPr>
            <a:xfrm>
              <a:off x="905868" y="3068342"/>
              <a:ext cx="1729171"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solidFill>
                    <a:prstClr val="black"/>
                  </a:solidFill>
                </a:rPr>
                <a:t>Zhang</a:t>
              </a:r>
              <a:r>
                <a:rPr lang="zh-CN" altLang="en-US" sz="1050" dirty="0" smtClean="0">
                  <a:solidFill>
                    <a:prstClr val="black"/>
                  </a:solidFill>
                </a:rPr>
                <a:t>（</a:t>
              </a:r>
              <a:r>
                <a:rPr lang="en-US" altLang="zh-CN" sz="1050" dirty="0" smtClean="0">
                  <a:solidFill>
                    <a:prstClr val="black"/>
                  </a:solidFill>
                </a:rPr>
                <a:t>2012</a:t>
              </a:r>
              <a:r>
                <a:rPr lang="zh-CN" altLang="en-US" sz="1050" dirty="0" smtClean="0">
                  <a:solidFill>
                    <a:prstClr val="black"/>
                  </a:solidFill>
                </a:rPr>
                <a:t>）</a:t>
              </a:r>
              <a:endParaRPr lang="zh-CN" altLang="en-US" sz="1050" dirty="0">
                <a:solidFill>
                  <a:prstClr val="black"/>
                </a:solidFill>
              </a:endParaRPr>
            </a:p>
          </p:txBody>
        </p:sp>
        <p:sp>
          <p:nvSpPr>
            <p:cNvPr id="58" name="矩形 57"/>
            <p:cNvSpPr/>
            <p:nvPr/>
          </p:nvSpPr>
          <p:spPr>
            <a:xfrm>
              <a:off x="6261115" y="3068342"/>
              <a:ext cx="2026946"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solidFill>
                    <a:prstClr val="black"/>
                  </a:solidFill>
                </a:rPr>
                <a:t>0.50</a:t>
              </a:r>
              <a:r>
                <a:rPr lang="zh-CN" altLang="en-US" sz="1050" dirty="0" smtClean="0">
                  <a:solidFill>
                    <a:prstClr val="black"/>
                  </a:solidFill>
                </a:rPr>
                <a:t>（</a:t>
              </a:r>
              <a:r>
                <a:rPr lang="en-US" altLang="zh-CN" sz="1050" dirty="0" smtClean="0">
                  <a:solidFill>
                    <a:prstClr val="black"/>
                  </a:solidFill>
                </a:rPr>
                <a:t>0.25-0.98</a:t>
              </a:r>
              <a:r>
                <a:rPr lang="zh-CN" altLang="en-US" sz="1050" dirty="0" smtClean="0">
                  <a:solidFill>
                    <a:prstClr val="black"/>
                  </a:solidFill>
                </a:rPr>
                <a:t>）</a:t>
              </a:r>
              <a:endParaRPr lang="zh-CN" altLang="en-US" sz="1050" dirty="0">
                <a:solidFill>
                  <a:prstClr val="black"/>
                </a:solidFill>
              </a:endParaRPr>
            </a:p>
          </p:txBody>
        </p:sp>
        <p:sp>
          <p:nvSpPr>
            <p:cNvPr id="55" name="矩形 54"/>
            <p:cNvSpPr/>
            <p:nvPr/>
          </p:nvSpPr>
          <p:spPr>
            <a:xfrm>
              <a:off x="905868" y="3763068"/>
              <a:ext cx="1729171"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solidFill>
                    <a:prstClr val="black"/>
                  </a:solidFill>
                </a:rPr>
                <a:t>Lin</a:t>
              </a:r>
              <a:r>
                <a:rPr lang="zh-CN" altLang="en-US" sz="1050" dirty="0" smtClean="0">
                  <a:solidFill>
                    <a:prstClr val="black"/>
                  </a:solidFill>
                </a:rPr>
                <a:t>（</a:t>
              </a:r>
              <a:r>
                <a:rPr lang="en-US" altLang="zh-CN" sz="1050" dirty="0" smtClean="0">
                  <a:solidFill>
                    <a:prstClr val="black"/>
                  </a:solidFill>
                </a:rPr>
                <a:t>2002</a:t>
              </a:r>
              <a:r>
                <a:rPr lang="zh-CN" altLang="en-US" sz="1050" dirty="0" smtClean="0">
                  <a:solidFill>
                    <a:prstClr val="black"/>
                  </a:solidFill>
                </a:rPr>
                <a:t>）</a:t>
              </a:r>
              <a:endParaRPr lang="zh-CN" altLang="en-US" sz="1050" dirty="0">
                <a:solidFill>
                  <a:prstClr val="black"/>
                </a:solidFill>
              </a:endParaRPr>
            </a:p>
          </p:txBody>
        </p:sp>
        <p:sp>
          <p:nvSpPr>
            <p:cNvPr id="59" name="矩形 58"/>
            <p:cNvSpPr/>
            <p:nvPr/>
          </p:nvSpPr>
          <p:spPr>
            <a:xfrm>
              <a:off x="6261115" y="3763068"/>
              <a:ext cx="2026946"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solidFill>
                    <a:prstClr val="black"/>
                  </a:solidFill>
                </a:rPr>
                <a:t>0.18</a:t>
              </a:r>
              <a:r>
                <a:rPr lang="zh-CN" altLang="en-US" sz="1050" dirty="0" smtClean="0">
                  <a:solidFill>
                    <a:prstClr val="black"/>
                  </a:solidFill>
                </a:rPr>
                <a:t>（</a:t>
              </a:r>
              <a:r>
                <a:rPr lang="en-US" altLang="zh-CN" sz="1050" dirty="0" smtClean="0">
                  <a:solidFill>
                    <a:prstClr val="black"/>
                  </a:solidFill>
                </a:rPr>
                <a:t>0.02-1.43</a:t>
              </a:r>
              <a:r>
                <a:rPr lang="zh-CN" altLang="en-US" sz="1050" dirty="0" smtClean="0">
                  <a:solidFill>
                    <a:prstClr val="black"/>
                  </a:solidFill>
                </a:rPr>
                <a:t>）</a:t>
              </a:r>
              <a:endParaRPr lang="zh-CN" altLang="en-US" sz="1050" dirty="0">
                <a:solidFill>
                  <a:prstClr val="black"/>
                </a:solidFill>
              </a:endParaRPr>
            </a:p>
          </p:txBody>
        </p:sp>
        <p:sp>
          <p:nvSpPr>
            <p:cNvPr id="56" name="矩形 55"/>
            <p:cNvSpPr/>
            <p:nvPr/>
          </p:nvSpPr>
          <p:spPr>
            <a:xfrm>
              <a:off x="905868" y="4490721"/>
              <a:ext cx="1729171"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b="1" dirty="0" smtClean="0">
                  <a:solidFill>
                    <a:prstClr val="black"/>
                  </a:solidFill>
                </a:rPr>
                <a:t>总计（</a:t>
              </a:r>
              <a:r>
                <a:rPr lang="en-US" altLang="zh-CN" sz="1050" b="1" dirty="0" smtClean="0">
                  <a:solidFill>
                    <a:prstClr val="black"/>
                  </a:solidFill>
                </a:rPr>
                <a:t>P=0.358</a:t>
              </a:r>
              <a:r>
                <a:rPr lang="zh-CN" altLang="en-US" sz="1050" b="1" dirty="0" smtClean="0">
                  <a:solidFill>
                    <a:prstClr val="black"/>
                  </a:solidFill>
                </a:rPr>
                <a:t>）</a:t>
              </a:r>
              <a:endParaRPr lang="zh-CN" altLang="en-US" sz="1050" b="1" dirty="0">
                <a:solidFill>
                  <a:prstClr val="black"/>
                </a:solidFill>
              </a:endParaRPr>
            </a:p>
          </p:txBody>
        </p:sp>
        <p:sp>
          <p:nvSpPr>
            <p:cNvPr id="60" name="矩形 59"/>
            <p:cNvSpPr/>
            <p:nvPr/>
          </p:nvSpPr>
          <p:spPr>
            <a:xfrm>
              <a:off x="6261115" y="4490721"/>
              <a:ext cx="2026946"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b="1" dirty="0" smtClean="0">
                  <a:solidFill>
                    <a:prstClr val="black"/>
                  </a:solidFill>
                </a:rPr>
                <a:t>0.43</a:t>
              </a:r>
              <a:r>
                <a:rPr lang="zh-CN" altLang="en-US" sz="1050" b="1" dirty="0" smtClean="0">
                  <a:solidFill>
                    <a:prstClr val="black"/>
                  </a:solidFill>
                </a:rPr>
                <a:t>（</a:t>
              </a:r>
              <a:r>
                <a:rPr lang="en-US" altLang="zh-CN" sz="1050" b="1" dirty="0" smtClean="0">
                  <a:solidFill>
                    <a:prstClr val="black"/>
                  </a:solidFill>
                </a:rPr>
                <a:t>0.23-0.81</a:t>
              </a:r>
              <a:r>
                <a:rPr lang="zh-CN" altLang="en-US" sz="1050" b="1" dirty="0" smtClean="0">
                  <a:solidFill>
                    <a:prstClr val="black"/>
                  </a:solidFill>
                </a:rPr>
                <a:t>）</a:t>
              </a:r>
              <a:endParaRPr lang="zh-CN" altLang="en-US" sz="1050" b="1" dirty="0">
                <a:solidFill>
                  <a:prstClr val="black"/>
                </a:solidFill>
              </a:endParaRPr>
            </a:p>
          </p:txBody>
        </p:sp>
        <p:sp>
          <p:nvSpPr>
            <p:cNvPr id="61" name="矩形 60"/>
            <p:cNvSpPr/>
            <p:nvPr/>
          </p:nvSpPr>
          <p:spPr>
            <a:xfrm>
              <a:off x="5749497" y="2348505"/>
              <a:ext cx="2606123" cy="2844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prstClr val="black"/>
                  </a:solidFill>
                </a:rPr>
                <a:t>≥</a:t>
              </a:r>
              <a:r>
                <a:rPr lang="en-US" altLang="zh-CN" sz="1400" b="1" dirty="0">
                  <a:solidFill>
                    <a:prstClr val="black"/>
                  </a:solidFill>
                </a:rPr>
                <a:t>2</a:t>
              </a:r>
              <a:r>
                <a:rPr lang="zh-CN" altLang="en-US" sz="1400" b="1" dirty="0">
                  <a:solidFill>
                    <a:prstClr val="black"/>
                  </a:solidFill>
                </a:rPr>
                <a:t>级</a:t>
              </a:r>
              <a:r>
                <a:rPr lang="en-US" altLang="zh-CN" sz="1400" b="1" dirty="0" smtClean="0">
                  <a:solidFill>
                    <a:prstClr val="black"/>
                  </a:solidFill>
                </a:rPr>
                <a:t>HFS</a:t>
              </a:r>
              <a:r>
                <a:rPr lang="zh-CN" altLang="en-US" sz="1400" b="1" dirty="0" smtClean="0">
                  <a:solidFill>
                    <a:prstClr val="black"/>
                  </a:solidFill>
                </a:rPr>
                <a:t>的</a:t>
              </a:r>
              <a:r>
                <a:rPr lang="en-US" altLang="zh-CN" sz="1400" b="1" dirty="0" smtClean="0">
                  <a:solidFill>
                    <a:prstClr val="black"/>
                  </a:solidFill>
                </a:rPr>
                <a:t>RR</a:t>
              </a:r>
              <a:r>
                <a:rPr lang="zh-CN" altLang="en-US" sz="1400" b="1" dirty="0" smtClean="0">
                  <a:solidFill>
                    <a:prstClr val="black"/>
                  </a:solidFill>
                </a:rPr>
                <a:t>（</a:t>
              </a:r>
              <a:r>
                <a:rPr lang="en-US" altLang="zh-CN" sz="1400" b="1" dirty="0" smtClean="0">
                  <a:solidFill>
                    <a:prstClr val="black"/>
                  </a:solidFill>
                </a:rPr>
                <a:t>95% CI</a:t>
              </a:r>
              <a:r>
                <a:rPr lang="zh-CN" altLang="en-US" sz="1400" b="1" dirty="0" smtClean="0">
                  <a:solidFill>
                    <a:prstClr val="black"/>
                  </a:solidFill>
                </a:rPr>
                <a:t>）</a:t>
              </a:r>
              <a:endParaRPr lang="zh-CN" altLang="en-US" sz="1400" b="1" dirty="0">
                <a:solidFill>
                  <a:prstClr val="black"/>
                </a:solidFill>
              </a:endParaRPr>
            </a:p>
          </p:txBody>
        </p:sp>
        <p:sp>
          <p:nvSpPr>
            <p:cNvPr id="47" name="矩形 46"/>
            <p:cNvSpPr/>
            <p:nvPr/>
          </p:nvSpPr>
          <p:spPr>
            <a:xfrm>
              <a:off x="2298340" y="5274078"/>
              <a:ext cx="1444138" cy="28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smtClean="0">
                  <a:solidFill>
                    <a:prstClr val="black"/>
                  </a:solidFill>
                </a:rPr>
                <a:t>0.0232</a:t>
              </a:r>
              <a:endParaRPr lang="zh-CN" altLang="en-US" sz="1100" dirty="0">
                <a:solidFill>
                  <a:prstClr val="black"/>
                </a:solidFill>
              </a:endParaRPr>
            </a:p>
          </p:txBody>
        </p:sp>
        <p:sp>
          <p:nvSpPr>
            <p:cNvPr id="48" name="矩形 47"/>
            <p:cNvSpPr/>
            <p:nvPr/>
          </p:nvSpPr>
          <p:spPr>
            <a:xfrm>
              <a:off x="6911482" y="5274078"/>
              <a:ext cx="1444138" cy="284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smtClean="0">
                  <a:solidFill>
                    <a:prstClr val="black"/>
                  </a:solidFill>
                </a:rPr>
                <a:t>43.1</a:t>
              </a:r>
              <a:endParaRPr lang="zh-CN" altLang="en-US" sz="1100" dirty="0">
                <a:solidFill>
                  <a:prstClr val="black"/>
                </a:solidFill>
              </a:endParaRPr>
            </a:p>
          </p:txBody>
        </p:sp>
        <p:sp>
          <p:nvSpPr>
            <p:cNvPr id="68" name="矩形 67"/>
            <p:cNvSpPr/>
            <p:nvPr/>
          </p:nvSpPr>
          <p:spPr>
            <a:xfrm>
              <a:off x="5534067" y="5549869"/>
              <a:ext cx="1988000" cy="464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50" dirty="0" smtClean="0">
                  <a:solidFill>
                    <a:prstClr val="black"/>
                  </a:solidFill>
                </a:rPr>
                <a:t>不</a:t>
              </a:r>
              <a:r>
                <a:rPr lang="zh-CN" altLang="en-US" sz="1050" dirty="0">
                  <a:solidFill>
                    <a:prstClr val="black"/>
                  </a:solidFill>
                </a:rPr>
                <a:t>接受塞来昔</a:t>
              </a:r>
              <a:r>
                <a:rPr lang="zh-CN" altLang="en-US" sz="1050" dirty="0" smtClean="0">
                  <a:solidFill>
                    <a:prstClr val="black"/>
                  </a:solidFill>
                </a:rPr>
                <a:t>布更佳</a:t>
              </a:r>
              <a:endParaRPr lang="zh-CN" altLang="en-US" sz="1050" dirty="0">
                <a:solidFill>
                  <a:prstClr val="black"/>
                </a:solidFill>
              </a:endParaRPr>
            </a:p>
          </p:txBody>
        </p:sp>
        <p:sp>
          <p:nvSpPr>
            <p:cNvPr id="86" name="矩形 85"/>
            <p:cNvSpPr/>
            <p:nvPr/>
          </p:nvSpPr>
          <p:spPr>
            <a:xfrm>
              <a:off x="807736" y="6071187"/>
              <a:ext cx="8001366" cy="269817"/>
            </a:xfrm>
            <a:prstGeom prst="rect">
              <a:avLst/>
            </a:prstGeom>
          </p:spPr>
          <p:txBody>
            <a:bodyPr wrap="square" anchor="ctr">
              <a:spAutoFit/>
            </a:bodyPr>
            <a:lstStyle/>
            <a:p>
              <a:pPr marL="171450" indent="-171450" eaLnBrk="1" fontAlgn="auto" hangingPunct="1">
                <a:lnSpc>
                  <a:spcPct val="120000"/>
                </a:lnSpc>
                <a:spcBef>
                  <a:spcPts val="0"/>
                </a:spcBef>
                <a:spcAft>
                  <a:spcPts val="0"/>
                </a:spcAft>
                <a:buFont typeface="Arial" panose="020B0604020202020204" pitchFamily="34" charset="0"/>
                <a:buChar char="•"/>
              </a:pPr>
              <a:r>
                <a:rPr lang="zh-CN" altLang="en-US" sz="1050" dirty="0" smtClean="0">
                  <a:solidFill>
                    <a:prstClr val="black"/>
                  </a:solidFill>
                  <a:latin typeface="Microsoft YaHei"/>
                  <a:ea typeface="Microsoft YaHei"/>
                </a:rPr>
                <a:t>对共纳入</a:t>
              </a:r>
              <a:r>
                <a:rPr lang="en-US" altLang="zh-CN" sz="1050" dirty="0" smtClean="0">
                  <a:solidFill>
                    <a:prstClr val="black"/>
                  </a:solidFill>
                  <a:latin typeface="Microsoft YaHei"/>
                  <a:ea typeface="Microsoft YaHei"/>
                </a:rPr>
                <a:t>2081</a:t>
              </a:r>
              <a:r>
                <a:rPr lang="zh-CN" altLang="en-US" sz="1050" dirty="0" smtClean="0">
                  <a:solidFill>
                    <a:prstClr val="black"/>
                  </a:solidFill>
                  <a:latin typeface="Microsoft YaHei"/>
                  <a:ea typeface="Microsoft YaHei"/>
                </a:rPr>
                <a:t>例肿瘤患者的</a:t>
              </a:r>
              <a:r>
                <a:rPr lang="en-US" altLang="zh-CN" sz="1050" dirty="0" smtClean="0">
                  <a:solidFill>
                    <a:prstClr val="black"/>
                  </a:solidFill>
                  <a:latin typeface="Microsoft YaHei"/>
                  <a:ea typeface="Microsoft YaHei"/>
                </a:rPr>
                <a:t>17</a:t>
              </a:r>
              <a:r>
                <a:rPr lang="zh-CN" altLang="en-US" sz="1050" dirty="0" smtClean="0">
                  <a:solidFill>
                    <a:prstClr val="black"/>
                  </a:solidFill>
                  <a:latin typeface="Microsoft YaHei"/>
                  <a:ea typeface="Microsoft YaHei"/>
                </a:rPr>
                <a:t>项研究进行的一项</a:t>
              </a:r>
              <a:r>
                <a:rPr lang="en-US" altLang="zh-CN" sz="1050" dirty="0" smtClean="0">
                  <a:solidFill>
                    <a:prstClr val="black"/>
                  </a:solidFill>
                  <a:latin typeface="Microsoft YaHei"/>
                  <a:ea typeface="Microsoft YaHei"/>
                </a:rPr>
                <a:t>Meta</a:t>
              </a:r>
              <a:r>
                <a:rPr lang="zh-CN" altLang="en-US" sz="1050" dirty="0" smtClean="0">
                  <a:solidFill>
                    <a:prstClr val="black"/>
                  </a:solidFill>
                  <a:latin typeface="Microsoft YaHei"/>
                  <a:ea typeface="Microsoft YaHei"/>
                </a:rPr>
                <a:t>分析，</a:t>
              </a:r>
              <a:r>
                <a:rPr lang="zh-CN" altLang="en-US" sz="1050" dirty="0">
                  <a:solidFill>
                    <a:prstClr val="black"/>
                  </a:solidFill>
                  <a:latin typeface="Microsoft YaHei"/>
                  <a:ea typeface="Microsoft YaHei"/>
                </a:rPr>
                <a:t>旨在评估各种预防和治疗策略</a:t>
              </a:r>
              <a:r>
                <a:rPr lang="zh-CN" altLang="en-US" sz="1050" dirty="0" smtClean="0">
                  <a:solidFill>
                    <a:prstClr val="black"/>
                  </a:solidFill>
                  <a:latin typeface="Microsoft YaHei"/>
                  <a:ea typeface="Microsoft YaHei"/>
                </a:rPr>
                <a:t>对化疗诱导的</a:t>
              </a:r>
              <a:r>
                <a:rPr lang="en-US" altLang="zh-CN" sz="1050" dirty="0" smtClean="0">
                  <a:solidFill>
                    <a:prstClr val="black"/>
                  </a:solidFill>
                  <a:latin typeface="Microsoft YaHei"/>
                  <a:ea typeface="Microsoft YaHei"/>
                </a:rPr>
                <a:t>HFS</a:t>
              </a:r>
              <a:r>
                <a:rPr lang="zh-CN" altLang="en-US" sz="1050" dirty="0" smtClean="0">
                  <a:solidFill>
                    <a:prstClr val="black"/>
                  </a:solidFill>
                  <a:latin typeface="Microsoft YaHei"/>
                  <a:ea typeface="Microsoft YaHei"/>
                </a:rPr>
                <a:t>的有效性</a:t>
              </a:r>
              <a:r>
                <a:rPr lang="en-US" altLang="zh-CN" sz="1050" baseline="30000" dirty="0" smtClean="0">
                  <a:solidFill>
                    <a:prstClr val="black"/>
                  </a:solidFill>
                  <a:latin typeface="Microsoft YaHei"/>
                  <a:ea typeface="Microsoft YaHei"/>
                </a:rPr>
                <a:t>4</a:t>
              </a:r>
              <a:endParaRPr lang="zh-CN" altLang="en-US" sz="1050" dirty="0">
                <a:solidFill>
                  <a:prstClr val="black"/>
                </a:solidFill>
                <a:latin typeface="Microsoft YaHei"/>
                <a:ea typeface="Microsoft YaHei"/>
              </a:endParaRPr>
            </a:p>
          </p:txBody>
        </p:sp>
        <p:sp>
          <p:nvSpPr>
            <p:cNvPr id="66" name="矩形 65">
              <a:extLst>
                <a:ext uri="{FF2B5EF4-FFF2-40B4-BE49-F238E27FC236}">
                  <a16:creationId xmlns="" xmlns:a16="http://schemas.microsoft.com/office/drawing/2014/main" id="{4FC57764-4E6C-469C-81E3-28296330507B}"/>
                </a:ext>
              </a:extLst>
            </p:cNvPr>
            <p:cNvSpPr/>
            <p:nvPr/>
          </p:nvSpPr>
          <p:spPr>
            <a:xfrm>
              <a:off x="5769794" y="1465736"/>
              <a:ext cx="2671422" cy="535531"/>
            </a:xfrm>
            <a:prstGeom prst="rect">
              <a:avLst/>
            </a:prstGeom>
          </p:spPr>
          <p:txBody>
            <a:bodyPr wrap="square" anchor="ctr">
              <a:spAutoFit/>
            </a:bodyPr>
            <a:lstStyle/>
            <a:p>
              <a:pPr>
                <a:lnSpc>
                  <a:spcPct val="120000"/>
                </a:lnSpc>
              </a:pPr>
              <a:r>
                <a:rPr lang="zh-CN" altLang="en-US" sz="1200" b="1" dirty="0">
                  <a:solidFill>
                    <a:prstClr val="black"/>
                  </a:solidFill>
                  <a:latin typeface="Microsoft YaHei"/>
                  <a:ea typeface="Microsoft YaHei"/>
                </a:rPr>
                <a:t>临床上使用塞来昔布等抗</a:t>
              </a:r>
              <a:r>
                <a:rPr lang="en-US" altLang="zh-CN" sz="1200" b="1" dirty="0">
                  <a:solidFill>
                    <a:prstClr val="black"/>
                  </a:solidFill>
                  <a:latin typeface="Microsoft YaHei"/>
                  <a:ea typeface="Microsoft YaHei"/>
                </a:rPr>
                <a:t>COX-2</a:t>
              </a:r>
              <a:r>
                <a:rPr lang="zh-CN" altLang="en-US" sz="1200" b="1" dirty="0">
                  <a:solidFill>
                    <a:prstClr val="black"/>
                  </a:solidFill>
                  <a:latin typeface="Microsoft YaHei"/>
                  <a:ea typeface="Microsoft YaHei"/>
                </a:rPr>
                <a:t>药物防治化疗诱发的</a:t>
              </a:r>
              <a:r>
                <a:rPr lang="en-US" altLang="zh-CN" sz="1200" b="1" dirty="0">
                  <a:solidFill>
                    <a:prstClr val="black"/>
                  </a:solidFill>
                  <a:latin typeface="Microsoft YaHei"/>
                  <a:ea typeface="Microsoft YaHei"/>
                </a:rPr>
                <a:t>HFS</a:t>
              </a:r>
              <a:r>
                <a:rPr lang="zh-CN" altLang="en-US" sz="1200" b="1" dirty="0">
                  <a:solidFill>
                    <a:prstClr val="black"/>
                  </a:solidFill>
                  <a:latin typeface="Microsoft YaHei"/>
                  <a:ea typeface="Microsoft YaHei"/>
                </a:rPr>
                <a:t>疗效良好</a:t>
              </a:r>
              <a:r>
                <a:rPr lang="en-US" altLang="zh-CN" sz="1200" b="1" baseline="30000" dirty="0">
                  <a:solidFill>
                    <a:srgbClr val="000000"/>
                  </a:solidFill>
                  <a:latin typeface="Microsoft YaHei"/>
                  <a:ea typeface="Microsoft YaHei"/>
                  <a:cs typeface="Times New Roman" panose="02020603050405020304" pitchFamily="18" charset="0"/>
                </a:rPr>
                <a:t>1,3</a:t>
              </a:r>
              <a:endParaRPr lang="zh-CN" altLang="en-US" sz="1200" b="1" baseline="30000" dirty="0">
                <a:solidFill>
                  <a:prstClr val="black"/>
                </a:solidFill>
                <a:latin typeface="Microsoft YaHei"/>
                <a:ea typeface="Microsoft YaHei"/>
              </a:endParaRPr>
            </a:p>
          </p:txBody>
        </p:sp>
        <p:sp>
          <p:nvSpPr>
            <p:cNvPr id="69" name="矩形 68"/>
            <p:cNvSpPr/>
            <p:nvPr/>
          </p:nvSpPr>
          <p:spPr>
            <a:xfrm>
              <a:off x="814959" y="1484109"/>
              <a:ext cx="4014070" cy="535531"/>
            </a:xfrm>
            <a:prstGeom prst="rect">
              <a:avLst/>
            </a:prstGeom>
          </p:spPr>
          <p:txBody>
            <a:bodyPr wrap="square" anchor="ctr">
              <a:spAutoFit/>
            </a:bodyPr>
            <a:lstStyle/>
            <a:p>
              <a:pPr eaLnBrk="1" fontAlgn="auto" hangingPunct="1">
                <a:lnSpc>
                  <a:spcPct val="120000"/>
                </a:lnSpc>
                <a:spcBef>
                  <a:spcPts val="200"/>
                </a:spcBef>
                <a:spcAft>
                  <a:spcPts val="0"/>
                </a:spcAft>
              </a:pPr>
              <a:r>
                <a:rPr lang="zh-CN" altLang="en-US" sz="1200" dirty="0">
                  <a:solidFill>
                    <a:prstClr val="black"/>
                  </a:solidFill>
                  <a:latin typeface="Microsoft YaHei"/>
                  <a:ea typeface="Microsoft YaHei"/>
                </a:rPr>
                <a:t>化疗、放疗等致手、足部位毛细管受损，炎性因子</a:t>
              </a:r>
              <a:r>
                <a:rPr lang="en-US" altLang="zh-CN" sz="1200" dirty="0">
                  <a:solidFill>
                    <a:prstClr val="black"/>
                  </a:solidFill>
                  <a:latin typeface="Microsoft YaHei"/>
                  <a:ea typeface="Microsoft YaHei"/>
                </a:rPr>
                <a:t>COX-2</a:t>
              </a:r>
              <a:r>
                <a:rPr lang="zh-CN" altLang="en-US" sz="1200" dirty="0">
                  <a:solidFill>
                    <a:prstClr val="black"/>
                  </a:solidFill>
                  <a:latin typeface="Microsoft YaHei"/>
                  <a:ea typeface="Microsoft YaHei"/>
                </a:rPr>
                <a:t>过表达引发炎症反应，导致</a:t>
              </a:r>
              <a:r>
                <a:rPr lang="en-US" altLang="zh-CN" sz="1200" dirty="0">
                  <a:solidFill>
                    <a:prstClr val="black"/>
                  </a:solidFill>
                  <a:latin typeface="Microsoft YaHei"/>
                  <a:ea typeface="Microsoft YaHei"/>
                </a:rPr>
                <a:t>HFS</a:t>
              </a:r>
              <a:r>
                <a:rPr lang="zh-CN" altLang="en-US" sz="1200" dirty="0">
                  <a:solidFill>
                    <a:prstClr val="black"/>
                  </a:solidFill>
                  <a:latin typeface="Microsoft YaHei"/>
                  <a:ea typeface="Microsoft YaHei"/>
                </a:rPr>
                <a:t>等组织损伤</a:t>
              </a:r>
              <a:r>
                <a:rPr lang="en-US" altLang="zh-CN" sz="1200" baseline="30000" dirty="0">
                  <a:solidFill>
                    <a:prstClr val="black"/>
                  </a:solidFill>
                  <a:latin typeface="Microsoft YaHei"/>
                  <a:ea typeface="Microsoft YaHei"/>
                </a:rPr>
                <a:t>1,2</a:t>
              </a:r>
              <a:endParaRPr lang="zh-CN" altLang="en-US" sz="1200" baseline="30000" dirty="0">
                <a:solidFill>
                  <a:prstClr val="white">
                    <a:lumMod val="75000"/>
                  </a:prstClr>
                </a:solidFill>
                <a:latin typeface="Microsoft YaHei"/>
                <a:ea typeface="Microsoft YaHei"/>
              </a:endParaRPr>
            </a:p>
          </p:txBody>
        </p:sp>
      </p:grpSp>
      <p:sp>
        <p:nvSpPr>
          <p:cNvPr id="21" name="矩形 20"/>
          <p:cNvSpPr/>
          <p:nvPr/>
        </p:nvSpPr>
        <p:spPr>
          <a:xfrm>
            <a:off x="2627109" y="6525710"/>
            <a:ext cx="2887329" cy="338554"/>
          </a:xfrm>
          <a:prstGeom prst="rect">
            <a:avLst/>
          </a:prstGeom>
        </p:spPr>
        <p:txBody>
          <a:bodyPr wrap="none" anchor="b">
            <a:spAutoFit/>
          </a:bodyPr>
          <a:lstStyle/>
          <a:p>
            <a:pPr marL="228600" indent="-228600" algn="r" eaLnBrk="1" fontAlgn="auto" hangingPunct="1">
              <a:spcBef>
                <a:spcPts val="0"/>
              </a:spcBef>
              <a:spcAft>
                <a:spcPts val="0"/>
              </a:spcAft>
              <a:buFont typeface="+mj-lt"/>
              <a:buAutoNum type="arabicPeriod"/>
            </a:pPr>
            <a:r>
              <a:rPr lang="en-US" altLang="zh-CN" sz="800" dirty="0">
                <a:solidFill>
                  <a:prstClr val="black"/>
                </a:solidFill>
                <a:latin typeface="Microsoft YaHei"/>
                <a:ea typeface="Microsoft YaHei"/>
              </a:rPr>
              <a:t>Lin EH et al., Am J </a:t>
            </a:r>
            <a:r>
              <a:rPr lang="en-US" altLang="zh-CN" sz="800" dirty="0" err="1">
                <a:solidFill>
                  <a:prstClr val="black"/>
                </a:solidFill>
                <a:latin typeface="Microsoft YaHei"/>
                <a:ea typeface="Microsoft YaHei"/>
              </a:rPr>
              <a:t>Clin</a:t>
            </a:r>
            <a:r>
              <a:rPr lang="en-US" altLang="zh-CN" sz="800" dirty="0">
                <a:solidFill>
                  <a:prstClr val="black"/>
                </a:solidFill>
                <a:latin typeface="Microsoft YaHei"/>
                <a:ea typeface="Microsoft YaHei"/>
              </a:rPr>
              <a:t> </a:t>
            </a:r>
            <a:r>
              <a:rPr lang="en-US" altLang="zh-CN" sz="800" dirty="0" err="1">
                <a:solidFill>
                  <a:prstClr val="black"/>
                </a:solidFill>
                <a:latin typeface="Microsoft YaHei"/>
                <a:ea typeface="Microsoft YaHei"/>
              </a:rPr>
              <a:t>Oncol</a:t>
            </a:r>
            <a:r>
              <a:rPr lang="en-US" altLang="zh-CN" sz="800" dirty="0">
                <a:solidFill>
                  <a:prstClr val="black"/>
                </a:solidFill>
                <a:latin typeface="Microsoft YaHei"/>
                <a:ea typeface="Microsoft YaHei"/>
              </a:rPr>
              <a:t> 2006;29:232-9.</a:t>
            </a:r>
          </a:p>
          <a:p>
            <a:pPr marL="228600" indent="-228600" algn="r" eaLnBrk="1" fontAlgn="auto" hangingPunct="1">
              <a:spcBef>
                <a:spcPts val="0"/>
              </a:spcBef>
              <a:spcAft>
                <a:spcPts val="0"/>
              </a:spcAft>
              <a:buFont typeface="+mj-lt"/>
              <a:buAutoNum type="arabicPeriod"/>
            </a:pPr>
            <a:r>
              <a:rPr lang="en-US" altLang="zh-CN" sz="800" dirty="0" err="1">
                <a:solidFill>
                  <a:prstClr val="black"/>
                </a:solidFill>
                <a:latin typeface="Microsoft YaHei"/>
                <a:ea typeface="Microsoft YaHei"/>
              </a:rPr>
              <a:t>Saif</a:t>
            </a:r>
            <a:r>
              <a:rPr lang="en-US" altLang="zh-CN" sz="800" dirty="0">
                <a:solidFill>
                  <a:prstClr val="black"/>
                </a:solidFill>
                <a:latin typeface="Microsoft YaHei"/>
                <a:ea typeface="Microsoft YaHei"/>
              </a:rPr>
              <a:t> MW. Expert </a:t>
            </a:r>
            <a:r>
              <a:rPr lang="en-US" altLang="zh-CN" sz="800" dirty="0" err="1">
                <a:solidFill>
                  <a:prstClr val="black"/>
                </a:solidFill>
                <a:latin typeface="Microsoft YaHei"/>
                <a:ea typeface="Microsoft YaHei"/>
              </a:rPr>
              <a:t>Opin</a:t>
            </a:r>
            <a:r>
              <a:rPr lang="en-US" altLang="zh-CN" sz="800" dirty="0">
                <a:solidFill>
                  <a:prstClr val="black"/>
                </a:solidFill>
                <a:latin typeface="Microsoft YaHei"/>
                <a:ea typeface="Microsoft YaHei"/>
              </a:rPr>
              <a:t> Drug </a:t>
            </a:r>
            <a:r>
              <a:rPr lang="en-US" altLang="zh-CN" sz="800" dirty="0" err="1">
                <a:solidFill>
                  <a:prstClr val="black"/>
                </a:solidFill>
                <a:latin typeface="Microsoft YaHei"/>
                <a:ea typeface="Microsoft YaHei"/>
              </a:rPr>
              <a:t>Saf</a:t>
            </a:r>
            <a:r>
              <a:rPr lang="en-US" altLang="zh-CN" sz="800" dirty="0">
                <a:solidFill>
                  <a:prstClr val="black"/>
                </a:solidFill>
                <a:latin typeface="Microsoft YaHei"/>
                <a:ea typeface="Microsoft YaHei"/>
              </a:rPr>
              <a:t>. 2011;10(2):159-69</a:t>
            </a:r>
            <a:r>
              <a:rPr lang="en-US" altLang="zh-CN" sz="800" dirty="0" smtClean="0">
                <a:solidFill>
                  <a:prstClr val="black"/>
                </a:solidFill>
                <a:latin typeface="Microsoft YaHei"/>
                <a:ea typeface="Microsoft YaHei"/>
              </a:rPr>
              <a:t>.</a:t>
            </a:r>
          </a:p>
        </p:txBody>
      </p:sp>
    </p:spTree>
    <p:extLst>
      <p:ext uri="{BB962C8B-B14F-4D97-AF65-F5344CB8AC3E}">
        <p14:creationId xmlns:p14="http://schemas.microsoft.com/office/powerpoint/2010/main" val="343214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2000" y="195243"/>
            <a:ext cx="8083848" cy="1144800"/>
          </a:xfrm>
        </p:spPr>
        <p:txBody>
          <a:bodyPr>
            <a:normAutofit/>
          </a:bodyPr>
          <a:lstStyle/>
          <a:p>
            <a:r>
              <a:rPr lang="en-US" altLang="zh-CN" sz="2000" dirty="0">
                <a:latin typeface="+mn-ea"/>
              </a:rPr>
              <a:t>HFS</a:t>
            </a:r>
            <a:r>
              <a:rPr lang="zh-CN" altLang="en-US" sz="2000" dirty="0">
                <a:latin typeface="+mn-ea"/>
              </a:rPr>
              <a:t>可能机制</a:t>
            </a:r>
            <a:r>
              <a:rPr lang="zh-CN" altLang="en-US" sz="2000" dirty="0" smtClean="0">
                <a:latin typeface="+mn-ea"/>
              </a:rPr>
              <a:t>之</a:t>
            </a:r>
            <a:r>
              <a:rPr lang="en-US" altLang="zh-CN" sz="2000" dirty="0" smtClean="0">
                <a:latin typeface="+mn-ea"/>
              </a:rPr>
              <a:t>3——</a:t>
            </a:r>
            <a:r>
              <a:rPr lang="en-US" altLang="zh-CN" dirty="0" smtClean="0">
                <a:solidFill>
                  <a:prstClr val="black"/>
                </a:solidFill>
              </a:rPr>
              <a:t/>
            </a:r>
            <a:br>
              <a:rPr lang="en-US" altLang="zh-CN" dirty="0" smtClean="0">
                <a:solidFill>
                  <a:prstClr val="black"/>
                </a:solidFill>
              </a:rPr>
            </a:br>
            <a:r>
              <a:rPr lang="en-US" altLang="zh-CN" dirty="0" err="1" smtClean="0">
                <a:solidFill>
                  <a:prstClr val="black"/>
                </a:solidFill>
              </a:rPr>
              <a:t>Vit</a:t>
            </a:r>
            <a:r>
              <a:rPr lang="en-US" altLang="zh-CN" dirty="0" smtClean="0">
                <a:solidFill>
                  <a:prstClr val="black"/>
                </a:solidFill>
              </a:rPr>
              <a:t> B</a:t>
            </a:r>
            <a:r>
              <a:rPr lang="en-US" altLang="zh-CN" baseline="-25000" dirty="0" smtClean="0">
                <a:solidFill>
                  <a:prstClr val="black"/>
                </a:solidFill>
              </a:rPr>
              <a:t>1</a:t>
            </a:r>
            <a:r>
              <a:rPr lang="en-US" altLang="zh-CN" dirty="0">
                <a:solidFill>
                  <a:prstClr val="black"/>
                </a:solidFill>
              </a:rPr>
              <a:t>+</a:t>
            </a:r>
            <a:r>
              <a:rPr lang="zh-CN" altLang="en-US" dirty="0">
                <a:solidFill>
                  <a:prstClr val="black"/>
                </a:solidFill>
              </a:rPr>
              <a:t>甲钴胺片显著降低</a:t>
            </a:r>
            <a:r>
              <a:rPr lang="en-US" altLang="zh-CN" dirty="0">
                <a:solidFill>
                  <a:prstClr val="black"/>
                </a:solidFill>
              </a:rPr>
              <a:t>HFS</a:t>
            </a:r>
            <a:r>
              <a:rPr lang="zh-CN" altLang="en-US" dirty="0">
                <a:solidFill>
                  <a:prstClr val="black"/>
                </a:solidFill>
              </a:rPr>
              <a:t>发生率及严重程度</a:t>
            </a:r>
            <a:endParaRPr lang="zh-CN" altLang="en-US" sz="2000" dirty="0">
              <a:latin typeface="微软雅黑" panose="020B0503020204020204" pitchFamily="34" charset="-122"/>
              <a:ea typeface="微软雅黑" panose="020B0503020204020204" pitchFamily="34" charset="-122"/>
            </a:endParaRPr>
          </a:p>
        </p:txBody>
      </p:sp>
      <p:sp>
        <p:nvSpPr>
          <p:cNvPr id="51" name="矩形 50"/>
          <p:cNvSpPr/>
          <p:nvPr/>
        </p:nvSpPr>
        <p:spPr>
          <a:xfrm>
            <a:off x="6247814" y="6627168"/>
            <a:ext cx="2896186" cy="230832"/>
          </a:xfrm>
          <a:prstGeom prst="rect">
            <a:avLst/>
          </a:prstGeom>
        </p:spPr>
        <p:txBody>
          <a:bodyPr wrap="square">
            <a:spAutoFit/>
          </a:bodyPr>
          <a:lstStyle/>
          <a:p>
            <a:pPr algn="r" eaLnBrk="1" fontAlgn="auto" hangingPunct="1">
              <a:spcBef>
                <a:spcPts val="0"/>
              </a:spcBef>
              <a:spcAft>
                <a:spcPts val="0"/>
              </a:spcAft>
            </a:pPr>
            <a:r>
              <a:rPr lang="zh-CN" altLang="en-US" sz="900" dirty="0">
                <a:solidFill>
                  <a:prstClr val="black"/>
                </a:solidFill>
                <a:latin typeface="Microsoft YaHei"/>
                <a:ea typeface="Microsoft YaHei"/>
              </a:rPr>
              <a:t>宋芳华 等. 中国医师进修杂志 2011;34(22):55-56.</a:t>
            </a:r>
          </a:p>
        </p:txBody>
      </p:sp>
      <p:grpSp>
        <p:nvGrpSpPr>
          <p:cNvPr id="8" name="组合 7"/>
          <p:cNvGrpSpPr/>
          <p:nvPr/>
        </p:nvGrpSpPr>
        <p:grpSpPr>
          <a:xfrm>
            <a:off x="602265" y="1340043"/>
            <a:ext cx="8108383" cy="5184125"/>
            <a:chOff x="602265" y="1295787"/>
            <a:chExt cx="8108383" cy="5184125"/>
          </a:xfrm>
        </p:grpSpPr>
        <p:pic>
          <p:nvPicPr>
            <p:cNvPr id="4" name="图片 3"/>
            <p:cNvPicPr>
              <a:picLocks noChangeAspect="1"/>
            </p:cNvPicPr>
            <p:nvPr/>
          </p:nvPicPr>
          <p:blipFill>
            <a:blip r:embed="rId3"/>
            <a:stretch>
              <a:fillRect/>
            </a:stretch>
          </p:blipFill>
          <p:spPr>
            <a:xfrm>
              <a:off x="602265" y="1295787"/>
              <a:ext cx="8108383" cy="4865030"/>
            </a:xfrm>
            <a:prstGeom prst="rect">
              <a:avLst/>
            </a:prstGeom>
          </p:spPr>
        </p:pic>
        <p:sp>
          <p:nvSpPr>
            <p:cNvPr id="15" name="矩形 14"/>
            <p:cNvSpPr/>
            <p:nvPr/>
          </p:nvSpPr>
          <p:spPr>
            <a:xfrm>
              <a:off x="2759299" y="2539203"/>
              <a:ext cx="1063112" cy="253916"/>
            </a:xfrm>
            <a:prstGeom prst="rect">
              <a:avLst/>
            </a:prstGeom>
          </p:spPr>
          <p:txBody>
            <a:bodyPr wrap="none">
              <a:spAutoFit/>
            </a:bodyPr>
            <a:lstStyle/>
            <a:p>
              <a:pPr eaLnBrk="1" fontAlgn="auto" hangingPunct="1">
                <a:spcBef>
                  <a:spcPts val="0"/>
                </a:spcBef>
                <a:spcAft>
                  <a:spcPts val="0"/>
                </a:spcAft>
              </a:pPr>
              <a:r>
                <a:rPr lang="zh-CN" altLang="en-US" sz="1050" dirty="0" smtClean="0">
                  <a:solidFill>
                    <a:prstClr val="black"/>
                  </a:solidFill>
                  <a:latin typeface="Microsoft YaHei"/>
                  <a:ea typeface="Microsoft YaHei"/>
                </a:rPr>
                <a:t>化疗（</a:t>
              </a:r>
              <a:r>
                <a:rPr lang="en-US" altLang="zh-CN" sz="1050" dirty="0">
                  <a:solidFill>
                    <a:prstClr val="black"/>
                  </a:solidFill>
                  <a:latin typeface="Microsoft YaHei"/>
                  <a:ea typeface="Microsoft YaHei"/>
                </a:rPr>
                <a:t>n=36</a:t>
              </a:r>
              <a:r>
                <a:rPr lang="zh-CN" altLang="en-US" sz="1050" dirty="0">
                  <a:solidFill>
                    <a:prstClr val="black"/>
                  </a:solidFill>
                  <a:latin typeface="Microsoft YaHei"/>
                  <a:ea typeface="Microsoft YaHei"/>
                </a:rPr>
                <a:t>）</a:t>
              </a:r>
              <a:endParaRPr lang="en-US" altLang="zh-CN" sz="1050" dirty="0">
                <a:solidFill>
                  <a:prstClr val="black"/>
                </a:solidFill>
                <a:latin typeface="Microsoft YaHei"/>
                <a:ea typeface="Microsoft YaHei"/>
              </a:endParaRPr>
            </a:p>
          </p:txBody>
        </p:sp>
        <p:sp>
          <p:nvSpPr>
            <p:cNvPr id="16" name="矩形 15"/>
            <p:cNvSpPr/>
            <p:nvPr/>
          </p:nvSpPr>
          <p:spPr>
            <a:xfrm rot="16200000">
              <a:off x="203586" y="4334783"/>
              <a:ext cx="1371006" cy="307777"/>
            </a:xfrm>
            <a:prstGeom prst="rect">
              <a:avLst/>
            </a:prstGeom>
          </p:spPr>
          <p:txBody>
            <a:bodyPr wrap="none">
              <a:spAutoFit/>
            </a:bodyPr>
            <a:lstStyle/>
            <a:p>
              <a:pPr algn="ctr" eaLnBrk="1" fontAlgn="auto" hangingPunct="1">
                <a:spcBef>
                  <a:spcPts val="0"/>
                </a:spcBef>
                <a:spcAft>
                  <a:spcPts val="0"/>
                </a:spcAft>
              </a:pPr>
              <a:r>
                <a:rPr lang="en-US" altLang="zh-CN" sz="1400" b="1" dirty="0">
                  <a:solidFill>
                    <a:prstClr val="black"/>
                  </a:solidFill>
                  <a:latin typeface="微软雅黑" panose="020B0503020204020204" pitchFamily="34" charset="-122"/>
                  <a:ea typeface="微软雅黑" panose="020B0503020204020204" pitchFamily="34" charset="-122"/>
                </a:rPr>
                <a:t>HFS</a:t>
              </a:r>
              <a:r>
                <a:rPr lang="zh-CN" altLang="en-US" sz="1400" b="1" dirty="0">
                  <a:solidFill>
                    <a:prstClr val="black"/>
                  </a:solidFill>
                  <a:latin typeface="微软雅黑" panose="020B0503020204020204" pitchFamily="34" charset="-122"/>
                  <a:ea typeface="微软雅黑" panose="020B0503020204020204" pitchFamily="34" charset="-122"/>
                </a:rPr>
                <a:t>发生率（</a:t>
              </a:r>
              <a:r>
                <a:rPr lang="en-US" altLang="zh-CN" sz="1400" b="1" dirty="0">
                  <a:solidFill>
                    <a:prstClr val="black"/>
                  </a:solidFill>
                  <a:latin typeface="微软雅黑" panose="020B0503020204020204" pitchFamily="34" charset="-122"/>
                  <a:ea typeface="微软雅黑" panose="020B0503020204020204" pitchFamily="34" charset="-122"/>
                </a:rPr>
                <a:t>%</a:t>
              </a:r>
              <a:r>
                <a:rPr lang="zh-CN" altLang="en-US" sz="1400" b="1" dirty="0">
                  <a:solidFill>
                    <a:prstClr val="black"/>
                  </a:solidFill>
                  <a:latin typeface="微软雅黑" panose="020B0503020204020204" pitchFamily="34" charset="-122"/>
                  <a:ea typeface="微软雅黑" panose="020B0503020204020204" pitchFamily="34" charset="-122"/>
                </a:rPr>
                <a:t>）</a:t>
              </a:r>
              <a:endParaRPr lang="zh-CN" altLang="en-US" sz="4000" b="1" dirty="0">
                <a:solidFill>
                  <a:prstClr val="black"/>
                </a:solidFill>
                <a:latin typeface="微软雅黑" panose="020B0503020204020204" pitchFamily="34" charset="-122"/>
                <a:ea typeface="微软雅黑" panose="020B0503020204020204" pitchFamily="34" charset="-122"/>
              </a:endParaRPr>
            </a:p>
          </p:txBody>
        </p:sp>
        <p:sp>
          <p:nvSpPr>
            <p:cNvPr id="18" name="矩形 17"/>
            <p:cNvSpPr/>
            <p:nvPr/>
          </p:nvSpPr>
          <p:spPr>
            <a:xfrm>
              <a:off x="5170122" y="2539203"/>
              <a:ext cx="2342308" cy="253916"/>
            </a:xfrm>
            <a:prstGeom prst="rect">
              <a:avLst/>
            </a:prstGeom>
          </p:spPr>
          <p:txBody>
            <a:bodyPr wrap="none">
              <a:spAutoFit/>
            </a:bodyPr>
            <a:lstStyle/>
            <a:p>
              <a:pPr eaLnBrk="1" fontAlgn="auto" hangingPunct="1">
                <a:spcBef>
                  <a:spcPts val="0"/>
                </a:spcBef>
                <a:spcAft>
                  <a:spcPts val="0"/>
                </a:spcAft>
              </a:pPr>
              <a:r>
                <a:rPr lang="zh-CN" altLang="en-US" sz="1050" dirty="0" smtClean="0">
                  <a:solidFill>
                    <a:prstClr val="black"/>
                  </a:solidFill>
                  <a:latin typeface="Microsoft YaHei"/>
                  <a:ea typeface="Microsoft YaHei"/>
                </a:rPr>
                <a:t>化疗+</a:t>
              </a:r>
              <a:r>
                <a:rPr lang="zh-CN" altLang="en-US" sz="1050" dirty="0">
                  <a:solidFill>
                    <a:prstClr val="black"/>
                  </a:solidFill>
                  <a:latin typeface="Microsoft YaHei"/>
                  <a:ea typeface="Microsoft YaHei"/>
                </a:rPr>
                <a:t>维生素B</a:t>
              </a:r>
              <a:r>
                <a:rPr lang="zh-CN" altLang="en-US" sz="1050" baseline="-25000" dirty="0">
                  <a:solidFill>
                    <a:prstClr val="black"/>
                  </a:solidFill>
                  <a:latin typeface="Microsoft YaHei"/>
                  <a:ea typeface="Microsoft YaHei"/>
                </a:rPr>
                <a:t>1</a:t>
              </a:r>
              <a:r>
                <a:rPr lang="en-US" altLang="zh-CN" sz="1050" dirty="0">
                  <a:solidFill>
                    <a:prstClr val="black"/>
                  </a:solidFill>
                  <a:latin typeface="Microsoft YaHei"/>
                  <a:ea typeface="Microsoft YaHei"/>
                </a:rPr>
                <a:t>+</a:t>
              </a:r>
              <a:r>
                <a:rPr lang="zh-CN" altLang="en-US" sz="1050" dirty="0">
                  <a:solidFill>
                    <a:prstClr val="black"/>
                  </a:solidFill>
                  <a:latin typeface="Microsoft YaHei"/>
                  <a:ea typeface="Microsoft YaHei"/>
                </a:rPr>
                <a:t>甲钴胺片（</a:t>
              </a:r>
              <a:r>
                <a:rPr lang="en-US" altLang="zh-CN" sz="1050" dirty="0">
                  <a:solidFill>
                    <a:prstClr val="black"/>
                  </a:solidFill>
                  <a:latin typeface="Microsoft YaHei"/>
                  <a:ea typeface="Microsoft YaHei"/>
                </a:rPr>
                <a:t>n=40</a:t>
              </a:r>
              <a:r>
                <a:rPr lang="zh-CN" altLang="en-US" sz="1050" dirty="0">
                  <a:solidFill>
                    <a:prstClr val="black"/>
                  </a:solidFill>
                  <a:latin typeface="Microsoft YaHei"/>
                  <a:ea typeface="Microsoft YaHei"/>
                </a:rPr>
                <a:t>）</a:t>
              </a:r>
              <a:endParaRPr lang="en-US" altLang="zh-CN" sz="1050" dirty="0">
                <a:solidFill>
                  <a:prstClr val="black"/>
                </a:solidFill>
                <a:latin typeface="Microsoft YaHei"/>
                <a:ea typeface="Microsoft YaHei"/>
              </a:endParaRPr>
            </a:p>
          </p:txBody>
        </p:sp>
        <p:grpSp>
          <p:nvGrpSpPr>
            <p:cNvPr id="20" name="组合 19"/>
            <p:cNvGrpSpPr/>
            <p:nvPr/>
          </p:nvGrpSpPr>
          <p:grpSpPr>
            <a:xfrm>
              <a:off x="2929747" y="2923676"/>
              <a:ext cx="716864" cy="270451"/>
              <a:chOff x="2876765" y="2022557"/>
              <a:chExt cx="716864" cy="316178"/>
            </a:xfrm>
          </p:grpSpPr>
          <p:grpSp>
            <p:nvGrpSpPr>
              <p:cNvPr id="27" name="组合 26"/>
              <p:cNvGrpSpPr/>
              <p:nvPr/>
            </p:nvGrpSpPr>
            <p:grpSpPr>
              <a:xfrm>
                <a:off x="2925301" y="2283607"/>
                <a:ext cx="619793" cy="55128"/>
                <a:chOff x="2632157" y="4924105"/>
                <a:chExt cx="1098000" cy="55128"/>
              </a:xfrm>
            </p:grpSpPr>
            <p:cxnSp>
              <p:nvCxnSpPr>
                <p:cNvPr id="29" name="直接连接符 28"/>
                <p:cNvCxnSpPr/>
                <p:nvPr/>
              </p:nvCxnSpPr>
              <p:spPr>
                <a:xfrm>
                  <a:off x="2632157" y="4924105"/>
                  <a:ext cx="109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632157" y="4925233"/>
                  <a:ext cx="0" cy="5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726847" y="4925233"/>
                  <a:ext cx="0" cy="5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矩形 27"/>
              <p:cNvSpPr/>
              <p:nvPr/>
            </p:nvSpPr>
            <p:spPr>
              <a:xfrm>
                <a:off x="2876765" y="2022557"/>
                <a:ext cx="716864" cy="253916"/>
              </a:xfrm>
              <a:prstGeom prst="rect">
                <a:avLst/>
              </a:prstGeom>
            </p:spPr>
            <p:txBody>
              <a:bodyPr wrap="none">
                <a:spAutoFit/>
              </a:bodyPr>
              <a:lstStyle/>
              <a:p>
                <a:pPr algn="ctr" eaLnBrk="1" fontAlgn="auto" hangingPunct="1">
                  <a:spcBef>
                    <a:spcPts val="0"/>
                  </a:spcBef>
                  <a:spcAft>
                    <a:spcPts val="0"/>
                  </a:spcAft>
                </a:pPr>
                <a:r>
                  <a:rPr lang="en-US" altLang="zh-CN" sz="1050" dirty="0">
                    <a:solidFill>
                      <a:prstClr val="black"/>
                    </a:solidFill>
                    <a:latin typeface="Microsoft YaHei"/>
                    <a:ea typeface="Microsoft YaHei"/>
                  </a:rPr>
                  <a:t>p=0.043</a:t>
                </a:r>
              </a:p>
            </p:txBody>
          </p:sp>
        </p:grpSp>
        <p:grpSp>
          <p:nvGrpSpPr>
            <p:cNvPr id="21" name="组合 20"/>
            <p:cNvGrpSpPr/>
            <p:nvPr/>
          </p:nvGrpSpPr>
          <p:grpSpPr>
            <a:xfrm>
              <a:off x="6269538" y="4636922"/>
              <a:ext cx="716864" cy="266348"/>
              <a:chOff x="6216556" y="4054048"/>
              <a:chExt cx="716864" cy="311381"/>
            </a:xfrm>
          </p:grpSpPr>
          <p:grpSp>
            <p:nvGrpSpPr>
              <p:cNvPr id="22" name="组合 21"/>
              <p:cNvGrpSpPr/>
              <p:nvPr/>
            </p:nvGrpSpPr>
            <p:grpSpPr>
              <a:xfrm>
                <a:off x="6293264" y="4310301"/>
                <a:ext cx="563448" cy="55128"/>
                <a:chOff x="2632157" y="4924105"/>
                <a:chExt cx="1098000" cy="55128"/>
              </a:xfrm>
            </p:grpSpPr>
            <p:cxnSp>
              <p:nvCxnSpPr>
                <p:cNvPr id="24" name="直接连接符 23"/>
                <p:cNvCxnSpPr/>
                <p:nvPr/>
              </p:nvCxnSpPr>
              <p:spPr>
                <a:xfrm>
                  <a:off x="2632157" y="4924105"/>
                  <a:ext cx="109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32157" y="4925233"/>
                  <a:ext cx="0" cy="5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3726847" y="4925233"/>
                  <a:ext cx="0" cy="5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矩形 22"/>
              <p:cNvSpPr/>
              <p:nvPr/>
            </p:nvSpPr>
            <p:spPr>
              <a:xfrm>
                <a:off x="6216556" y="4054048"/>
                <a:ext cx="716864" cy="253916"/>
              </a:xfrm>
              <a:prstGeom prst="rect">
                <a:avLst/>
              </a:prstGeom>
            </p:spPr>
            <p:txBody>
              <a:bodyPr wrap="none">
                <a:spAutoFit/>
              </a:bodyPr>
              <a:lstStyle/>
              <a:p>
                <a:pPr algn="ctr" eaLnBrk="1" fontAlgn="auto" hangingPunct="1">
                  <a:spcBef>
                    <a:spcPts val="0"/>
                  </a:spcBef>
                  <a:spcAft>
                    <a:spcPts val="0"/>
                  </a:spcAft>
                </a:pPr>
                <a:r>
                  <a:rPr lang="en-US" altLang="zh-CN" sz="1050" dirty="0">
                    <a:solidFill>
                      <a:prstClr val="black"/>
                    </a:solidFill>
                    <a:latin typeface="Microsoft YaHei"/>
                    <a:ea typeface="Microsoft YaHei"/>
                  </a:rPr>
                  <a:t>p=0.033</a:t>
                </a:r>
              </a:p>
            </p:txBody>
          </p:sp>
        </p:grpSp>
        <p:sp>
          <p:nvSpPr>
            <p:cNvPr id="33" name="Rectangle 2"/>
            <p:cNvSpPr>
              <a:spLocks noChangeArrowheads="1"/>
            </p:cNvSpPr>
            <p:nvPr/>
          </p:nvSpPr>
          <p:spPr bwMode="auto">
            <a:xfrm>
              <a:off x="734011" y="1378627"/>
              <a:ext cx="4918484" cy="902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4000" indent="-144000" algn="just">
                <a:lnSpc>
                  <a:spcPct val="114000"/>
                </a:lnSpc>
                <a:spcBef>
                  <a:spcPts val="300"/>
                </a:spcBef>
                <a:buFont typeface="Arial" panose="020B0604020202020204" pitchFamily="34" charset="0"/>
                <a:buChar char="•"/>
              </a:pPr>
              <a:r>
                <a:rPr lang="en-US" altLang="zh-CN"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HFS</a:t>
              </a:r>
              <a:r>
                <a:rPr lang="zh-CN" altLang="en-US"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患者多伴有手足麻木疼痛及感觉功能减退，表明这种不良反应与末梢神经损伤具有一定的相关性</a:t>
              </a:r>
              <a:endParaRPr lang="en-US" altLang="zh-CN"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144000" indent="-144000" algn="just">
                <a:lnSpc>
                  <a:spcPct val="114000"/>
                </a:lnSpc>
                <a:spcBef>
                  <a:spcPts val="300"/>
                </a:spcBef>
                <a:buFont typeface="Arial" panose="020B0604020202020204" pitchFamily="34" charset="0"/>
                <a:buChar char="•"/>
              </a:pPr>
              <a:r>
                <a:rPr lang="zh-CN" altLang="en-US"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维生素</a:t>
              </a:r>
              <a:r>
                <a:rPr lang="en-US" altLang="zh-CN"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100" baseline="-25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1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和甲钴胺片具有营养神经的功能，常应用于末梢神经炎的治疗，因此有助于改善手足末梢神经的功能</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36" name="Rectangle 2"/>
            <p:cNvSpPr>
              <a:spLocks noChangeArrowheads="1"/>
            </p:cNvSpPr>
            <p:nvPr/>
          </p:nvSpPr>
          <p:spPr bwMode="auto">
            <a:xfrm>
              <a:off x="6372825" y="1590863"/>
              <a:ext cx="2005191" cy="478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14000"/>
                </a:lnSpc>
              </a:pPr>
              <a:r>
                <a:rPr lang="zh-CN" altLang="en-US" sz="11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临床研究中，加用维生素</a:t>
              </a:r>
              <a:r>
                <a:rPr lang="en-US" altLang="zh-CN" sz="11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100" b="1" baseline="-25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1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和甲钴胺片可有效防治</a:t>
              </a:r>
              <a:r>
                <a:rPr lang="en-US" altLang="zh-CN" sz="11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HFS</a:t>
              </a:r>
              <a:endParaRPr lang="zh-CN" altLang="en-US" sz="1400" b="1" dirty="0">
                <a:solidFill>
                  <a:prstClr val="black"/>
                </a:solidFill>
                <a:latin typeface="微软雅黑" panose="020B0503020204020204" pitchFamily="34" charset="-122"/>
                <a:ea typeface="微软雅黑" panose="020B0503020204020204" pitchFamily="34" charset="-122"/>
              </a:endParaRPr>
            </a:p>
          </p:txBody>
        </p:sp>
        <p:sp>
          <p:nvSpPr>
            <p:cNvPr id="38" name="矩形 37"/>
            <p:cNvSpPr/>
            <p:nvPr/>
          </p:nvSpPr>
          <p:spPr>
            <a:xfrm>
              <a:off x="826284" y="6249080"/>
              <a:ext cx="7350089" cy="230832"/>
            </a:xfrm>
            <a:prstGeom prst="rect">
              <a:avLst/>
            </a:prstGeom>
          </p:spPr>
          <p:txBody>
            <a:bodyPr wrap="none">
              <a:spAutoFit/>
            </a:bodyPr>
            <a:lstStyle/>
            <a:p>
              <a:pPr marL="171450" indent="-171450">
                <a:buFont typeface="Arial" panose="020B0604020202020204" pitchFamily="34" charset="0"/>
                <a:buChar char="•"/>
              </a:pPr>
              <a:r>
                <a:rPr lang="zh-CN" altLang="en-US" sz="900" dirty="0" smtClean="0">
                  <a:solidFill>
                    <a:prstClr val="black"/>
                  </a:solidFill>
                  <a:latin typeface="+mn-ea"/>
                  <a:ea typeface="+mn-ea"/>
                </a:rPr>
                <a:t>在接受化疗治疗</a:t>
              </a:r>
              <a:r>
                <a:rPr lang="zh-CN" altLang="en-US" sz="900" dirty="0">
                  <a:solidFill>
                    <a:prstClr val="black"/>
                  </a:solidFill>
                  <a:latin typeface="+mn-ea"/>
                  <a:ea typeface="+mn-ea"/>
                </a:rPr>
                <a:t>的</a:t>
              </a:r>
              <a:r>
                <a:rPr lang="en-US" altLang="zh-CN" sz="900" dirty="0" smtClean="0">
                  <a:solidFill>
                    <a:prstClr val="black"/>
                  </a:solidFill>
                  <a:latin typeface="+mn-ea"/>
                  <a:ea typeface="+mn-ea"/>
                </a:rPr>
                <a:t>76</a:t>
              </a:r>
              <a:r>
                <a:rPr lang="zh-CN" altLang="en-US" sz="900" dirty="0" smtClean="0">
                  <a:latin typeface="+mn-ea"/>
                  <a:ea typeface="+mn-ea"/>
                </a:rPr>
                <a:t>例胃癌、乳腺癌等肿瘤患者中</a:t>
              </a:r>
              <a:r>
                <a:rPr lang="zh-CN" altLang="en-US" sz="900" dirty="0" smtClean="0">
                  <a:solidFill>
                    <a:prstClr val="black"/>
                  </a:solidFill>
                  <a:latin typeface="+mn-ea"/>
                  <a:ea typeface="+mn-ea"/>
                </a:rPr>
                <a:t>进行的一</a:t>
              </a:r>
              <a:r>
                <a:rPr lang="zh-CN" altLang="en-US" sz="900" dirty="0">
                  <a:solidFill>
                    <a:prstClr val="black"/>
                  </a:solidFill>
                  <a:latin typeface="+mn-ea"/>
                  <a:ea typeface="+mn-ea"/>
                </a:rPr>
                <a:t>项随机、对照、观察性临床</a:t>
              </a:r>
              <a:r>
                <a:rPr lang="zh-CN" altLang="en-US" sz="900" dirty="0" smtClean="0">
                  <a:solidFill>
                    <a:prstClr val="black"/>
                  </a:solidFill>
                  <a:latin typeface="+mn-ea"/>
                  <a:ea typeface="+mn-ea"/>
                </a:rPr>
                <a:t>研究，旨在</a:t>
              </a:r>
              <a:r>
                <a:rPr lang="zh-CN" altLang="en-US" sz="900" dirty="0" smtClean="0">
                  <a:latin typeface="+mn-ea"/>
                  <a:ea typeface="+mn-ea"/>
                </a:rPr>
                <a:t>观察</a:t>
              </a:r>
              <a:r>
                <a:rPr lang="en-US" altLang="zh-CN" sz="900" dirty="0" err="1" smtClean="0">
                  <a:latin typeface="+mn-ea"/>
                  <a:ea typeface="+mn-ea"/>
                </a:rPr>
                <a:t>Vit</a:t>
              </a:r>
              <a:r>
                <a:rPr lang="en-US" altLang="zh-CN" sz="900" dirty="0" smtClean="0">
                  <a:latin typeface="+mn-ea"/>
                  <a:ea typeface="+mn-ea"/>
                </a:rPr>
                <a:t> B</a:t>
              </a:r>
              <a:r>
                <a:rPr lang="en-US" altLang="zh-CN" sz="900" baseline="-25000" dirty="0" smtClean="0">
                  <a:latin typeface="+mn-ea"/>
                  <a:ea typeface="+mn-ea"/>
                </a:rPr>
                <a:t>1</a:t>
              </a:r>
              <a:r>
                <a:rPr lang="zh-CN" altLang="en-US" sz="900" dirty="0" smtClean="0">
                  <a:latin typeface="+mn-ea"/>
                  <a:ea typeface="+mn-ea"/>
                </a:rPr>
                <a:t>联合</a:t>
              </a:r>
              <a:r>
                <a:rPr lang="zh-CN" altLang="en-US" sz="900" dirty="0">
                  <a:latin typeface="+mn-ea"/>
                  <a:ea typeface="+mn-ea"/>
                </a:rPr>
                <a:t>甲钴胺片</a:t>
              </a:r>
              <a:r>
                <a:rPr lang="zh-CN" altLang="en-US" sz="900" dirty="0" smtClean="0">
                  <a:latin typeface="+mn-ea"/>
                  <a:ea typeface="+mn-ea"/>
                </a:rPr>
                <a:t>防治</a:t>
              </a:r>
              <a:r>
                <a:rPr lang="en-US" altLang="zh-CN" sz="900" dirty="0" smtClean="0">
                  <a:latin typeface="+mn-ea"/>
                  <a:ea typeface="+mn-ea"/>
                </a:rPr>
                <a:t>HFS</a:t>
              </a:r>
              <a:r>
                <a:rPr lang="zh-CN" altLang="en-US" sz="900" dirty="0" smtClean="0">
                  <a:latin typeface="+mn-ea"/>
                  <a:ea typeface="+mn-ea"/>
                </a:rPr>
                <a:t>的疗效</a:t>
              </a:r>
              <a:endParaRPr lang="zh-CN" altLang="en-US" sz="900" dirty="0">
                <a:solidFill>
                  <a:prstClr val="black"/>
                </a:solidFill>
                <a:latin typeface="+mn-ea"/>
                <a:ea typeface="+mn-ea"/>
              </a:endParaRPr>
            </a:p>
          </p:txBody>
        </p:sp>
      </p:grpSp>
    </p:spTree>
    <p:extLst>
      <p:ext uri="{BB962C8B-B14F-4D97-AF65-F5344CB8AC3E}">
        <p14:creationId xmlns:p14="http://schemas.microsoft.com/office/powerpoint/2010/main" val="436526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000" dirty="0">
                <a:latin typeface="+mn-ea"/>
              </a:rPr>
              <a:t>HFS</a:t>
            </a:r>
            <a:r>
              <a:rPr lang="zh-CN" altLang="en-US" sz="2000" dirty="0">
                <a:latin typeface="+mn-ea"/>
              </a:rPr>
              <a:t>可能机制</a:t>
            </a:r>
            <a:r>
              <a:rPr lang="zh-CN" altLang="en-US" sz="2000" dirty="0" smtClean="0">
                <a:latin typeface="+mn-ea"/>
              </a:rPr>
              <a:t>之</a:t>
            </a:r>
            <a:r>
              <a:rPr lang="en-US" altLang="zh-CN" sz="2000" dirty="0" smtClean="0">
                <a:latin typeface="+mn-ea"/>
              </a:rPr>
              <a:t>4——</a:t>
            </a:r>
            <a:r>
              <a:rPr lang="en-US" altLang="zh-CN" sz="2000" dirty="0">
                <a:solidFill>
                  <a:prstClr val="black"/>
                </a:solidFill>
              </a:rPr>
              <a:t/>
            </a:r>
            <a:br>
              <a:rPr lang="en-US" altLang="zh-CN" sz="2000" dirty="0">
                <a:solidFill>
                  <a:prstClr val="black"/>
                </a:solidFill>
              </a:rPr>
            </a:br>
            <a:r>
              <a:rPr lang="en-US" altLang="zh-CN" dirty="0" err="1">
                <a:solidFill>
                  <a:prstClr val="black"/>
                </a:solidFill>
              </a:rPr>
              <a:t>Vit</a:t>
            </a:r>
            <a:r>
              <a:rPr lang="en-US" altLang="zh-CN" dirty="0">
                <a:solidFill>
                  <a:prstClr val="black"/>
                </a:solidFill>
              </a:rPr>
              <a:t> B6</a:t>
            </a:r>
            <a:r>
              <a:rPr lang="zh-CN" altLang="en-US" dirty="0">
                <a:solidFill>
                  <a:prstClr val="black"/>
                </a:solidFill>
              </a:rPr>
              <a:t>显著延缓了卡培他滨剂量调整时间</a:t>
            </a:r>
            <a:endParaRPr lang="zh-CN" altLang="en-US" baseline="30000" dirty="0">
              <a:solidFill>
                <a:prstClr val="black"/>
              </a:solidFill>
            </a:endParaRPr>
          </a:p>
        </p:txBody>
      </p:sp>
      <p:grpSp>
        <p:nvGrpSpPr>
          <p:cNvPr id="8" name="组合 7"/>
          <p:cNvGrpSpPr/>
          <p:nvPr/>
        </p:nvGrpSpPr>
        <p:grpSpPr>
          <a:xfrm>
            <a:off x="650699" y="1143535"/>
            <a:ext cx="7901064" cy="5408522"/>
            <a:chOff x="650699" y="1160627"/>
            <a:chExt cx="7901064" cy="5408522"/>
          </a:xfrm>
        </p:grpSpPr>
        <p:pic>
          <p:nvPicPr>
            <p:cNvPr id="5" name="图片 4"/>
            <p:cNvPicPr>
              <a:picLocks noChangeAspect="1"/>
            </p:cNvPicPr>
            <p:nvPr/>
          </p:nvPicPr>
          <p:blipFill>
            <a:blip r:embed="rId3"/>
            <a:stretch>
              <a:fillRect/>
            </a:stretch>
          </p:blipFill>
          <p:spPr>
            <a:xfrm>
              <a:off x="650699" y="1160627"/>
              <a:ext cx="7895004" cy="4615072"/>
            </a:xfrm>
            <a:prstGeom prst="rect">
              <a:avLst/>
            </a:prstGeom>
          </p:spPr>
        </p:pic>
        <p:sp>
          <p:nvSpPr>
            <p:cNvPr id="16" name="矩形 15"/>
            <p:cNvSpPr/>
            <p:nvPr/>
          </p:nvSpPr>
          <p:spPr>
            <a:xfrm rot="16200000">
              <a:off x="-145807" y="3794040"/>
              <a:ext cx="2412841" cy="307777"/>
            </a:xfrm>
            <a:prstGeom prst="rect">
              <a:avLst/>
            </a:prstGeom>
          </p:spPr>
          <p:txBody>
            <a:bodyPr wrap="none">
              <a:spAutoFit/>
            </a:bodyPr>
            <a:lstStyle/>
            <a:p>
              <a:pPr algn="ctr" eaLnBrk="1" fontAlgn="auto" hangingPunct="1">
                <a:spcBef>
                  <a:spcPts val="0"/>
                </a:spcBef>
                <a:spcAft>
                  <a:spcPts val="0"/>
                </a:spcAft>
              </a:pPr>
              <a:r>
                <a:rPr lang="zh-CN" altLang="en-US" sz="1400" b="1" dirty="0">
                  <a:solidFill>
                    <a:prstClr val="black"/>
                  </a:solidFill>
                  <a:latin typeface="Microsoft YaHei"/>
                  <a:ea typeface="Microsoft YaHei"/>
                </a:rPr>
                <a:t>未进行剂量调整的患者</a:t>
              </a:r>
              <a:r>
                <a:rPr lang="zh-CN" altLang="en-US" sz="1400" b="1" dirty="0" smtClean="0">
                  <a:solidFill>
                    <a:prstClr val="black"/>
                  </a:solidFill>
                  <a:latin typeface="Microsoft YaHei"/>
                  <a:ea typeface="Microsoft YaHei"/>
                </a:rPr>
                <a:t>比例</a:t>
              </a:r>
              <a:r>
                <a:rPr lang="en-US" altLang="zh-CN" sz="1400" b="1" baseline="30000" dirty="0" smtClean="0">
                  <a:solidFill>
                    <a:prstClr val="black"/>
                  </a:solidFill>
                  <a:latin typeface="Microsoft YaHei"/>
                  <a:ea typeface="Microsoft YaHei"/>
                </a:rPr>
                <a:t>3</a:t>
              </a:r>
              <a:endParaRPr lang="en-US" altLang="zh-CN" sz="1400" b="1" dirty="0">
                <a:solidFill>
                  <a:prstClr val="black"/>
                </a:solidFill>
                <a:latin typeface="Microsoft YaHei"/>
                <a:ea typeface="Microsoft YaHei"/>
              </a:endParaRPr>
            </a:p>
          </p:txBody>
        </p:sp>
        <p:sp>
          <p:nvSpPr>
            <p:cNvPr id="17" name="文本框 16">
              <a:extLst>
                <a:ext uri="{FF2B5EF4-FFF2-40B4-BE49-F238E27FC236}">
                  <a16:creationId xmlns="" xmlns:a16="http://schemas.microsoft.com/office/drawing/2014/main" id="{8E3EB3DD-8CDD-44F1-AE7D-A648A075533C}"/>
                </a:ext>
              </a:extLst>
            </p:cNvPr>
            <p:cNvSpPr txBox="1"/>
            <p:nvPr/>
          </p:nvSpPr>
          <p:spPr>
            <a:xfrm>
              <a:off x="4285507" y="5735222"/>
              <a:ext cx="1264914" cy="262365"/>
            </a:xfrm>
            <a:prstGeom prst="rect">
              <a:avLst/>
            </a:prstGeom>
            <a:noFill/>
          </p:spPr>
          <p:txBody>
            <a:bodyPr wrap="square" rtlCol="0">
              <a:spAutoFit/>
            </a:bodyPr>
            <a:lstStyle/>
            <a:p>
              <a:pPr algn="ctr" eaLnBrk="1" fontAlgn="auto" hangingPunct="1">
                <a:spcBef>
                  <a:spcPts val="0"/>
                </a:spcBef>
                <a:spcAft>
                  <a:spcPts val="0"/>
                </a:spcAft>
                <a:defRPr/>
              </a:pPr>
              <a:r>
                <a:rPr lang="zh-CN" altLang="en-US" sz="1400" b="1" dirty="0">
                  <a:solidFill>
                    <a:prstClr val="black"/>
                  </a:solidFill>
                  <a:latin typeface="Microsoft YaHei"/>
                  <a:ea typeface="Microsoft YaHei"/>
                </a:rPr>
                <a:t>时间（周）</a:t>
              </a:r>
            </a:p>
          </p:txBody>
        </p:sp>
        <p:sp>
          <p:nvSpPr>
            <p:cNvPr id="46" name="矩形 45"/>
            <p:cNvSpPr/>
            <p:nvPr/>
          </p:nvSpPr>
          <p:spPr>
            <a:xfrm>
              <a:off x="5693127" y="2162570"/>
              <a:ext cx="1225717" cy="216450"/>
            </a:xfrm>
            <a:prstGeom prst="rect">
              <a:avLst/>
            </a:prstGeom>
          </p:spPr>
          <p:txBody>
            <a:bodyPr wrap="none" anchor="ctr">
              <a:spAutoFit/>
            </a:bodyPr>
            <a:lstStyle/>
            <a:p>
              <a:pPr eaLnBrk="1" fontAlgn="auto" hangingPunct="1">
                <a:spcBef>
                  <a:spcPts val="0"/>
                </a:spcBef>
                <a:spcAft>
                  <a:spcPts val="0"/>
                </a:spcAft>
              </a:pPr>
              <a:r>
                <a:rPr lang="zh-CN" altLang="en-US" sz="1050" dirty="0">
                  <a:solidFill>
                    <a:prstClr val="black"/>
                  </a:solidFill>
                  <a:latin typeface="Microsoft YaHei"/>
                  <a:ea typeface="Microsoft YaHei"/>
                </a:rPr>
                <a:t>安慰剂（</a:t>
              </a:r>
              <a:r>
                <a:rPr lang="en-US" altLang="zh-CN" sz="1050" dirty="0">
                  <a:solidFill>
                    <a:prstClr val="black"/>
                  </a:solidFill>
                  <a:latin typeface="Microsoft YaHei"/>
                  <a:ea typeface="Microsoft YaHei"/>
                </a:rPr>
                <a:t>n = 53</a:t>
              </a:r>
              <a:r>
                <a:rPr lang="zh-CN" altLang="en-US" sz="1050" dirty="0">
                  <a:solidFill>
                    <a:prstClr val="black"/>
                  </a:solidFill>
                  <a:latin typeface="Microsoft YaHei"/>
                  <a:ea typeface="Microsoft YaHei"/>
                </a:rPr>
                <a:t>）</a:t>
              </a:r>
            </a:p>
          </p:txBody>
        </p:sp>
        <p:sp>
          <p:nvSpPr>
            <p:cNvPr id="47" name="矩形 46"/>
            <p:cNvSpPr/>
            <p:nvPr/>
          </p:nvSpPr>
          <p:spPr>
            <a:xfrm>
              <a:off x="3236298" y="2162570"/>
              <a:ext cx="1241092" cy="216450"/>
            </a:xfrm>
            <a:prstGeom prst="rect">
              <a:avLst/>
            </a:prstGeom>
          </p:spPr>
          <p:txBody>
            <a:bodyPr wrap="none" anchor="ctr">
              <a:spAutoFit/>
            </a:bodyPr>
            <a:lstStyle/>
            <a:p>
              <a:pPr eaLnBrk="1" fontAlgn="auto" hangingPunct="1">
                <a:spcBef>
                  <a:spcPts val="0"/>
                </a:spcBef>
                <a:spcAft>
                  <a:spcPts val="0"/>
                </a:spcAft>
              </a:pPr>
              <a:r>
                <a:rPr lang="en-US" altLang="zh-CN" sz="1050" dirty="0">
                  <a:solidFill>
                    <a:prstClr val="black"/>
                  </a:solidFill>
                  <a:latin typeface="Microsoft YaHei"/>
                  <a:ea typeface="Microsoft YaHei"/>
                </a:rPr>
                <a:t>Vit B6 </a:t>
              </a:r>
              <a:r>
                <a:rPr lang="zh-CN" altLang="en-US" sz="1050" dirty="0">
                  <a:solidFill>
                    <a:prstClr val="black"/>
                  </a:solidFill>
                  <a:latin typeface="Microsoft YaHei"/>
                  <a:ea typeface="Microsoft YaHei"/>
                </a:rPr>
                <a:t>（</a:t>
              </a:r>
              <a:r>
                <a:rPr lang="en-US" altLang="zh-CN" sz="1050" dirty="0">
                  <a:solidFill>
                    <a:prstClr val="black"/>
                  </a:solidFill>
                  <a:latin typeface="Microsoft YaHei"/>
                  <a:ea typeface="Microsoft YaHei"/>
                </a:rPr>
                <a:t>n = 53</a:t>
              </a:r>
              <a:r>
                <a:rPr lang="zh-CN" altLang="en-US" sz="1050" dirty="0">
                  <a:solidFill>
                    <a:prstClr val="black"/>
                  </a:solidFill>
                  <a:latin typeface="Microsoft YaHei"/>
                  <a:ea typeface="Microsoft YaHei"/>
                </a:rPr>
                <a:t>）</a:t>
              </a:r>
            </a:p>
          </p:txBody>
        </p:sp>
        <p:sp>
          <p:nvSpPr>
            <p:cNvPr id="48" name="矩形 47"/>
            <p:cNvSpPr/>
            <p:nvPr/>
          </p:nvSpPr>
          <p:spPr>
            <a:xfrm>
              <a:off x="5405796" y="2846247"/>
              <a:ext cx="2180677" cy="367309"/>
            </a:xfrm>
            <a:prstGeom prst="rect">
              <a:avLst/>
            </a:prstGeom>
          </p:spPr>
          <p:txBody>
            <a:bodyPr wrap="square">
              <a:spAutoFit/>
            </a:bodyPr>
            <a:lstStyle/>
            <a:p>
              <a:pPr eaLnBrk="1" fontAlgn="auto" hangingPunct="1">
                <a:spcBef>
                  <a:spcPts val="0"/>
                </a:spcBef>
                <a:spcAft>
                  <a:spcPts val="0"/>
                </a:spcAft>
              </a:pPr>
              <a:r>
                <a:rPr lang="en-US" altLang="zh-CN" sz="1050" dirty="0">
                  <a:solidFill>
                    <a:prstClr val="black"/>
                  </a:solidFill>
                  <a:latin typeface="Microsoft YaHei"/>
                  <a:ea typeface="Microsoft YaHei"/>
                </a:rPr>
                <a:t>HR 0.512</a:t>
              </a:r>
              <a:r>
                <a:rPr lang="zh-CN" altLang="en-US" sz="1050" dirty="0">
                  <a:solidFill>
                    <a:prstClr val="black"/>
                  </a:solidFill>
                  <a:latin typeface="Microsoft YaHei"/>
                  <a:ea typeface="Microsoft YaHei"/>
                </a:rPr>
                <a:t>（</a:t>
              </a:r>
              <a:r>
                <a:rPr lang="en-US" altLang="zh-CN" sz="1050" dirty="0">
                  <a:solidFill>
                    <a:prstClr val="black"/>
                  </a:solidFill>
                  <a:latin typeface="Microsoft YaHei"/>
                  <a:ea typeface="Microsoft YaHei"/>
                </a:rPr>
                <a:t>95% CI</a:t>
              </a:r>
              <a:r>
                <a:rPr lang="zh-CN" altLang="en-US" sz="1050" dirty="0">
                  <a:solidFill>
                    <a:prstClr val="black"/>
                  </a:solidFill>
                  <a:latin typeface="Microsoft YaHei"/>
                  <a:ea typeface="Microsoft YaHei"/>
                </a:rPr>
                <a:t>：</a:t>
              </a:r>
              <a:r>
                <a:rPr lang="en-US" altLang="zh-CN" sz="1050" dirty="0">
                  <a:solidFill>
                    <a:prstClr val="black"/>
                  </a:solidFill>
                  <a:latin typeface="Microsoft YaHei"/>
                  <a:ea typeface="Microsoft YaHei"/>
                </a:rPr>
                <a:t>0.31-0.84</a:t>
              </a:r>
              <a:r>
                <a:rPr lang="zh-CN" altLang="en-US" sz="1050" dirty="0">
                  <a:solidFill>
                    <a:prstClr val="black"/>
                  </a:solidFill>
                  <a:latin typeface="Microsoft YaHei"/>
                  <a:ea typeface="Microsoft YaHei"/>
                </a:rPr>
                <a:t>）</a:t>
              </a:r>
              <a:endParaRPr lang="en-US" altLang="zh-CN" sz="1050" dirty="0">
                <a:solidFill>
                  <a:prstClr val="black"/>
                </a:solidFill>
                <a:latin typeface="Microsoft YaHei"/>
                <a:ea typeface="Microsoft YaHei"/>
              </a:endParaRPr>
            </a:p>
            <a:p>
              <a:pPr eaLnBrk="1" fontAlgn="auto" hangingPunct="1">
                <a:spcBef>
                  <a:spcPts val="0"/>
                </a:spcBef>
                <a:spcAft>
                  <a:spcPts val="0"/>
                </a:spcAft>
              </a:pPr>
              <a:r>
                <a:rPr lang="en-US" altLang="zh-CN" sz="1050" dirty="0">
                  <a:solidFill>
                    <a:prstClr val="black"/>
                  </a:solidFill>
                  <a:latin typeface="Microsoft YaHei"/>
                  <a:ea typeface="Microsoft YaHei"/>
                </a:rPr>
                <a:t>P=0.008</a:t>
              </a:r>
              <a:endParaRPr lang="zh-CN" altLang="en-US" sz="2800" dirty="0">
                <a:solidFill>
                  <a:prstClr val="black"/>
                </a:solidFill>
                <a:latin typeface="Microsoft YaHei"/>
                <a:ea typeface="Microsoft YaHei"/>
              </a:endParaRPr>
            </a:p>
          </p:txBody>
        </p:sp>
        <p:sp>
          <p:nvSpPr>
            <p:cNvPr id="64" name="矩形 63"/>
            <p:cNvSpPr/>
            <p:nvPr/>
          </p:nvSpPr>
          <p:spPr>
            <a:xfrm>
              <a:off x="1012820" y="1289541"/>
              <a:ext cx="3319851" cy="578787"/>
            </a:xfrm>
            <a:prstGeom prst="rect">
              <a:avLst/>
            </a:prstGeom>
            <a:noFill/>
          </p:spPr>
          <p:txBody>
            <a:bodyPr wrap="square" anchor="ctr">
              <a:spAutoFit/>
            </a:bodyPr>
            <a:lstStyle/>
            <a:p>
              <a:pPr>
                <a:lnSpc>
                  <a:spcPct val="114000"/>
                </a:lnSpc>
              </a:pPr>
              <a:r>
                <a:rPr lang="zh-CN" altLang="zh-CN" sz="1100" dirty="0">
                  <a:solidFill>
                    <a:srgbClr val="000000"/>
                  </a:solidFill>
                  <a:latin typeface="Microsoft YaHei"/>
                  <a:ea typeface="Microsoft YaHei"/>
                  <a:cs typeface="Times New Roman" panose="02020603050405020304" pitchFamily="18" charset="0"/>
                </a:rPr>
                <a:t>由于</a:t>
              </a:r>
              <a:r>
                <a:rPr lang="en-US" altLang="zh-CN" sz="1100" dirty="0">
                  <a:solidFill>
                    <a:srgbClr val="000000"/>
                  </a:solidFill>
                  <a:latin typeface="Microsoft YaHei"/>
                  <a:ea typeface="Microsoft YaHei"/>
                  <a:cs typeface="Times New Roman" panose="02020603050405020304" pitchFamily="18" charset="0"/>
                </a:rPr>
                <a:t>HFS</a:t>
              </a:r>
              <a:r>
                <a:rPr lang="zh-CN" altLang="zh-CN" sz="1100" dirty="0">
                  <a:solidFill>
                    <a:srgbClr val="000000"/>
                  </a:solidFill>
                  <a:latin typeface="Microsoft YaHei"/>
                  <a:ea typeface="Microsoft YaHei"/>
                  <a:cs typeface="Times New Roman" panose="02020603050405020304" pitchFamily="18" charset="0"/>
                </a:rPr>
                <a:t>与</a:t>
              </a:r>
              <a:r>
                <a:rPr lang="en-US" altLang="zh-CN" sz="1100" dirty="0">
                  <a:solidFill>
                    <a:prstClr val="black"/>
                  </a:solidFill>
                  <a:latin typeface="Microsoft YaHei"/>
                  <a:ea typeface="Microsoft YaHei"/>
                </a:rPr>
                <a:t>Vit B6</a:t>
              </a:r>
              <a:r>
                <a:rPr lang="zh-CN" altLang="zh-CN" sz="1100" dirty="0">
                  <a:solidFill>
                    <a:srgbClr val="000000"/>
                  </a:solidFill>
                  <a:latin typeface="Microsoft YaHei"/>
                  <a:ea typeface="Microsoft YaHei"/>
                  <a:cs typeface="Times New Roman" panose="02020603050405020304" pitchFamily="18" charset="0"/>
                </a:rPr>
                <a:t>缺乏引起的肢端疼痛症相似</a:t>
              </a:r>
              <a:r>
                <a:rPr lang="en-US" altLang="zh-CN" sz="1100" baseline="30000" dirty="0">
                  <a:solidFill>
                    <a:prstClr val="black"/>
                  </a:solidFill>
                  <a:latin typeface="Microsoft YaHei"/>
                  <a:ea typeface="Microsoft YaHei"/>
                  <a:cs typeface="Times New Roman" panose="02020603050405020304" pitchFamily="18" charset="0"/>
                </a:rPr>
                <a:t>1</a:t>
              </a:r>
              <a:r>
                <a:rPr lang="zh-CN" altLang="zh-CN" sz="1100" dirty="0">
                  <a:solidFill>
                    <a:srgbClr val="000000"/>
                  </a:solidFill>
                  <a:latin typeface="Microsoft YaHei"/>
                  <a:ea typeface="Microsoft YaHei"/>
                  <a:cs typeface="Times New Roman" panose="02020603050405020304" pitchFamily="18" charset="0"/>
                </a:rPr>
                <a:t>，而</a:t>
              </a:r>
              <a:r>
                <a:rPr lang="en-US" altLang="zh-CN" sz="1100" dirty="0">
                  <a:solidFill>
                    <a:prstClr val="black"/>
                  </a:solidFill>
                  <a:latin typeface="Microsoft YaHei"/>
                  <a:ea typeface="Microsoft YaHei"/>
                </a:rPr>
                <a:t>Vit B6</a:t>
              </a:r>
              <a:r>
                <a:rPr lang="zh-CN" altLang="zh-CN" sz="1100" dirty="0">
                  <a:solidFill>
                    <a:srgbClr val="000000"/>
                  </a:solidFill>
                  <a:latin typeface="Microsoft YaHei"/>
                  <a:ea typeface="Microsoft YaHei"/>
                  <a:cs typeface="Times New Roman" panose="02020603050405020304" pitchFamily="18" charset="0"/>
                </a:rPr>
                <a:t>有助于加速皮肤屏障的修复，防止上皮增生</a:t>
              </a:r>
              <a:r>
                <a:rPr lang="en-US" altLang="zh-CN" sz="1100" baseline="30000" dirty="0">
                  <a:solidFill>
                    <a:prstClr val="black"/>
                  </a:solidFill>
                  <a:latin typeface="Microsoft YaHei"/>
                  <a:ea typeface="Microsoft YaHei"/>
                  <a:cs typeface="Times New Roman" panose="02020603050405020304" pitchFamily="18" charset="0"/>
                </a:rPr>
                <a:t>2</a:t>
              </a:r>
              <a:endParaRPr lang="zh-CN" altLang="en-US" sz="1100" baseline="30000" dirty="0">
                <a:solidFill>
                  <a:prstClr val="black"/>
                </a:solidFill>
                <a:latin typeface="Microsoft YaHei"/>
                <a:ea typeface="Microsoft YaHei"/>
              </a:endParaRPr>
            </a:p>
          </p:txBody>
        </p:sp>
        <p:sp>
          <p:nvSpPr>
            <p:cNvPr id="65" name="矩形 64"/>
            <p:cNvSpPr/>
            <p:nvPr/>
          </p:nvSpPr>
          <p:spPr>
            <a:xfrm>
              <a:off x="5206877" y="1431201"/>
              <a:ext cx="3086431" cy="295466"/>
            </a:xfrm>
            <a:prstGeom prst="rect">
              <a:avLst/>
            </a:prstGeom>
          </p:spPr>
          <p:txBody>
            <a:bodyPr wrap="square" anchor="ctr">
              <a:spAutoFit/>
            </a:bodyPr>
            <a:lstStyle/>
            <a:p>
              <a:pPr>
                <a:lnSpc>
                  <a:spcPct val="120000"/>
                </a:lnSpc>
              </a:pPr>
              <a:r>
                <a:rPr lang="zh-CN" altLang="zh-CN" sz="1100" b="1" dirty="0">
                  <a:solidFill>
                    <a:srgbClr val="000000"/>
                  </a:solidFill>
                  <a:latin typeface="Microsoft YaHei"/>
                  <a:ea typeface="Microsoft YaHei"/>
                  <a:cs typeface="Times New Roman" panose="02020603050405020304" pitchFamily="18" charset="0"/>
                </a:rPr>
                <a:t>临床</a:t>
              </a:r>
              <a:r>
                <a:rPr lang="zh-CN" altLang="en-US" sz="1100" b="1" dirty="0">
                  <a:solidFill>
                    <a:srgbClr val="000000"/>
                  </a:solidFill>
                  <a:latin typeface="Microsoft YaHei"/>
                  <a:ea typeface="Microsoft YaHei"/>
                  <a:cs typeface="Times New Roman" panose="02020603050405020304" pitchFamily="18" charset="0"/>
                </a:rPr>
                <a:t>上常使用</a:t>
              </a:r>
              <a:r>
                <a:rPr lang="en-US" altLang="zh-CN" sz="1100" b="1" dirty="0">
                  <a:solidFill>
                    <a:srgbClr val="000000"/>
                  </a:solidFill>
                  <a:latin typeface="Microsoft YaHei"/>
                  <a:ea typeface="Microsoft YaHei"/>
                  <a:cs typeface="Times New Roman" panose="02020603050405020304" pitchFamily="18" charset="0"/>
                </a:rPr>
                <a:t>Vit</a:t>
              </a:r>
              <a:r>
                <a:rPr lang="zh-CN" altLang="en-US" sz="1100" b="1" dirty="0">
                  <a:solidFill>
                    <a:srgbClr val="000000"/>
                  </a:solidFill>
                  <a:latin typeface="Microsoft YaHei"/>
                  <a:ea typeface="Microsoft YaHei"/>
                  <a:cs typeface="Times New Roman" panose="02020603050405020304" pitchFamily="18" charset="0"/>
                </a:rPr>
                <a:t> </a:t>
              </a:r>
              <a:r>
                <a:rPr lang="en-US" altLang="zh-CN" sz="1100" b="1" dirty="0">
                  <a:solidFill>
                    <a:srgbClr val="000000"/>
                  </a:solidFill>
                  <a:latin typeface="Microsoft YaHei"/>
                  <a:ea typeface="Microsoft YaHei"/>
                  <a:cs typeface="Times New Roman" panose="02020603050405020304" pitchFamily="18" charset="0"/>
                </a:rPr>
                <a:t>B6</a:t>
              </a:r>
              <a:r>
                <a:rPr lang="zh-CN" altLang="en-US" sz="1100" b="1" dirty="0">
                  <a:solidFill>
                    <a:srgbClr val="000000"/>
                  </a:solidFill>
                  <a:latin typeface="Microsoft YaHei"/>
                  <a:ea typeface="Microsoft YaHei"/>
                  <a:cs typeface="Times New Roman" panose="02020603050405020304" pitchFamily="18" charset="0"/>
                </a:rPr>
                <a:t>治疗卡培他滨诱发的</a:t>
              </a:r>
              <a:r>
                <a:rPr lang="en-US" altLang="zh-CN" sz="1100" b="1" dirty="0">
                  <a:solidFill>
                    <a:srgbClr val="000000"/>
                  </a:solidFill>
                  <a:latin typeface="Microsoft YaHei"/>
                  <a:ea typeface="Microsoft YaHei"/>
                  <a:cs typeface="Times New Roman" panose="02020603050405020304" pitchFamily="18" charset="0"/>
                </a:rPr>
                <a:t>HFS</a:t>
              </a:r>
              <a:r>
                <a:rPr lang="en-US" altLang="zh-CN" sz="1100" b="1" baseline="30000" dirty="0">
                  <a:solidFill>
                    <a:srgbClr val="000000"/>
                  </a:solidFill>
                  <a:latin typeface="Microsoft YaHei"/>
                  <a:ea typeface="Microsoft YaHei"/>
                  <a:cs typeface="Times New Roman" panose="02020603050405020304" pitchFamily="18" charset="0"/>
                </a:rPr>
                <a:t>3</a:t>
              </a:r>
              <a:endParaRPr lang="zh-CN" altLang="en-US" sz="1100" b="1" baseline="30000" dirty="0">
                <a:solidFill>
                  <a:prstClr val="black"/>
                </a:solidFill>
                <a:latin typeface="Microsoft YaHei"/>
                <a:ea typeface="Microsoft YaHei"/>
              </a:endParaRPr>
            </a:p>
          </p:txBody>
        </p:sp>
        <p:sp>
          <p:nvSpPr>
            <p:cNvPr id="66" name="矩形 65"/>
            <p:cNvSpPr/>
            <p:nvPr/>
          </p:nvSpPr>
          <p:spPr>
            <a:xfrm>
              <a:off x="754251" y="6169039"/>
              <a:ext cx="7797512" cy="400110"/>
            </a:xfrm>
            <a:prstGeom prst="rect">
              <a:avLst/>
            </a:prstGeom>
          </p:spPr>
          <p:txBody>
            <a:bodyPr wrap="square">
              <a:spAutoFit/>
            </a:bodyPr>
            <a:lstStyle/>
            <a:p>
              <a:pPr marL="171450" indent="-171450">
                <a:buFont typeface="Arial" panose="020B0604020202020204" pitchFamily="34" charset="0"/>
                <a:buChar char="•"/>
              </a:pPr>
              <a:r>
                <a:rPr lang="zh-CN" altLang="en-US" sz="1000" dirty="0" smtClean="0">
                  <a:solidFill>
                    <a:prstClr val="black"/>
                  </a:solidFill>
                  <a:latin typeface="微软雅黑"/>
                  <a:ea typeface="微软雅黑"/>
                  <a:cs typeface="+mn-ea"/>
                  <a:sym typeface="+mn-lt"/>
                </a:rPr>
                <a:t>对来自英国</a:t>
              </a:r>
              <a:r>
                <a:rPr lang="en-US" altLang="zh-CN" sz="1000" dirty="0" smtClean="0">
                  <a:solidFill>
                    <a:prstClr val="black"/>
                  </a:solidFill>
                  <a:latin typeface="微软雅黑"/>
                  <a:ea typeface="微软雅黑"/>
                  <a:cs typeface="+mn-ea"/>
                  <a:sym typeface="+mn-lt"/>
                </a:rPr>
                <a:t>10</a:t>
              </a:r>
              <a:r>
                <a:rPr lang="zh-CN" altLang="en-US" sz="1000" dirty="0">
                  <a:solidFill>
                    <a:prstClr val="black"/>
                  </a:solidFill>
                  <a:latin typeface="微软雅黑"/>
                  <a:ea typeface="微软雅黑"/>
                  <a:cs typeface="+mn-ea"/>
                  <a:sym typeface="+mn-lt"/>
                </a:rPr>
                <a:t>家</a:t>
              </a:r>
              <a:r>
                <a:rPr lang="zh-CN" altLang="en-US" sz="1000" dirty="0" smtClean="0">
                  <a:solidFill>
                    <a:prstClr val="black"/>
                  </a:solidFill>
                  <a:latin typeface="微软雅黑"/>
                  <a:ea typeface="微软雅黑"/>
                  <a:cs typeface="+mn-ea"/>
                  <a:sym typeface="+mn-lt"/>
                </a:rPr>
                <a:t>研究中心、</a:t>
              </a:r>
              <a:r>
                <a:rPr lang="en-US" altLang="zh-CN" sz="1000" dirty="0" smtClean="0">
                  <a:solidFill>
                    <a:prstClr val="black"/>
                  </a:solidFill>
                  <a:latin typeface="微软雅黑"/>
                  <a:ea typeface="微软雅黑"/>
                  <a:cs typeface="+mn-ea"/>
                  <a:sym typeface="+mn-lt"/>
                </a:rPr>
                <a:t>106</a:t>
              </a:r>
              <a:r>
                <a:rPr lang="zh-CN" altLang="en-US" sz="1000" dirty="0" smtClean="0">
                  <a:solidFill>
                    <a:prstClr val="black"/>
                  </a:solidFill>
                  <a:latin typeface="微软雅黑"/>
                  <a:ea typeface="微软雅黑"/>
                  <a:cs typeface="+mn-ea"/>
                  <a:sym typeface="+mn-lt"/>
                </a:rPr>
                <a:t>例接受卡培他滨治疗的晚期</a:t>
              </a:r>
              <a:r>
                <a:rPr lang="en-US" altLang="zh-CN" sz="1000" dirty="0" smtClean="0">
                  <a:solidFill>
                    <a:prstClr val="black"/>
                  </a:solidFill>
                  <a:latin typeface="微软雅黑"/>
                  <a:ea typeface="微软雅黑"/>
                  <a:cs typeface="+mn-ea"/>
                  <a:sym typeface="+mn-lt"/>
                </a:rPr>
                <a:t>CRC</a:t>
              </a:r>
              <a:r>
                <a:rPr lang="zh-CN" altLang="en-US" sz="1000" dirty="0" smtClean="0">
                  <a:solidFill>
                    <a:prstClr val="black"/>
                  </a:solidFill>
                  <a:latin typeface="微软雅黑"/>
                  <a:ea typeface="微软雅黑"/>
                  <a:cs typeface="+mn-ea"/>
                  <a:sym typeface="+mn-lt"/>
                </a:rPr>
                <a:t>或乳腺癌患者进行</a:t>
              </a:r>
              <a:r>
                <a:rPr lang="zh-CN" altLang="en-US" sz="1000" dirty="0">
                  <a:solidFill>
                    <a:prstClr val="black"/>
                  </a:solidFill>
                  <a:latin typeface="微软雅黑"/>
                  <a:ea typeface="微软雅黑"/>
                  <a:cs typeface="+mn-ea"/>
                  <a:sym typeface="+mn-lt"/>
                </a:rPr>
                <a:t>的一项多中心、双盲、随机、安慰剂</a:t>
              </a:r>
              <a:r>
                <a:rPr lang="zh-CN" altLang="en-US" sz="1000" dirty="0" smtClean="0">
                  <a:solidFill>
                    <a:prstClr val="black"/>
                  </a:solidFill>
                  <a:latin typeface="微软雅黑"/>
                  <a:ea typeface="微软雅黑"/>
                  <a:cs typeface="+mn-ea"/>
                  <a:sym typeface="+mn-lt"/>
                </a:rPr>
                <a:t>对照、</a:t>
              </a:r>
              <a:r>
                <a:rPr lang="en-US" altLang="zh-CN" sz="1000" dirty="0" smtClean="0">
                  <a:solidFill>
                    <a:prstClr val="black"/>
                  </a:solidFill>
                  <a:latin typeface="微软雅黑"/>
                  <a:ea typeface="微软雅黑"/>
                  <a:cs typeface="+mn-ea"/>
                  <a:sym typeface="+mn-lt"/>
                </a:rPr>
                <a:t>III</a:t>
              </a:r>
              <a:r>
                <a:rPr lang="zh-CN" altLang="en-US" sz="1000" dirty="0">
                  <a:solidFill>
                    <a:prstClr val="black"/>
                  </a:solidFill>
                  <a:latin typeface="微软雅黑"/>
                  <a:ea typeface="微软雅黑"/>
                  <a:cs typeface="+mn-ea"/>
                  <a:sym typeface="+mn-lt"/>
                </a:rPr>
                <a:t>期研究</a:t>
              </a:r>
              <a:r>
                <a:rPr lang="zh-CN" altLang="en-US" sz="1000" dirty="0" smtClean="0">
                  <a:solidFill>
                    <a:prstClr val="black"/>
                  </a:solidFill>
                  <a:latin typeface="微软雅黑"/>
                  <a:ea typeface="微软雅黑"/>
                  <a:cs typeface="+mn-ea"/>
                  <a:sym typeface="+mn-lt"/>
                </a:rPr>
                <a:t>，旨在</a:t>
              </a:r>
              <a:r>
                <a:rPr lang="zh-CN" altLang="en-US" sz="1000" dirty="0">
                  <a:latin typeface="+mn-ea"/>
                  <a:ea typeface="+mn-ea"/>
                </a:rPr>
                <a:t>确定</a:t>
              </a:r>
              <a:r>
                <a:rPr lang="en-US" altLang="zh-CN" sz="1000" dirty="0" err="1">
                  <a:latin typeface="+mn-ea"/>
                  <a:ea typeface="+mn-ea"/>
                </a:rPr>
                <a:t>Vit</a:t>
              </a:r>
              <a:r>
                <a:rPr lang="en-US" altLang="zh-CN" sz="1000" dirty="0">
                  <a:latin typeface="+mn-ea"/>
                  <a:ea typeface="+mn-ea"/>
                </a:rPr>
                <a:t> B6</a:t>
              </a:r>
              <a:r>
                <a:rPr lang="zh-CN" altLang="en-US" sz="1000" dirty="0">
                  <a:latin typeface="+mn-ea"/>
                  <a:ea typeface="+mn-ea"/>
                </a:rPr>
                <a:t>是否可以使卡培他滨免于进行剂量调整，并改善患者</a:t>
              </a:r>
              <a:r>
                <a:rPr lang="zh-CN" altLang="en-US" sz="1000" dirty="0" smtClean="0">
                  <a:latin typeface="+mn-ea"/>
                  <a:ea typeface="+mn-ea"/>
                </a:rPr>
                <a:t>预后</a:t>
              </a:r>
              <a:endParaRPr lang="zh-CN" altLang="en-US" sz="1000" dirty="0">
                <a:solidFill>
                  <a:prstClr val="black"/>
                </a:solidFill>
                <a:latin typeface="+mn-ea"/>
                <a:ea typeface="+mn-ea"/>
                <a:cs typeface="+mn-ea"/>
                <a:sym typeface="+mn-lt"/>
              </a:endParaRPr>
            </a:p>
          </p:txBody>
        </p:sp>
      </p:grpSp>
      <p:sp>
        <p:nvSpPr>
          <p:cNvPr id="14" name="矩形 13"/>
          <p:cNvSpPr/>
          <p:nvPr/>
        </p:nvSpPr>
        <p:spPr>
          <a:xfrm>
            <a:off x="4580546" y="6670485"/>
            <a:ext cx="4572000" cy="215444"/>
          </a:xfrm>
          <a:prstGeom prst="rect">
            <a:avLst/>
          </a:prstGeom>
        </p:spPr>
        <p:txBody>
          <a:bodyPr anchor="b">
            <a:spAutoFit/>
          </a:bodyPr>
          <a:lstStyle/>
          <a:p>
            <a:pPr marL="228600" indent="-228600" algn="r" eaLnBrk="1" fontAlgn="auto" hangingPunct="1">
              <a:spcBef>
                <a:spcPts val="0"/>
              </a:spcBef>
              <a:spcAft>
                <a:spcPts val="0"/>
              </a:spcAft>
              <a:buFont typeface="+mj-lt"/>
              <a:buAutoNum type="arabicPeriod" startAt="3"/>
            </a:pPr>
            <a:r>
              <a:rPr lang="zh-CN" altLang="en-US" sz="800" dirty="0" smtClean="0">
                <a:solidFill>
                  <a:prstClr val="black"/>
                </a:solidFill>
                <a:latin typeface="Microsoft YaHei"/>
                <a:ea typeface="Microsoft YaHei"/>
              </a:rPr>
              <a:t>Corrie </a:t>
            </a:r>
            <a:r>
              <a:rPr lang="zh-CN" altLang="en-US" sz="800" dirty="0">
                <a:solidFill>
                  <a:prstClr val="black"/>
                </a:solidFill>
                <a:latin typeface="Microsoft YaHei"/>
                <a:ea typeface="Microsoft YaHei"/>
              </a:rPr>
              <a:t>PG et al., Br J Cancer. 2012;107(4):585-7. </a:t>
            </a:r>
          </a:p>
        </p:txBody>
      </p:sp>
      <p:sp>
        <p:nvSpPr>
          <p:cNvPr id="15" name="矩形 14"/>
          <p:cNvSpPr/>
          <p:nvPr/>
        </p:nvSpPr>
        <p:spPr>
          <a:xfrm>
            <a:off x="1762713" y="6670485"/>
            <a:ext cx="4572000" cy="215444"/>
          </a:xfrm>
          <a:prstGeom prst="rect">
            <a:avLst/>
          </a:prstGeom>
        </p:spPr>
        <p:txBody>
          <a:bodyPr anchor="b">
            <a:spAutoFit/>
          </a:bodyPr>
          <a:lstStyle/>
          <a:p>
            <a:pPr marL="228600" indent="-228600" algn="r" eaLnBrk="1" fontAlgn="auto" hangingPunct="1">
              <a:spcBef>
                <a:spcPts val="0"/>
              </a:spcBef>
              <a:spcAft>
                <a:spcPts val="0"/>
              </a:spcAft>
              <a:buFont typeface="+mj-lt"/>
              <a:buAutoNum type="arabicPeriod" startAt="2"/>
            </a:pPr>
            <a:r>
              <a:rPr lang="zh-CN" altLang="en-US" sz="800" dirty="0" smtClean="0">
                <a:solidFill>
                  <a:prstClr val="black"/>
                </a:solidFill>
                <a:latin typeface="Microsoft YaHei"/>
                <a:ea typeface="Microsoft YaHei"/>
              </a:rPr>
              <a:t>Saif </a:t>
            </a:r>
            <a:r>
              <a:rPr lang="zh-CN" altLang="en-US" sz="800" dirty="0">
                <a:solidFill>
                  <a:prstClr val="black"/>
                </a:solidFill>
                <a:latin typeface="Microsoft YaHei"/>
                <a:ea typeface="Microsoft YaHei"/>
              </a:rPr>
              <a:t>MW, Elfiky AA. J Support Oncol. 2007;5(7):337-43</a:t>
            </a:r>
            <a:r>
              <a:rPr lang="zh-CN" altLang="en-US" sz="800" dirty="0" smtClean="0">
                <a:solidFill>
                  <a:prstClr val="black"/>
                </a:solidFill>
                <a:latin typeface="Microsoft YaHei"/>
                <a:ea typeface="Microsoft YaHei"/>
              </a:rPr>
              <a:t>.</a:t>
            </a:r>
            <a:endParaRPr lang="en-US" altLang="zh-CN" sz="800" dirty="0">
              <a:solidFill>
                <a:prstClr val="black"/>
              </a:solidFill>
              <a:latin typeface="Microsoft YaHei"/>
              <a:ea typeface="Microsoft YaHei"/>
            </a:endParaRPr>
          </a:p>
        </p:txBody>
      </p:sp>
      <p:sp>
        <p:nvSpPr>
          <p:cNvPr id="18" name="矩形 17"/>
          <p:cNvSpPr/>
          <p:nvPr/>
        </p:nvSpPr>
        <p:spPr>
          <a:xfrm>
            <a:off x="-1478772" y="6670485"/>
            <a:ext cx="4572000" cy="215444"/>
          </a:xfrm>
          <a:prstGeom prst="rect">
            <a:avLst/>
          </a:prstGeom>
        </p:spPr>
        <p:txBody>
          <a:bodyPr anchor="b">
            <a:spAutoFit/>
          </a:bodyPr>
          <a:lstStyle/>
          <a:p>
            <a:pPr marL="180000" indent="-180000" algn="r" eaLnBrk="1" fontAlgn="auto" hangingPunct="1">
              <a:spcBef>
                <a:spcPts val="0"/>
              </a:spcBef>
              <a:spcAft>
                <a:spcPts val="0"/>
              </a:spcAft>
              <a:buFont typeface="+mj-lt"/>
              <a:buAutoNum type="arabicPeriod"/>
            </a:pPr>
            <a:r>
              <a:rPr lang="zh-CN" altLang="en-US" sz="800" dirty="0">
                <a:solidFill>
                  <a:prstClr val="black"/>
                </a:solidFill>
                <a:latin typeface="Microsoft YaHei"/>
                <a:ea typeface="Microsoft YaHei"/>
              </a:rPr>
              <a:t>Yap YS et al., JAMA Oncol. 2017;3(11):1538-1545. </a:t>
            </a:r>
          </a:p>
        </p:txBody>
      </p:sp>
    </p:spTree>
    <p:extLst>
      <p:ext uri="{BB962C8B-B14F-4D97-AF65-F5344CB8AC3E}">
        <p14:creationId xmlns:p14="http://schemas.microsoft.com/office/powerpoint/2010/main" val="34350977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600" dirty="0">
                <a:latin typeface="+mn-lt"/>
                <a:ea typeface="+mn-ea"/>
                <a:cs typeface="+mn-ea"/>
                <a:sym typeface="+mn-lt"/>
              </a:rPr>
              <a:t>Vit B6</a:t>
            </a:r>
            <a:r>
              <a:rPr lang="zh-CN" altLang="en-US" sz="2600" dirty="0">
                <a:latin typeface="+mn-lt"/>
                <a:ea typeface="+mn-ea"/>
                <a:cs typeface="+mn-ea"/>
                <a:sym typeface="+mn-lt"/>
              </a:rPr>
              <a:t>显著</a:t>
            </a:r>
            <a:r>
              <a:rPr lang="zh-CN" altLang="en-US" sz="2600" dirty="0" smtClean="0">
                <a:latin typeface="+mn-lt"/>
                <a:ea typeface="+mn-ea"/>
                <a:cs typeface="+mn-ea"/>
                <a:sym typeface="+mn-lt"/>
              </a:rPr>
              <a:t>增加化疗相关性</a:t>
            </a:r>
            <a:r>
              <a:rPr lang="en-US" altLang="zh-CN" sz="2600" dirty="0">
                <a:latin typeface="+mn-lt"/>
                <a:ea typeface="+mn-ea"/>
                <a:cs typeface="+mn-ea"/>
                <a:sym typeface="+mn-lt"/>
              </a:rPr>
              <a:t>HFS</a:t>
            </a:r>
            <a:r>
              <a:rPr lang="zh-CN" altLang="en-US" sz="2600" dirty="0">
                <a:latin typeface="+mn-lt"/>
                <a:ea typeface="+mn-ea"/>
                <a:cs typeface="+mn-ea"/>
                <a:sym typeface="+mn-lt"/>
              </a:rPr>
              <a:t>的症状改善比例</a:t>
            </a:r>
          </a:p>
        </p:txBody>
      </p:sp>
      <p:sp>
        <p:nvSpPr>
          <p:cNvPr id="4" name="矩形 3"/>
          <p:cNvSpPr/>
          <p:nvPr/>
        </p:nvSpPr>
        <p:spPr>
          <a:xfrm>
            <a:off x="4018003" y="6628368"/>
            <a:ext cx="5125998" cy="230832"/>
          </a:xfrm>
          <a:prstGeom prst="rect">
            <a:avLst/>
          </a:prstGeom>
        </p:spPr>
        <p:txBody>
          <a:bodyPr wrap="square">
            <a:spAutoFit/>
          </a:bodyPr>
          <a:lstStyle/>
          <a:p>
            <a:pPr algn="r" eaLnBrk="1" fontAlgn="auto" hangingPunct="1">
              <a:spcBef>
                <a:spcPts val="0"/>
              </a:spcBef>
              <a:spcAft>
                <a:spcPts val="0"/>
              </a:spcAft>
              <a:defRPr/>
            </a:pPr>
            <a:r>
              <a:rPr lang="en-US" altLang="zh-CN" sz="900" dirty="0">
                <a:solidFill>
                  <a:prstClr val="black"/>
                </a:solidFill>
                <a:latin typeface="微软雅黑"/>
                <a:ea typeface="微软雅黑"/>
                <a:cs typeface="+mn-ea"/>
                <a:sym typeface="+mn-lt"/>
              </a:rPr>
              <a:t>Joanne E Mortimer et al., J </a:t>
            </a:r>
            <a:r>
              <a:rPr lang="en-US" altLang="zh-CN" sz="900" dirty="0" err="1">
                <a:solidFill>
                  <a:prstClr val="black"/>
                </a:solidFill>
                <a:latin typeface="微软雅黑"/>
                <a:ea typeface="微软雅黑"/>
                <a:cs typeface="+mn-ea"/>
                <a:sym typeface="+mn-lt"/>
              </a:rPr>
              <a:t>Oncol</a:t>
            </a:r>
            <a:r>
              <a:rPr lang="en-US" altLang="zh-CN" sz="900" dirty="0">
                <a:solidFill>
                  <a:prstClr val="black"/>
                </a:solidFill>
                <a:latin typeface="微软雅黑"/>
                <a:ea typeface="微软雅黑"/>
                <a:cs typeface="+mn-ea"/>
                <a:sym typeface="+mn-lt"/>
              </a:rPr>
              <a:t> Pharm Practice 2003;4(9):161-166.</a:t>
            </a:r>
          </a:p>
        </p:txBody>
      </p:sp>
      <p:grpSp>
        <p:nvGrpSpPr>
          <p:cNvPr id="7" name="组合 6"/>
          <p:cNvGrpSpPr/>
          <p:nvPr/>
        </p:nvGrpSpPr>
        <p:grpSpPr>
          <a:xfrm>
            <a:off x="262191" y="1146077"/>
            <a:ext cx="8419306" cy="4547379"/>
            <a:chOff x="262191" y="1146077"/>
            <a:chExt cx="8419306" cy="4547379"/>
          </a:xfrm>
        </p:grpSpPr>
        <p:sp>
          <p:nvSpPr>
            <p:cNvPr id="25" name="矩形 24"/>
            <p:cNvSpPr/>
            <p:nvPr/>
          </p:nvSpPr>
          <p:spPr>
            <a:xfrm>
              <a:off x="573088" y="5416457"/>
              <a:ext cx="7797512" cy="276999"/>
            </a:xfrm>
            <a:prstGeom prst="rect">
              <a:avLst/>
            </a:prstGeom>
          </p:spPr>
          <p:txBody>
            <a:bodyPr wrap="square">
              <a:spAutoFit/>
            </a:bodyPr>
            <a:lstStyle/>
            <a:p>
              <a:pPr marL="171450" indent="-171450" eaLnBrk="1" fontAlgn="auto" hangingPunct="1">
                <a:lnSpc>
                  <a:spcPct val="120000"/>
                </a:lnSpc>
                <a:spcBef>
                  <a:spcPts val="0"/>
                </a:spcBef>
                <a:spcAft>
                  <a:spcPts val="0"/>
                </a:spcAft>
                <a:buFont typeface="Arial" panose="020B0604020202020204" pitchFamily="34" charset="0"/>
                <a:buChar char="•"/>
              </a:pPr>
              <a:r>
                <a:rPr lang="zh-CN" altLang="en-US" sz="1000" dirty="0" smtClean="0">
                  <a:solidFill>
                    <a:prstClr val="black"/>
                  </a:solidFill>
                  <a:latin typeface="微软雅黑"/>
                  <a:ea typeface="微软雅黑"/>
                  <a:cs typeface="+mn-ea"/>
                  <a:sym typeface="+mn-lt"/>
                </a:rPr>
                <a:t>对年龄</a:t>
              </a:r>
              <a:r>
                <a:rPr lang="zh-CN" altLang="en-US" sz="1000" dirty="0">
                  <a:solidFill>
                    <a:prstClr val="black"/>
                  </a:solidFill>
                  <a:latin typeface="微软雅黑"/>
                  <a:ea typeface="微软雅黑"/>
                  <a:cs typeface="+mn-ea"/>
                  <a:sym typeface="+mn-lt"/>
                </a:rPr>
                <a:t>≥</a:t>
              </a:r>
              <a:r>
                <a:rPr lang="en-US" altLang="zh-CN" sz="1000" dirty="0">
                  <a:solidFill>
                    <a:prstClr val="black"/>
                  </a:solidFill>
                  <a:latin typeface="微软雅黑"/>
                  <a:ea typeface="微软雅黑"/>
                  <a:cs typeface="+mn-ea"/>
                  <a:sym typeface="+mn-lt"/>
                </a:rPr>
                <a:t>18</a:t>
              </a:r>
              <a:r>
                <a:rPr lang="zh-CN" altLang="en-US" sz="1000" dirty="0">
                  <a:solidFill>
                    <a:prstClr val="black"/>
                  </a:solidFill>
                  <a:latin typeface="微软雅黑"/>
                  <a:ea typeface="微软雅黑"/>
                  <a:cs typeface="+mn-ea"/>
                  <a:sym typeface="+mn-lt"/>
                </a:rPr>
                <a:t>岁且正在</a:t>
              </a:r>
              <a:r>
                <a:rPr lang="zh-CN" altLang="en-US" sz="1000" dirty="0" smtClean="0">
                  <a:solidFill>
                    <a:prstClr val="black"/>
                  </a:solidFill>
                  <a:latin typeface="微软雅黑"/>
                  <a:ea typeface="微软雅黑"/>
                  <a:cs typeface="+mn-ea"/>
                  <a:sym typeface="+mn-lt"/>
                </a:rPr>
                <a:t>接受化疗治疗</a:t>
              </a:r>
              <a:r>
                <a:rPr lang="zh-CN" altLang="en-US" sz="1000" dirty="0">
                  <a:solidFill>
                    <a:prstClr val="black"/>
                  </a:solidFill>
                  <a:latin typeface="微软雅黑"/>
                  <a:ea typeface="微软雅黑"/>
                  <a:cs typeface="+mn-ea"/>
                  <a:sym typeface="+mn-lt"/>
                </a:rPr>
                <a:t>的</a:t>
              </a:r>
              <a:r>
                <a:rPr lang="zh-CN" altLang="en-US" sz="1000" dirty="0" smtClean="0">
                  <a:solidFill>
                    <a:prstClr val="black"/>
                  </a:solidFill>
                  <a:latin typeface="微软雅黑"/>
                  <a:ea typeface="微软雅黑"/>
                  <a:cs typeface="+mn-ea"/>
                  <a:sym typeface="+mn-lt"/>
                </a:rPr>
                <a:t>乳腺癌或</a:t>
              </a:r>
              <a:r>
                <a:rPr lang="en-US" altLang="zh-CN" sz="1000" dirty="0" smtClean="0">
                  <a:solidFill>
                    <a:prstClr val="black"/>
                  </a:solidFill>
                  <a:latin typeface="微软雅黑"/>
                  <a:ea typeface="微软雅黑"/>
                  <a:cs typeface="+mn-ea"/>
                  <a:sym typeface="+mn-lt"/>
                </a:rPr>
                <a:t>CRC</a:t>
              </a:r>
              <a:r>
                <a:rPr lang="zh-CN" altLang="en-US" sz="1000" dirty="0" smtClean="0">
                  <a:solidFill>
                    <a:prstClr val="black"/>
                  </a:solidFill>
                  <a:latin typeface="微软雅黑"/>
                  <a:ea typeface="微软雅黑"/>
                  <a:cs typeface="+mn-ea"/>
                  <a:sym typeface="+mn-lt"/>
                </a:rPr>
                <a:t>患者进行的一项临床研究</a:t>
              </a:r>
              <a:r>
                <a:rPr lang="zh-CN" altLang="en-US" sz="1000" dirty="0">
                  <a:solidFill>
                    <a:prstClr val="black"/>
                  </a:solidFill>
                  <a:latin typeface="微软雅黑"/>
                  <a:ea typeface="微软雅黑"/>
                  <a:cs typeface="+mn-ea"/>
                  <a:sym typeface="+mn-lt"/>
                </a:rPr>
                <a:t>，</a:t>
              </a:r>
              <a:r>
                <a:rPr lang="zh-CN" altLang="en-US" sz="1000" dirty="0" smtClean="0">
                  <a:solidFill>
                    <a:prstClr val="black"/>
                  </a:solidFill>
                  <a:latin typeface="微软雅黑"/>
                  <a:ea typeface="微软雅黑"/>
                  <a:cs typeface="+mn-ea"/>
                  <a:sym typeface="+mn-lt"/>
                </a:rPr>
                <a:t>以评估</a:t>
              </a:r>
              <a:r>
                <a:rPr lang="en-US" altLang="zh-CN" sz="1000" dirty="0" err="1">
                  <a:solidFill>
                    <a:prstClr val="black"/>
                  </a:solidFill>
                  <a:latin typeface="微软雅黑"/>
                  <a:ea typeface="微软雅黑"/>
                  <a:cs typeface="+mn-ea"/>
                  <a:sym typeface="+mn-lt"/>
                </a:rPr>
                <a:t>Vit</a:t>
              </a:r>
              <a:r>
                <a:rPr lang="en-US" altLang="zh-CN" sz="1000" dirty="0">
                  <a:solidFill>
                    <a:prstClr val="black"/>
                  </a:solidFill>
                  <a:latin typeface="微软雅黑"/>
                  <a:ea typeface="微软雅黑"/>
                  <a:cs typeface="+mn-ea"/>
                  <a:sym typeface="+mn-lt"/>
                </a:rPr>
                <a:t> B6</a:t>
              </a:r>
              <a:r>
                <a:rPr lang="zh-CN" altLang="en-US" sz="1000" dirty="0">
                  <a:solidFill>
                    <a:prstClr val="black"/>
                  </a:solidFill>
                  <a:latin typeface="微软雅黑"/>
                  <a:ea typeface="微软雅黑"/>
                  <a:cs typeface="+mn-ea"/>
                  <a:sym typeface="+mn-lt"/>
                </a:rPr>
                <a:t>对</a:t>
              </a:r>
              <a:r>
                <a:rPr lang="en-US" altLang="zh-CN" sz="1000" dirty="0" smtClean="0">
                  <a:solidFill>
                    <a:prstClr val="black"/>
                  </a:solidFill>
                  <a:latin typeface="微软雅黑"/>
                  <a:ea typeface="微软雅黑"/>
                  <a:cs typeface="+mn-ea"/>
                  <a:sym typeface="+mn-lt"/>
                </a:rPr>
                <a:t>HFS</a:t>
              </a:r>
              <a:r>
                <a:rPr lang="zh-CN" altLang="en-US" sz="1000" dirty="0" smtClean="0">
                  <a:solidFill>
                    <a:prstClr val="black"/>
                  </a:solidFill>
                  <a:latin typeface="微软雅黑"/>
                  <a:ea typeface="微软雅黑"/>
                  <a:cs typeface="+mn-ea"/>
                  <a:sym typeface="+mn-lt"/>
                </a:rPr>
                <a:t>的预</a:t>
              </a:r>
              <a:r>
                <a:rPr lang="zh-CN" altLang="en-US" sz="1000" dirty="0">
                  <a:solidFill>
                    <a:prstClr val="black"/>
                  </a:solidFill>
                  <a:latin typeface="微软雅黑"/>
                  <a:ea typeface="微软雅黑"/>
                  <a:cs typeface="+mn-ea"/>
                  <a:sym typeface="+mn-lt"/>
                </a:rPr>
                <a:t>防治效果 </a:t>
              </a:r>
            </a:p>
          </p:txBody>
        </p:sp>
        <p:pic>
          <p:nvPicPr>
            <p:cNvPr id="6" name="图片 5"/>
            <p:cNvPicPr>
              <a:picLocks noChangeAspect="1"/>
            </p:cNvPicPr>
            <p:nvPr/>
          </p:nvPicPr>
          <p:blipFill>
            <a:blip r:embed="rId3"/>
            <a:stretch>
              <a:fillRect/>
            </a:stretch>
          </p:blipFill>
          <p:spPr>
            <a:xfrm>
              <a:off x="262191" y="1146077"/>
              <a:ext cx="8419306" cy="4157832"/>
            </a:xfrm>
            <a:prstGeom prst="rect">
              <a:avLst/>
            </a:prstGeom>
          </p:spPr>
        </p:pic>
      </p:grpSp>
    </p:spTree>
    <p:extLst>
      <p:ext uri="{BB962C8B-B14F-4D97-AF65-F5344CB8AC3E}">
        <p14:creationId xmlns:p14="http://schemas.microsoft.com/office/powerpoint/2010/main" val="20726526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卡培他滨治疗中，出现</a:t>
            </a:r>
            <a:r>
              <a:rPr lang="en-US" altLang="zh-CN" dirty="0">
                <a:latin typeface="+mn-lt"/>
                <a:ea typeface="+mn-ea"/>
                <a:cs typeface="+mn-ea"/>
                <a:sym typeface="+mn-lt"/>
              </a:rPr>
              <a:t>HFS</a:t>
            </a:r>
            <a:r>
              <a:rPr lang="zh-CN" altLang="en-US" dirty="0">
                <a:latin typeface="+mn-lt"/>
                <a:ea typeface="+mn-ea"/>
                <a:cs typeface="+mn-ea"/>
                <a:sym typeface="+mn-lt"/>
              </a:rPr>
              <a:t>时可进行剂量调整</a:t>
            </a:r>
          </a:p>
        </p:txBody>
      </p:sp>
      <p:grpSp>
        <p:nvGrpSpPr>
          <p:cNvPr id="5" name="组合 4"/>
          <p:cNvGrpSpPr/>
          <p:nvPr/>
        </p:nvGrpSpPr>
        <p:grpSpPr>
          <a:xfrm>
            <a:off x="911568" y="1195977"/>
            <a:ext cx="7120745" cy="4761389"/>
            <a:chOff x="911568" y="1311819"/>
            <a:chExt cx="7120745" cy="4761389"/>
          </a:xfrm>
        </p:grpSpPr>
        <p:pic>
          <p:nvPicPr>
            <p:cNvPr id="4" name="图片 3"/>
            <p:cNvPicPr>
              <a:picLocks noChangeAspect="1"/>
            </p:cNvPicPr>
            <p:nvPr/>
          </p:nvPicPr>
          <p:blipFill>
            <a:blip r:embed="rId3"/>
            <a:stretch>
              <a:fillRect/>
            </a:stretch>
          </p:blipFill>
          <p:spPr>
            <a:xfrm>
              <a:off x="911568" y="1311819"/>
              <a:ext cx="7120745" cy="4761389"/>
            </a:xfrm>
            <a:prstGeom prst="rect">
              <a:avLst/>
            </a:prstGeom>
          </p:spPr>
        </p:pic>
        <p:sp>
          <p:nvSpPr>
            <p:cNvPr id="12" name="矩形 11"/>
            <p:cNvSpPr/>
            <p:nvPr/>
          </p:nvSpPr>
          <p:spPr>
            <a:xfrm>
              <a:off x="1270065" y="1487209"/>
              <a:ext cx="6374723" cy="715591"/>
            </a:xfrm>
            <a:prstGeom prst="rect">
              <a:avLst/>
            </a:prstGeom>
            <a:noFill/>
            <a:ln w="12700" cap="flat" cmpd="sng" algn="ctr">
              <a:noFill/>
              <a:prstDash val="solid"/>
              <a:miter lim="800000"/>
            </a:ln>
            <a:effectLst/>
          </p:spPr>
          <p:txBody>
            <a:bodyPr rtlCol="0" anchor="ctr"/>
            <a:lstStyle/>
            <a:p>
              <a:pPr algn="ctr" eaLnBrk="1" fontAlgn="auto" hangingPunct="1">
                <a:lnSpc>
                  <a:spcPct val="120000"/>
                </a:lnSpc>
                <a:spcBef>
                  <a:spcPts val="0"/>
                </a:spcBef>
                <a:spcAft>
                  <a:spcPts val="0"/>
                </a:spcAft>
                <a:defRPr/>
              </a:pPr>
              <a:r>
                <a:rPr lang="zh-CN" altLang="en-US" sz="1700" b="1" kern="0" dirty="0">
                  <a:solidFill>
                    <a:prstClr val="black"/>
                  </a:solidFill>
                  <a:latin typeface="微软雅黑"/>
                  <a:ea typeface="微软雅黑"/>
                </a:rPr>
                <a:t>大量证据显示：卡培他滨诱导的皮肤毒副作用是患者获得更佳</a:t>
              </a:r>
              <a:r>
                <a:rPr lang="en-US" altLang="zh-CN" sz="1700" b="1" kern="0" dirty="0">
                  <a:solidFill>
                    <a:prstClr val="black"/>
                  </a:solidFill>
                  <a:latin typeface="微软雅黑"/>
                  <a:ea typeface="微软雅黑"/>
                </a:rPr>
                <a:t/>
              </a:r>
              <a:br>
                <a:rPr lang="en-US" altLang="zh-CN" sz="1700" b="1" kern="0" dirty="0">
                  <a:solidFill>
                    <a:prstClr val="black"/>
                  </a:solidFill>
                  <a:latin typeface="微软雅黑"/>
                  <a:ea typeface="微软雅黑"/>
                </a:rPr>
              </a:br>
              <a:r>
                <a:rPr lang="zh-CN" altLang="en-US" sz="1700" b="1" kern="0" dirty="0">
                  <a:solidFill>
                    <a:prstClr val="black"/>
                  </a:solidFill>
                  <a:latin typeface="微软雅黑"/>
                  <a:ea typeface="微软雅黑"/>
                </a:rPr>
                <a:t>生存预后的预测因素，提示其对药物治疗的敏感度更佳</a:t>
              </a:r>
              <a:r>
                <a:rPr lang="en-US" altLang="zh-CN" sz="1700" b="1" kern="0" baseline="30000" dirty="0">
                  <a:solidFill>
                    <a:prstClr val="black"/>
                  </a:solidFill>
                  <a:latin typeface="微软雅黑"/>
                  <a:ea typeface="微软雅黑"/>
                </a:rPr>
                <a:t>1-4</a:t>
              </a:r>
            </a:p>
          </p:txBody>
        </p:sp>
        <p:sp>
          <p:nvSpPr>
            <p:cNvPr id="13" name="矩形 12"/>
            <p:cNvSpPr/>
            <p:nvPr/>
          </p:nvSpPr>
          <p:spPr>
            <a:xfrm>
              <a:off x="1270039" y="3290837"/>
              <a:ext cx="6374775" cy="715866"/>
            </a:xfrm>
            <a:prstGeom prst="rect">
              <a:avLst/>
            </a:prstGeom>
            <a:noFill/>
            <a:ln w="12700" cap="flat" cmpd="sng" algn="ctr">
              <a:noFill/>
              <a:prstDash val="solid"/>
              <a:miter lim="800000"/>
            </a:ln>
            <a:effectLst/>
          </p:spPr>
          <p:txBody>
            <a:bodyPr rtlCol="0" anchor="ctr"/>
            <a:lstStyle/>
            <a:p>
              <a:pPr algn="ctr" eaLnBrk="1" fontAlgn="auto" hangingPunct="1">
                <a:lnSpc>
                  <a:spcPct val="120000"/>
                </a:lnSpc>
                <a:spcBef>
                  <a:spcPts val="0"/>
                </a:spcBef>
                <a:spcAft>
                  <a:spcPts val="0"/>
                </a:spcAft>
                <a:defRPr/>
              </a:pPr>
              <a:r>
                <a:rPr lang="zh-CN" altLang="en-US" sz="1700" b="1" kern="0" dirty="0">
                  <a:solidFill>
                    <a:prstClr val="white"/>
                  </a:solidFill>
                  <a:latin typeface="微软雅黑"/>
                  <a:ea typeface="微软雅黑"/>
                </a:rPr>
                <a:t>这也合理地解释了临床观察到的“</a:t>
              </a:r>
              <a:r>
                <a:rPr lang="zh-CN" altLang="en-US" b="1" kern="0" dirty="0">
                  <a:solidFill>
                    <a:srgbClr val="ED7D31"/>
                  </a:solidFill>
                  <a:effectLst>
                    <a:glow rad="101600">
                      <a:prstClr val="white"/>
                    </a:glow>
                  </a:effectLst>
                  <a:latin typeface="微软雅黑"/>
                  <a:ea typeface="微软雅黑"/>
                </a:rPr>
                <a:t>适当的卡培他滨剂量调整</a:t>
              </a:r>
              <a:r>
                <a:rPr lang="en-US" altLang="zh-CN" b="1" kern="0" dirty="0">
                  <a:solidFill>
                    <a:srgbClr val="ED7D31"/>
                  </a:solidFill>
                  <a:effectLst>
                    <a:glow rad="101600">
                      <a:prstClr val="white"/>
                    </a:glow>
                  </a:effectLst>
                  <a:latin typeface="微软雅黑"/>
                  <a:ea typeface="微软雅黑"/>
                </a:rPr>
                <a:t/>
              </a:r>
              <a:br>
                <a:rPr lang="en-US" altLang="zh-CN" b="1" kern="0" dirty="0">
                  <a:solidFill>
                    <a:srgbClr val="ED7D31"/>
                  </a:solidFill>
                  <a:effectLst>
                    <a:glow rad="101600">
                      <a:prstClr val="white"/>
                    </a:glow>
                  </a:effectLst>
                  <a:latin typeface="微软雅黑"/>
                  <a:ea typeface="微软雅黑"/>
                </a:rPr>
              </a:br>
              <a:r>
                <a:rPr lang="zh-CN" altLang="en-US" b="1" kern="0" dirty="0">
                  <a:solidFill>
                    <a:srgbClr val="ED7D31"/>
                  </a:solidFill>
                  <a:effectLst>
                    <a:glow rad="101600">
                      <a:prstClr val="white"/>
                    </a:glow>
                  </a:effectLst>
                  <a:latin typeface="微软雅黑"/>
                  <a:ea typeface="微软雅黑"/>
                </a:rPr>
                <a:t>不影响卡培他滨治疗疗效</a:t>
              </a:r>
              <a:r>
                <a:rPr lang="zh-CN" altLang="en-US" sz="1700" b="1" kern="0" dirty="0">
                  <a:solidFill>
                    <a:prstClr val="white"/>
                  </a:solidFill>
                  <a:latin typeface="微软雅黑"/>
                  <a:ea typeface="微软雅黑"/>
                </a:rPr>
                <a:t>”这一现象</a:t>
              </a:r>
              <a:r>
                <a:rPr lang="en-US" altLang="zh-CN" sz="1700" b="1" kern="0" baseline="30000" dirty="0">
                  <a:solidFill>
                    <a:prstClr val="white"/>
                  </a:solidFill>
                  <a:latin typeface="微软雅黑"/>
                  <a:ea typeface="微软雅黑"/>
                </a:rPr>
                <a:t>5</a:t>
              </a:r>
              <a:endParaRPr lang="zh-CN" altLang="en-US" sz="1700" b="1" kern="0" dirty="0">
                <a:solidFill>
                  <a:prstClr val="white"/>
                </a:solidFill>
                <a:latin typeface="微软雅黑"/>
                <a:ea typeface="微软雅黑"/>
              </a:endParaRPr>
            </a:p>
          </p:txBody>
        </p:sp>
        <p:sp>
          <p:nvSpPr>
            <p:cNvPr id="14" name="矩形 13"/>
            <p:cNvSpPr/>
            <p:nvPr/>
          </p:nvSpPr>
          <p:spPr>
            <a:xfrm>
              <a:off x="1559801" y="5019637"/>
              <a:ext cx="5795250" cy="866198"/>
            </a:xfrm>
            <a:prstGeom prst="rect">
              <a:avLst/>
            </a:prstGeom>
            <a:noFill/>
            <a:ln w="12700" cap="flat" cmpd="sng" algn="ctr">
              <a:noFill/>
              <a:prstDash val="solid"/>
              <a:miter lim="800000"/>
            </a:ln>
            <a:effectLst/>
          </p:spPr>
          <p:txBody>
            <a:bodyPr rtlCol="0" anchor="ctr"/>
            <a:lstStyle/>
            <a:p>
              <a:pPr algn="ctr" eaLnBrk="1" fontAlgn="auto" hangingPunct="1">
                <a:lnSpc>
                  <a:spcPct val="120000"/>
                </a:lnSpc>
                <a:spcBef>
                  <a:spcPts val="0"/>
                </a:spcBef>
                <a:spcAft>
                  <a:spcPts val="0"/>
                </a:spcAft>
                <a:defRPr/>
              </a:pPr>
              <a:r>
                <a:rPr lang="zh-CN" altLang="en-US" sz="1700" b="1" kern="0" dirty="0">
                  <a:solidFill>
                    <a:prstClr val="white"/>
                  </a:solidFill>
                  <a:latin typeface="微软雅黑"/>
                  <a:ea typeface="微软雅黑"/>
                </a:rPr>
                <a:t>因此对于常规护理和治疗控制效果欠佳的</a:t>
              </a:r>
              <a:r>
                <a:rPr lang="en-US" altLang="zh-CN" sz="1700" b="1" kern="0" dirty="0">
                  <a:solidFill>
                    <a:prstClr val="white"/>
                  </a:solidFill>
                  <a:latin typeface="微软雅黑"/>
                  <a:ea typeface="微软雅黑"/>
                </a:rPr>
                <a:t>HFS</a:t>
              </a:r>
              <a:r>
                <a:rPr lang="zh-CN" altLang="en-US" sz="1700" b="1" kern="0" dirty="0">
                  <a:solidFill>
                    <a:prstClr val="white"/>
                  </a:solidFill>
                  <a:latin typeface="微软雅黑"/>
                  <a:ea typeface="微软雅黑"/>
                </a:rPr>
                <a:t>患者，</a:t>
              </a:r>
              <a:r>
                <a:rPr lang="en-US" altLang="zh-CN" sz="1700" b="1" kern="0" dirty="0">
                  <a:solidFill>
                    <a:prstClr val="white"/>
                  </a:solidFill>
                  <a:latin typeface="微软雅黑"/>
                  <a:ea typeface="微软雅黑"/>
                </a:rPr>
                <a:t/>
              </a:r>
              <a:br>
                <a:rPr lang="en-US" altLang="zh-CN" sz="1700" b="1" kern="0" dirty="0">
                  <a:solidFill>
                    <a:prstClr val="white"/>
                  </a:solidFill>
                  <a:latin typeface="微软雅黑"/>
                  <a:ea typeface="微软雅黑"/>
                </a:rPr>
              </a:br>
              <a:r>
                <a:rPr lang="zh-CN" altLang="en-US" sz="1700" b="1" kern="0" dirty="0">
                  <a:solidFill>
                    <a:prstClr val="white"/>
                  </a:solidFill>
                  <a:latin typeface="微软雅黑"/>
                  <a:ea typeface="微软雅黑"/>
                </a:rPr>
                <a:t>可按减量方案进行剂量调整</a:t>
              </a:r>
              <a:r>
                <a:rPr lang="en-US" altLang="zh-CN" sz="1700" b="1" kern="0" baseline="30000" dirty="0">
                  <a:solidFill>
                    <a:prstClr val="white"/>
                  </a:solidFill>
                  <a:latin typeface="微软雅黑"/>
                  <a:ea typeface="微软雅黑"/>
                </a:rPr>
                <a:t>6</a:t>
              </a:r>
            </a:p>
          </p:txBody>
        </p:sp>
      </p:grpSp>
      <p:sp>
        <p:nvSpPr>
          <p:cNvPr id="9" name="TextBox 3"/>
          <p:cNvSpPr txBox="1"/>
          <p:nvPr/>
        </p:nvSpPr>
        <p:spPr>
          <a:xfrm>
            <a:off x="5511274" y="6350169"/>
            <a:ext cx="3632726" cy="507831"/>
          </a:xfrm>
          <a:prstGeom prst="rect">
            <a:avLst/>
          </a:prstGeom>
          <a:noFill/>
        </p:spPr>
        <p:txBody>
          <a:bodyPr wrap="none" rtlCol="0">
            <a:spAutoFit/>
          </a:bodyPr>
          <a:lstStyle/>
          <a:p>
            <a:pPr marL="228600" indent="-228600" algn="r" eaLnBrk="1" fontAlgn="auto" hangingPunct="1">
              <a:spcBef>
                <a:spcPts val="0"/>
              </a:spcBef>
              <a:spcAft>
                <a:spcPts val="0"/>
              </a:spcAft>
              <a:buFont typeface="+mj-lt"/>
              <a:buAutoNum type="arabicPeriod" startAt="4"/>
              <a:defRPr/>
            </a:pPr>
            <a:r>
              <a:rPr lang="en-US" altLang="zh-CN" sz="900" dirty="0" err="1">
                <a:solidFill>
                  <a:prstClr val="black"/>
                </a:solidFill>
                <a:latin typeface="微软雅黑"/>
                <a:ea typeface="微软雅黑"/>
                <a:cs typeface="+mn-ea"/>
                <a:sym typeface="+mn-lt"/>
              </a:rPr>
              <a:t>Kwakman</a:t>
            </a:r>
            <a:r>
              <a:rPr lang="en-US" altLang="zh-CN" sz="900" dirty="0">
                <a:solidFill>
                  <a:prstClr val="black"/>
                </a:solidFill>
                <a:latin typeface="微软雅黑"/>
                <a:ea typeface="微软雅黑"/>
                <a:cs typeface="+mn-ea"/>
                <a:sym typeface="+mn-lt"/>
              </a:rPr>
              <a:t> JJM et al., </a:t>
            </a:r>
            <a:r>
              <a:rPr lang="en-US" altLang="zh-CN" sz="900" dirty="0" err="1">
                <a:solidFill>
                  <a:prstClr val="black"/>
                </a:solidFill>
                <a:latin typeface="微软雅黑"/>
                <a:ea typeface="微软雅黑"/>
                <a:cs typeface="+mn-ea"/>
                <a:sym typeface="+mn-lt"/>
              </a:rPr>
              <a:t>Acta</a:t>
            </a:r>
            <a:r>
              <a:rPr lang="en-US" altLang="zh-CN" sz="900" dirty="0">
                <a:solidFill>
                  <a:prstClr val="black"/>
                </a:solidFill>
                <a:latin typeface="微软雅黑"/>
                <a:ea typeface="微软雅黑"/>
                <a:cs typeface="+mn-ea"/>
                <a:sym typeface="+mn-lt"/>
              </a:rPr>
              <a:t> </a:t>
            </a:r>
            <a:r>
              <a:rPr lang="en-US" altLang="zh-CN" sz="900" dirty="0" err="1">
                <a:solidFill>
                  <a:prstClr val="black"/>
                </a:solidFill>
                <a:latin typeface="微软雅黑"/>
                <a:ea typeface="微软雅黑"/>
                <a:cs typeface="+mn-ea"/>
                <a:sym typeface="+mn-lt"/>
              </a:rPr>
              <a:t>Oncol</a:t>
            </a:r>
            <a:r>
              <a:rPr lang="en-US" altLang="zh-CN" sz="900" dirty="0">
                <a:solidFill>
                  <a:prstClr val="black"/>
                </a:solidFill>
                <a:latin typeface="微软雅黑"/>
                <a:ea typeface="微软雅黑"/>
                <a:cs typeface="+mn-ea"/>
                <a:sym typeface="+mn-lt"/>
              </a:rPr>
              <a:t>. 2017;56(7):1023-1026.</a:t>
            </a:r>
          </a:p>
          <a:p>
            <a:pPr marL="228600" indent="-228600" algn="r" eaLnBrk="1" fontAlgn="auto" hangingPunct="1">
              <a:spcBef>
                <a:spcPts val="0"/>
              </a:spcBef>
              <a:spcAft>
                <a:spcPts val="0"/>
              </a:spcAft>
              <a:buFont typeface="+mj-lt"/>
              <a:buAutoNum type="arabicPeriod" startAt="4"/>
              <a:defRPr/>
            </a:pPr>
            <a:r>
              <a:rPr lang="en-US" altLang="zh-CN" sz="900" dirty="0">
                <a:solidFill>
                  <a:prstClr val="black"/>
                </a:solidFill>
                <a:latin typeface="微软雅黑"/>
                <a:ea typeface="微软雅黑"/>
                <a:cs typeface="+mn-ea"/>
                <a:sym typeface="+mn-lt"/>
              </a:rPr>
              <a:t>R. Leonard et </a:t>
            </a:r>
            <a:r>
              <a:rPr lang="en-US" altLang="zh-CN" sz="900" dirty="0" err="1">
                <a:solidFill>
                  <a:prstClr val="black"/>
                </a:solidFill>
                <a:latin typeface="微软雅黑"/>
                <a:ea typeface="微软雅黑"/>
                <a:cs typeface="+mn-ea"/>
                <a:sym typeface="+mn-lt"/>
              </a:rPr>
              <a:t>al.,Annals</a:t>
            </a:r>
            <a:r>
              <a:rPr lang="en-US" altLang="zh-CN" sz="900" dirty="0">
                <a:solidFill>
                  <a:prstClr val="black"/>
                </a:solidFill>
                <a:latin typeface="微软雅黑"/>
                <a:ea typeface="微软雅黑"/>
                <a:cs typeface="+mn-ea"/>
                <a:sym typeface="+mn-lt"/>
              </a:rPr>
              <a:t> of Oncology 2006;(17): 1379-85.</a:t>
            </a:r>
          </a:p>
          <a:p>
            <a:pPr marL="228600" indent="-228600" algn="r" eaLnBrk="1" fontAlgn="auto" hangingPunct="1">
              <a:spcBef>
                <a:spcPts val="0"/>
              </a:spcBef>
              <a:spcAft>
                <a:spcPts val="0"/>
              </a:spcAft>
              <a:buFont typeface="+mj-lt"/>
              <a:buAutoNum type="arabicPeriod" startAt="4"/>
              <a:defRPr/>
            </a:pPr>
            <a:r>
              <a:rPr lang="zh-CN" altLang="en-US" sz="900" dirty="0">
                <a:solidFill>
                  <a:prstClr val="black"/>
                </a:solidFill>
                <a:latin typeface="微软雅黑"/>
                <a:ea typeface="微软雅黑"/>
                <a:cs typeface="+mn-ea"/>
                <a:sym typeface="+mn-lt"/>
              </a:rPr>
              <a:t>卡培他滨片说明书 </a:t>
            </a:r>
            <a:r>
              <a:rPr lang="en-US" altLang="zh-CN" sz="900" dirty="0">
                <a:solidFill>
                  <a:prstClr val="black"/>
                </a:solidFill>
                <a:latin typeface="微软雅黑"/>
                <a:ea typeface="微软雅黑"/>
                <a:cs typeface="+mn-ea"/>
                <a:sym typeface="+mn-lt"/>
              </a:rPr>
              <a:t>2018.3.2.</a:t>
            </a:r>
          </a:p>
        </p:txBody>
      </p:sp>
      <p:sp>
        <p:nvSpPr>
          <p:cNvPr id="10" name="矩形 9"/>
          <p:cNvSpPr/>
          <p:nvPr/>
        </p:nvSpPr>
        <p:spPr>
          <a:xfrm>
            <a:off x="1104224" y="6350169"/>
            <a:ext cx="4385785" cy="507831"/>
          </a:xfrm>
          <a:prstGeom prst="rect">
            <a:avLst/>
          </a:prstGeom>
        </p:spPr>
        <p:txBody>
          <a:bodyPr wrap="square">
            <a:spAutoFit/>
          </a:bodyPr>
          <a:lstStyle/>
          <a:p>
            <a:pPr marL="228600" indent="-228600" algn="r" eaLnBrk="1" fontAlgn="auto" hangingPunct="1">
              <a:spcBef>
                <a:spcPts val="0"/>
              </a:spcBef>
              <a:spcAft>
                <a:spcPts val="0"/>
              </a:spcAft>
              <a:buFont typeface="+mj-lt"/>
              <a:buAutoNum type="arabicPeriod"/>
            </a:pPr>
            <a:r>
              <a:rPr lang="zh-CN" altLang="en-US" sz="900" dirty="0">
                <a:solidFill>
                  <a:prstClr val="black"/>
                </a:solidFill>
                <a:latin typeface="Microsoft YaHei"/>
                <a:ea typeface="Microsoft YaHei"/>
              </a:rPr>
              <a:t>Stintzing S et al., Br J Cancer. 2011;105(2):206-11.</a:t>
            </a:r>
            <a:endParaRPr lang="en-US" altLang="zh-CN" sz="900" dirty="0">
              <a:solidFill>
                <a:prstClr val="black"/>
              </a:solidFill>
              <a:latin typeface="Microsoft YaHei"/>
              <a:ea typeface="Microsoft YaHei"/>
            </a:endParaRPr>
          </a:p>
          <a:p>
            <a:pPr marL="228600" indent="-228600" algn="r" eaLnBrk="1" fontAlgn="auto" hangingPunct="1">
              <a:spcBef>
                <a:spcPts val="0"/>
              </a:spcBef>
              <a:spcAft>
                <a:spcPts val="0"/>
              </a:spcAft>
              <a:buFont typeface="+mj-lt"/>
              <a:buAutoNum type="arabicPeriod"/>
            </a:pPr>
            <a:r>
              <a:rPr lang="fr-FR" altLang="zh-CN" sz="900" dirty="0">
                <a:solidFill>
                  <a:prstClr val="black"/>
                </a:solidFill>
                <a:latin typeface="Microsoft YaHei"/>
                <a:ea typeface="Microsoft YaHei"/>
              </a:rPr>
              <a:t>Hofheinz RD et al., Lancet Oncol. 2012;13(6):579-88.</a:t>
            </a:r>
          </a:p>
          <a:p>
            <a:pPr marL="228600" indent="-228600" algn="r" eaLnBrk="1" fontAlgn="auto" hangingPunct="1">
              <a:spcBef>
                <a:spcPts val="0"/>
              </a:spcBef>
              <a:spcAft>
                <a:spcPts val="0"/>
              </a:spcAft>
              <a:buFont typeface="+mj-lt"/>
              <a:buAutoNum type="arabicPeriod"/>
            </a:pPr>
            <a:r>
              <a:rPr lang="en-US" altLang="zh-CN" sz="900" dirty="0" err="1">
                <a:solidFill>
                  <a:prstClr val="black"/>
                </a:solidFill>
                <a:latin typeface="微软雅黑"/>
                <a:ea typeface="微软雅黑"/>
              </a:rPr>
              <a:t>Hofheinz</a:t>
            </a:r>
            <a:r>
              <a:rPr lang="en-US" altLang="zh-CN" sz="900" dirty="0">
                <a:solidFill>
                  <a:prstClr val="black"/>
                </a:solidFill>
                <a:latin typeface="微软雅黑"/>
                <a:ea typeface="微软雅黑"/>
              </a:rPr>
              <a:t> RD et al., British Journal of Cancer 2012;107(10):1678–83.</a:t>
            </a:r>
          </a:p>
        </p:txBody>
      </p:sp>
    </p:spTree>
    <p:extLst>
      <p:ext uri="{BB962C8B-B14F-4D97-AF65-F5344CB8AC3E}">
        <p14:creationId xmlns:p14="http://schemas.microsoft.com/office/powerpoint/2010/main" val="34193791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1999" y="50400"/>
            <a:ext cx="8091165" cy="1144800"/>
          </a:xfrm>
        </p:spPr>
        <p:txBody>
          <a:bodyPr/>
          <a:lstStyle/>
          <a:p>
            <a:r>
              <a:rPr lang="zh-CN" altLang="en-US" spc="-30" dirty="0">
                <a:latin typeface="+mn-lt"/>
                <a:ea typeface="+mn-ea"/>
                <a:cs typeface="+mn-ea"/>
                <a:sym typeface="+mn-lt"/>
              </a:rPr>
              <a:t>出现卡培他滨相关性</a:t>
            </a:r>
            <a:r>
              <a:rPr lang="en-US" altLang="zh-CN" spc="-30" dirty="0">
                <a:latin typeface="+mn-lt"/>
                <a:ea typeface="+mn-ea"/>
                <a:cs typeface="+mn-ea"/>
                <a:sym typeface="+mn-lt"/>
              </a:rPr>
              <a:t>HFS</a:t>
            </a:r>
            <a:r>
              <a:rPr lang="zh-CN" altLang="en-US" spc="-30" dirty="0">
                <a:latin typeface="+mn-lt"/>
                <a:ea typeface="+mn-ea"/>
                <a:cs typeface="+mn-ea"/>
                <a:sym typeface="+mn-lt"/>
              </a:rPr>
              <a:t>时的剂量调整方案</a:t>
            </a:r>
          </a:p>
        </p:txBody>
      </p:sp>
      <p:sp>
        <p:nvSpPr>
          <p:cNvPr id="12" name="矩形 11"/>
          <p:cNvSpPr/>
          <p:nvPr/>
        </p:nvSpPr>
        <p:spPr>
          <a:xfrm>
            <a:off x="7449305" y="6627168"/>
            <a:ext cx="1694695" cy="230832"/>
          </a:xfrm>
          <a:prstGeom prst="rect">
            <a:avLst/>
          </a:prstGeom>
        </p:spPr>
        <p:txBody>
          <a:bodyPr wrap="none">
            <a:spAutoFit/>
          </a:bodyPr>
          <a:lstStyle/>
          <a:p>
            <a:pPr algn="r" eaLnBrk="1" fontAlgn="auto" hangingPunct="1">
              <a:spcBef>
                <a:spcPts val="0"/>
              </a:spcBef>
              <a:spcAft>
                <a:spcPts val="0"/>
              </a:spcAft>
              <a:defRPr/>
            </a:pPr>
            <a:r>
              <a:rPr lang="zh-CN" altLang="en-US" sz="900" dirty="0">
                <a:solidFill>
                  <a:prstClr val="black"/>
                </a:solidFill>
                <a:latin typeface="微软雅黑"/>
                <a:ea typeface="微软雅黑"/>
                <a:cs typeface="+mn-ea"/>
                <a:sym typeface="+mn-lt"/>
              </a:rPr>
              <a:t>卡培他滨片说明书 </a:t>
            </a:r>
            <a:r>
              <a:rPr lang="en-US" altLang="zh-CN" sz="900" dirty="0" smtClean="0">
                <a:solidFill>
                  <a:prstClr val="black"/>
                </a:solidFill>
                <a:latin typeface="微软雅黑"/>
                <a:ea typeface="微软雅黑"/>
                <a:cs typeface="+mn-ea"/>
                <a:sym typeface="+mn-lt"/>
              </a:rPr>
              <a:t>2019.6.13.</a:t>
            </a:r>
            <a:endParaRPr lang="en-US" altLang="zh-CN" sz="900" dirty="0">
              <a:solidFill>
                <a:prstClr val="black"/>
              </a:solidFill>
              <a:latin typeface="微软雅黑"/>
              <a:ea typeface="微软雅黑"/>
              <a:cs typeface="+mn-ea"/>
              <a:sym typeface="+mn-lt"/>
            </a:endParaRPr>
          </a:p>
        </p:txBody>
      </p:sp>
      <p:grpSp>
        <p:nvGrpSpPr>
          <p:cNvPr id="8" name="组合 7"/>
          <p:cNvGrpSpPr/>
          <p:nvPr/>
        </p:nvGrpSpPr>
        <p:grpSpPr>
          <a:xfrm>
            <a:off x="347804" y="905706"/>
            <a:ext cx="8069385" cy="5556303"/>
            <a:chOff x="347804" y="905706"/>
            <a:chExt cx="8069385" cy="5556303"/>
          </a:xfrm>
        </p:grpSpPr>
        <p:pic>
          <p:nvPicPr>
            <p:cNvPr id="6" name="图片 5"/>
            <p:cNvPicPr>
              <a:picLocks noChangeAspect="1"/>
            </p:cNvPicPr>
            <p:nvPr/>
          </p:nvPicPr>
          <p:blipFill>
            <a:blip r:embed="rId3"/>
            <a:stretch>
              <a:fillRect/>
            </a:stretch>
          </p:blipFill>
          <p:spPr>
            <a:xfrm>
              <a:off x="595343" y="1364617"/>
              <a:ext cx="7821846" cy="4743099"/>
            </a:xfrm>
            <a:prstGeom prst="rect">
              <a:avLst/>
            </a:prstGeom>
          </p:spPr>
        </p:pic>
        <p:grpSp>
          <p:nvGrpSpPr>
            <p:cNvPr id="3" name="组合 2"/>
            <p:cNvGrpSpPr/>
            <p:nvPr/>
          </p:nvGrpSpPr>
          <p:grpSpPr>
            <a:xfrm>
              <a:off x="347804" y="905706"/>
              <a:ext cx="7781841" cy="5556303"/>
              <a:chOff x="347804" y="905706"/>
              <a:chExt cx="7781841" cy="5556303"/>
            </a:xfrm>
          </p:grpSpPr>
          <p:sp>
            <p:nvSpPr>
              <p:cNvPr id="55" name="任意多边形 54"/>
              <p:cNvSpPr/>
              <p:nvPr/>
            </p:nvSpPr>
            <p:spPr>
              <a:xfrm>
                <a:off x="347804" y="905706"/>
                <a:ext cx="1171041" cy="630000"/>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ln>
              <a:effectLst/>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9685" tIns="19685" rIns="19685" bIns="19685" numCol="1" spcCol="1270" anchor="ctr" anchorCtr="0">
                <a:noAutofit/>
              </a:bodyPr>
              <a:lstStyle/>
              <a:p>
                <a:pPr algn="ctr" defTabSz="1377950" eaLnBrk="1" fontAlgn="auto" hangingPunct="1">
                  <a:lnSpc>
                    <a:spcPct val="90000"/>
                  </a:lnSpc>
                  <a:spcAft>
                    <a:spcPct val="35000"/>
                  </a:spcAft>
                </a:pPr>
                <a:r>
                  <a:rPr lang="en-US" altLang="zh-CN" sz="1500" b="1" dirty="0">
                    <a:solidFill>
                      <a:prstClr val="black"/>
                    </a:solidFill>
                    <a:cs typeface="+mn-ea"/>
                    <a:sym typeface="+mn-lt"/>
                  </a:rPr>
                  <a:t>HFS</a:t>
                </a:r>
                <a:r>
                  <a:rPr lang="zh-CN" altLang="en-US" sz="1500" b="1" dirty="0">
                    <a:solidFill>
                      <a:prstClr val="black"/>
                    </a:solidFill>
                    <a:cs typeface="+mn-ea"/>
                    <a:sym typeface="+mn-lt"/>
                  </a:rPr>
                  <a:t>级别</a:t>
                </a:r>
              </a:p>
            </p:txBody>
          </p:sp>
          <p:sp>
            <p:nvSpPr>
              <p:cNvPr id="7" name="矩形 6"/>
              <p:cNvSpPr/>
              <p:nvPr/>
            </p:nvSpPr>
            <p:spPr>
              <a:xfrm>
                <a:off x="663168" y="6231177"/>
                <a:ext cx="5400000" cy="230832"/>
              </a:xfrm>
              <a:prstGeom prst="rect">
                <a:avLst/>
              </a:prstGeom>
            </p:spPr>
            <p:txBody>
              <a:bodyPr wrap="square">
                <a:spAutoFit/>
              </a:bodyPr>
              <a:lstStyle/>
              <a:p>
                <a:pPr marL="171450" indent="-171450">
                  <a:spcBef>
                    <a:spcPts val="300"/>
                  </a:spcBef>
                  <a:buFont typeface="Arial" panose="020B0604020202020204" pitchFamily="34" charset="0"/>
                  <a:buChar char="•"/>
                </a:pPr>
                <a:r>
                  <a:rPr lang="zh-CN" altLang="en-US" sz="900" dirty="0">
                    <a:solidFill>
                      <a:prstClr val="black"/>
                    </a:solidFill>
                    <a:latin typeface="微软雅黑"/>
                    <a:ea typeface="微软雅黑"/>
                  </a:rPr>
                  <a:t>由于毒性反应而漏服的卡培他滨剂量不再补充或恢复；患者改为继续计划疗程</a:t>
                </a:r>
              </a:p>
            </p:txBody>
          </p:sp>
          <p:sp>
            <p:nvSpPr>
              <p:cNvPr id="110" name="任意多边形 109"/>
              <p:cNvSpPr/>
              <p:nvPr/>
            </p:nvSpPr>
            <p:spPr>
              <a:xfrm flipH="1">
                <a:off x="1506331" y="1499327"/>
                <a:ext cx="4003013" cy="576000"/>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ctr" anchorCtr="0">
                <a:noAutofit/>
              </a:bodyPr>
              <a:lstStyle/>
              <a:p>
                <a:pPr marL="126000" indent="-126000" defTabSz="1377950" eaLnBrk="1" fontAlgn="auto" hangingPunct="1">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无需减量，继续用药，密切观察症状变化情况</a:t>
                </a:r>
              </a:p>
            </p:txBody>
          </p:sp>
          <p:sp>
            <p:nvSpPr>
              <p:cNvPr id="113" name="矩形 112"/>
              <p:cNvSpPr/>
              <p:nvPr/>
            </p:nvSpPr>
            <p:spPr>
              <a:xfrm>
                <a:off x="4921004" y="4989262"/>
                <a:ext cx="1483571" cy="295466"/>
              </a:xfrm>
              <a:prstGeom prst="rect">
                <a:avLst/>
              </a:prstGeom>
            </p:spPr>
            <p:txBody>
              <a:bodyPr wrap="square" anchor="t">
                <a:sp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latin typeface="微软雅黑"/>
                    <a:ea typeface="微软雅黑"/>
                    <a:cs typeface="+mn-ea"/>
                    <a:sym typeface="+mn-lt"/>
                  </a:rPr>
                  <a:t>永久终止治疗</a:t>
                </a:r>
              </a:p>
            </p:txBody>
          </p:sp>
          <p:sp>
            <p:nvSpPr>
              <p:cNvPr id="117" name="任意多边形 116"/>
              <p:cNvSpPr/>
              <p:nvPr/>
            </p:nvSpPr>
            <p:spPr>
              <a:xfrm flipH="1">
                <a:off x="1506331" y="4989262"/>
                <a:ext cx="1427306" cy="956643"/>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t" anchorCtr="0">
                <a:no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暂停用药，直至恢复到</a:t>
                </a:r>
                <a:r>
                  <a:rPr lang="en-US" altLang="zh-CN" sz="1100" dirty="0">
                    <a:solidFill>
                      <a:prstClr val="black">
                        <a:hueOff val="0"/>
                        <a:satOff val="0"/>
                        <a:lumOff val="0"/>
                        <a:alphaOff val="0"/>
                      </a:prstClr>
                    </a:solidFill>
                    <a:cs typeface="+mn-ea"/>
                    <a:sym typeface="+mn-lt"/>
                  </a:rPr>
                  <a:t>0~1</a:t>
                </a:r>
                <a:r>
                  <a:rPr lang="zh-CN" altLang="en-US" sz="1100" dirty="0">
                    <a:solidFill>
                      <a:prstClr val="black">
                        <a:hueOff val="0"/>
                        <a:satOff val="0"/>
                        <a:lumOff val="0"/>
                        <a:alphaOff val="0"/>
                      </a:prstClr>
                    </a:solidFill>
                    <a:cs typeface="+mn-ea"/>
                    <a:sym typeface="+mn-lt"/>
                  </a:rPr>
                  <a:t>级</a:t>
                </a:r>
                <a:endParaRPr lang="en-US" altLang="zh-CN" sz="1100" dirty="0">
                  <a:solidFill>
                    <a:prstClr val="black">
                      <a:hueOff val="0"/>
                      <a:satOff val="0"/>
                      <a:lumOff val="0"/>
                      <a:alphaOff val="0"/>
                    </a:prstClr>
                  </a:solidFill>
                  <a:cs typeface="+mn-ea"/>
                  <a:sym typeface="+mn-lt"/>
                </a:endParaRPr>
              </a:p>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再次给药时使用</a:t>
                </a:r>
                <a:r>
                  <a:rPr lang="en-US" altLang="zh-CN" sz="1400" b="1" dirty="0">
                    <a:solidFill>
                      <a:srgbClr val="108638"/>
                    </a:solidFill>
                    <a:cs typeface="+mn-ea"/>
                    <a:sym typeface="+mn-lt"/>
                  </a:rPr>
                  <a:t>75%</a:t>
                </a:r>
                <a:r>
                  <a:rPr lang="zh-CN" altLang="en-US" sz="1100" dirty="0">
                    <a:solidFill>
                      <a:prstClr val="black">
                        <a:hueOff val="0"/>
                        <a:satOff val="0"/>
                        <a:lumOff val="0"/>
                        <a:alphaOff val="0"/>
                      </a:prstClr>
                    </a:solidFill>
                    <a:cs typeface="+mn-ea"/>
                    <a:sym typeface="+mn-lt"/>
                  </a:rPr>
                  <a:t>的剂量</a:t>
                </a:r>
              </a:p>
            </p:txBody>
          </p:sp>
          <p:sp>
            <p:nvSpPr>
              <p:cNvPr id="118" name="任意多边形 117"/>
              <p:cNvSpPr/>
              <p:nvPr/>
            </p:nvSpPr>
            <p:spPr>
              <a:xfrm flipH="1">
                <a:off x="3231610" y="4989262"/>
                <a:ext cx="1427306" cy="956643"/>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t" anchorCtr="0">
                <a:no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暂停用药，直至恢复到</a:t>
                </a:r>
                <a:r>
                  <a:rPr lang="en-US" altLang="zh-CN" sz="1100" dirty="0">
                    <a:solidFill>
                      <a:prstClr val="black">
                        <a:hueOff val="0"/>
                        <a:satOff val="0"/>
                        <a:lumOff val="0"/>
                        <a:alphaOff val="0"/>
                      </a:prstClr>
                    </a:solidFill>
                    <a:cs typeface="+mn-ea"/>
                    <a:sym typeface="+mn-lt"/>
                  </a:rPr>
                  <a:t>0~1</a:t>
                </a:r>
                <a:r>
                  <a:rPr lang="zh-CN" altLang="en-US" sz="1100" dirty="0">
                    <a:solidFill>
                      <a:prstClr val="black">
                        <a:hueOff val="0"/>
                        <a:satOff val="0"/>
                        <a:lumOff val="0"/>
                        <a:alphaOff val="0"/>
                      </a:prstClr>
                    </a:solidFill>
                    <a:cs typeface="+mn-ea"/>
                    <a:sym typeface="+mn-lt"/>
                  </a:rPr>
                  <a:t>级</a:t>
                </a:r>
                <a:endParaRPr lang="en-US" altLang="zh-CN" sz="1100" dirty="0">
                  <a:solidFill>
                    <a:prstClr val="black">
                      <a:hueOff val="0"/>
                      <a:satOff val="0"/>
                      <a:lumOff val="0"/>
                      <a:alphaOff val="0"/>
                    </a:prstClr>
                  </a:solidFill>
                  <a:cs typeface="+mn-ea"/>
                  <a:sym typeface="+mn-lt"/>
                </a:endParaRPr>
              </a:p>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再次给药时使用</a:t>
                </a:r>
                <a:r>
                  <a:rPr lang="en-US" altLang="zh-CN" sz="1400" b="1" dirty="0">
                    <a:solidFill>
                      <a:srgbClr val="108638"/>
                    </a:solidFill>
                    <a:cs typeface="+mn-ea"/>
                    <a:sym typeface="+mn-lt"/>
                  </a:rPr>
                  <a:t>50%</a:t>
                </a:r>
                <a:r>
                  <a:rPr lang="zh-CN" altLang="en-US" sz="1100" dirty="0">
                    <a:solidFill>
                      <a:prstClr val="black">
                        <a:hueOff val="0"/>
                        <a:satOff val="0"/>
                        <a:lumOff val="0"/>
                        <a:alphaOff val="0"/>
                      </a:prstClr>
                    </a:solidFill>
                    <a:cs typeface="+mn-ea"/>
                    <a:sym typeface="+mn-lt"/>
                  </a:rPr>
                  <a:t>的剂量</a:t>
                </a:r>
              </a:p>
            </p:txBody>
          </p:sp>
          <p:sp>
            <p:nvSpPr>
              <p:cNvPr id="56" name="任意多边形 55"/>
              <p:cNvSpPr/>
              <p:nvPr/>
            </p:nvSpPr>
            <p:spPr>
              <a:xfrm flipH="1">
                <a:off x="1506331" y="3030566"/>
                <a:ext cx="1427306" cy="956643"/>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t" anchorCtr="0">
                <a:no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暂停用药，直至恢复到</a:t>
                </a:r>
                <a:r>
                  <a:rPr lang="en-US" altLang="zh-CN" sz="1100" dirty="0">
                    <a:solidFill>
                      <a:prstClr val="black">
                        <a:hueOff val="0"/>
                        <a:satOff val="0"/>
                        <a:lumOff val="0"/>
                        <a:alphaOff val="0"/>
                      </a:prstClr>
                    </a:solidFill>
                    <a:cs typeface="+mn-ea"/>
                    <a:sym typeface="+mn-lt"/>
                  </a:rPr>
                  <a:t>0~1</a:t>
                </a:r>
                <a:r>
                  <a:rPr lang="zh-CN" altLang="en-US" sz="1100" dirty="0">
                    <a:solidFill>
                      <a:prstClr val="black">
                        <a:hueOff val="0"/>
                        <a:satOff val="0"/>
                        <a:lumOff val="0"/>
                        <a:alphaOff val="0"/>
                      </a:prstClr>
                    </a:solidFill>
                    <a:cs typeface="+mn-ea"/>
                    <a:sym typeface="+mn-lt"/>
                  </a:rPr>
                  <a:t>级</a:t>
                </a:r>
                <a:endParaRPr lang="en-US" altLang="zh-CN" sz="1100" dirty="0">
                  <a:solidFill>
                    <a:prstClr val="black">
                      <a:hueOff val="0"/>
                      <a:satOff val="0"/>
                      <a:lumOff val="0"/>
                      <a:alphaOff val="0"/>
                    </a:prstClr>
                  </a:solidFill>
                  <a:cs typeface="+mn-ea"/>
                  <a:sym typeface="+mn-lt"/>
                </a:endParaRPr>
              </a:p>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再次给药时使用</a:t>
                </a:r>
                <a:r>
                  <a:rPr lang="en-US" altLang="zh-CN" sz="1400" b="1" dirty="0">
                    <a:solidFill>
                      <a:srgbClr val="108638"/>
                    </a:solidFill>
                    <a:cs typeface="+mn-ea"/>
                    <a:sym typeface="+mn-lt"/>
                  </a:rPr>
                  <a:t>100%</a:t>
                </a:r>
                <a:r>
                  <a:rPr lang="zh-CN" altLang="en-US" sz="1100" dirty="0">
                    <a:solidFill>
                      <a:prstClr val="black">
                        <a:hueOff val="0"/>
                        <a:satOff val="0"/>
                        <a:lumOff val="0"/>
                        <a:alphaOff val="0"/>
                      </a:prstClr>
                    </a:solidFill>
                    <a:cs typeface="+mn-ea"/>
                    <a:sym typeface="+mn-lt"/>
                  </a:rPr>
                  <a:t>的剂量</a:t>
                </a:r>
              </a:p>
            </p:txBody>
          </p:sp>
          <p:sp>
            <p:nvSpPr>
              <p:cNvPr id="21" name="矩形 20"/>
              <p:cNvSpPr/>
              <p:nvPr/>
            </p:nvSpPr>
            <p:spPr>
              <a:xfrm>
                <a:off x="6646074" y="3030566"/>
                <a:ext cx="1483571" cy="295466"/>
              </a:xfrm>
              <a:prstGeom prst="rect">
                <a:avLst/>
              </a:prstGeom>
            </p:spPr>
            <p:txBody>
              <a:bodyPr wrap="square" anchor="t">
                <a:sp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latin typeface="微软雅黑"/>
                    <a:ea typeface="微软雅黑"/>
                    <a:cs typeface="+mn-ea"/>
                    <a:sym typeface="+mn-lt"/>
                  </a:rPr>
                  <a:t>永久终止治疗</a:t>
                </a:r>
              </a:p>
            </p:txBody>
          </p:sp>
          <p:sp>
            <p:nvSpPr>
              <p:cNvPr id="107" name="任意多边形 106"/>
              <p:cNvSpPr/>
              <p:nvPr/>
            </p:nvSpPr>
            <p:spPr>
              <a:xfrm flipH="1">
                <a:off x="4921004" y="3030566"/>
                <a:ext cx="1427306" cy="956643"/>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t" anchorCtr="0">
                <a:no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暂停用药，直至恢复到</a:t>
                </a:r>
                <a:r>
                  <a:rPr lang="en-US" altLang="zh-CN" sz="1100" dirty="0">
                    <a:solidFill>
                      <a:prstClr val="black">
                        <a:hueOff val="0"/>
                        <a:satOff val="0"/>
                        <a:lumOff val="0"/>
                        <a:alphaOff val="0"/>
                      </a:prstClr>
                    </a:solidFill>
                    <a:cs typeface="+mn-ea"/>
                    <a:sym typeface="+mn-lt"/>
                  </a:rPr>
                  <a:t>0~1</a:t>
                </a:r>
                <a:r>
                  <a:rPr lang="zh-CN" altLang="en-US" sz="1100" dirty="0">
                    <a:solidFill>
                      <a:prstClr val="black">
                        <a:hueOff val="0"/>
                        <a:satOff val="0"/>
                        <a:lumOff val="0"/>
                        <a:alphaOff val="0"/>
                      </a:prstClr>
                    </a:solidFill>
                    <a:cs typeface="+mn-ea"/>
                    <a:sym typeface="+mn-lt"/>
                  </a:rPr>
                  <a:t>级</a:t>
                </a:r>
                <a:endParaRPr lang="en-US" altLang="zh-CN" sz="1100" dirty="0">
                  <a:solidFill>
                    <a:prstClr val="black">
                      <a:hueOff val="0"/>
                      <a:satOff val="0"/>
                      <a:lumOff val="0"/>
                      <a:alphaOff val="0"/>
                    </a:prstClr>
                  </a:solidFill>
                  <a:cs typeface="+mn-ea"/>
                  <a:sym typeface="+mn-lt"/>
                </a:endParaRPr>
              </a:p>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再次给药时使用</a:t>
                </a:r>
                <a:r>
                  <a:rPr lang="en-US" altLang="zh-CN" sz="1400" b="1" dirty="0">
                    <a:solidFill>
                      <a:srgbClr val="108638"/>
                    </a:solidFill>
                    <a:cs typeface="+mn-ea"/>
                    <a:sym typeface="+mn-lt"/>
                  </a:rPr>
                  <a:t>50%</a:t>
                </a:r>
                <a:r>
                  <a:rPr lang="zh-CN" altLang="en-US" sz="1100" dirty="0">
                    <a:solidFill>
                      <a:prstClr val="black">
                        <a:hueOff val="0"/>
                        <a:satOff val="0"/>
                        <a:lumOff val="0"/>
                        <a:alphaOff val="0"/>
                      </a:prstClr>
                    </a:solidFill>
                    <a:cs typeface="+mn-ea"/>
                    <a:sym typeface="+mn-lt"/>
                  </a:rPr>
                  <a:t>的剂量</a:t>
                </a:r>
              </a:p>
            </p:txBody>
          </p:sp>
          <p:sp>
            <p:nvSpPr>
              <p:cNvPr id="108" name="任意多边形 107"/>
              <p:cNvSpPr/>
              <p:nvPr/>
            </p:nvSpPr>
            <p:spPr>
              <a:xfrm flipH="1">
                <a:off x="3231610" y="3030566"/>
                <a:ext cx="1427306" cy="956643"/>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prstDash val="dash"/>
              </a:ln>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0000" tIns="46800" rIns="90000" bIns="19685" numCol="1" spcCol="1270" anchor="t" anchorCtr="0">
                <a:noAutofit/>
              </a:bodyPr>
              <a:lstStyle/>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暂停用药，直至恢复到</a:t>
                </a:r>
                <a:r>
                  <a:rPr lang="en-US" altLang="zh-CN" sz="1100" dirty="0">
                    <a:solidFill>
                      <a:prstClr val="black">
                        <a:hueOff val="0"/>
                        <a:satOff val="0"/>
                        <a:lumOff val="0"/>
                        <a:alphaOff val="0"/>
                      </a:prstClr>
                    </a:solidFill>
                    <a:cs typeface="+mn-ea"/>
                    <a:sym typeface="+mn-lt"/>
                  </a:rPr>
                  <a:t>0~1</a:t>
                </a:r>
                <a:r>
                  <a:rPr lang="zh-CN" altLang="en-US" sz="1100" dirty="0">
                    <a:solidFill>
                      <a:prstClr val="black">
                        <a:hueOff val="0"/>
                        <a:satOff val="0"/>
                        <a:lumOff val="0"/>
                        <a:alphaOff val="0"/>
                      </a:prstClr>
                    </a:solidFill>
                    <a:cs typeface="+mn-ea"/>
                    <a:sym typeface="+mn-lt"/>
                  </a:rPr>
                  <a:t>级</a:t>
                </a:r>
                <a:endParaRPr lang="en-US" altLang="zh-CN" sz="1100" dirty="0">
                  <a:solidFill>
                    <a:prstClr val="black">
                      <a:hueOff val="0"/>
                      <a:satOff val="0"/>
                      <a:lumOff val="0"/>
                      <a:alphaOff val="0"/>
                    </a:prstClr>
                  </a:solidFill>
                  <a:cs typeface="+mn-ea"/>
                  <a:sym typeface="+mn-lt"/>
                </a:endParaRPr>
              </a:p>
              <a:p>
                <a:pPr marL="144000" indent="-144000" defTabSz="1377950" eaLnBrk="1" fontAlgn="auto" hangingPunct="1">
                  <a:lnSpc>
                    <a:spcPct val="120000"/>
                  </a:lnSpc>
                  <a:spcBef>
                    <a:spcPts val="300"/>
                  </a:spcBef>
                  <a:spcAft>
                    <a:spcPts val="0"/>
                  </a:spcAft>
                  <a:buFont typeface="Arial" panose="020B0604020202020204" pitchFamily="34" charset="0"/>
                  <a:buChar char="•"/>
                </a:pPr>
                <a:r>
                  <a:rPr lang="zh-CN" altLang="en-US" sz="1100" dirty="0">
                    <a:solidFill>
                      <a:prstClr val="black">
                        <a:hueOff val="0"/>
                        <a:satOff val="0"/>
                        <a:lumOff val="0"/>
                        <a:alphaOff val="0"/>
                      </a:prstClr>
                    </a:solidFill>
                    <a:cs typeface="+mn-ea"/>
                    <a:sym typeface="+mn-lt"/>
                  </a:rPr>
                  <a:t>再次给药时使用</a:t>
                </a:r>
                <a:r>
                  <a:rPr lang="en-US" altLang="zh-CN" sz="1400" b="1" dirty="0">
                    <a:solidFill>
                      <a:srgbClr val="108638"/>
                    </a:solidFill>
                    <a:cs typeface="+mn-ea"/>
                    <a:sym typeface="+mn-lt"/>
                  </a:rPr>
                  <a:t>75%</a:t>
                </a:r>
                <a:r>
                  <a:rPr lang="zh-CN" altLang="en-US" sz="1100" dirty="0">
                    <a:solidFill>
                      <a:prstClr val="black">
                        <a:hueOff val="0"/>
                        <a:satOff val="0"/>
                        <a:lumOff val="0"/>
                        <a:alphaOff val="0"/>
                      </a:prstClr>
                    </a:solidFill>
                    <a:cs typeface="+mn-ea"/>
                    <a:sym typeface="+mn-lt"/>
                  </a:rPr>
                  <a:t>的剂量</a:t>
                </a:r>
              </a:p>
            </p:txBody>
          </p:sp>
          <p:sp>
            <p:nvSpPr>
              <p:cNvPr id="37" name="任意多边形 36"/>
              <p:cNvSpPr/>
              <p:nvPr/>
            </p:nvSpPr>
            <p:spPr>
              <a:xfrm flipH="1">
                <a:off x="663168" y="1586149"/>
                <a:ext cx="468000" cy="402357"/>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ln>
              <a:effectLst/>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9685" tIns="19685" rIns="19685" bIns="19685" numCol="1" spcCol="1270" anchor="ctr" anchorCtr="0">
                <a:noAutofit/>
              </a:bodyPr>
              <a:lstStyle/>
              <a:p>
                <a:pPr algn="ctr" defTabSz="1377950" eaLnBrk="1" fontAlgn="auto" hangingPunct="1">
                  <a:lnSpc>
                    <a:spcPct val="90000"/>
                  </a:lnSpc>
                  <a:spcAft>
                    <a:spcPct val="35000"/>
                  </a:spcAft>
                </a:pPr>
                <a:r>
                  <a:rPr lang="en-US" altLang="zh-CN" sz="1400" b="1" dirty="0">
                    <a:solidFill>
                      <a:prstClr val="black"/>
                    </a:solidFill>
                    <a:cs typeface="+mn-ea"/>
                    <a:sym typeface="+mn-lt"/>
                  </a:rPr>
                  <a:t>1</a:t>
                </a:r>
                <a:r>
                  <a:rPr lang="zh-CN" altLang="en-US" sz="1400" b="1" dirty="0">
                    <a:solidFill>
                      <a:prstClr val="black"/>
                    </a:solidFill>
                    <a:cs typeface="+mn-ea"/>
                    <a:sym typeface="+mn-lt"/>
                  </a:rPr>
                  <a:t>级</a:t>
                </a:r>
              </a:p>
            </p:txBody>
          </p:sp>
          <p:sp>
            <p:nvSpPr>
              <p:cNvPr id="38" name="任意多边形 37"/>
              <p:cNvSpPr/>
              <p:nvPr/>
            </p:nvSpPr>
            <p:spPr>
              <a:xfrm flipH="1">
                <a:off x="663168" y="2816587"/>
                <a:ext cx="468000" cy="864568"/>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ln>
              <a:effectLst/>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9685" tIns="19685" rIns="19685" bIns="19685" numCol="1" spcCol="1270" anchor="ctr" anchorCtr="0">
                <a:noAutofit/>
              </a:bodyPr>
              <a:lstStyle/>
              <a:p>
                <a:pPr algn="ctr" defTabSz="1377950" eaLnBrk="1" fontAlgn="auto" hangingPunct="1">
                  <a:lnSpc>
                    <a:spcPct val="90000"/>
                  </a:lnSpc>
                  <a:spcAft>
                    <a:spcPct val="35000"/>
                  </a:spcAft>
                </a:pPr>
                <a:r>
                  <a:rPr lang="en-US" altLang="zh-CN" sz="1400" b="1" dirty="0">
                    <a:solidFill>
                      <a:prstClr val="black"/>
                    </a:solidFill>
                    <a:cs typeface="+mn-ea"/>
                    <a:sym typeface="+mn-lt"/>
                  </a:rPr>
                  <a:t>2</a:t>
                </a:r>
                <a:r>
                  <a:rPr lang="zh-CN" altLang="en-US" sz="1400" b="1" dirty="0">
                    <a:solidFill>
                      <a:prstClr val="black"/>
                    </a:solidFill>
                    <a:cs typeface="+mn-ea"/>
                    <a:sym typeface="+mn-lt"/>
                  </a:rPr>
                  <a:t>级</a:t>
                </a:r>
              </a:p>
            </p:txBody>
          </p:sp>
          <p:sp>
            <p:nvSpPr>
              <p:cNvPr id="39" name="任意多边形 38"/>
              <p:cNvSpPr/>
              <p:nvPr/>
            </p:nvSpPr>
            <p:spPr>
              <a:xfrm flipH="1">
                <a:off x="663168" y="4674647"/>
                <a:ext cx="468000" cy="1046128"/>
              </a:xfrm>
              <a:custGeom>
                <a:avLst/>
                <a:gdLst>
                  <a:gd name="connsiteX0" fmla="*/ 0 w 1037539"/>
                  <a:gd name="connsiteY0" fmla="*/ 0 h 518769"/>
                  <a:gd name="connsiteX1" fmla="*/ 1037539 w 1037539"/>
                  <a:gd name="connsiteY1" fmla="*/ 0 h 518769"/>
                  <a:gd name="connsiteX2" fmla="*/ 1037539 w 1037539"/>
                  <a:gd name="connsiteY2" fmla="*/ 518769 h 518769"/>
                  <a:gd name="connsiteX3" fmla="*/ 0 w 1037539"/>
                  <a:gd name="connsiteY3" fmla="*/ 518769 h 518769"/>
                  <a:gd name="connsiteX4" fmla="*/ 0 w 1037539"/>
                  <a:gd name="connsiteY4" fmla="*/ 0 h 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7539" h="518769">
                    <a:moveTo>
                      <a:pt x="0" y="0"/>
                    </a:moveTo>
                    <a:lnTo>
                      <a:pt x="1037539" y="0"/>
                    </a:lnTo>
                    <a:lnTo>
                      <a:pt x="1037539" y="518769"/>
                    </a:lnTo>
                    <a:lnTo>
                      <a:pt x="0" y="518769"/>
                    </a:lnTo>
                    <a:lnTo>
                      <a:pt x="0" y="0"/>
                    </a:lnTo>
                    <a:close/>
                  </a:path>
                </a:pathLst>
              </a:custGeom>
              <a:noFill/>
              <a:ln>
                <a:noFill/>
              </a:ln>
              <a:effectLst/>
            </p:spPr>
            <p:style>
              <a:lnRef idx="2">
                <a:schemeClr val="accent3">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9685" tIns="19685" rIns="19685" bIns="19685" numCol="1" spcCol="1270" anchor="ctr" anchorCtr="0">
                <a:noAutofit/>
              </a:bodyPr>
              <a:lstStyle/>
              <a:p>
                <a:pPr algn="ctr" defTabSz="1377950" eaLnBrk="1" fontAlgn="auto" hangingPunct="1">
                  <a:lnSpc>
                    <a:spcPct val="90000"/>
                  </a:lnSpc>
                  <a:spcAft>
                    <a:spcPct val="35000"/>
                  </a:spcAft>
                </a:pPr>
                <a:r>
                  <a:rPr lang="en-US" altLang="zh-CN" sz="1400" b="1" dirty="0">
                    <a:solidFill>
                      <a:prstClr val="white"/>
                    </a:solidFill>
                    <a:cs typeface="+mn-ea"/>
                    <a:sym typeface="+mn-lt"/>
                  </a:rPr>
                  <a:t>3</a:t>
                </a:r>
                <a:r>
                  <a:rPr lang="zh-CN" altLang="en-US" sz="1400" b="1" dirty="0">
                    <a:solidFill>
                      <a:prstClr val="white"/>
                    </a:solidFill>
                    <a:cs typeface="+mn-ea"/>
                    <a:sym typeface="+mn-lt"/>
                  </a:rPr>
                  <a:t>级</a:t>
                </a:r>
              </a:p>
            </p:txBody>
          </p:sp>
          <p:sp>
            <p:nvSpPr>
              <p:cNvPr id="40" name="五边形 39"/>
              <p:cNvSpPr/>
              <p:nvPr/>
            </p:nvSpPr>
            <p:spPr>
              <a:xfrm>
                <a:off x="1781770" y="2573442"/>
                <a:ext cx="894127" cy="379611"/>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8FC36B"/>
                    </a:solidFill>
                  </a:rPr>
                  <a:t>首次出现</a:t>
                </a:r>
              </a:p>
            </p:txBody>
          </p:sp>
          <p:sp>
            <p:nvSpPr>
              <p:cNvPr id="41" name="五边形 40"/>
              <p:cNvSpPr/>
              <p:nvPr/>
            </p:nvSpPr>
            <p:spPr>
              <a:xfrm>
                <a:off x="3394093" y="2573442"/>
                <a:ext cx="1081894" cy="379611"/>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8FC36B"/>
                    </a:solidFill>
                  </a:rPr>
                  <a:t>第二次出现</a:t>
                </a:r>
              </a:p>
            </p:txBody>
          </p:sp>
          <p:sp>
            <p:nvSpPr>
              <p:cNvPr id="42" name="五边形 41"/>
              <p:cNvSpPr/>
              <p:nvPr/>
            </p:nvSpPr>
            <p:spPr>
              <a:xfrm>
                <a:off x="5100300" y="2620644"/>
                <a:ext cx="1081894" cy="285207"/>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8FC36B"/>
                    </a:solidFill>
                  </a:rPr>
                  <a:t>第三次出现</a:t>
                </a:r>
              </a:p>
            </p:txBody>
          </p:sp>
          <p:sp>
            <p:nvSpPr>
              <p:cNvPr id="43" name="五边形 42"/>
              <p:cNvSpPr/>
              <p:nvPr/>
            </p:nvSpPr>
            <p:spPr>
              <a:xfrm>
                <a:off x="6806508" y="2620644"/>
                <a:ext cx="1081894" cy="285207"/>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8FC36B"/>
                    </a:solidFill>
                  </a:rPr>
                  <a:t>第四次出现</a:t>
                </a:r>
              </a:p>
            </p:txBody>
          </p:sp>
          <p:sp>
            <p:nvSpPr>
              <p:cNvPr id="44" name="五边形 43"/>
              <p:cNvSpPr/>
              <p:nvPr/>
            </p:nvSpPr>
            <p:spPr>
              <a:xfrm>
                <a:off x="1781770" y="4590153"/>
                <a:ext cx="894127" cy="283996"/>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108638"/>
                    </a:solidFill>
                  </a:rPr>
                  <a:t>首次出现</a:t>
                </a:r>
              </a:p>
            </p:txBody>
          </p:sp>
          <p:sp>
            <p:nvSpPr>
              <p:cNvPr id="45" name="五边形 44"/>
              <p:cNvSpPr/>
              <p:nvPr/>
            </p:nvSpPr>
            <p:spPr>
              <a:xfrm>
                <a:off x="3394093" y="4590153"/>
                <a:ext cx="1081894" cy="283996"/>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108638"/>
                    </a:solidFill>
                  </a:rPr>
                  <a:t>第二次出现</a:t>
                </a:r>
              </a:p>
            </p:txBody>
          </p:sp>
          <p:sp>
            <p:nvSpPr>
              <p:cNvPr id="46" name="五边形 45"/>
              <p:cNvSpPr/>
              <p:nvPr/>
            </p:nvSpPr>
            <p:spPr>
              <a:xfrm>
                <a:off x="5100300" y="4590153"/>
                <a:ext cx="1081894" cy="283996"/>
              </a:xfrm>
              <a:prstGeom prst="homePlat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108638"/>
                    </a:solidFill>
                  </a:rPr>
                  <a:t>第三次出现</a:t>
                </a:r>
              </a:p>
            </p:txBody>
          </p:sp>
        </p:grpSp>
      </p:grpSp>
    </p:spTree>
    <p:extLst>
      <p:ext uri="{BB962C8B-B14F-4D97-AF65-F5344CB8AC3E}">
        <p14:creationId xmlns:p14="http://schemas.microsoft.com/office/powerpoint/2010/main" val="22236359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eaLnBrk="0" fontAlgn="base" hangingPunct="0">
              <a:spcAft>
                <a:spcPct val="0"/>
              </a:spcAft>
            </a:pPr>
            <a:r>
              <a:rPr lang="zh-CN" altLang="en-US" sz="2000" dirty="0">
                <a:solidFill>
                  <a:prstClr val="black"/>
                </a:solidFill>
              </a:rPr>
              <a:t>多中心</a:t>
            </a:r>
            <a:r>
              <a:rPr lang="en-US" altLang="zh-CN" sz="2000" dirty="0">
                <a:solidFill>
                  <a:prstClr val="black"/>
                </a:solidFill>
              </a:rPr>
              <a:t>II</a:t>
            </a:r>
            <a:r>
              <a:rPr lang="zh-CN" altLang="en-US" sz="2000" dirty="0">
                <a:solidFill>
                  <a:prstClr val="black"/>
                </a:solidFill>
              </a:rPr>
              <a:t>期研究：</a:t>
            </a:r>
            <a:r>
              <a:rPr lang="en-US" altLang="zh-CN" sz="2000" dirty="0">
                <a:solidFill>
                  <a:prstClr val="black"/>
                </a:solidFill>
              </a:rPr>
              <a:t/>
            </a:r>
            <a:br>
              <a:rPr lang="en-US" altLang="zh-CN" sz="2000" dirty="0">
                <a:solidFill>
                  <a:prstClr val="black"/>
                </a:solidFill>
              </a:rPr>
            </a:br>
            <a:r>
              <a:rPr lang="zh-CN" altLang="en-US" dirty="0">
                <a:solidFill>
                  <a:prstClr val="black"/>
                </a:solidFill>
              </a:rPr>
              <a:t>对</a:t>
            </a:r>
            <a:r>
              <a:rPr lang="en-US" altLang="zh-CN" dirty="0">
                <a:solidFill>
                  <a:prstClr val="black"/>
                </a:solidFill>
              </a:rPr>
              <a:t>HFS</a:t>
            </a:r>
            <a:r>
              <a:rPr lang="zh-CN" altLang="en-US" dirty="0">
                <a:solidFill>
                  <a:prstClr val="black"/>
                </a:solidFill>
              </a:rPr>
              <a:t>患者进行必要的卡培他滨减量，症状改善比例高</a:t>
            </a:r>
          </a:p>
        </p:txBody>
      </p:sp>
      <p:sp>
        <p:nvSpPr>
          <p:cNvPr id="158" name="矩形 157"/>
          <p:cNvSpPr/>
          <p:nvPr/>
        </p:nvSpPr>
        <p:spPr>
          <a:xfrm>
            <a:off x="757376" y="6642556"/>
            <a:ext cx="8386624" cy="215444"/>
          </a:xfrm>
          <a:prstGeom prst="rect">
            <a:avLst/>
          </a:prstGeom>
        </p:spPr>
        <p:txBody>
          <a:bodyPr wrap="square">
            <a:spAutoFit/>
          </a:bodyPr>
          <a:lstStyle/>
          <a:p>
            <a:pPr algn="r"/>
            <a:r>
              <a:rPr lang="it-IT" altLang="zh-CN" sz="800" dirty="0">
                <a:solidFill>
                  <a:prstClr val="black"/>
                </a:solidFill>
                <a:latin typeface="Microsoft YaHei"/>
                <a:ea typeface="Microsoft YaHei"/>
              </a:rPr>
              <a:t>1. </a:t>
            </a:r>
            <a:r>
              <a:rPr lang="fr-FR" altLang="zh-CN" sz="800" dirty="0">
                <a:solidFill>
                  <a:prstClr val="black"/>
                </a:solidFill>
                <a:latin typeface="Microsoft YaHei"/>
                <a:ea typeface="Microsoft YaHei"/>
              </a:rPr>
              <a:t>Blum JL et al., J Cancer 2001; 37(suppl):190 (abstract 693).  2. Blum JL et al., J Clin Oncol. 1999;17(2):485-93.  3. </a:t>
            </a:r>
            <a:r>
              <a:rPr lang="en-US" altLang="zh-CN" sz="800" dirty="0">
                <a:solidFill>
                  <a:prstClr val="black"/>
                </a:solidFill>
                <a:latin typeface="Microsoft YaHei"/>
                <a:ea typeface="Microsoft YaHei"/>
              </a:rPr>
              <a:t>Leonard R et al., </a:t>
            </a:r>
            <a:r>
              <a:rPr lang="en-US" altLang="zh-CN" sz="800" dirty="0" err="1">
                <a:solidFill>
                  <a:prstClr val="black"/>
                </a:solidFill>
                <a:latin typeface="Microsoft YaHei"/>
                <a:ea typeface="Microsoft YaHei"/>
              </a:rPr>
              <a:t>Clin</a:t>
            </a:r>
            <a:r>
              <a:rPr lang="en-US" altLang="zh-CN" sz="800" dirty="0">
                <a:solidFill>
                  <a:prstClr val="black"/>
                </a:solidFill>
                <a:latin typeface="Microsoft YaHei"/>
                <a:ea typeface="Microsoft YaHei"/>
              </a:rPr>
              <a:t> Breast Cancer. 2011;11(6):349-56.</a:t>
            </a:r>
          </a:p>
        </p:txBody>
      </p:sp>
      <p:grpSp>
        <p:nvGrpSpPr>
          <p:cNvPr id="7" name="组合 6"/>
          <p:cNvGrpSpPr/>
          <p:nvPr/>
        </p:nvGrpSpPr>
        <p:grpSpPr>
          <a:xfrm>
            <a:off x="377589" y="1186617"/>
            <a:ext cx="8388823" cy="5297442"/>
            <a:chOff x="377589" y="1186617"/>
            <a:chExt cx="8388823" cy="5297442"/>
          </a:xfrm>
        </p:grpSpPr>
        <p:pic>
          <p:nvPicPr>
            <p:cNvPr id="6" name="图片 5"/>
            <p:cNvPicPr>
              <a:picLocks noChangeAspect="1"/>
            </p:cNvPicPr>
            <p:nvPr/>
          </p:nvPicPr>
          <p:blipFill>
            <a:blip r:embed="rId3"/>
            <a:stretch>
              <a:fillRect/>
            </a:stretch>
          </p:blipFill>
          <p:spPr>
            <a:xfrm>
              <a:off x="377589" y="1558064"/>
              <a:ext cx="8388823" cy="4925995"/>
            </a:xfrm>
            <a:prstGeom prst="rect">
              <a:avLst/>
            </a:prstGeom>
          </p:spPr>
        </p:pic>
        <p:sp>
          <p:nvSpPr>
            <p:cNvPr id="120" name="矩形 119">
              <a:extLst>
                <a:ext uri="{FF2B5EF4-FFF2-40B4-BE49-F238E27FC236}">
                  <a16:creationId xmlns:a16="http://schemas.microsoft.com/office/drawing/2014/main" xmlns="" id="{3AFBA911-A21B-433C-B9FD-B73C68C81690}"/>
                </a:ext>
              </a:extLst>
            </p:cNvPr>
            <p:cNvSpPr/>
            <p:nvPr/>
          </p:nvSpPr>
          <p:spPr>
            <a:xfrm rot="16200000">
              <a:off x="270623" y="5292320"/>
              <a:ext cx="1176194" cy="320450"/>
            </a:xfrm>
            <a:prstGeom prst="rect">
              <a:avLst/>
            </a:prstGeom>
            <a:solidFill>
              <a:schemeClr val="bg1"/>
            </a:solidFill>
          </p:spPr>
          <p:txBody>
            <a:bodyPr wrap="none">
              <a:noAutofit/>
            </a:bodyPr>
            <a:lstStyle/>
            <a:p>
              <a:pPr algn="ctr"/>
              <a:r>
                <a:rPr lang="zh-CN" altLang="en-US" sz="1200" b="1" dirty="0">
                  <a:solidFill>
                    <a:prstClr val="black"/>
                  </a:solidFill>
                  <a:latin typeface="Microsoft YaHei"/>
                  <a:ea typeface="Microsoft YaHei"/>
                </a:rPr>
                <a:t>患者比例（％）</a:t>
              </a:r>
            </a:p>
          </p:txBody>
        </p:sp>
        <p:sp>
          <p:nvSpPr>
            <p:cNvPr id="103" name="矩形 102">
              <a:extLst>
                <a:ext uri="{FF2B5EF4-FFF2-40B4-BE49-F238E27FC236}">
                  <a16:creationId xmlns:a16="http://schemas.microsoft.com/office/drawing/2014/main" xmlns="" id="{697BCE7E-38C6-4890-BFB6-B5F20EB97184}"/>
                </a:ext>
              </a:extLst>
            </p:cNvPr>
            <p:cNvSpPr/>
            <p:nvPr/>
          </p:nvSpPr>
          <p:spPr>
            <a:xfrm>
              <a:off x="7494571" y="4499172"/>
              <a:ext cx="619591" cy="226508"/>
            </a:xfrm>
            <a:prstGeom prst="rect">
              <a:avLst/>
            </a:prstGeom>
            <a:noFill/>
          </p:spPr>
          <p:txBody>
            <a:bodyPr wrap="none">
              <a:noAutofit/>
            </a:bodyPr>
            <a:lstStyle/>
            <a:p>
              <a:r>
                <a:rPr lang="en-US" altLang="zh-CN" sz="1000" dirty="0">
                  <a:solidFill>
                    <a:prstClr val="black"/>
                  </a:solidFill>
                  <a:latin typeface="Microsoft YaHei"/>
                  <a:ea typeface="Microsoft YaHei"/>
                </a:rPr>
                <a:t>N=44</a:t>
              </a:r>
              <a:endParaRPr lang="zh-CN" altLang="en-US" sz="1000" dirty="0">
                <a:solidFill>
                  <a:prstClr val="black"/>
                </a:solidFill>
                <a:latin typeface="Microsoft YaHei"/>
                <a:ea typeface="Microsoft YaHei"/>
              </a:endParaRPr>
            </a:p>
          </p:txBody>
        </p:sp>
        <p:grpSp>
          <p:nvGrpSpPr>
            <p:cNvPr id="3" name="组合 2"/>
            <p:cNvGrpSpPr/>
            <p:nvPr/>
          </p:nvGrpSpPr>
          <p:grpSpPr>
            <a:xfrm>
              <a:off x="780400" y="1186617"/>
              <a:ext cx="7541686" cy="2410404"/>
              <a:chOff x="780400" y="1186617"/>
              <a:chExt cx="7541686" cy="2410404"/>
            </a:xfrm>
          </p:grpSpPr>
          <p:sp>
            <p:nvSpPr>
              <p:cNvPr id="144" name="矩形 143"/>
              <p:cNvSpPr/>
              <p:nvPr/>
            </p:nvSpPr>
            <p:spPr>
              <a:xfrm>
                <a:off x="3557754" y="2952394"/>
                <a:ext cx="4759962" cy="276999"/>
              </a:xfrm>
              <a:prstGeom prst="rect">
                <a:avLst/>
              </a:prstGeom>
            </p:spPr>
            <p:txBody>
              <a:bodyPr wrap="square" anchor="ctr">
                <a:spAutoFit/>
              </a:bodyPr>
              <a:lstStyle/>
              <a:p>
                <a:pPr defTabSz="457200">
                  <a:lnSpc>
                    <a:spcPct val="120000"/>
                  </a:lnSpc>
                </a:pPr>
                <a:r>
                  <a:rPr lang="zh-CN" altLang="en-US" sz="1000" dirty="0">
                    <a:solidFill>
                      <a:prstClr val="black"/>
                    </a:solidFill>
                    <a:latin typeface="Microsoft YaHei"/>
                    <a:ea typeface="Microsoft YaHei"/>
                  </a:rPr>
                  <a:t>* 出现</a:t>
                </a:r>
                <a:r>
                  <a:rPr lang="en-US" altLang="zh-CN" sz="1000" dirty="0">
                    <a:solidFill>
                      <a:prstClr val="black"/>
                    </a:solidFill>
                    <a:latin typeface="Microsoft YaHei"/>
                    <a:ea typeface="Microsoft YaHei"/>
                  </a:rPr>
                  <a:t>HFS</a:t>
                </a:r>
                <a:r>
                  <a:rPr lang="zh-CN" altLang="en-US" sz="1000" dirty="0">
                    <a:solidFill>
                      <a:prstClr val="black"/>
                    </a:solidFill>
                    <a:latin typeface="Microsoft YaHei"/>
                    <a:ea typeface="Microsoft YaHei"/>
                  </a:rPr>
                  <a:t>时按标准卡培他滨剂量调整方案处理（如前一页所示）</a:t>
                </a:r>
                <a:endParaRPr lang="en-US" altLang="zh-CN" sz="1000" dirty="0">
                  <a:solidFill>
                    <a:prstClr val="black"/>
                  </a:solidFill>
                  <a:latin typeface="Microsoft YaHei"/>
                  <a:ea typeface="Microsoft YaHei"/>
                </a:endParaRPr>
              </a:p>
            </p:txBody>
          </p:sp>
          <p:sp>
            <p:nvSpPr>
              <p:cNvPr id="145" name="矩形 144"/>
              <p:cNvSpPr/>
              <p:nvPr/>
            </p:nvSpPr>
            <p:spPr>
              <a:xfrm>
                <a:off x="1435564" y="1186617"/>
                <a:ext cx="6272872" cy="307777"/>
              </a:xfrm>
              <a:prstGeom prst="rect">
                <a:avLst/>
              </a:prstGeom>
            </p:spPr>
            <p:txBody>
              <a:bodyPr wrap="none">
                <a:spAutoFit/>
              </a:bodyPr>
              <a:lstStyle/>
              <a:p>
                <a:pPr algn="ctr" defTabSz="457200"/>
                <a:r>
                  <a:rPr lang="zh-CN" altLang="en-US" sz="1400" b="1" dirty="0">
                    <a:solidFill>
                      <a:prstClr val="black"/>
                    </a:solidFill>
                    <a:latin typeface="Microsoft YaHei"/>
                    <a:ea typeface="Microsoft YaHei"/>
                  </a:rPr>
                  <a:t>在美国及加拿大的</a:t>
                </a:r>
                <a:r>
                  <a:rPr lang="en-US" altLang="zh-CN" sz="1400" b="1" dirty="0">
                    <a:solidFill>
                      <a:prstClr val="black"/>
                    </a:solidFill>
                    <a:latin typeface="Microsoft YaHei"/>
                    <a:ea typeface="Microsoft YaHei"/>
                  </a:rPr>
                  <a:t>25</a:t>
                </a:r>
                <a:r>
                  <a:rPr lang="zh-CN" altLang="en-US" sz="1400" b="1" dirty="0">
                    <a:solidFill>
                      <a:prstClr val="black"/>
                    </a:solidFill>
                    <a:latin typeface="Microsoft YaHei"/>
                    <a:ea typeface="Microsoft YaHei"/>
                  </a:rPr>
                  <a:t>个研究中心进行的一项大型、开放性、多中心</a:t>
                </a:r>
                <a:r>
                  <a:rPr lang="en-US" altLang="zh-CN" sz="1400" b="1" dirty="0">
                    <a:solidFill>
                      <a:prstClr val="black"/>
                    </a:solidFill>
                    <a:latin typeface="Microsoft YaHei"/>
                    <a:ea typeface="Microsoft YaHei"/>
                  </a:rPr>
                  <a:t>II</a:t>
                </a:r>
                <a:r>
                  <a:rPr lang="zh-CN" altLang="en-US" sz="1400" b="1" dirty="0">
                    <a:solidFill>
                      <a:prstClr val="black"/>
                    </a:solidFill>
                    <a:latin typeface="Microsoft YaHei"/>
                    <a:ea typeface="Microsoft YaHei"/>
                  </a:rPr>
                  <a:t>期研究</a:t>
                </a:r>
                <a:r>
                  <a:rPr lang="en-US" altLang="zh-CN" sz="1400" b="1" baseline="30000" dirty="0">
                    <a:solidFill>
                      <a:prstClr val="black"/>
                    </a:solidFill>
                    <a:latin typeface="Microsoft YaHei"/>
                    <a:ea typeface="Microsoft YaHei"/>
                  </a:rPr>
                  <a:t>1,2</a:t>
                </a:r>
                <a:endParaRPr lang="zh-CN" altLang="en-US" sz="1400" b="1" baseline="30000" dirty="0">
                  <a:solidFill>
                    <a:prstClr val="black"/>
                  </a:solidFill>
                  <a:latin typeface="Microsoft YaHei"/>
                  <a:ea typeface="Microsoft YaHei"/>
                </a:endParaRPr>
              </a:p>
            </p:txBody>
          </p:sp>
          <p:grpSp>
            <p:nvGrpSpPr>
              <p:cNvPr id="41" name="组合 40"/>
              <p:cNvGrpSpPr/>
              <p:nvPr/>
            </p:nvGrpSpPr>
            <p:grpSpPr>
              <a:xfrm>
                <a:off x="830031" y="3335411"/>
                <a:ext cx="5902959" cy="261610"/>
                <a:chOff x="757376" y="3185283"/>
                <a:chExt cx="5902959" cy="261610"/>
              </a:xfrm>
            </p:grpSpPr>
            <p:sp>
              <p:nvSpPr>
                <p:cNvPr id="146" name="矩形 145"/>
                <p:cNvSpPr/>
                <p:nvPr/>
              </p:nvSpPr>
              <p:spPr>
                <a:xfrm>
                  <a:off x="757376" y="3185283"/>
                  <a:ext cx="1909497" cy="261610"/>
                </a:xfrm>
                <a:prstGeom prst="rect">
                  <a:avLst/>
                </a:prstGeom>
              </p:spPr>
              <p:txBody>
                <a:bodyPr wrap="none" anchor="ctr">
                  <a:spAutoFit/>
                </a:bodyPr>
                <a:lstStyle/>
                <a:p>
                  <a:pPr marL="171450" indent="-171450" eaLnBrk="1" fontAlgn="auto" hangingPunct="1">
                    <a:spcBef>
                      <a:spcPts val="600"/>
                    </a:spcBef>
                    <a:spcAft>
                      <a:spcPts val="0"/>
                    </a:spcAft>
                    <a:buFont typeface="Arial" panose="020B0604020202020204" pitchFamily="34" charset="0"/>
                    <a:buChar char="•"/>
                    <a:defRPr/>
                  </a:pPr>
                  <a:r>
                    <a:rPr lang="zh-CN" altLang="en-US" sz="1100" b="1" kern="0" dirty="0">
                      <a:solidFill>
                        <a:prstClr val="black"/>
                      </a:solidFill>
                      <a:latin typeface="Microsoft YaHei"/>
                      <a:ea typeface="Microsoft YaHei"/>
                    </a:rPr>
                    <a:t>主要终点：</a:t>
                  </a:r>
                  <a:r>
                    <a:rPr lang="zh-CN" altLang="en-US" sz="1050" kern="0" dirty="0">
                      <a:solidFill>
                        <a:prstClr val="black"/>
                      </a:solidFill>
                      <a:latin typeface="Microsoft YaHei"/>
                      <a:ea typeface="Microsoft YaHei"/>
                    </a:rPr>
                    <a:t>客观缓解率；</a:t>
                  </a:r>
                  <a:endParaRPr lang="en-US" altLang="zh-CN" sz="1050" kern="0" dirty="0">
                    <a:solidFill>
                      <a:prstClr val="black"/>
                    </a:solidFill>
                    <a:latin typeface="Microsoft YaHei"/>
                    <a:ea typeface="Microsoft YaHei"/>
                  </a:endParaRPr>
                </a:p>
              </p:txBody>
            </p:sp>
            <p:sp>
              <p:nvSpPr>
                <p:cNvPr id="147" name="矩形 146"/>
                <p:cNvSpPr/>
                <p:nvPr/>
              </p:nvSpPr>
              <p:spPr>
                <a:xfrm>
                  <a:off x="3284090" y="3185283"/>
                  <a:ext cx="3376245" cy="261610"/>
                </a:xfrm>
                <a:prstGeom prst="rect">
                  <a:avLst/>
                </a:prstGeom>
              </p:spPr>
              <p:txBody>
                <a:bodyPr wrap="none" anchor="ctr">
                  <a:spAutoFit/>
                </a:bodyPr>
                <a:lstStyle/>
                <a:p>
                  <a:pPr marL="171450" indent="-171450" eaLnBrk="1" fontAlgn="auto" hangingPunct="1">
                    <a:spcBef>
                      <a:spcPts val="600"/>
                    </a:spcBef>
                    <a:spcAft>
                      <a:spcPts val="0"/>
                    </a:spcAft>
                    <a:buFont typeface="Arial" panose="020B0604020202020204" pitchFamily="34" charset="0"/>
                    <a:buChar char="•"/>
                    <a:defRPr/>
                  </a:pPr>
                  <a:r>
                    <a:rPr lang="zh-CN" altLang="en-US" sz="1100" b="1" kern="0" dirty="0">
                      <a:solidFill>
                        <a:prstClr val="black"/>
                      </a:solidFill>
                      <a:latin typeface="Microsoft YaHei"/>
                      <a:ea typeface="Microsoft YaHei"/>
                    </a:rPr>
                    <a:t>次要终点：</a:t>
                  </a:r>
                  <a:r>
                    <a:rPr lang="zh-CN" altLang="en-US" sz="1050" kern="0" dirty="0">
                      <a:solidFill>
                        <a:prstClr val="black"/>
                      </a:solidFill>
                      <a:latin typeface="Microsoft YaHei"/>
                      <a:ea typeface="Microsoft YaHei"/>
                    </a:rPr>
                    <a:t>至疾病进展时间、</a:t>
                  </a:r>
                  <a:r>
                    <a:rPr lang="en-US" altLang="zh-CN" sz="1050" kern="0" dirty="0">
                      <a:solidFill>
                        <a:prstClr val="black"/>
                      </a:solidFill>
                      <a:latin typeface="Microsoft YaHei"/>
                      <a:ea typeface="Microsoft YaHei"/>
                    </a:rPr>
                    <a:t>OS</a:t>
                  </a:r>
                  <a:r>
                    <a:rPr lang="zh-CN" altLang="en-US" sz="1050" kern="0" dirty="0">
                      <a:solidFill>
                        <a:prstClr val="black"/>
                      </a:solidFill>
                      <a:latin typeface="Microsoft YaHei"/>
                      <a:ea typeface="Microsoft YaHei"/>
                    </a:rPr>
                    <a:t>、缓解持续时间</a:t>
                  </a:r>
                  <a:endParaRPr lang="en-US" altLang="zh-CN" sz="1050" kern="0" dirty="0">
                    <a:solidFill>
                      <a:prstClr val="black"/>
                    </a:solidFill>
                    <a:latin typeface="Microsoft YaHei"/>
                    <a:ea typeface="Microsoft YaHei"/>
                  </a:endParaRPr>
                </a:p>
              </p:txBody>
            </p:sp>
          </p:grpSp>
          <p:sp>
            <p:nvSpPr>
              <p:cNvPr id="143" name="矩形 142"/>
              <p:cNvSpPr/>
              <p:nvPr/>
            </p:nvSpPr>
            <p:spPr>
              <a:xfrm>
                <a:off x="7769025" y="2197033"/>
                <a:ext cx="553061" cy="320857"/>
              </a:xfrm>
              <a:prstGeom prst="rect">
                <a:avLst/>
              </a:prstGeom>
            </p:spPr>
            <p:txBody>
              <a:bodyPr wrap="square" anchor="ctr">
                <a:spAutoFit/>
              </a:bodyPr>
              <a:lstStyle/>
              <a:p>
                <a:pPr algn="ctr" defTabSz="457200" eaLnBrk="1" fontAlgn="auto" hangingPunct="1">
                  <a:lnSpc>
                    <a:spcPct val="135000"/>
                  </a:lnSpc>
                  <a:spcBef>
                    <a:spcPts val="600"/>
                  </a:spcBef>
                  <a:spcAft>
                    <a:spcPts val="0"/>
                  </a:spcAft>
                </a:pPr>
                <a:r>
                  <a:rPr lang="en-US" altLang="zh-CN" sz="1100" b="1" dirty="0">
                    <a:solidFill>
                      <a:prstClr val="black"/>
                    </a:solidFill>
                    <a:latin typeface="Microsoft YaHei"/>
                    <a:ea typeface="Microsoft YaHei"/>
                  </a:rPr>
                  <a:t>PD</a:t>
                </a:r>
                <a:endParaRPr lang="zh-CN" altLang="en-US" sz="1100" b="1" dirty="0">
                  <a:solidFill>
                    <a:prstClr val="black"/>
                  </a:solidFill>
                  <a:latin typeface="Microsoft YaHei"/>
                  <a:ea typeface="Microsoft YaHei"/>
                </a:endParaRPr>
              </a:p>
            </p:txBody>
          </p:sp>
          <p:sp>
            <p:nvSpPr>
              <p:cNvPr id="68" name="文本框 67"/>
              <p:cNvSpPr txBox="1"/>
              <p:nvPr/>
            </p:nvSpPr>
            <p:spPr>
              <a:xfrm>
                <a:off x="5726011" y="1540976"/>
                <a:ext cx="1625766" cy="276999"/>
              </a:xfrm>
              <a:prstGeom prst="rect">
                <a:avLst/>
              </a:prstGeom>
              <a:noFill/>
            </p:spPr>
            <p:txBody>
              <a:bodyPr wrap="none" rtlCol="0">
                <a:spAutoFit/>
              </a:bodyPr>
              <a:lstStyle/>
              <a:p>
                <a:pPr algn="ctr"/>
                <a:r>
                  <a:rPr lang="zh-CN" altLang="en-US" sz="1200" b="1" dirty="0">
                    <a:solidFill>
                      <a:prstClr val="black"/>
                    </a:solidFill>
                    <a:latin typeface="Microsoft YaHei"/>
                    <a:ea typeface="Microsoft YaHei"/>
                  </a:rPr>
                  <a:t>维持期 </a:t>
                </a:r>
                <a:r>
                  <a:rPr lang="en-US" altLang="zh-CN" sz="1200" b="1" dirty="0">
                    <a:solidFill>
                      <a:prstClr val="black"/>
                    </a:solidFill>
                    <a:latin typeface="Microsoft YaHei"/>
                    <a:ea typeface="Microsoft YaHei"/>
                  </a:rPr>
                  <a:t>+ </a:t>
                </a:r>
                <a:r>
                  <a:rPr lang="zh-CN" altLang="en-US" sz="1200" b="1" dirty="0">
                    <a:solidFill>
                      <a:prstClr val="black"/>
                    </a:solidFill>
                    <a:latin typeface="Microsoft YaHei"/>
                    <a:ea typeface="Microsoft YaHei"/>
                  </a:rPr>
                  <a:t>持续治疗期</a:t>
                </a:r>
              </a:p>
            </p:txBody>
          </p:sp>
          <p:sp>
            <p:nvSpPr>
              <p:cNvPr id="154" name="文本框 153"/>
              <p:cNvSpPr txBox="1"/>
              <p:nvPr/>
            </p:nvSpPr>
            <p:spPr>
              <a:xfrm>
                <a:off x="5225069" y="1782923"/>
                <a:ext cx="372218" cy="577081"/>
              </a:xfrm>
              <a:prstGeom prst="rect">
                <a:avLst/>
              </a:prstGeom>
              <a:noFill/>
            </p:spPr>
            <p:txBody>
              <a:bodyPr wrap="none" rtlCol="0">
                <a:spAutoFit/>
              </a:bodyPr>
              <a:lstStyle/>
              <a:p>
                <a:pPr algn="ctr"/>
                <a:r>
                  <a:rPr lang="en-US" altLang="zh-CN" sz="1050" dirty="0">
                    <a:solidFill>
                      <a:prstClr val="black"/>
                    </a:solidFill>
                    <a:latin typeface="Microsoft YaHei"/>
                    <a:ea typeface="Microsoft YaHei"/>
                  </a:rPr>
                  <a:t>CR</a:t>
                </a:r>
              </a:p>
              <a:p>
                <a:pPr algn="ctr"/>
                <a:r>
                  <a:rPr lang="en-US" altLang="zh-CN" sz="1050" dirty="0">
                    <a:solidFill>
                      <a:prstClr val="black"/>
                    </a:solidFill>
                    <a:latin typeface="Microsoft YaHei"/>
                    <a:ea typeface="Microsoft YaHei"/>
                  </a:rPr>
                  <a:t>PR</a:t>
                </a:r>
              </a:p>
              <a:p>
                <a:pPr algn="ctr"/>
                <a:r>
                  <a:rPr lang="en-US" altLang="zh-CN" sz="1050" dirty="0">
                    <a:solidFill>
                      <a:prstClr val="black"/>
                    </a:solidFill>
                    <a:latin typeface="Microsoft YaHei"/>
                    <a:ea typeface="Microsoft YaHei"/>
                  </a:rPr>
                  <a:t>SD</a:t>
                </a:r>
                <a:endParaRPr lang="zh-CN" altLang="en-US" sz="1050" dirty="0">
                  <a:solidFill>
                    <a:prstClr val="black"/>
                  </a:solidFill>
                  <a:latin typeface="Microsoft YaHei"/>
                  <a:ea typeface="Microsoft YaHei"/>
                </a:endParaRPr>
              </a:p>
            </p:txBody>
          </p:sp>
          <p:sp>
            <p:nvSpPr>
              <p:cNvPr id="141" name="矩形 140"/>
              <p:cNvSpPr/>
              <p:nvPr/>
            </p:nvSpPr>
            <p:spPr>
              <a:xfrm>
                <a:off x="3536973" y="1923496"/>
                <a:ext cx="1649528" cy="867930"/>
              </a:xfrm>
              <a:prstGeom prst="rect">
                <a:avLst/>
              </a:prstGeom>
            </p:spPr>
            <p:txBody>
              <a:bodyPr wrap="square" anchor="ctr">
                <a:spAutoFit/>
              </a:bodyPr>
              <a:lstStyle/>
              <a:p>
                <a:pPr algn="ctr" defTabSz="457200" eaLnBrk="1" fontAlgn="auto" hangingPunct="1">
                  <a:lnSpc>
                    <a:spcPct val="120000"/>
                  </a:lnSpc>
                  <a:spcBef>
                    <a:spcPts val="300"/>
                  </a:spcBef>
                  <a:spcAft>
                    <a:spcPts val="0"/>
                  </a:spcAft>
                </a:pPr>
                <a:r>
                  <a:rPr lang="zh-CN" altLang="en-US" sz="1050" b="1" dirty="0">
                    <a:solidFill>
                      <a:prstClr val="white"/>
                    </a:solidFill>
                    <a:latin typeface="Microsoft YaHei"/>
                    <a:ea typeface="Microsoft YaHei"/>
                    <a:cs typeface="微软雅黑" panose="020B0503020204020204" pitchFamily="34" charset="-122"/>
                  </a:rPr>
                  <a:t>卡培他滨* </a:t>
                </a:r>
                <a:r>
                  <a:rPr lang="zh-CN" altLang="en-US" sz="1050" dirty="0">
                    <a:solidFill>
                      <a:prstClr val="white"/>
                    </a:solidFill>
                    <a:latin typeface="Microsoft YaHei"/>
                    <a:ea typeface="Microsoft YaHei"/>
                    <a:cs typeface="微软雅黑" panose="020B0503020204020204" pitchFamily="34" charset="-122"/>
                  </a:rPr>
                  <a:t>1250 mg/m</a:t>
                </a:r>
                <a:r>
                  <a:rPr lang="zh-CN" altLang="en-US" sz="1050" baseline="30000" dirty="0">
                    <a:solidFill>
                      <a:prstClr val="white"/>
                    </a:solidFill>
                    <a:latin typeface="Microsoft YaHei"/>
                    <a:ea typeface="Microsoft YaHei"/>
                    <a:cs typeface="微软雅黑" panose="020B0503020204020204" pitchFamily="34" charset="-122"/>
                  </a:rPr>
                  <a:t>2</a:t>
                </a:r>
                <a:r>
                  <a:rPr lang="zh-CN" altLang="en-US" sz="1050" dirty="0">
                    <a:solidFill>
                      <a:prstClr val="white"/>
                    </a:solidFill>
                    <a:latin typeface="Microsoft YaHei"/>
                    <a:ea typeface="Microsoft YaHei"/>
                    <a:cs typeface="微软雅黑" panose="020B0503020204020204" pitchFamily="34" charset="-122"/>
                  </a:rPr>
                  <a:t> BID，d1-14，</a:t>
                </a:r>
                <a:r>
                  <a:rPr lang="en-US" altLang="zh-CN" sz="1050" dirty="0">
                    <a:solidFill>
                      <a:prstClr val="white"/>
                    </a:solidFill>
                    <a:latin typeface="Microsoft YaHei"/>
                    <a:ea typeface="Microsoft YaHei"/>
                    <a:cs typeface="微软雅黑" panose="020B0503020204020204" pitchFamily="34" charset="-122"/>
                  </a:rPr>
                  <a:t>q3w</a:t>
                </a:r>
                <a:r>
                  <a:rPr lang="zh-CN" altLang="en-US" sz="1050" dirty="0">
                    <a:solidFill>
                      <a:prstClr val="white"/>
                    </a:solidFill>
                    <a:latin typeface="Microsoft YaHei"/>
                    <a:ea typeface="Microsoft YaHei"/>
                    <a:cs typeface="微软雅黑" panose="020B0503020204020204" pitchFamily="34" charset="-122"/>
                  </a:rPr>
                  <a:t>，</a:t>
                </a:r>
                <a:r>
                  <a:rPr lang="en-US" altLang="zh-CN" sz="1050" dirty="0">
                    <a:solidFill>
                      <a:prstClr val="white"/>
                    </a:solidFill>
                    <a:latin typeface="Microsoft YaHei"/>
                    <a:ea typeface="Microsoft YaHei"/>
                    <a:cs typeface="微软雅黑" panose="020B0503020204020204" pitchFamily="34" charset="-122"/>
                  </a:rPr>
                  <a:t/>
                </a:r>
                <a:br>
                  <a:rPr lang="en-US" altLang="zh-CN" sz="1050" dirty="0">
                    <a:solidFill>
                      <a:prstClr val="white"/>
                    </a:solidFill>
                    <a:latin typeface="Microsoft YaHei"/>
                    <a:ea typeface="Microsoft YaHei"/>
                    <a:cs typeface="微软雅黑" panose="020B0503020204020204" pitchFamily="34" charset="-122"/>
                  </a:rPr>
                </a:br>
                <a:r>
                  <a:rPr lang="zh-CN" altLang="en-US" sz="1050" dirty="0">
                    <a:solidFill>
                      <a:prstClr val="white"/>
                    </a:solidFill>
                    <a:latin typeface="Microsoft YaHei"/>
                    <a:ea typeface="Microsoft YaHei"/>
                    <a:cs typeface="微软雅黑" panose="020B0503020204020204" pitchFamily="34" charset="-122"/>
                  </a:rPr>
                  <a:t>最多</a:t>
                </a:r>
                <a:r>
                  <a:rPr lang="en-US" altLang="zh-CN" sz="1050" dirty="0">
                    <a:solidFill>
                      <a:prstClr val="white"/>
                    </a:solidFill>
                    <a:latin typeface="Microsoft YaHei"/>
                    <a:ea typeface="Microsoft YaHei"/>
                    <a:cs typeface="微软雅黑" panose="020B0503020204020204" pitchFamily="34" charset="-122"/>
                  </a:rPr>
                  <a:t>6</a:t>
                </a:r>
                <a:r>
                  <a:rPr lang="zh-CN" altLang="en-US" sz="1050" dirty="0">
                    <a:solidFill>
                      <a:prstClr val="white"/>
                    </a:solidFill>
                    <a:latin typeface="Microsoft YaHei"/>
                    <a:ea typeface="Microsoft YaHei"/>
                    <a:cs typeface="微软雅黑" panose="020B0503020204020204" pitchFamily="34" charset="-122"/>
                  </a:rPr>
                  <a:t>个周期</a:t>
                </a:r>
                <a:r>
                  <a:rPr lang="en-US" altLang="zh-CN" sz="1050" dirty="0">
                    <a:solidFill>
                      <a:prstClr val="white"/>
                    </a:solidFill>
                    <a:latin typeface="Microsoft YaHei"/>
                    <a:ea typeface="Microsoft YaHei"/>
                    <a:cs typeface="微软雅黑" panose="020B0503020204020204" pitchFamily="34" charset="-122"/>
                  </a:rPr>
                  <a:t/>
                </a:r>
                <a:br>
                  <a:rPr lang="en-US" altLang="zh-CN" sz="1050" dirty="0">
                    <a:solidFill>
                      <a:prstClr val="white"/>
                    </a:solidFill>
                    <a:latin typeface="Microsoft YaHei"/>
                    <a:ea typeface="Microsoft YaHei"/>
                    <a:cs typeface="微软雅黑" panose="020B0503020204020204" pitchFamily="34" charset="-122"/>
                  </a:rPr>
                </a:br>
                <a:r>
                  <a:rPr lang="zh-CN" altLang="en-US" sz="1050" dirty="0">
                    <a:solidFill>
                      <a:prstClr val="white"/>
                    </a:solidFill>
                    <a:latin typeface="Microsoft YaHei"/>
                    <a:ea typeface="Microsoft YaHei"/>
                    <a:cs typeface="微软雅黑" panose="020B0503020204020204" pitchFamily="34" charset="-122"/>
                  </a:rPr>
                  <a:t>（n=</a:t>
                </a:r>
                <a:r>
                  <a:rPr lang="en-US" altLang="zh-CN" sz="1050" dirty="0">
                    <a:solidFill>
                      <a:prstClr val="white"/>
                    </a:solidFill>
                    <a:latin typeface="Microsoft YaHei"/>
                    <a:ea typeface="Microsoft YaHei"/>
                    <a:cs typeface="微软雅黑" panose="020B0503020204020204" pitchFamily="34" charset="-122"/>
                  </a:rPr>
                  <a:t>162</a:t>
                </a:r>
                <a:r>
                  <a:rPr lang="zh-CN" altLang="en-US" sz="1050" dirty="0">
                    <a:solidFill>
                      <a:prstClr val="white"/>
                    </a:solidFill>
                    <a:latin typeface="Microsoft YaHei"/>
                    <a:ea typeface="Microsoft YaHei"/>
                    <a:cs typeface="微软雅黑" panose="020B0503020204020204" pitchFamily="34" charset="-122"/>
                  </a:rPr>
                  <a:t>）</a:t>
                </a:r>
              </a:p>
            </p:txBody>
          </p:sp>
          <p:sp>
            <p:nvSpPr>
              <p:cNvPr id="156" name="矩形 155"/>
              <p:cNvSpPr/>
              <p:nvPr/>
            </p:nvSpPr>
            <p:spPr>
              <a:xfrm>
                <a:off x="5714415" y="2117396"/>
                <a:ext cx="1649528" cy="480131"/>
              </a:xfrm>
              <a:prstGeom prst="rect">
                <a:avLst/>
              </a:prstGeom>
            </p:spPr>
            <p:txBody>
              <a:bodyPr wrap="square" anchor="ctr">
                <a:spAutoFit/>
              </a:bodyPr>
              <a:lstStyle/>
              <a:p>
                <a:pPr algn="ctr" defTabSz="457200" eaLnBrk="1" fontAlgn="auto" hangingPunct="1">
                  <a:lnSpc>
                    <a:spcPct val="120000"/>
                  </a:lnSpc>
                  <a:spcBef>
                    <a:spcPts val="300"/>
                  </a:spcBef>
                  <a:spcAft>
                    <a:spcPts val="0"/>
                  </a:spcAft>
                </a:pPr>
                <a:r>
                  <a:rPr lang="zh-CN" altLang="en-US" sz="1050" b="1" dirty="0">
                    <a:solidFill>
                      <a:prstClr val="white"/>
                    </a:solidFill>
                    <a:latin typeface="Microsoft YaHei"/>
                    <a:ea typeface="Microsoft YaHei"/>
                    <a:cs typeface="微软雅黑" panose="020B0503020204020204" pitchFamily="34" charset="-122"/>
                  </a:rPr>
                  <a:t>卡培他滨* </a:t>
                </a:r>
                <a:r>
                  <a:rPr lang="zh-CN" altLang="en-US" sz="1050" dirty="0">
                    <a:solidFill>
                      <a:prstClr val="white"/>
                    </a:solidFill>
                    <a:latin typeface="Microsoft YaHei"/>
                    <a:ea typeface="Microsoft YaHei"/>
                    <a:cs typeface="微软雅黑" panose="020B0503020204020204" pitchFamily="34" charset="-122"/>
                  </a:rPr>
                  <a:t>1250 mg/m</a:t>
                </a:r>
                <a:r>
                  <a:rPr lang="zh-CN" altLang="en-US" sz="1050" baseline="30000" dirty="0">
                    <a:solidFill>
                      <a:prstClr val="white"/>
                    </a:solidFill>
                    <a:latin typeface="Microsoft YaHei"/>
                    <a:ea typeface="Microsoft YaHei"/>
                    <a:cs typeface="微软雅黑" panose="020B0503020204020204" pitchFamily="34" charset="-122"/>
                  </a:rPr>
                  <a:t>2</a:t>
                </a:r>
                <a:r>
                  <a:rPr lang="zh-CN" altLang="en-US" sz="1050" dirty="0">
                    <a:solidFill>
                      <a:prstClr val="white"/>
                    </a:solidFill>
                    <a:latin typeface="Microsoft YaHei"/>
                    <a:ea typeface="Microsoft YaHei"/>
                    <a:cs typeface="微软雅黑" panose="020B0503020204020204" pitchFamily="34" charset="-122"/>
                  </a:rPr>
                  <a:t> BID，d1-14，</a:t>
                </a:r>
                <a:r>
                  <a:rPr lang="en-US" altLang="zh-CN" sz="1050" dirty="0">
                    <a:solidFill>
                      <a:prstClr val="white"/>
                    </a:solidFill>
                    <a:latin typeface="Microsoft YaHei"/>
                    <a:ea typeface="Microsoft YaHei"/>
                    <a:cs typeface="微软雅黑" panose="020B0503020204020204" pitchFamily="34" charset="-122"/>
                  </a:rPr>
                  <a:t>q3w</a:t>
                </a:r>
                <a:endParaRPr lang="zh-CN" altLang="en-US" sz="1050" dirty="0">
                  <a:solidFill>
                    <a:prstClr val="white"/>
                  </a:solidFill>
                  <a:latin typeface="Microsoft YaHei"/>
                  <a:ea typeface="Microsoft YaHei"/>
                  <a:cs typeface="微软雅黑" panose="020B0503020204020204" pitchFamily="34" charset="-122"/>
                </a:endParaRPr>
              </a:p>
            </p:txBody>
          </p:sp>
          <p:sp>
            <p:nvSpPr>
              <p:cNvPr id="160" name="文本框 159"/>
              <p:cNvSpPr txBox="1"/>
              <p:nvPr/>
            </p:nvSpPr>
            <p:spPr>
              <a:xfrm>
                <a:off x="4038287" y="1540976"/>
                <a:ext cx="646331" cy="276999"/>
              </a:xfrm>
              <a:prstGeom prst="rect">
                <a:avLst/>
              </a:prstGeom>
              <a:noFill/>
            </p:spPr>
            <p:txBody>
              <a:bodyPr wrap="none" rtlCol="0">
                <a:spAutoFit/>
              </a:bodyPr>
              <a:lstStyle/>
              <a:p>
                <a:pPr algn="ctr"/>
                <a:r>
                  <a:rPr lang="zh-CN" altLang="en-US" sz="1200" b="1" dirty="0">
                    <a:solidFill>
                      <a:prstClr val="black"/>
                    </a:solidFill>
                    <a:latin typeface="Microsoft YaHei"/>
                    <a:ea typeface="Microsoft YaHei"/>
                  </a:rPr>
                  <a:t>治疗期</a:t>
                </a:r>
              </a:p>
            </p:txBody>
          </p:sp>
          <p:sp>
            <p:nvSpPr>
              <p:cNvPr id="148" name="矩形 147"/>
              <p:cNvSpPr/>
              <p:nvPr/>
            </p:nvSpPr>
            <p:spPr>
              <a:xfrm>
                <a:off x="780400" y="1649996"/>
                <a:ext cx="2382189" cy="1472198"/>
              </a:xfrm>
              <a:prstGeom prst="rect">
                <a:avLst/>
              </a:prstGeom>
              <a:noFill/>
            </p:spPr>
            <p:txBody>
              <a:bodyPr wrap="square" anchor="ctr">
                <a:spAutoFit/>
              </a:bodyPr>
              <a:lstStyle/>
              <a:p>
                <a:pPr algn="ctr">
                  <a:spcBef>
                    <a:spcPts val="350"/>
                  </a:spcBef>
                </a:pPr>
                <a:r>
                  <a:rPr lang="zh-CN" altLang="en-US" sz="1000" b="1" dirty="0">
                    <a:solidFill>
                      <a:prstClr val="black"/>
                    </a:solidFill>
                    <a:latin typeface="Microsoft YaHei"/>
                    <a:ea typeface="Microsoft YaHei"/>
                    <a:cs typeface="微软雅黑" panose="020B0503020204020204" pitchFamily="34" charset="-122"/>
                  </a:rPr>
                  <a:t>纳入标准</a:t>
                </a:r>
                <a:endParaRPr lang="en-US" altLang="zh-CN" sz="1000" b="1" kern="0" dirty="0">
                  <a:solidFill>
                    <a:prstClr val="black"/>
                  </a:solidFill>
                  <a:latin typeface="Microsoft YaHei"/>
                  <a:ea typeface="Microsoft YaHei"/>
                  <a:cs typeface="微软雅黑" panose="020B0503020204020204" pitchFamily="34" charset="-122"/>
                  <a:sym typeface="Arial" panose="020B0604020202020204" pitchFamily="34" charset="0"/>
                </a:endParaRPr>
              </a:p>
              <a:p>
                <a:pPr marL="144000" indent="-144000">
                  <a:spcBef>
                    <a:spcPts val="350"/>
                  </a:spcBef>
                  <a:buFont typeface="Arial" panose="020B0604020202020204" pitchFamily="34" charset="0"/>
                  <a:buChar char="•"/>
                </a:pPr>
                <a:r>
                  <a:rPr lang="zh-CN" altLang="en-US" sz="900" dirty="0">
                    <a:solidFill>
                      <a:prstClr val="black"/>
                    </a:solidFill>
                    <a:latin typeface="Microsoft YaHei"/>
                    <a:ea typeface="Microsoft YaHei"/>
                    <a:cs typeface="微软雅黑" panose="020B0503020204020204" pitchFamily="34" charset="-122"/>
                  </a:rPr>
                  <a:t>≥</a:t>
                </a:r>
                <a:r>
                  <a:rPr lang="en-US" altLang="zh-CN" sz="900" dirty="0">
                    <a:solidFill>
                      <a:prstClr val="black"/>
                    </a:solidFill>
                    <a:latin typeface="Microsoft YaHei"/>
                    <a:ea typeface="Microsoft YaHei"/>
                    <a:cs typeface="微软雅黑" panose="020B0503020204020204" pitchFamily="34" charset="-122"/>
                  </a:rPr>
                  <a:t>18</a:t>
                </a:r>
                <a:r>
                  <a:rPr lang="zh-CN" altLang="en-US" sz="900" dirty="0">
                    <a:solidFill>
                      <a:prstClr val="black"/>
                    </a:solidFill>
                    <a:latin typeface="Microsoft YaHei"/>
                    <a:ea typeface="Microsoft YaHei"/>
                    <a:cs typeface="微软雅黑" panose="020B0503020204020204" pitchFamily="34" charset="-122"/>
                  </a:rPr>
                  <a:t>岁，经组织学或细胞学证实且为紫杉醇难治性的转移性乳腺癌</a:t>
                </a:r>
                <a:endParaRPr lang="en-US" altLang="zh-CN" sz="900" dirty="0">
                  <a:solidFill>
                    <a:prstClr val="black"/>
                  </a:solidFill>
                  <a:latin typeface="Microsoft YaHei"/>
                  <a:ea typeface="Microsoft YaHei"/>
                  <a:cs typeface="微软雅黑" panose="020B0503020204020204" pitchFamily="34" charset="-122"/>
                </a:endParaRPr>
              </a:p>
              <a:p>
                <a:pPr marL="144000" indent="-144000">
                  <a:spcBef>
                    <a:spcPts val="350"/>
                  </a:spcBef>
                  <a:buFont typeface="Arial" panose="020B0604020202020204" pitchFamily="34" charset="0"/>
                  <a:buChar char="•"/>
                </a:pPr>
                <a:r>
                  <a:rPr lang="zh-CN" altLang="en-US" sz="900" dirty="0">
                    <a:solidFill>
                      <a:prstClr val="black"/>
                    </a:solidFill>
                    <a:latin typeface="Microsoft YaHei"/>
                    <a:ea typeface="Microsoft YaHei"/>
                    <a:cs typeface="微软雅黑" panose="020B0503020204020204" pitchFamily="34" charset="-122"/>
                  </a:rPr>
                  <a:t>存在可测量或可评估的病灶</a:t>
                </a:r>
                <a:endParaRPr lang="en-US" sz="900" dirty="0">
                  <a:solidFill>
                    <a:prstClr val="black"/>
                  </a:solidFill>
                  <a:latin typeface="Microsoft YaHei"/>
                  <a:ea typeface="Microsoft YaHei"/>
                  <a:cs typeface="微软雅黑" panose="020B0503020204020204" pitchFamily="34" charset="-122"/>
                </a:endParaRPr>
              </a:p>
              <a:p>
                <a:pPr marL="144000" indent="-144000">
                  <a:spcBef>
                    <a:spcPts val="350"/>
                  </a:spcBef>
                  <a:buFont typeface="Arial" panose="020B0604020202020204" pitchFamily="34" charset="0"/>
                  <a:buChar char="•"/>
                </a:pPr>
                <a:r>
                  <a:rPr lang="zh-CN" altLang="en-US" sz="900" dirty="0">
                    <a:solidFill>
                      <a:prstClr val="black"/>
                    </a:solidFill>
                    <a:latin typeface="Microsoft YaHei"/>
                    <a:ea typeface="Microsoft YaHei"/>
                    <a:cs typeface="微软雅黑" panose="020B0503020204020204" pitchFamily="34" charset="-122"/>
                  </a:rPr>
                  <a:t>既往接受过</a:t>
                </a:r>
                <a:r>
                  <a:rPr lang="en-US" altLang="zh-CN" sz="900" dirty="0">
                    <a:solidFill>
                      <a:prstClr val="black"/>
                    </a:solidFill>
                    <a:latin typeface="Microsoft YaHei"/>
                    <a:ea typeface="Microsoft YaHei"/>
                    <a:cs typeface="微软雅黑" panose="020B0503020204020204" pitchFamily="34" charset="-122"/>
                  </a:rPr>
                  <a:t>2-3</a:t>
                </a:r>
                <a:r>
                  <a:rPr lang="zh-CN" altLang="en-US" sz="900" dirty="0">
                    <a:solidFill>
                      <a:prstClr val="black"/>
                    </a:solidFill>
                    <a:latin typeface="Microsoft YaHei"/>
                    <a:ea typeface="Microsoft YaHei"/>
                    <a:cs typeface="微软雅黑" panose="020B0503020204020204" pitchFamily="34" charset="-122"/>
                  </a:rPr>
                  <a:t>种用于治疗转移性疾病的化疗方案，其中一种必须含有紫杉醇</a:t>
                </a:r>
                <a:endParaRPr lang="en-US" altLang="zh-CN" sz="900" dirty="0">
                  <a:solidFill>
                    <a:prstClr val="black"/>
                  </a:solidFill>
                  <a:latin typeface="Microsoft YaHei"/>
                  <a:ea typeface="Microsoft YaHei"/>
                  <a:cs typeface="微软雅黑" panose="020B0503020204020204" pitchFamily="34" charset="-122"/>
                </a:endParaRPr>
              </a:p>
              <a:p>
                <a:pPr marL="144000" indent="-144000">
                  <a:spcBef>
                    <a:spcPts val="350"/>
                  </a:spcBef>
                  <a:buFont typeface="Arial" panose="020B0604020202020204" pitchFamily="34" charset="0"/>
                  <a:buChar char="•"/>
                </a:pPr>
                <a:r>
                  <a:rPr lang="en-US" altLang="zh-CN" sz="900" dirty="0">
                    <a:solidFill>
                      <a:prstClr val="black"/>
                    </a:solidFill>
                    <a:latin typeface="Microsoft YaHei"/>
                    <a:ea typeface="Microsoft YaHei"/>
                    <a:cs typeface="微软雅黑" panose="020B0503020204020204" pitchFamily="34" charset="-122"/>
                  </a:rPr>
                  <a:t>KPS </a:t>
                </a:r>
                <a:r>
                  <a:rPr lang="zh-CN" altLang="en-US" sz="900" dirty="0">
                    <a:solidFill>
                      <a:prstClr val="black"/>
                    </a:solidFill>
                    <a:latin typeface="Microsoft YaHei"/>
                    <a:ea typeface="Microsoft YaHei"/>
                    <a:cs typeface="微软雅黑" panose="020B0503020204020204" pitchFamily="34" charset="-122"/>
                  </a:rPr>
                  <a:t>≥</a:t>
                </a:r>
                <a:r>
                  <a:rPr lang="en-US" altLang="zh-CN" sz="900" dirty="0">
                    <a:solidFill>
                      <a:prstClr val="black"/>
                    </a:solidFill>
                    <a:latin typeface="Microsoft YaHei"/>
                    <a:ea typeface="Microsoft YaHei"/>
                    <a:cs typeface="微软雅黑" panose="020B0503020204020204" pitchFamily="34" charset="-122"/>
                  </a:rPr>
                  <a:t>70%</a:t>
                </a:r>
                <a:r>
                  <a:rPr lang="zh-CN" altLang="en-US" sz="900" dirty="0">
                    <a:solidFill>
                      <a:prstClr val="black"/>
                    </a:solidFill>
                    <a:latin typeface="Microsoft YaHei"/>
                    <a:ea typeface="Microsoft YaHei"/>
                    <a:cs typeface="微软雅黑" panose="020B0503020204020204" pitchFamily="34" charset="-122"/>
                  </a:rPr>
                  <a:t>，预期寿命≥</a:t>
                </a:r>
                <a:r>
                  <a:rPr lang="en-US" altLang="zh-CN" sz="900" dirty="0">
                    <a:solidFill>
                      <a:prstClr val="black"/>
                    </a:solidFill>
                    <a:latin typeface="Microsoft YaHei"/>
                    <a:ea typeface="Microsoft YaHei"/>
                    <a:cs typeface="微软雅黑" panose="020B0503020204020204" pitchFamily="34" charset="-122"/>
                  </a:rPr>
                  <a:t>3</a:t>
                </a:r>
                <a:r>
                  <a:rPr lang="zh-CN" altLang="en-US" sz="900" dirty="0">
                    <a:solidFill>
                      <a:prstClr val="black"/>
                    </a:solidFill>
                    <a:latin typeface="Microsoft YaHei"/>
                    <a:ea typeface="Microsoft YaHei"/>
                    <a:cs typeface="微软雅黑" panose="020B0503020204020204" pitchFamily="34" charset="-122"/>
                  </a:rPr>
                  <a:t>个月</a:t>
                </a:r>
                <a:endParaRPr lang="en-US" altLang="zh-CN" sz="900" dirty="0">
                  <a:solidFill>
                    <a:prstClr val="black"/>
                  </a:solidFill>
                  <a:latin typeface="Microsoft YaHei"/>
                  <a:ea typeface="Microsoft YaHei"/>
                  <a:cs typeface="微软雅黑" panose="020B0503020204020204" pitchFamily="34" charset="-122"/>
                </a:endParaRPr>
              </a:p>
              <a:p>
                <a:pPr algn="ctr">
                  <a:spcBef>
                    <a:spcPts val="350"/>
                  </a:spcBef>
                </a:pPr>
                <a:r>
                  <a:rPr lang="zh-CN" altLang="en-US" sz="900" kern="0" dirty="0">
                    <a:solidFill>
                      <a:prstClr val="black"/>
                    </a:solidFill>
                    <a:latin typeface="Microsoft YaHei"/>
                    <a:ea typeface="Microsoft YaHei"/>
                    <a:cs typeface="微软雅黑" panose="020B0503020204020204" pitchFamily="34" charset="-122"/>
                    <a:sym typeface="Arial" panose="020B0604020202020204" pitchFamily="34" charset="0"/>
                  </a:rPr>
                  <a:t>（</a:t>
                </a:r>
                <a:r>
                  <a:rPr lang="en-GB" altLang="zh-CN" sz="900" kern="0" dirty="0">
                    <a:solidFill>
                      <a:prstClr val="black"/>
                    </a:solidFill>
                    <a:latin typeface="Microsoft YaHei"/>
                    <a:ea typeface="Microsoft YaHei"/>
                    <a:cs typeface="微软雅黑" panose="020B0503020204020204" pitchFamily="34" charset="-122"/>
                    <a:sym typeface="Arial" panose="020B0604020202020204" pitchFamily="34" charset="0"/>
                  </a:rPr>
                  <a:t>N = </a:t>
                </a:r>
                <a:r>
                  <a:rPr lang="en-US" altLang="zh-CN" sz="900" kern="0" dirty="0">
                    <a:solidFill>
                      <a:prstClr val="black"/>
                    </a:solidFill>
                    <a:latin typeface="Microsoft YaHei"/>
                    <a:ea typeface="Microsoft YaHei"/>
                    <a:cs typeface="微软雅黑" panose="020B0503020204020204" pitchFamily="34" charset="-122"/>
                    <a:sym typeface="Arial" panose="020B0604020202020204" pitchFamily="34" charset="0"/>
                  </a:rPr>
                  <a:t>162</a:t>
                </a:r>
                <a:r>
                  <a:rPr lang="zh-CN" altLang="en-US" sz="900" kern="0" dirty="0">
                    <a:solidFill>
                      <a:prstClr val="black"/>
                    </a:solidFill>
                    <a:latin typeface="Microsoft YaHei"/>
                    <a:ea typeface="Microsoft YaHei"/>
                    <a:cs typeface="微软雅黑" panose="020B0503020204020204" pitchFamily="34" charset="-122"/>
                    <a:sym typeface="Arial" panose="020B0604020202020204" pitchFamily="34" charset="0"/>
                  </a:rPr>
                  <a:t>）</a:t>
                </a:r>
                <a:endParaRPr lang="en-GB" altLang="zh-CN" sz="900" kern="0" dirty="0">
                  <a:solidFill>
                    <a:prstClr val="black"/>
                  </a:solidFill>
                  <a:latin typeface="Microsoft YaHei"/>
                  <a:ea typeface="Microsoft YaHei"/>
                  <a:cs typeface="微软雅黑" panose="020B0503020204020204" pitchFamily="34" charset="-122"/>
                  <a:sym typeface="Arial" panose="020B0604020202020204" pitchFamily="34" charset="0"/>
                </a:endParaRPr>
              </a:p>
            </p:txBody>
          </p:sp>
        </p:grpSp>
        <p:sp>
          <p:nvSpPr>
            <p:cNvPr id="42" name="矩形 41"/>
            <p:cNvSpPr/>
            <p:nvPr/>
          </p:nvSpPr>
          <p:spPr>
            <a:xfrm>
              <a:off x="2434275" y="3934293"/>
              <a:ext cx="4572000" cy="338554"/>
            </a:xfrm>
            <a:prstGeom prst="rect">
              <a:avLst/>
            </a:prstGeom>
          </p:spPr>
          <p:txBody>
            <a:bodyPr>
              <a:spAutoFit/>
            </a:bodyPr>
            <a:lstStyle/>
            <a:p>
              <a:r>
                <a:rPr lang="zh-CN" altLang="en-US" sz="1600" b="1" dirty="0">
                  <a:solidFill>
                    <a:prstClr val="black"/>
                  </a:solidFill>
                  <a:latin typeface="Microsoft YaHei"/>
                  <a:ea typeface="Microsoft YaHei"/>
                </a:rPr>
                <a:t>卡培他滨剂量调整后，绝大部分患者</a:t>
              </a:r>
              <a:r>
                <a:rPr lang="en-US" altLang="zh-CN" sz="1600" b="1" dirty="0">
                  <a:solidFill>
                    <a:prstClr val="black"/>
                  </a:solidFill>
                  <a:latin typeface="Microsoft YaHei"/>
                  <a:ea typeface="Microsoft YaHei"/>
                </a:rPr>
                <a:t>HFS</a:t>
              </a:r>
              <a:r>
                <a:rPr lang="zh-CN" altLang="en-US" sz="1600" b="1" dirty="0">
                  <a:solidFill>
                    <a:prstClr val="black"/>
                  </a:solidFill>
                  <a:latin typeface="Microsoft YaHei"/>
                  <a:ea typeface="Microsoft YaHei"/>
                </a:rPr>
                <a:t>改善</a:t>
              </a:r>
              <a:r>
                <a:rPr lang="en-US" altLang="zh-CN" sz="1600" b="1" baseline="30000" dirty="0">
                  <a:solidFill>
                    <a:prstClr val="black"/>
                  </a:solidFill>
                  <a:latin typeface="Microsoft YaHei"/>
                  <a:ea typeface="Microsoft YaHei"/>
                </a:rPr>
                <a:t>3</a:t>
              </a:r>
              <a:endParaRPr lang="zh-CN" altLang="en-US" sz="1600" b="1" dirty="0">
                <a:solidFill>
                  <a:prstClr val="black"/>
                </a:solidFill>
                <a:latin typeface="Microsoft YaHei"/>
                <a:ea typeface="Microsoft YaHei"/>
              </a:endParaRPr>
            </a:p>
          </p:txBody>
        </p:sp>
      </p:grpSp>
    </p:spTree>
    <p:extLst>
      <p:ext uri="{BB962C8B-B14F-4D97-AF65-F5344CB8AC3E}">
        <p14:creationId xmlns:p14="http://schemas.microsoft.com/office/powerpoint/2010/main" val="2221699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000" dirty="0"/>
              <a:t>国际性、多中心</a:t>
            </a:r>
            <a:r>
              <a:rPr lang="en-US" altLang="zh-CN" sz="2000" dirty="0"/>
              <a:t>III</a:t>
            </a:r>
            <a:r>
              <a:rPr lang="zh-CN" altLang="en-US" sz="2000" dirty="0"/>
              <a:t>期研究：</a:t>
            </a:r>
            <a:r>
              <a:rPr lang="en-US" altLang="zh-CN" dirty="0"/>
              <a:t/>
            </a:r>
            <a:br>
              <a:rPr lang="en-US" altLang="zh-CN" dirty="0"/>
            </a:br>
            <a:r>
              <a:rPr lang="zh-CN" altLang="en-US" dirty="0"/>
              <a:t>探讨卡培他滨</a:t>
            </a:r>
            <a:r>
              <a:rPr lang="en-US" altLang="zh-CN" dirty="0"/>
              <a:t>/</a:t>
            </a:r>
            <a:r>
              <a:rPr lang="zh-CN" altLang="en-US" dirty="0"/>
              <a:t>多西他赛减量方案对疗效的影响</a:t>
            </a:r>
          </a:p>
        </p:txBody>
      </p:sp>
      <p:grpSp>
        <p:nvGrpSpPr>
          <p:cNvPr id="10" name="组合 9"/>
          <p:cNvGrpSpPr/>
          <p:nvPr/>
        </p:nvGrpSpPr>
        <p:grpSpPr>
          <a:xfrm>
            <a:off x="408071" y="1340043"/>
            <a:ext cx="8327858" cy="4822044"/>
            <a:chOff x="408071" y="1340043"/>
            <a:chExt cx="8327858" cy="4822044"/>
          </a:xfrm>
        </p:grpSpPr>
        <p:pic>
          <p:nvPicPr>
            <p:cNvPr id="9" name="图片 8"/>
            <p:cNvPicPr>
              <a:picLocks noChangeAspect="1"/>
            </p:cNvPicPr>
            <p:nvPr/>
          </p:nvPicPr>
          <p:blipFill>
            <a:blip r:embed="rId3"/>
            <a:stretch>
              <a:fillRect/>
            </a:stretch>
          </p:blipFill>
          <p:spPr>
            <a:xfrm>
              <a:off x="408071" y="1835952"/>
              <a:ext cx="8327858" cy="2840982"/>
            </a:xfrm>
            <a:prstGeom prst="rect">
              <a:avLst/>
            </a:prstGeom>
          </p:spPr>
        </p:pic>
        <p:grpSp>
          <p:nvGrpSpPr>
            <p:cNvPr id="5" name="组合 4"/>
            <p:cNvGrpSpPr/>
            <p:nvPr/>
          </p:nvGrpSpPr>
          <p:grpSpPr>
            <a:xfrm>
              <a:off x="597414" y="1340043"/>
              <a:ext cx="8099970" cy="4822044"/>
              <a:chOff x="597414" y="1340043"/>
              <a:chExt cx="8099970" cy="4822044"/>
            </a:xfrm>
          </p:grpSpPr>
          <p:grpSp>
            <p:nvGrpSpPr>
              <p:cNvPr id="4" name="组合 3"/>
              <p:cNvGrpSpPr/>
              <p:nvPr/>
            </p:nvGrpSpPr>
            <p:grpSpPr>
              <a:xfrm>
                <a:off x="597414" y="1340043"/>
                <a:ext cx="8099970" cy="4822044"/>
                <a:chOff x="597414" y="1340043"/>
                <a:chExt cx="8099970" cy="4822044"/>
              </a:xfrm>
            </p:grpSpPr>
            <p:sp>
              <p:nvSpPr>
                <p:cNvPr id="37" name="矩形 36"/>
                <p:cNvSpPr/>
                <p:nvPr/>
              </p:nvSpPr>
              <p:spPr>
                <a:xfrm>
                  <a:off x="1146223" y="1340043"/>
                  <a:ext cx="6851556" cy="338554"/>
                </a:xfrm>
                <a:prstGeom prst="rect">
                  <a:avLst/>
                </a:prstGeom>
              </p:spPr>
              <p:txBody>
                <a:bodyPr wrap="none">
                  <a:spAutoFit/>
                </a:bodyPr>
                <a:lstStyle/>
                <a:p>
                  <a:pPr algn="ctr" defTabSz="457200"/>
                  <a:r>
                    <a:rPr lang="zh-CN" altLang="en-US" sz="1600" b="1" dirty="0">
                      <a:solidFill>
                        <a:prstClr val="black"/>
                      </a:solidFill>
                      <a:latin typeface="微软雅黑"/>
                      <a:ea typeface="微软雅黑"/>
                    </a:rPr>
                    <a:t>在</a:t>
                  </a:r>
                  <a:r>
                    <a:rPr lang="en-US" altLang="zh-CN" sz="1600" b="1" dirty="0">
                      <a:solidFill>
                        <a:prstClr val="black"/>
                      </a:solidFill>
                      <a:latin typeface="微软雅黑"/>
                      <a:ea typeface="微软雅黑"/>
                    </a:rPr>
                    <a:t>16</a:t>
                  </a:r>
                  <a:r>
                    <a:rPr lang="zh-CN" altLang="en-US" sz="1600" b="1" dirty="0">
                      <a:solidFill>
                        <a:prstClr val="black"/>
                      </a:solidFill>
                      <a:latin typeface="微软雅黑"/>
                      <a:ea typeface="微软雅黑"/>
                    </a:rPr>
                    <a:t>个国家的</a:t>
                  </a:r>
                  <a:r>
                    <a:rPr lang="en-US" altLang="zh-CN" sz="1600" b="1" dirty="0">
                      <a:solidFill>
                        <a:prstClr val="black"/>
                      </a:solidFill>
                      <a:latin typeface="微软雅黑"/>
                      <a:ea typeface="微软雅黑"/>
                    </a:rPr>
                    <a:t>75</a:t>
                  </a:r>
                  <a:r>
                    <a:rPr lang="zh-CN" altLang="en-US" sz="1600" b="1" dirty="0">
                      <a:solidFill>
                        <a:prstClr val="black"/>
                      </a:solidFill>
                      <a:latin typeface="微软雅黑"/>
                      <a:ea typeface="微软雅黑"/>
                    </a:rPr>
                    <a:t>个研究中心进行的一项大型、随机、对照</a:t>
                  </a:r>
                  <a:r>
                    <a:rPr lang="en-US" altLang="zh-CN" sz="1600" b="1" dirty="0">
                      <a:solidFill>
                        <a:prstClr val="black"/>
                      </a:solidFill>
                      <a:latin typeface="微软雅黑"/>
                      <a:ea typeface="微软雅黑"/>
                    </a:rPr>
                    <a:t>III</a:t>
                  </a:r>
                  <a:r>
                    <a:rPr lang="zh-CN" altLang="en-US" sz="1600" b="1" dirty="0">
                      <a:solidFill>
                        <a:prstClr val="black"/>
                      </a:solidFill>
                      <a:latin typeface="微软雅黑"/>
                      <a:ea typeface="微软雅黑"/>
                    </a:rPr>
                    <a:t>期临床试验</a:t>
                  </a:r>
                  <a:r>
                    <a:rPr lang="en-US" altLang="zh-CN" sz="1600" b="1" baseline="30000" dirty="0">
                      <a:solidFill>
                        <a:prstClr val="black"/>
                      </a:solidFill>
                      <a:latin typeface="微软雅黑"/>
                      <a:ea typeface="微软雅黑"/>
                    </a:rPr>
                    <a:t>1,2</a:t>
                  </a:r>
                  <a:endParaRPr lang="zh-CN" altLang="en-US" sz="1600" b="1" dirty="0">
                    <a:solidFill>
                      <a:prstClr val="black"/>
                    </a:solidFill>
                    <a:latin typeface="微软雅黑"/>
                    <a:ea typeface="微软雅黑"/>
                  </a:endParaRPr>
                </a:p>
              </p:txBody>
            </p:sp>
            <p:sp>
              <p:nvSpPr>
                <p:cNvPr id="3" name="矩形 2"/>
                <p:cNvSpPr/>
                <p:nvPr/>
              </p:nvSpPr>
              <p:spPr>
                <a:xfrm>
                  <a:off x="617640" y="2216458"/>
                  <a:ext cx="2151948" cy="2035175"/>
                </a:xfrm>
                <a:prstGeom prst="rect">
                  <a:avLst/>
                </a:prstGeom>
                <a:noFill/>
              </p:spPr>
              <p:txBody>
                <a:bodyPr wrap="square" anchor="ctr">
                  <a:spAutoFit/>
                </a:bodyPr>
                <a:lstStyle/>
                <a:p>
                  <a:pPr algn="ctr">
                    <a:lnSpc>
                      <a:spcPct val="135000"/>
                    </a:lnSpc>
                    <a:spcBef>
                      <a:spcPts val="600"/>
                    </a:spcBef>
                  </a:pPr>
                  <a:r>
                    <a:rPr lang="zh-CN" altLang="en-US" sz="1200" b="1" dirty="0">
                      <a:solidFill>
                        <a:prstClr val="black"/>
                      </a:solidFill>
                      <a:latin typeface="微软雅黑"/>
                      <a:ea typeface="微软雅黑"/>
                      <a:cs typeface="微软雅黑" panose="020B0503020204020204" pitchFamily="34" charset="-122"/>
                    </a:rPr>
                    <a:t>纳入标准</a:t>
                  </a:r>
                  <a:endParaRPr lang="en-US" altLang="zh-CN" sz="1200" b="1" kern="0" dirty="0">
                    <a:solidFill>
                      <a:prstClr val="black"/>
                    </a:solidFill>
                    <a:latin typeface="微软雅黑"/>
                    <a:ea typeface="微软雅黑"/>
                    <a:cs typeface="微软雅黑" panose="020B0503020204020204" pitchFamily="34" charset="-122"/>
                    <a:sym typeface="Arial" panose="020B0604020202020204" pitchFamily="34" charset="0"/>
                  </a:endParaRPr>
                </a:p>
                <a:p>
                  <a:pPr marL="171450" indent="-171450">
                    <a:lnSpc>
                      <a:spcPct val="135000"/>
                    </a:lnSpc>
                    <a:spcBef>
                      <a:spcPts val="600"/>
                    </a:spcBef>
                    <a:buFont typeface="Arial" panose="020B0604020202020204" pitchFamily="34" charset="0"/>
                    <a:buChar char="•"/>
                  </a:pPr>
                  <a:r>
                    <a:rPr sz="1100" dirty="0">
                      <a:solidFill>
                        <a:prstClr val="black"/>
                      </a:solidFill>
                      <a:latin typeface="微软雅黑"/>
                      <a:ea typeface="微软雅黑"/>
                      <a:cs typeface="微软雅黑" panose="020B0503020204020204" pitchFamily="34" charset="-122"/>
                    </a:rPr>
                    <a:t>≥18岁，复发性乳腺癌</a:t>
                  </a:r>
                  <a:r>
                    <a:rPr lang="en-US" sz="1100" baseline="30000" dirty="0">
                      <a:solidFill>
                        <a:prstClr val="black"/>
                      </a:solidFill>
                      <a:latin typeface="微软雅黑"/>
                      <a:ea typeface="微软雅黑"/>
                      <a:cs typeface="微软雅黑" panose="020B0503020204020204" pitchFamily="34" charset="-122"/>
                    </a:rPr>
                    <a:t>1,2</a:t>
                  </a:r>
                  <a:endParaRPr sz="1100" dirty="0">
                    <a:solidFill>
                      <a:prstClr val="black"/>
                    </a:solidFill>
                    <a:latin typeface="微软雅黑"/>
                    <a:ea typeface="微软雅黑"/>
                    <a:cs typeface="微软雅黑" panose="020B0503020204020204" pitchFamily="34" charset="-122"/>
                  </a:endParaRPr>
                </a:p>
                <a:p>
                  <a:pPr marL="171450" indent="-171450">
                    <a:lnSpc>
                      <a:spcPct val="135000"/>
                    </a:lnSpc>
                    <a:spcBef>
                      <a:spcPts val="600"/>
                    </a:spcBef>
                    <a:buFont typeface="Arial" panose="020B0604020202020204" pitchFamily="34" charset="0"/>
                    <a:buChar char="•"/>
                  </a:pPr>
                  <a:r>
                    <a:rPr sz="1100" dirty="0">
                      <a:solidFill>
                        <a:prstClr val="black"/>
                      </a:solidFill>
                      <a:latin typeface="微软雅黑"/>
                      <a:ea typeface="微软雅黑"/>
                      <a:cs typeface="微软雅黑" panose="020B0503020204020204" pitchFamily="34" charset="-122"/>
                    </a:rPr>
                    <a:t>蒽环治疗后复发</a:t>
                  </a:r>
                  <a:r>
                    <a:rPr lang="en-US" sz="1100" baseline="30000" dirty="0">
                      <a:solidFill>
                        <a:prstClr val="black"/>
                      </a:solidFill>
                      <a:latin typeface="微软雅黑"/>
                      <a:ea typeface="微软雅黑"/>
                      <a:cs typeface="微软雅黑" panose="020B0503020204020204" pitchFamily="34" charset="-122"/>
                    </a:rPr>
                    <a:t>1</a:t>
                  </a:r>
                  <a:endParaRPr sz="1100" dirty="0">
                    <a:solidFill>
                      <a:prstClr val="black"/>
                    </a:solidFill>
                    <a:latin typeface="微软雅黑"/>
                    <a:ea typeface="微软雅黑"/>
                    <a:cs typeface="微软雅黑" panose="020B0503020204020204" pitchFamily="34" charset="-122"/>
                  </a:endParaRPr>
                </a:p>
                <a:p>
                  <a:pPr marL="171450" indent="-171450">
                    <a:lnSpc>
                      <a:spcPct val="135000"/>
                    </a:lnSpc>
                    <a:spcBef>
                      <a:spcPts val="600"/>
                    </a:spcBef>
                    <a:buFont typeface="Arial" panose="020B0604020202020204" pitchFamily="34" charset="0"/>
                    <a:buChar char="•"/>
                  </a:pPr>
                  <a:r>
                    <a:rPr sz="1100" dirty="0">
                      <a:solidFill>
                        <a:prstClr val="black"/>
                      </a:solidFill>
                      <a:latin typeface="微软雅黑"/>
                      <a:ea typeface="微软雅黑"/>
                      <a:cs typeface="微软雅黑" panose="020B0503020204020204" pitchFamily="34" charset="-122"/>
                    </a:rPr>
                    <a:t>Karnofsky PS评分≥70％</a:t>
                  </a:r>
                  <a:r>
                    <a:rPr lang="en-US" sz="1100" baseline="30000" dirty="0">
                      <a:solidFill>
                        <a:prstClr val="black"/>
                      </a:solidFill>
                      <a:latin typeface="微软雅黑"/>
                      <a:ea typeface="微软雅黑"/>
                      <a:cs typeface="微软雅黑" panose="020B0503020204020204" pitchFamily="34" charset="-122"/>
                    </a:rPr>
                    <a:t>1</a:t>
                  </a:r>
                  <a:endParaRPr sz="1100" dirty="0">
                    <a:solidFill>
                      <a:prstClr val="black"/>
                    </a:solidFill>
                    <a:latin typeface="微软雅黑"/>
                    <a:ea typeface="微软雅黑"/>
                    <a:cs typeface="微软雅黑" panose="020B0503020204020204" pitchFamily="34" charset="-122"/>
                  </a:endParaRPr>
                </a:p>
                <a:p>
                  <a:pPr marL="171450" indent="-171450">
                    <a:lnSpc>
                      <a:spcPct val="135000"/>
                    </a:lnSpc>
                    <a:spcBef>
                      <a:spcPts val="600"/>
                    </a:spcBef>
                    <a:buFont typeface="Arial" panose="020B0604020202020204" pitchFamily="34" charset="0"/>
                    <a:buChar char="•"/>
                  </a:pPr>
                  <a:r>
                    <a:rPr sz="1100" dirty="0">
                      <a:solidFill>
                        <a:prstClr val="black"/>
                      </a:solidFill>
                      <a:latin typeface="微软雅黑"/>
                      <a:ea typeface="微软雅黑"/>
                      <a:cs typeface="微软雅黑" panose="020B0503020204020204" pitchFamily="34" charset="-122"/>
                    </a:rPr>
                    <a:t>既往未接受过含多西他赛的治疗方案</a:t>
                  </a:r>
                  <a:r>
                    <a:rPr lang="en-US" sz="1100" baseline="30000" dirty="0">
                      <a:solidFill>
                        <a:prstClr val="black"/>
                      </a:solidFill>
                      <a:latin typeface="微软雅黑"/>
                      <a:ea typeface="微软雅黑"/>
                      <a:cs typeface="微软雅黑" panose="020B0503020204020204" pitchFamily="34" charset="-122"/>
                    </a:rPr>
                    <a:t>1</a:t>
                  </a:r>
                  <a:endParaRPr sz="1100" dirty="0">
                    <a:solidFill>
                      <a:prstClr val="black"/>
                    </a:solidFill>
                    <a:latin typeface="微软雅黑"/>
                    <a:ea typeface="微软雅黑"/>
                    <a:cs typeface="微软雅黑" panose="020B0503020204020204" pitchFamily="34" charset="-122"/>
                  </a:endParaRPr>
                </a:p>
                <a:p>
                  <a:pPr algn="ctr" defTabSz="457200" eaLnBrk="1" fontAlgn="auto" hangingPunct="1">
                    <a:spcBef>
                      <a:spcPts val="600"/>
                    </a:spcBef>
                    <a:spcAft>
                      <a:spcPts val="0"/>
                    </a:spcAft>
                  </a:pPr>
                  <a:r>
                    <a:rPr lang="zh-CN" altLang="en-US" sz="1100" kern="0" dirty="0">
                      <a:solidFill>
                        <a:prstClr val="black"/>
                      </a:solidFill>
                      <a:latin typeface="微软雅黑"/>
                      <a:ea typeface="微软雅黑"/>
                      <a:cs typeface="微软雅黑" panose="020B0503020204020204" pitchFamily="34" charset="-122"/>
                      <a:sym typeface="Arial" panose="020B0604020202020204" pitchFamily="34" charset="0"/>
                    </a:rPr>
                    <a:t>（</a:t>
                  </a:r>
                  <a:r>
                    <a:rPr lang="en-GB" altLang="zh-CN" sz="1100" kern="0" dirty="0">
                      <a:solidFill>
                        <a:prstClr val="black"/>
                      </a:solidFill>
                      <a:latin typeface="微软雅黑"/>
                      <a:ea typeface="微软雅黑"/>
                      <a:cs typeface="微软雅黑" panose="020B0503020204020204" pitchFamily="34" charset="-122"/>
                      <a:sym typeface="Arial" panose="020B0604020202020204" pitchFamily="34" charset="0"/>
                    </a:rPr>
                    <a:t>N = </a:t>
                  </a:r>
                  <a:r>
                    <a:rPr lang="en-US" altLang="en-GB" sz="1100" kern="0" dirty="0">
                      <a:solidFill>
                        <a:prstClr val="black"/>
                      </a:solidFill>
                      <a:latin typeface="微软雅黑"/>
                      <a:ea typeface="微软雅黑"/>
                      <a:cs typeface="微软雅黑" panose="020B0503020204020204" pitchFamily="34" charset="-122"/>
                      <a:sym typeface="Arial" panose="020B0604020202020204" pitchFamily="34" charset="0"/>
                    </a:rPr>
                    <a:t>511</a:t>
                  </a:r>
                  <a:r>
                    <a:rPr lang="zh-CN" altLang="en-US" sz="1100" kern="0" dirty="0">
                      <a:solidFill>
                        <a:prstClr val="black"/>
                      </a:solidFill>
                      <a:latin typeface="微软雅黑"/>
                      <a:ea typeface="微软雅黑"/>
                      <a:cs typeface="微软雅黑" panose="020B0503020204020204" pitchFamily="34" charset="-122"/>
                      <a:sym typeface="Arial" panose="020B0604020202020204" pitchFamily="34" charset="0"/>
                    </a:rPr>
                    <a:t>）</a:t>
                  </a:r>
                  <a:endParaRPr lang="en-GB" altLang="zh-CN" sz="1100" kern="0" dirty="0">
                    <a:solidFill>
                      <a:prstClr val="black"/>
                    </a:solidFill>
                    <a:latin typeface="微软雅黑"/>
                    <a:ea typeface="微软雅黑"/>
                    <a:cs typeface="微软雅黑" panose="020B0503020204020204" pitchFamily="34" charset="-122"/>
                    <a:sym typeface="Arial" panose="020B0604020202020204" pitchFamily="34" charset="0"/>
                  </a:endParaRPr>
                </a:p>
              </p:txBody>
            </p:sp>
            <p:sp>
              <p:nvSpPr>
                <p:cNvPr id="40" name="矩形 39"/>
                <p:cNvSpPr/>
                <p:nvPr/>
              </p:nvSpPr>
              <p:spPr>
                <a:xfrm>
                  <a:off x="3652766" y="1890431"/>
                  <a:ext cx="3487599" cy="701731"/>
                </a:xfrm>
                <a:prstGeom prst="rect">
                  <a:avLst/>
                </a:prstGeom>
              </p:spPr>
              <p:txBody>
                <a:bodyPr wrap="square" anchor="ctr">
                  <a:spAutoFit/>
                </a:bodyPr>
                <a:lstStyle/>
                <a:p>
                  <a:pPr algn="ctr" defTabSz="457200" eaLnBrk="1" fontAlgn="auto" hangingPunct="1">
                    <a:lnSpc>
                      <a:spcPct val="120000"/>
                    </a:lnSpc>
                    <a:spcBef>
                      <a:spcPts val="300"/>
                    </a:spcBef>
                    <a:spcAft>
                      <a:spcPts val="0"/>
                    </a:spcAft>
                  </a:pPr>
                  <a:r>
                    <a:rPr lang="zh-CN" altLang="en-US" sz="1100" b="1" dirty="0">
                      <a:solidFill>
                        <a:prstClr val="white"/>
                      </a:solidFill>
                      <a:latin typeface="微软雅黑"/>
                      <a:ea typeface="微软雅黑"/>
                      <a:cs typeface="微软雅黑" panose="020B0503020204020204" pitchFamily="34" charset="-122"/>
                    </a:rPr>
                    <a:t>卡培他滨* </a:t>
                  </a:r>
                  <a:r>
                    <a:rPr lang="zh-CN" altLang="en-US" sz="1100" dirty="0">
                      <a:solidFill>
                        <a:prstClr val="white"/>
                      </a:solidFill>
                      <a:latin typeface="微软雅黑"/>
                      <a:ea typeface="微软雅黑"/>
                      <a:cs typeface="微软雅黑" panose="020B0503020204020204" pitchFamily="34" charset="-122"/>
                    </a:rPr>
                    <a:t>1250 mg/m</a:t>
                  </a:r>
                  <a:r>
                    <a:rPr lang="zh-CN" altLang="en-US" sz="1100" baseline="30000" dirty="0">
                      <a:solidFill>
                        <a:prstClr val="white"/>
                      </a:solidFill>
                      <a:latin typeface="微软雅黑"/>
                      <a:ea typeface="微软雅黑"/>
                      <a:cs typeface="微软雅黑" panose="020B0503020204020204" pitchFamily="34" charset="-122"/>
                    </a:rPr>
                    <a:t>2</a:t>
                  </a:r>
                  <a:r>
                    <a:rPr lang="zh-CN" altLang="en-US" sz="1100" dirty="0">
                      <a:solidFill>
                        <a:prstClr val="white"/>
                      </a:solidFill>
                      <a:latin typeface="微软雅黑"/>
                      <a:ea typeface="微软雅黑"/>
                      <a:cs typeface="微软雅黑" panose="020B0503020204020204" pitchFamily="34" charset="-122"/>
                    </a:rPr>
                    <a:t> BID，d1-14</a:t>
                  </a:r>
                  <a:r>
                    <a:rPr lang="en-US" altLang="zh-CN" sz="1100" dirty="0">
                      <a:solidFill>
                        <a:prstClr val="white"/>
                      </a:solidFill>
                      <a:latin typeface="微软雅黑"/>
                      <a:ea typeface="微软雅黑"/>
                      <a:cs typeface="微软雅黑" panose="020B0503020204020204" pitchFamily="34" charset="-122"/>
                    </a:rPr>
                    <a:t/>
                  </a:r>
                  <a:br>
                    <a:rPr lang="en-US" altLang="zh-CN" sz="1100" dirty="0">
                      <a:solidFill>
                        <a:prstClr val="white"/>
                      </a:solidFill>
                      <a:latin typeface="微软雅黑"/>
                      <a:ea typeface="微软雅黑"/>
                      <a:cs typeface="微软雅黑" panose="020B0503020204020204" pitchFamily="34" charset="-122"/>
                    </a:rPr>
                  </a:br>
                  <a:r>
                    <a:rPr lang="zh-CN" altLang="en-US" sz="1100" b="1" dirty="0">
                      <a:solidFill>
                        <a:prstClr val="white"/>
                      </a:solidFill>
                      <a:latin typeface="微软雅黑"/>
                      <a:ea typeface="微软雅黑"/>
                      <a:cs typeface="微软雅黑" panose="020B0503020204020204" pitchFamily="34" charset="-122"/>
                    </a:rPr>
                    <a:t>+ 多西他赛* </a:t>
                  </a:r>
                  <a:r>
                    <a:rPr lang="zh-CN" altLang="en-US" sz="1100" dirty="0">
                      <a:solidFill>
                        <a:prstClr val="white"/>
                      </a:solidFill>
                      <a:latin typeface="微软雅黑"/>
                      <a:ea typeface="微软雅黑"/>
                      <a:cs typeface="微软雅黑" panose="020B0503020204020204" pitchFamily="34" charset="-122"/>
                    </a:rPr>
                    <a:t>75 mg/m</a:t>
                  </a:r>
                  <a:r>
                    <a:rPr lang="zh-CN" altLang="en-US" sz="1100" baseline="30000" dirty="0">
                      <a:solidFill>
                        <a:prstClr val="white"/>
                      </a:solidFill>
                      <a:latin typeface="微软雅黑"/>
                      <a:ea typeface="微软雅黑"/>
                      <a:cs typeface="微软雅黑" panose="020B0503020204020204" pitchFamily="34" charset="-122"/>
                    </a:rPr>
                    <a:t>2</a:t>
                  </a:r>
                  <a:r>
                    <a:rPr lang="zh-CN" altLang="en-US" sz="1100" dirty="0">
                      <a:solidFill>
                        <a:prstClr val="white"/>
                      </a:solidFill>
                      <a:latin typeface="微软雅黑"/>
                      <a:ea typeface="微软雅黑"/>
                      <a:cs typeface="微软雅黑" panose="020B0503020204020204" pitchFamily="34" charset="-122"/>
                    </a:rPr>
                    <a:t>，d1</a:t>
                  </a:r>
                  <a:endParaRPr lang="en-US" altLang="zh-CN" sz="1100" dirty="0">
                    <a:solidFill>
                      <a:prstClr val="white"/>
                    </a:solidFill>
                    <a:latin typeface="微软雅黑"/>
                    <a:ea typeface="微软雅黑"/>
                    <a:cs typeface="微软雅黑" panose="020B0503020204020204" pitchFamily="34" charset="-122"/>
                  </a:endParaRPr>
                </a:p>
                <a:p>
                  <a:pPr algn="ctr" defTabSz="457200" eaLnBrk="1" fontAlgn="auto" hangingPunct="1">
                    <a:lnSpc>
                      <a:spcPct val="120000"/>
                    </a:lnSpc>
                    <a:spcBef>
                      <a:spcPts val="0"/>
                    </a:spcBef>
                    <a:spcAft>
                      <a:spcPts val="0"/>
                    </a:spcAft>
                  </a:pPr>
                  <a:r>
                    <a:rPr lang="zh-CN" altLang="en-US" sz="1100" dirty="0">
                      <a:solidFill>
                        <a:prstClr val="white"/>
                      </a:solidFill>
                      <a:latin typeface="微软雅黑"/>
                      <a:ea typeface="微软雅黑"/>
                      <a:cs typeface="微软雅黑" panose="020B0503020204020204" pitchFamily="34" charset="-122"/>
                    </a:rPr>
                    <a:t>（至少</a:t>
                  </a:r>
                  <a:r>
                    <a:rPr lang="en-US" altLang="zh-CN" sz="1100" dirty="0">
                      <a:solidFill>
                        <a:prstClr val="white"/>
                      </a:solidFill>
                      <a:latin typeface="微软雅黑"/>
                      <a:ea typeface="微软雅黑"/>
                      <a:cs typeface="微软雅黑" panose="020B0503020204020204" pitchFamily="34" charset="-122"/>
                    </a:rPr>
                    <a:t>6</a:t>
                  </a:r>
                  <a:r>
                    <a:rPr lang="zh-CN" altLang="en-US" sz="1100" dirty="0">
                      <a:solidFill>
                        <a:prstClr val="white"/>
                      </a:solidFill>
                      <a:latin typeface="微软雅黑"/>
                      <a:ea typeface="微软雅黑"/>
                      <a:cs typeface="微软雅黑" panose="020B0503020204020204" pitchFamily="34" charset="-122"/>
                    </a:rPr>
                    <a:t>周，每</a:t>
                  </a:r>
                  <a:r>
                    <a:rPr lang="en-US" altLang="zh-CN" sz="1100" dirty="0">
                      <a:solidFill>
                        <a:prstClr val="white"/>
                      </a:solidFill>
                      <a:latin typeface="微软雅黑"/>
                      <a:ea typeface="微软雅黑"/>
                      <a:cs typeface="微软雅黑" panose="020B0503020204020204" pitchFamily="34" charset="-122"/>
                    </a:rPr>
                    <a:t>3</a:t>
                  </a:r>
                  <a:r>
                    <a:rPr lang="zh-CN" altLang="en-US" sz="1100" dirty="0">
                      <a:solidFill>
                        <a:prstClr val="white"/>
                      </a:solidFill>
                      <a:latin typeface="微软雅黑"/>
                      <a:ea typeface="微软雅黑"/>
                      <a:cs typeface="微软雅黑" panose="020B0503020204020204" pitchFamily="34" charset="-122"/>
                    </a:rPr>
                    <a:t>周为</a:t>
                  </a:r>
                  <a:r>
                    <a:rPr lang="en-US" altLang="zh-CN" sz="1100" dirty="0">
                      <a:solidFill>
                        <a:prstClr val="white"/>
                      </a:solidFill>
                      <a:latin typeface="微软雅黑"/>
                      <a:ea typeface="微软雅黑"/>
                      <a:cs typeface="微软雅黑" panose="020B0503020204020204" pitchFamily="34" charset="-122"/>
                    </a:rPr>
                    <a:t>1</a:t>
                  </a:r>
                  <a:r>
                    <a:rPr lang="zh-CN" altLang="en-US" sz="1100" dirty="0">
                      <a:solidFill>
                        <a:prstClr val="white"/>
                      </a:solidFill>
                      <a:latin typeface="微软雅黑"/>
                      <a:ea typeface="微软雅黑"/>
                      <a:cs typeface="微软雅黑" panose="020B0503020204020204" pitchFamily="34" charset="-122"/>
                    </a:rPr>
                    <a:t>个周期，</a:t>
                  </a:r>
                  <a:r>
                    <a:rPr lang="en-US" altLang="zh-CN" sz="1100" dirty="0">
                      <a:solidFill>
                        <a:prstClr val="white"/>
                      </a:solidFill>
                      <a:latin typeface="微软雅黑"/>
                      <a:ea typeface="微软雅黑"/>
                      <a:cs typeface="微软雅黑" panose="020B0503020204020204" pitchFamily="34" charset="-122"/>
                    </a:rPr>
                    <a:t>n=255</a:t>
                  </a:r>
                  <a:r>
                    <a:rPr lang="zh-CN" altLang="en-US" sz="1100" dirty="0">
                      <a:solidFill>
                        <a:prstClr val="white"/>
                      </a:solidFill>
                      <a:latin typeface="微软雅黑"/>
                      <a:ea typeface="微软雅黑"/>
                      <a:cs typeface="微软雅黑" panose="020B0503020204020204" pitchFamily="34" charset="-122"/>
                    </a:rPr>
                    <a:t>）</a:t>
                  </a:r>
                </a:p>
              </p:txBody>
            </p:sp>
            <p:sp>
              <p:nvSpPr>
                <p:cNvPr id="42" name="矩形 41"/>
                <p:cNvSpPr/>
                <p:nvPr/>
              </p:nvSpPr>
              <p:spPr>
                <a:xfrm>
                  <a:off x="3587522" y="3945183"/>
                  <a:ext cx="3594671" cy="537070"/>
                </a:xfrm>
                <a:prstGeom prst="rect">
                  <a:avLst/>
                </a:prstGeom>
              </p:spPr>
              <p:txBody>
                <a:bodyPr wrap="square" anchor="ctr">
                  <a:spAutoFit/>
                </a:bodyPr>
                <a:lstStyle/>
                <a:p>
                  <a:pPr algn="ctr" defTabSz="913130" fontAlgn="auto">
                    <a:lnSpc>
                      <a:spcPct val="120000"/>
                    </a:lnSpc>
                    <a:spcBef>
                      <a:spcPts val="300"/>
                    </a:spcBef>
                    <a:spcAft>
                      <a:spcPts val="0"/>
                    </a:spcAft>
                  </a:pPr>
                  <a:r>
                    <a:rPr lang="zh-CN" altLang="en-US" sz="1100" b="1" dirty="0">
                      <a:solidFill>
                        <a:prstClr val="white"/>
                      </a:solidFill>
                      <a:latin typeface="微软雅黑"/>
                      <a:ea typeface="微软雅黑"/>
                      <a:cs typeface="微软雅黑" panose="020B0503020204020204" pitchFamily="34" charset="-122"/>
                    </a:rPr>
                    <a:t>多西他赛* </a:t>
                  </a:r>
                  <a:r>
                    <a:rPr lang="zh-CN" altLang="en-US" sz="1100" dirty="0">
                      <a:solidFill>
                        <a:prstClr val="white"/>
                      </a:solidFill>
                      <a:latin typeface="微软雅黑"/>
                      <a:ea typeface="微软雅黑"/>
                      <a:cs typeface="微软雅黑" panose="020B0503020204020204" pitchFamily="34" charset="-122"/>
                    </a:rPr>
                    <a:t>100 mg/m</a:t>
                  </a:r>
                  <a:r>
                    <a:rPr lang="zh-CN" altLang="en-US" sz="1100" baseline="30000" dirty="0">
                      <a:solidFill>
                        <a:prstClr val="white"/>
                      </a:solidFill>
                      <a:latin typeface="微软雅黑"/>
                      <a:ea typeface="微软雅黑"/>
                      <a:cs typeface="微软雅黑" panose="020B0503020204020204" pitchFamily="34" charset="-122"/>
                    </a:rPr>
                    <a:t>2</a:t>
                  </a:r>
                  <a:r>
                    <a:rPr lang="zh-CN" altLang="en-US" sz="1100" dirty="0">
                      <a:solidFill>
                        <a:prstClr val="white"/>
                      </a:solidFill>
                      <a:latin typeface="微软雅黑"/>
                      <a:ea typeface="微软雅黑"/>
                      <a:cs typeface="微软雅黑" panose="020B0503020204020204" pitchFamily="34" charset="-122"/>
                    </a:rPr>
                    <a:t>，d1</a:t>
                  </a:r>
                </a:p>
                <a:p>
                  <a:pPr algn="ctr" defTabSz="913130" fontAlgn="auto">
                    <a:lnSpc>
                      <a:spcPct val="120000"/>
                    </a:lnSpc>
                    <a:spcBef>
                      <a:spcPts val="300"/>
                    </a:spcBef>
                    <a:spcAft>
                      <a:spcPts val="0"/>
                    </a:spcAft>
                  </a:pPr>
                  <a:r>
                    <a:rPr lang="zh-CN" altLang="en-US" sz="1100" dirty="0">
                      <a:solidFill>
                        <a:prstClr val="white"/>
                      </a:solidFill>
                      <a:latin typeface="微软雅黑"/>
                      <a:ea typeface="微软雅黑"/>
                      <a:cs typeface="微软雅黑" panose="020B0503020204020204" pitchFamily="34" charset="-122"/>
                    </a:rPr>
                    <a:t>（至少</a:t>
                  </a:r>
                  <a:r>
                    <a:rPr lang="en-US" altLang="zh-CN" sz="1100" dirty="0">
                      <a:solidFill>
                        <a:prstClr val="white"/>
                      </a:solidFill>
                      <a:latin typeface="微软雅黑"/>
                      <a:ea typeface="微软雅黑"/>
                      <a:cs typeface="微软雅黑" panose="020B0503020204020204" pitchFamily="34" charset="-122"/>
                    </a:rPr>
                    <a:t>6</a:t>
                  </a:r>
                  <a:r>
                    <a:rPr lang="zh-CN" altLang="en-US" sz="1100" dirty="0">
                      <a:solidFill>
                        <a:prstClr val="white"/>
                      </a:solidFill>
                      <a:latin typeface="微软雅黑"/>
                      <a:ea typeface="微软雅黑"/>
                      <a:cs typeface="微软雅黑" panose="020B0503020204020204" pitchFamily="34" charset="-122"/>
                    </a:rPr>
                    <a:t>周，每</a:t>
                  </a:r>
                  <a:r>
                    <a:rPr lang="en-US" altLang="zh-CN" sz="1100" dirty="0">
                      <a:solidFill>
                        <a:prstClr val="white"/>
                      </a:solidFill>
                      <a:latin typeface="微软雅黑"/>
                      <a:ea typeface="微软雅黑"/>
                      <a:cs typeface="微软雅黑" panose="020B0503020204020204" pitchFamily="34" charset="-122"/>
                    </a:rPr>
                    <a:t>3</a:t>
                  </a:r>
                  <a:r>
                    <a:rPr lang="zh-CN" altLang="en-US" sz="1100" dirty="0">
                      <a:solidFill>
                        <a:prstClr val="white"/>
                      </a:solidFill>
                      <a:latin typeface="微软雅黑"/>
                      <a:ea typeface="微软雅黑"/>
                      <a:cs typeface="微软雅黑" panose="020B0503020204020204" pitchFamily="34" charset="-122"/>
                    </a:rPr>
                    <a:t>周为</a:t>
                  </a:r>
                  <a:r>
                    <a:rPr lang="en-US" altLang="zh-CN" sz="1100" dirty="0">
                      <a:solidFill>
                        <a:prstClr val="white"/>
                      </a:solidFill>
                      <a:latin typeface="微软雅黑"/>
                      <a:ea typeface="微软雅黑"/>
                      <a:cs typeface="微软雅黑" panose="020B0503020204020204" pitchFamily="34" charset="-122"/>
                    </a:rPr>
                    <a:t>1</a:t>
                  </a:r>
                  <a:r>
                    <a:rPr lang="zh-CN" altLang="en-US" sz="1100" dirty="0">
                      <a:solidFill>
                        <a:prstClr val="white"/>
                      </a:solidFill>
                      <a:latin typeface="微软雅黑"/>
                      <a:ea typeface="微软雅黑"/>
                      <a:cs typeface="微软雅黑" panose="020B0503020204020204" pitchFamily="34" charset="-122"/>
                    </a:rPr>
                    <a:t>个周期，</a:t>
                  </a:r>
                  <a:r>
                    <a:rPr lang="en-US" altLang="zh-CN" sz="1100" dirty="0">
                      <a:solidFill>
                        <a:prstClr val="white"/>
                      </a:solidFill>
                      <a:latin typeface="微软雅黑"/>
                      <a:ea typeface="微软雅黑"/>
                      <a:cs typeface="微软雅黑" panose="020B0503020204020204" pitchFamily="34" charset="-122"/>
                    </a:rPr>
                    <a:t>n=256</a:t>
                  </a:r>
                  <a:r>
                    <a:rPr lang="zh-CN" altLang="en-US" sz="1100" dirty="0">
                      <a:solidFill>
                        <a:prstClr val="white"/>
                      </a:solidFill>
                      <a:latin typeface="微软雅黑"/>
                      <a:ea typeface="微软雅黑"/>
                      <a:cs typeface="微软雅黑" panose="020B0503020204020204" pitchFamily="34" charset="-122"/>
                    </a:rPr>
                    <a:t>）</a:t>
                  </a:r>
                </a:p>
              </p:txBody>
            </p:sp>
            <p:sp>
              <p:nvSpPr>
                <p:cNvPr id="7" name="矩形 6"/>
                <p:cNvSpPr/>
                <p:nvPr/>
              </p:nvSpPr>
              <p:spPr>
                <a:xfrm>
                  <a:off x="7511849" y="2778910"/>
                  <a:ext cx="1185535" cy="854849"/>
                </a:xfrm>
                <a:prstGeom prst="rect">
                  <a:avLst/>
                </a:prstGeom>
              </p:spPr>
              <p:txBody>
                <a:bodyPr wrap="square">
                  <a:spAutoFit/>
                </a:bodyPr>
                <a:lstStyle/>
                <a:p>
                  <a:pPr marL="144145" indent="-144145" defTabSz="457200" eaLnBrk="1" fontAlgn="auto" hangingPunct="1">
                    <a:lnSpc>
                      <a:spcPct val="135000"/>
                    </a:lnSpc>
                    <a:spcBef>
                      <a:spcPts val="600"/>
                    </a:spcBef>
                    <a:spcAft>
                      <a:spcPts val="0"/>
                    </a:spcAft>
                    <a:buFont typeface="Arial" panose="020B0604020202020204" pitchFamily="34" charset="0"/>
                    <a:buChar char="•"/>
                  </a:pPr>
                  <a:r>
                    <a:rPr lang="zh-CN" altLang="en-US" sz="1100" b="1" dirty="0">
                      <a:solidFill>
                        <a:prstClr val="black"/>
                      </a:solidFill>
                      <a:latin typeface="微软雅黑"/>
                      <a:ea typeface="微软雅黑"/>
                    </a:rPr>
                    <a:t>PD</a:t>
                  </a:r>
                  <a:r>
                    <a:rPr lang="en-US" altLang="zh-CN" sz="1100" b="1" baseline="30000" dirty="0">
                      <a:solidFill>
                        <a:prstClr val="black"/>
                      </a:solidFill>
                      <a:latin typeface="微软雅黑"/>
                      <a:ea typeface="微软雅黑"/>
                    </a:rPr>
                    <a:t>1</a:t>
                  </a:r>
                  <a:endParaRPr lang="zh-CN" altLang="en-US" sz="1100" b="1" dirty="0">
                    <a:solidFill>
                      <a:prstClr val="black"/>
                    </a:solidFill>
                    <a:latin typeface="微软雅黑"/>
                    <a:ea typeface="微软雅黑"/>
                  </a:endParaRPr>
                </a:p>
                <a:p>
                  <a:pPr marL="144145" indent="-144145" defTabSz="457200" eaLnBrk="1" fontAlgn="auto" hangingPunct="1">
                    <a:lnSpc>
                      <a:spcPct val="135000"/>
                    </a:lnSpc>
                    <a:spcBef>
                      <a:spcPts val="600"/>
                    </a:spcBef>
                    <a:spcAft>
                      <a:spcPts val="0"/>
                    </a:spcAft>
                    <a:buFont typeface="Arial" panose="020B0604020202020204" pitchFamily="34" charset="0"/>
                    <a:buChar char="•"/>
                  </a:pPr>
                  <a:r>
                    <a:rPr lang="zh-CN" altLang="en-US" sz="1100" b="1" dirty="0">
                      <a:solidFill>
                        <a:prstClr val="black"/>
                      </a:solidFill>
                      <a:latin typeface="微软雅黑"/>
                      <a:ea typeface="微软雅黑"/>
                    </a:rPr>
                    <a:t>出现无法耐受的毒副作用</a:t>
                  </a:r>
                  <a:r>
                    <a:rPr lang="en-US" altLang="zh-CN" sz="1100" b="1" baseline="30000" dirty="0">
                      <a:solidFill>
                        <a:prstClr val="black"/>
                      </a:solidFill>
                      <a:latin typeface="微软雅黑"/>
                      <a:ea typeface="微软雅黑"/>
                    </a:rPr>
                    <a:t>1</a:t>
                  </a:r>
                  <a:endParaRPr lang="zh-CN" altLang="en-US" sz="1100" b="1" dirty="0">
                    <a:solidFill>
                      <a:prstClr val="black"/>
                    </a:solidFill>
                    <a:latin typeface="微软雅黑"/>
                    <a:ea typeface="微软雅黑"/>
                  </a:endParaRPr>
                </a:p>
              </p:txBody>
            </p:sp>
            <p:sp>
              <p:nvSpPr>
                <p:cNvPr id="12" name="矩形 11"/>
                <p:cNvSpPr/>
                <p:nvPr/>
              </p:nvSpPr>
              <p:spPr>
                <a:xfrm>
                  <a:off x="4072136" y="5854309"/>
                  <a:ext cx="4499950" cy="307777"/>
                </a:xfrm>
                <a:prstGeom prst="rect">
                  <a:avLst/>
                </a:prstGeom>
              </p:spPr>
              <p:txBody>
                <a:bodyPr wrap="none">
                  <a:noAutofit/>
                </a:bodyPr>
                <a:lstStyle/>
                <a:p>
                  <a:pPr marL="171450" indent="-171450" eaLnBrk="1" fontAlgn="auto" hangingPunct="1">
                    <a:spcBef>
                      <a:spcPts val="600"/>
                    </a:spcBef>
                    <a:spcAft>
                      <a:spcPts val="0"/>
                    </a:spcAft>
                    <a:buFont typeface="Arial" panose="020B0604020202020204" pitchFamily="34" charset="0"/>
                    <a:buChar char="•"/>
                  </a:pPr>
                  <a:r>
                    <a:rPr lang="zh-CN" altLang="en-US" sz="1400" b="1" kern="0" dirty="0">
                      <a:solidFill>
                        <a:prstClr val="black"/>
                      </a:solidFill>
                      <a:latin typeface="微软雅黑"/>
                      <a:ea typeface="微软雅黑"/>
                    </a:rPr>
                    <a:t>次要终点：</a:t>
                  </a:r>
                  <a:r>
                    <a:rPr sz="1200" kern="0" dirty="0">
                      <a:solidFill>
                        <a:prstClr val="black"/>
                      </a:solidFill>
                      <a:latin typeface="微软雅黑"/>
                      <a:ea typeface="微软雅黑"/>
                    </a:rPr>
                    <a:t>ORR、OS和安全性</a:t>
                  </a:r>
                  <a:r>
                    <a:rPr lang="en-US" sz="1200" kern="0" baseline="30000" dirty="0">
                      <a:solidFill>
                        <a:prstClr val="black"/>
                      </a:solidFill>
                      <a:latin typeface="微软雅黑"/>
                      <a:ea typeface="微软雅黑"/>
                    </a:rPr>
                    <a:t>2</a:t>
                  </a:r>
                  <a:endParaRPr sz="1200" kern="0" dirty="0">
                    <a:solidFill>
                      <a:prstClr val="black"/>
                    </a:solidFill>
                    <a:latin typeface="微软雅黑"/>
                    <a:ea typeface="微软雅黑"/>
                  </a:endParaRPr>
                </a:p>
              </p:txBody>
            </p:sp>
            <p:sp>
              <p:nvSpPr>
                <p:cNvPr id="13" name="矩形 12"/>
                <p:cNvSpPr/>
                <p:nvPr/>
              </p:nvSpPr>
              <p:spPr>
                <a:xfrm>
                  <a:off x="597414" y="5854310"/>
                  <a:ext cx="2547492" cy="307777"/>
                </a:xfrm>
                <a:prstGeom prst="rect">
                  <a:avLst/>
                </a:prstGeom>
              </p:spPr>
              <p:txBody>
                <a:bodyPr wrap="none" anchor="ctr">
                  <a:spAutoFit/>
                </a:bodyPr>
                <a:lstStyle/>
                <a:p>
                  <a:pPr marL="171450" indent="-171450" eaLnBrk="1" fontAlgn="auto" hangingPunct="1">
                    <a:spcBef>
                      <a:spcPts val="600"/>
                    </a:spcBef>
                    <a:spcAft>
                      <a:spcPts val="0"/>
                    </a:spcAft>
                    <a:buFont typeface="Arial" panose="020B0604020202020204" pitchFamily="34" charset="0"/>
                    <a:buChar char="•"/>
                    <a:defRPr/>
                  </a:pPr>
                  <a:r>
                    <a:rPr lang="zh-CN" altLang="en-US" sz="1400" b="1" kern="0" dirty="0">
                      <a:solidFill>
                        <a:prstClr val="black"/>
                      </a:solidFill>
                      <a:latin typeface="微软雅黑"/>
                      <a:ea typeface="微软雅黑"/>
                    </a:rPr>
                    <a:t>主要终点：</a:t>
                  </a:r>
                  <a:r>
                    <a:rPr lang="en-US" altLang="zh-CN" sz="1200" kern="0" dirty="0">
                      <a:solidFill>
                        <a:prstClr val="black"/>
                      </a:solidFill>
                      <a:latin typeface="微软雅黑"/>
                      <a:ea typeface="微软雅黑"/>
                    </a:rPr>
                    <a:t>至疾病进展时间</a:t>
                  </a:r>
                  <a:r>
                    <a:rPr lang="en-US" altLang="zh-CN" sz="1200" kern="0" baseline="30000" dirty="0">
                      <a:solidFill>
                        <a:prstClr val="black"/>
                      </a:solidFill>
                      <a:latin typeface="微软雅黑"/>
                      <a:ea typeface="微软雅黑"/>
                    </a:rPr>
                    <a:t>2</a:t>
                  </a:r>
                  <a:r>
                    <a:rPr lang="zh-CN" altLang="en-US" sz="1200" kern="0" dirty="0">
                      <a:solidFill>
                        <a:prstClr val="black"/>
                      </a:solidFill>
                      <a:latin typeface="微软雅黑"/>
                      <a:ea typeface="微软雅黑"/>
                    </a:rPr>
                    <a:t>；</a:t>
                  </a:r>
                  <a:endParaRPr lang="en-US" altLang="zh-CN" sz="1200" kern="0" dirty="0">
                    <a:solidFill>
                      <a:prstClr val="black"/>
                    </a:solidFill>
                    <a:latin typeface="微软雅黑"/>
                    <a:ea typeface="微软雅黑"/>
                  </a:endParaRPr>
                </a:p>
              </p:txBody>
            </p:sp>
            <p:sp>
              <p:nvSpPr>
                <p:cNvPr id="45" name="矩形 44"/>
                <p:cNvSpPr/>
                <p:nvPr/>
              </p:nvSpPr>
              <p:spPr>
                <a:xfrm>
                  <a:off x="597414" y="4941693"/>
                  <a:ext cx="7991640" cy="791845"/>
                </a:xfrm>
                <a:prstGeom prst="rect">
                  <a:avLst/>
                </a:prstGeom>
              </p:spPr>
              <p:txBody>
                <a:bodyPr wrap="square">
                  <a:spAutoFit/>
                </a:bodyPr>
                <a:lstStyle/>
                <a:p>
                  <a:pPr marL="171450" indent="-171450" defTabSz="457200" eaLnBrk="1" fontAlgn="auto" hangingPunct="1">
                    <a:lnSpc>
                      <a:spcPct val="120000"/>
                    </a:lnSpc>
                    <a:spcBef>
                      <a:spcPts val="0"/>
                    </a:spcBef>
                    <a:spcAft>
                      <a:spcPts val="0"/>
                    </a:spcAft>
                    <a:buFont typeface="Arial" panose="020B0604020202020204" pitchFamily="34" charset="0"/>
                    <a:buChar char="•"/>
                  </a:pPr>
                  <a:r>
                    <a:rPr lang="zh-CN" altLang="en-US" sz="1400" b="1" dirty="0">
                      <a:solidFill>
                        <a:prstClr val="black"/>
                      </a:solidFill>
                      <a:latin typeface="微软雅黑"/>
                      <a:ea typeface="微软雅黑"/>
                    </a:rPr>
                    <a:t>研究目的：</a:t>
                  </a:r>
                  <a:r>
                    <a:rPr sz="1200" dirty="0" err="1">
                      <a:solidFill>
                        <a:prstClr val="black"/>
                      </a:solidFill>
                      <a:latin typeface="微软雅黑"/>
                      <a:ea typeface="微软雅黑"/>
                    </a:rPr>
                    <a:t>通过对该试验进行回顾性分析，评价研究中卡培他滨</a:t>
                  </a:r>
                  <a:r>
                    <a:rPr lang="en-US" sz="1200" dirty="0" err="1">
                      <a:solidFill>
                        <a:prstClr val="black"/>
                      </a:solidFill>
                      <a:latin typeface="微软雅黑"/>
                      <a:ea typeface="微软雅黑"/>
                    </a:rPr>
                    <a:t>+</a:t>
                  </a:r>
                  <a:r>
                    <a:rPr sz="1200" dirty="0" err="1">
                      <a:solidFill>
                        <a:prstClr val="black"/>
                      </a:solidFill>
                      <a:latin typeface="微软雅黑"/>
                      <a:ea typeface="微软雅黑"/>
                    </a:rPr>
                    <a:t>多西他赛联合组的安全性资料、分析减量对耐</a:t>
                  </a:r>
                  <a:r>
                    <a:rPr sz="1200" dirty="0">
                      <a:solidFill>
                        <a:prstClr val="black"/>
                      </a:solidFill>
                      <a:latin typeface="微软雅黑"/>
                      <a:ea typeface="微软雅黑"/>
                    </a:rPr>
                    <a:t>     </a:t>
                  </a:r>
                  <a:r>
                    <a:rPr lang="en-US" sz="1200" dirty="0">
                      <a:solidFill>
                        <a:prstClr val="black"/>
                      </a:solidFill>
                      <a:latin typeface="微软雅黑"/>
                      <a:ea typeface="微软雅黑"/>
                    </a:rPr>
                    <a:t>		    </a:t>
                  </a:r>
                  <a:r>
                    <a:rPr sz="1200" dirty="0" err="1">
                      <a:solidFill>
                        <a:prstClr val="black"/>
                      </a:solidFill>
                      <a:latin typeface="微软雅黑"/>
                      <a:ea typeface="微软雅黑"/>
                    </a:rPr>
                    <a:t>受性和疗效的影响，从而优化给药策略，并确保患者人群能从卡培他滨</a:t>
                  </a:r>
                  <a:r>
                    <a:rPr lang="en-US" sz="1200" dirty="0" err="1">
                      <a:solidFill>
                        <a:prstClr val="black"/>
                      </a:solidFill>
                      <a:latin typeface="微软雅黑"/>
                      <a:ea typeface="微软雅黑"/>
                    </a:rPr>
                    <a:t>+</a:t>
                  </a:r>
                  <a:r>
                    <a:rPr sz="1200" dirty="0" err="1">
                      <a:solidFill>
                        <a:prstClr val="black"/>
                      </a:solidFill>
                      <a:latin typeface="微软雅黑"/>
                      <a:ea typeface="微软雅黑"/>
                    </a:rPr>
                    <a:t>多西他赛联合治疗中普遍取</a:t>
                  </a:r>
                  <a:r>
                    <a:rPr lang="en-US" sz="1200" dirty="0">
                      <a:solidFill>
                        <a:prstClr val="black"/>
                      </a:solidFill>
                      <a:latin typeface="微软雅黑"/>
                      <a:ea typeface="微软雅黑"/>
                    </a:rPr>
                    <a:t>			    </a:t>
                  </a:r>
                  <a:r>
                    <a:rPr sz="1200" dirty="0">
                      <a:solidFill>
                        <a:prstClr val="black"/>
                      </a:solidFill>
                      <a:latin typeface="微软雅黑"/>
                      <a:ea typeface="微软雅黑"/>
                    </a:rPr>
                    <a:t>得安全性获益</a:t>
                  </a:r>
                  <a:r>
                    <a:rPr lang="en-US" sz="1200" baseline="30000" dirty="0">
                      <a:solidFill>
                        <a:prstClr val="black"/>
                      </a:solidFill>
                      <a:latin typeface="微软雅黑"/>
                      <a:ea typeface="微软雅黑"/>
                    </a:rPr>
                    <a:t>2</a:t>
                  </a:r>
                  <a:endParaRPr sz="1200" dirty="0">
                    <a:solidFill>
                      <a:prstClr val="black"/>
                    </a:solidFill>
                    <a:latin typeface="微软雅黑"/>
                    <a:ea typeface="微软雅黑"/>
                  </a:endParaRPr>
                </a:p>
              </p:txBody>
            </p:sp>
            <p:sp>
              <p:nvSpPr>
                <p:cNvPr id="59" name="矩形 58"/>
                <p:cNvSpPr/>
                <p:nvPr/>
              </p:nvSpPr>
              <p:spPr>
                <a:xfrm>
                  <a:off x="3734323" y="2902748"/>
                  <a:ext cx="3452060" cy="702949"/>
                </a:xfrm>
                <a:prstGeom prst="rect">
                  <a:avLst/>
                </a:prstGeom>
              </p:spPr>
              <p:txBody>
                <a:bodyPr wrap="square" anchor="ctr">
                  <a:spAutoFit/>
                </a:bodyPr>
                <a:lstStyle/>
                <a:p>
                  <a:pPr defTabSz="457200">
                    <a:lnSpc>
                      <a:spcPct val="120000"/>
                    </a:lnSpc>
                  </a:pPr>
                  <a:r>
                    <a:rPr lang="zh-CN" altLang="en-US" sz="1200" b="1" dirty="0">
                      <a:solidFill>
                        <a:prstClr val="black"/>
                      </a:solidFill>
                      <a:latin typeface="微软雅黑"/>
                      <a:ea typeface="微软雅黑"/>
                    </a:rPr>
                    <a:t>* 剂量调整方法</a:t>
                  </a:r>
                  <a:r>
                    <a:rPr lang="en-US" altLang="zh-CN" sz="1200" b="1" baseline="30000" dirty="0">
                      <a:solidFill>
                        <a:prstClr val="black"/>
                      </a:solidFill>
                      <a:latin typeface="微软雅黑"/>
                      <a:ea typeface="微软雅黑"/>
                    </a:rPr>
                    <a:t>2</a:t>
                  </a:r>
                  <a:r>
                    <a:rPr lang="zh-CN" altLang="en-US" sz="1200" b="1" dirty="0">
                      <a:solidFill>
                        <a:prstClr val="black"/>
                      </a:solidFill>
                      <a:latin typeface="微软雅黑"/>
                      <a:ea typeface="微软雅黑"/>
                    </a:rPr>
                    <a:t>：</a:t>
                  </a:r>
                  <a:r>
                    <a:rPr lang="zh-CN" altLang="en-US" sz="1100" dirty="0">
                      <a:solidFill>
                        <a:prstClr val="black"/>
                      </a:solidFill>
                      <a:latin typeface="微软雅黑"/>
                      <a:ea typeface="微软雅黑"/>
                    </a:rPr>
                    <a:t>对于所有治疗相关性≥</a:t>
                  </a:r>
                  <a:r>
                    <a:rPr lang="en-US" altLang="zh-CN" sz="1100" dirty="0">
                      <a:solidFill>
                        <a:prstClr val="black"/>
                      </a:solidFill>
                      <a:latin typeface="微软雅黑"/>
                      <a:ea typeface="微软雅黑"/>
                    </a:rPr>
                    <a:t>2</a:t>
                  </a:r>
                  <a:r>
                    <a:rPr lang="zh-CN" altLang="en-US" sz="1100" dirty="0">
                      <a:solidFill>
                        <a:prstClr val="black"/>
                      </a:solidFill>
                      <a:latin typeface="微软雅黑"/>
                      <a:ea typeface="微软雅黑"/>
                    </a:rPr>
                    <a:t>级不良事件，卡培他滨减量</a:t>
                  </a:r>
                  <a:r>
                    <a:rPr lang="en-US" altLang="zh-CN" sz="1100" dirty="0">
                      <a:solidFill>
                        <a:prstClr val="black"/>
                      </a:solidFill>
                      <a:latin typeface="微软雅黑"/>
                      <a:ea typeface="微软雅黑"/>
                    </a:rPr>
                    <a:t>25%</a:t>
                  </a:r>
                  <a:r>
                    <a:rPr lang="zh-CN" altLang="en-US" sz="1100" dirty="0">
                      <a:solidFill>
                        <a:prstClr val="black"/>
                      </a:solidFill>
                      <a:latin typeface="微软雅黑"/>
                      <a:ea typeface="微软雅黑"/>
                    </a:rPr>
                    <a:t>，降至</a:t>
                  </a:r>
                  <a:r>
                    <a:rPr lang="en-US" altLang="zh-CN" sz="1100" dirty="0">
                      <a:solidFill>
                        <a:prstClr val="black"/>
                      </a:solidFill>
                      <a:latin typeface="微软雅黑"/>
                      <a:ea typeface="微软雅黑"/>
                    </a:rPr>
                    <a:t>950 mg/m</a:t>
                  </a:r>
                  <a:r>
                    <a:rPr lang="en-US" altLang="zh-CN" sz="1100" baseline="30000" dirty="0">
                      <a:solidFill>
                        <a:prstClr val="black"/>
                      </a:solidFill>
                      <a:latin typeface="微软雅黑"/>
                      <a:ea typeface="微软雅黑"/>
                    </a:rPr>
                    <a:t>2</a:t>
                  </a:r>
                  <a:r>
                    <a:rPr lang="en-US" altLang="zh-CN" sz="1100" dirty="0">
                      <a:solidFill>
                        <a:prstClr val="black"/>
                      </a:solidFill>
                      <a:latin typeface="微软雅黑"/>
                      <a:ea typeface="微软雅黑"/>
                    </a:rPr>
                    <a:t> BID</a:t>
                  </a:r>
                  <a:r>
                    <a:rPr lang="zh-CN" altLang="en-US" sz="1100" dirty="0">
                      <a:solidFill>
                        <a:prstClr val="black"/>
                      </a:solidFill>
                      <a:latin typeface="微软雅黑"/>
                      <a:ea typeface="微软雅黑"/>
                    </a:rPr>
                    <a:t>，多西他赛减量至</a:t>
                  </a:r>
                  <a:r>
                    <a:rPr lang="en-US" altLang="zh-CN" sz="1100" dirty="0">
                      <a:solidFill>
                        <a:prstClr val="black"/>
                      </a:solidFill>
                      <a:latin typeface="微软雅黑"/>
                      <a:ea typeface="微软雅黑"/>
                    </a:rPr>
                    <a:t>55 mg/m</a:t>
                  </a:r>
                  <a:r>
                    <a:rPr lang="en-US" altLang="zh-CN" sz="1100" baseline="30000" dirty="0">
                      <a:solidFill>
                        <a:prstClr val="black"/>
                      </a:solidFill>
                      <a:latin typeface="微软雅黑"/>
                      <a:ea typeface="微软雅黑"/>
                    </a:rPr>
                    <a:t>2</a:t>
                  </a:r>
                  <a:r>
                    <a:rPr lang="en-US" altLang="zh-CN" sz="1100" dirty="0">
                      <a:solidFill>
                        <a:prstClr val="black"/>
                      </a:solidFill>
                      <a:latin typeface="微软雅黑"/>
                      <a:ea typeface="微软雅黑"/>
                    </a:rPr>
                    <a:t> </a:t>
                  </a:r>
                </a:p>
              </p:txBody>
            </p:sp>
          </p:grpSp>
          <p:sp>
            <p:nvSpPr>
              <p:cNvPr id="29" name="Oval 23"/>
              <p:cNvSpPr>
                <a:spLocks noChangeAspect="1"/>
              </p:cNvSpPr>
              <p:nvPr/>
            </p:nvSpPr>
            <p:spPr>
              <a:xfrm>
                <a:off x="3093169" y="3045237"/>
                <a:ext cx="375958" cy="377086"/>
              </a:xfrm>
              <a:prstGeom prst="ellipse">
                <a:avLst/>
              </a:prstGeom>
              <a:noFill/>
              <a:ln w="12700" cap="flat" cmpd="sng" algn="ctr">
                <a:noFill/>
                <a:prstDash val="solid"/>
                <a:miter lim="800000"/>
              </a:ln>
              <a:effectLst/>
            </p:spPr>
            <p:txBody>
              <a:bodyPr lIns="0" rIns="0" rtlCol="0" anchor="ctr"/>
              <a:lstStyle/>
              <a:p>
                <a:pPr algn="ctr" defTabSz="342900" eaLnBrk="1" fontAlgn="auto" hangingPunct="1">
                  <a:spcBef>
                    <a:spcPts val="0"/>
                  </a:spcBef>
                  <a:spcAft>
                    <a:spcPts val="0"/>
                  </a:spcAft>
                  <a:defRPr/>
                </a:pPr>
                <a:r>
                  <a:rPr lang="en-US" sz="1400" b="1" kern="0" dirty="0">
                    <a:solidFill>
                      <a:prstClr val="black"/>
                    </a:solidFill>
                    <a:latin typeface="微软雅黑"/>
                    <a:ea typeface="微软雅黑"/>
                    <a:sym typeface="+mn-lt"/>
                  </a:rPr>
                  <a:t>R</a:t>
                </a:r>
                <a:endParaRPr lang="en-GB" sz="1100" kern="0" dirty="0">
                  <a:solidFill>
                    <a:prstClr val="black"/>
                  </a:solidFill>
                  <a:latin typeface="微软雅黑"/>
                  <a:ea typeface="微软雅黑"/>
                  <a:sym typeface="+mn-lt"/>
                </a:endParaRPr>
              </a:p>
            </p:txBody>
          </p:sp>
        </p:grpSp>
      </p:grpSp>
      <p:sp>
        <p:nvSpPr>
          <p:cNvPr id="18" name="矩形 17"/>
          <p:cNvSpPr/>
          <p:nvPr/>
        </p:nvSpPr>
        <p:spPr>
          <a:xfrm>
            <a:off x="5585012" y="6488668"/>
            <a:ext cx="3558988" cy="369332"/>
          </a:xfrm>
          <a:prstGeom prst="rect">
            <a:avLst/>
          </a:prstGeom>
        </p:spPr>
        <p:txBody>
          <a:bodyPr wrap="none">
            <a:spAutoFit/>
          </a:bodyPr>
          <a:lstStyle/>
          <a:p>
            <a:pPr marL="228600" indent="-228600" algn="r">
              <a:buFont typeface="+mj-lt"/>
              <a:buAutoNum type="arabicPeriod"/>
            </a:pPr>
            <a:r>
              <a:rPr lang="en-US" altLang="zh-CN" sz="900" dirty="0">
                <a:solidFill>
                  <a:prstClr val="black"/>
                </a:solidFill>
                <a:latin typeface="微软雅黑"/>
                <a:ea typeface="微软雅黑"/>
              </a:rPr>
              <a:t>O'Shaughnessy J et al., </a:t>
            </a:r>
            <a:r>
              <a:rPr lang="it-IT" altLang="zh-CN" sz="900" dirty="0">
                <a:solidFill>
                  <a:prstClr val="black"/>
                </a:solidFill>
                <a:latin typeface="微软雅黑"/>
                <a:ea typeface="微软雅黑"/>
              </a:rPr>
              <a:t>J Clin Oncol. 2002;20(12):2812-23.</a:t>
            </a:r>
            <a:endParaRPr lang="en-US" altLang="zh-CN" sz="900" dirty="0">
              <a:solidFill>
                <a:prstClr val="black"/>
              </a:solidFill>
              <a:latin typeface="微软雅黑"/>
              <a:ea typeface="微软雅黑"/>
            </a:endParaRPr>
          </a:p>
          <a:p>
            <a:pPr marL="228600" indent="-228600" algn="r">
              <a:buFont typeface="+mj-lt"/>
              <a:buAutoNum type="arabicPeriod"/>
            </a:pPr>
            <a:r>
              <a:rPr lang="en-US" altLang="zh-CN" sz="900" dirty="0">
                <a:solidFill>
                  <a:prstClr val="black"/>
                </a:solidFill>
                <a:latin typeface="微软雅黑"/>
                <a:ea typeface="微软雅黑"/>
              </a:rPr>
              <a:t>Leonard R et al., </a:t>
            </a:r>
            <a:r>
              <a:rPr lang="it-IT" altLang="zh-CN" sz="900" dirty="0">
                <a:solidFill>
                  <a:prstClr val="black"/>
                </a:solidFill>
                <a:latin typeface="微软雅黑"/>
                <a:ea typeface="微软雅黑"/>
              </a:rPr>
              <a:t>Ann Oncol. 2006;17(9):1379-85.</a:t>
            </a:r>
            <a:endParaRPr lang="zh-CN" altLang="en-US" sz="900" dirty="0">
              <a:solidFill>
                <a:prstClr val="black"/>
              </a:solidFill>
              <a:latin typeface="微软雅黑"/>
              <a:ea typeface="微软雅黑"/>
            </a:endParaRPr>
          </a:p>
        </p:txBody>
      </p:sp>
    </p:spTree>
    <p:extLst>
      <p:ext uri="{BB962C8B-B14F-4D97-AF65-F5344CB8AC3E}">
        <p14:creationId xmlns:p14="http://schemas.microsoft.com/office/powerpoint/2010/main" val="36349282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剂量调整未影响卡培他滨为基础的化疗疗效</a:t>
            </a:r>
          </a:p>
        </p:txBody>
      </p:sp>
      <p:sp>
        <p:nvSpPr>
          <p:cNvPr id="82" name="矩形 81"/>
          <p:cNvSpPr/>
          <p:nvPr/>
        </p:nvSpPr>
        <p:spPr>
          <a:xfrm>
            <a:off x="5742107" y="6488668"/>
            <a:ext cx="3401893" cy="369332"/>
          </a:xfrm>
          <a:prstGeom prst="rect">
            <a:avLst/>
          </a:prstGeom>
        </p:spPr>
        <p:txBody>
          <a:bodyPr wrap="none">
            <a:spAutoFit/>
          </a:bodyPr>
          <a:lstStyle/>
          <a:p>
            <a:pPr marL="228600" indent="-228600" algn="r" eaLnBrk="1" fontAlgn="auto" hangingPunct="1">
              <a:spcBef>
                <a:spcPts val="0"/>
              </a:spcBef>
              <a:spcAft>
                <a:spcPts val="0"/>
              </a:spcAft>
              <a:buFont typeface="+mj-lt"/>
              <a:buAutoNum type="arabicPeriod"/>
              <a:defRPr/>
            </a:pPr>
            <a:endParaRPr lang="en-US" altLang="zh-CN" sz="900" dirty="0">
              <a:solidFill>
                <a:prstClr val="black"/>
              </a:solidFill>
              <a:latin typeface="微软雅黑"/>
              <a:ea typeface="微软雅黑"/>
              <a:cs typeface="+mn-ea"/>
              <a:sym typeface="+mn-lt"/>
            </a:endParaRPr>
          </a:p>
          <a:p>
            <a:pPr algn="r" eaLnBrk="1" fontAlgn="auto" hangingPunct="1">
              <a:spcBef>
                <a:spcPts val="0"/>
              </a:spcBef>
              <a:spcAft>
                <a:spcPts val="0"/>
              </a:spcAft>
              <a:defRPr/>
            </a:pPr>
            <a:r>
              <a:rPr lang="en-US" altLang="zh-CN" sz="900" dirty="0">
                <a:solidFill>
                  <a:prstClr val="black"/>
                </a:solidFill>
                <a:latin typeface="微软雅黑"/>
                <a:ea typeface="微软雅黑"/>
                <a:cs typeface="+mn-ea"/>
                <a:sym typeface="+mn-lt"/>
              </a:rPr>
              <a:t>R. Leonard et </a:t>
            </a:r>
            <a:r>
              <a:rPr lang="en-US" altLang="zh-CN" sz="900" dirty="0" err="1">
                <a:solidFill>
                  <a:prstClr val="black"/>
                </a:solidFill>
                <a:latin typeface="微软雅黑"/>
                <a:ea typeface="微软雅黑"/>
                <a:cs typeface="+mn-ea"/>
                <a:sym typeface="+mn-lt"/>
              </a:rPr>
              <a:t>al.,Annals</a:t>
            </a:r>
            <a:r>
              <a:rPr lang="en-US" altLang="zh-CN" sz="900" dirty="0">
                <a:solidFill>
                  <a:prstClr val="black"/>
                </a:solidFill>
                <a:latin typeface="微软雅黑"/>
                <a:ea typeface="微软雅黑"/>
                <a:cs typeface="+mn-ea"/>
                <a:sym typeface="+mn-lt"/>
              </a:rPr>
              <a:t> of Oncology 2006;(17): 1379-1385.</a:t>
            </a:r>
          </a:p>
        </p:txBody>
      </p:sp>
      <p:grpSp>
        <p:nvGrpSpPr>
          <p:cNvPr id="233" name="组合 232"/>
          <p:cNvGrpSpPr/>
          <p:nvPr/>
        </p:nvGrpSpPr>
        <p:grpSpPr>
          <a:xfrm>
            <a:off x="499188" y="1192732"/>
            <a:ext cx="8454469" cy="4668327"/>
            <a:chOff x="499188" y="1192732"/>
            <a:chExt cx="8454469" cy="4668327"/>
          </a:xfrm>
        </p:grpSpPr>
        <p:pic>
          <p:nvPicPr>
            <p:cNvPr id="232" name="图片 231"/>
            <p:cNvPicPr>
              <a:picLocks noChangeAspect="1"/>
            </p:cNvPicPr>
            <p:nvPr/>
          </p:nvPicPr>
          <p:blipFill>
            <a:blip r:embed="rId3"/>
            <a:stretch>
              <a:fillRect/>
            </a:stretch>
          </p:blipFill>
          <p:spPr>
            <a:xfrm>
              <a:off x="999382" y="1192732"/>
              <a:ext cx="7571888" cy="4395597"/>
            </a:xfrm>
            <a:prstGeom prst="rect">
              <a:avLst/>
            </a:prstGeom>
          </p:spPr>
        </p:pic>
        <p:sp>
          <p:nvSpPr>
            <p:cNvPr id="83" name="矩形 82"/>
            <p:cNvSpPr/>
            <p:nvPr/>
          </p:nvSpPr>
          <p:spPr>
            <a:xfrm>
              <a:off x="1140707" y="1465496"/>
              <a:ext cx="3022943" cy="323165"/>
            </a:xfrm>
            <a:prstGeom prst="rect">
              <a:avLst/>
            </a:prstGeom>
          </p:spPr>
          <p:txBody>
            <a:bodyPr wrap="none">
              <a:spAutoFit/>
            </a:bodyPr>
            <a:lstStyle/>
            <a:p>
              <a:pPr algn="ctr"/>
              <a:r>
                <a:rPr lang="zh-CN" altLang="en-US" sz="1500" b="1" dirty="0">
                  <a:solidFill>
                    <a:prstClr val="black"/>
                  </a:solidFill>
                  <a:latin typeface="微软雅黑"/>
                  <a:ea typeface="微软雅黑"/>
                  <a:cs typeface="+mn-ea"/>
                  <a:sym typeface="+mn-lt"/>
                </a:rPr>
                <a:t>减量 </a:t>
              </a:r>
              <a:r>
                <a:rPr lang="en-US" altLang="zh-CN" sz="1500" b="1" dirty="0">
                  <a:solidFill>
                    <a:prstClr val="black"/>
                  </a:solidFill>
                  <a:latin typeface="微软雅黑"/>
                  <a:ea typeface="微软雅黑"/>
                  <a:cs typeface="+mn-ea"/>
                  <a:sym typeface="+mn-lt"/>
                </a:rPr>
                <a:t>vs. </a:t>
              </a:r>
              <a:r>
                <a:rPr lang="zh-CN" altLang="en-US" sz="1500" b="1" dirty="0">
                  <a:solidFill>
                    <a:prstClr val="black"/>
                  </a:solidFill>
                  <a:latin typeface="微软雅黑"/>
                  <a:ea typeface="微软雅黑"/>
                  <a:cs typeface="+mn-ea"/>
                  <a:sym typeface="+mn-lt"/>
                </a:rPr>
                <a:t>未减量的患者，</a:t>
              </a:r>
              <a:r>
                <a:rPr lang="en-US" altLang="zh-CN" sz="1500" b="1" dirty="0">
                  <a:solidFill>
                    <a:prstClr val="black"/>
                  </a:solidFill>
                  <a:latin typeface="微软雅黑"/>
                  <a:ea typeface="微软雅黑"/>
                  <a:cs typeface="+mn-ea"/>
                  <a:sym typeface="+mn-lt"/>
                </a:rPr>
                <a:t>PFS</a:t>
              </a:r>
              <a:r>
                <a:rPr lang="zh-CN" altLang="en-US" sz="1500" b="1" dirty="0">
                  <a:solidFill>
                    <a:prstClr val="black"/>
                  </a:solidFill>
                  <a:latin typeface="微软雅黑"/>
                  <a:ea typeface="微软雅黑"/>
                  <a:cs typeface="+mn-ea"/>
                  <a:sym typeface="+mn-lt"/>
                </a:rPr>
                <a:t>相当</a:t>
              </a:r>
            </a:p>
          </p:txBody>
        </p:sp>
        <p:grpSp>
          <p:nvGrpSpPr>
            <p:cNvPr id="226" name="组合 225"/>
            <p:cNvGrpSpPr/>
            <p:nvPr/>
          </p:nvGrpSpPr>
          <p:grpSpPr>
            <a:xfrm>
              <a:off x="932843" y="4893980"/>
              <a:ext cx="3420172" cy="216000"/>
              <a:chOff x="871547" y="5214563"/>
              <a:chExt cx="3559046" cy="216000"/>
            </a:xfrm>
          </p:grpSpPr>
          <p:sp>
            <p:nvSpPr>
              <p:cNvPr id="26" name="object 88"/>
              <p:cNvSpPr txBox="1"/>
              <p:nvPr/>
            </p:nvSpPr>
            <p:spPr>
              <a:xfrm>
                <a:off x="4185793" y="5214563"/>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sz="1000" spc="-5" dirty="0">
                    <a:solidFill>
                      <a:prstClr val="black"/>
                    </a:solidFill>
                    <a:latin typeface="微软雅黑"/>
                    <a:ea typeface="微软雅黑"/>
                    <a:cs typeface="+mn-ea"/>
                    <a:sym typeface="+mn-lt"/>
                  </a:rPr>
                  <a:t>30</a:t>
                </a:r>
                <a:endParaRPr sz="1000" dirty="0">
                  <a:solidFill>
                    <a:prstClr val="black"/>
                  </a:solidFill>
                  <a:latin typeface="微软雅黑"/>
                  <a:ea typeface="微软雅黑"/>
                  <a:cs typeface="+mn-ea"/>
                  <a:sym typeface="+mn-lt"/>
                </a:endParaRPr>
              </a:p>
            </p:txBody>
          </p:sp>
          <p:sp>
            <p:nvSpPr>
              <p:cNvPr id="93" name="矩形 92"/>
              <p:cNvSpPr/>
              <p:nvPr/>
            </p:nvSpPr>
            <p:spPr>
              <a:xfrm>
                <a:off x="1423921"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5</a:t>
                </a:r>
                <a:endParaRPr lang="zh-CN" altLang="en-US" sz="1000" dirty="0">
                  <a:solidFill>
                    <a:prstClr val="black"/>
                  </a:solidFill>
                  <a:latin typeface="微软雅黑"/>
                  <a:ea typeface="微软雅黑"/>
                  <a:cs typeface="+mn-ea"/>
                  <a:sym typeface="+mn-lt"/>
                </a:endParaRPr>
              </a:p>
            </p:txBody>
          </p:sp>
          <p:sp>
            <p:nvSpPr>
              <p:cNvPr id="94" name="矩形 93"/>
              <p:cNvSpPr/>
              <p:nvPr/>
            </p:nvSpPr>
            <p:spPr>
              <a:xfrm>
                <a:off x="3081043"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20</a:t>
                </a:r>
                <a:endParaRPr lang="zh-CN" altLang="en-US" sz="1000" dirty="0">
                  <a:solidFill>
                    <a:prstClr val="black"/>
                  </a:solidFill>
                  <a:latin typeface="微软雅黑"/>
                  <a:ea typeface="微软雅黑"/>
                  <a:cs typeface="+mn-ea"/>
                  <a:sym typeface="+mn-lt"/>
                </a:endParaRPr>
              </a:p>
            </p:txBody>
          </p:sp>
          <p:sp>
            <p:nvSpPr>
              <p:cNvPr id="95" name="矩形 94"/>
              <p:cNvSpPr/>
              <p:nvPr/>
            </p:nvSpPr>
            <p:spPr>
              <a:xfrm>
                <a:off x="1976295"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10</a:t>
                </a:r>
                <a:endParaRPr lang="zh-CN" altLang="en-US" sz="1000" dirty="0">
                  <a:solidFill>
                    <a:prstClr val="black"/>
                  </a:solidFill>
                  <a:latin typeface="微软雅黑"/>
                  <a:ea typeface="微软雅黑"/>
                  <a:cs typeface="+mn-ea"/>
                  <a:sym typeface="+mn-lt"/>
                </a:endParaRPr>
              </a:p>
            </p:txBody>
          </p:sp>
          <p:sp>
            <p:nvSpPr>
              <p:cNvPr id="97" name="矩形 96"/>
              <p:cNvSpPr/>
              <p:nvPr/>
            </p:nvSpPr>
            <p:spPr>
              <a:xfrm>
                <a:off x="2528669"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15</a:t>
                </a:r>
                <a:endParaRPr lang="zh-CN" altLang="en-US" sz="1000" dirty="0">
                  <a:solidFill>
                    <a:prstClr val="black"/>
                  </a:solidFill>
                  <a:latin typeface="微软雅黑"/>
                  <a:ea typeface="微软雅黑"/>
                  <a:cs typeface="+mn-ea"/>
                  <a:sym typeface="+mn-lt"/>
                </a:endParaRPr>
              </a:p>
            </p:txBody>
          </p:sp>
          <p:sp>
            <p:nvSpPr>
              <p:cNvPr id="98" name="矩形 97"/>
              <p:cNvSpPr/>
              <p:nvPr/>
            </p:nvSpPr>
            <p:spPr>
              <a:xfrm>
                <a:off x="3633417"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25</a:t>
                </a:r>
                <a:endParaRPr lang="zh-CN" altLang="en-US" sz="1000" dirty="0">
                  <a:solidFill>
                    <a:prstClr val="black"/>
                  </a:solidFill>
                  <a:latin typeface="微软雅黑"/>
                  <a:ea typeface="微软雅黑"/>
                  <a:cs typeface="+mn-ea"/>
                  <a:sym typeface="+mn-lt"/>
                </a:endParaRPr>
              </a:p>
            </p:txBody>
          </p:sp>
          <p:sp>
            <p:nvSpPr>
              <p:cNvPr id="99" name="矩形 98"/>
              <p:cNvSpPr/>
              <p:nvPr/>
            </p:nvSpPr>
            <p:spPr>
              <a:xfrm>
                <a:off x="871547" y="5214563"/>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0</a:t>
                </a:r>
                <a:endParaRPr lang="zh-CN" altLang="en-US" sz="1000" dirty="0">
                  <a:solidFill>
                    <a:prstClr val="black"/>
                  </a:solidFill>
                  <a:latin typeface="微软雅黑"/>
                  <a:ea typeface="微软雅黑"/>
                  <a:cs typeface="+mn-ea"/>
                  <a:sym typeface="+mn-lt"/>
                </a:endParaRPr>
              </a:p>
            </p:txBody>
          </p:sp>
        </p:grpSp>
        <p:grpSp>
          <p:nvGrpSpPr>
            <p:cNvPr id="237" name="组合 236"/>
            <p:cNvGrpSpPr/>
            <p:nvPr/>
          </p:nvGrpSpPr>
          <p:grpSpPr>
            <a:xfrm>
              <a:off x="711306" y="1971233"/>
              <a:ext cx="273570" cy="2993961"/>
              <a:chOff x="768813" y="2291816"/>
              <a:chExt cx="273570" cy="2993961"/>
            </a:xfrm>
          </p:grpSpPr>
          <p:sp>
            <p:nvSpPr>
              <p:cNvPr id="17" name="object 79"/>
              <p:cNvSpPr txBox="1"/>
              <p:nvPr/>
            </p:nvSpPr>
            <p:spPr>
              <a:xfrm>
                <a:off x="768813" y="2291816"/>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1.0</a:t>
                </a:r>
              </a:p>
            </p:txBody>
          </p:sp>
          <p:sp>
            <p:nvSpPr>
              <p:cNvPr id="18" name="object 80"/>
              <p:cNvSpPr txBox="1"/>
              <p:nvPr/>
            </p:nvSpPr>
            <p:spPr>
              <a:xfrm>
                <a:off x="768813" y="2837767"/>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0.8</a:t>
                </a:r>
              </a:p>
            </p:txBody>
          </p:sp>
          <p:sp>
            <p:nvSpPr>
              <p:cNvPr id="19" name="object 81"/>
              <p:cNvSpPr txBox="1"/>
              <p:nvPr/>
            </p:nvSpPr>
            <p:spPr>
              <a:xfrm>
                <a:off x="768813" y="3383718"/>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0.6</a:t>
                </a:r>
                <a:endParaRPr sz="1000">
                  <a:solidFill>
                    <a:prstClr val="black"/>
                  </a:solidFill>
                  <a:latin typeface="微软雅黑"/>
                  <a:ea typeface="微软雅黑"/>
                  <a:cs typeface="+mn-ea"/>
                  <a:sym typeface="+mn-lt"/>
                </a:endParaRPr>
              </a:p>
            </p:txBody>
          </p:sp>
          <p:sp>
            <p:nvSpPr>
              <p:cNvPr id="20" name="object 82"/>
              <p:cNvSpPr txBox="1"/>
              <p:nvPr/>
            </p:nvSpPr>
            <p:spPr>
              <a:xfrm>
                <a:off x="768813" y="3929669"/>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0.4</a:t>
                </a:r>
                <a:endParaRPr sz="1000">
                  <a:solidFill>
                    <a:prstClr val="black"/>
                  </a:solidFill>
                  <a:latin typeface="微软雅黑"/>
                  <a:ea typeface="微软雅黑"/>
                  <a:cs typeface="+mn-ea"/>
                  <a:sym typeface="+mn-lt"/>
                </a:endParaRPr>
              </a:p>
            </p:txBody>
          </p:sp>
          <p:sp>
            <p:nvSpPr>
              <p:cNvPr id="21" name="object 83"/>
              <p:cNvSpPr txBox="1"/>
              <p:nvPr/>
            </p:nvSpPr>
            <p:spPr>
              <a:xfrm>
                <a:off x="768813" y="4475620"/>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0.2</a:t>
                </a:r>
              </a:p>
            </p:txBody>
          </p:sp>
          <p:sp>
            <p:nvSpPr>
              <p:cNvPr id="22" name="object 84"/>
              <p:cNvSpPr txBox="1"/>
              <p:nvPr/>
            </p:nvSpPr>
            <p:spPr>
              <a:xfrm>
                <a:off x="768813" y="5021571"/>
                <a:ext cx="273570" cy="264206"/>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0.0</a:t>
                </a:r>
              </a:p>
            </p:txBody>
          </p:sp>
        </p:grpSp>
        <p:sp>
          <p:nvSpPr>
            <p:cNvPr id="23" name="object 85"/>
            <p:cNvSpPr txBox="1"/>
            <p:nvPr/>
          </p:nvSpPr>
          <p:spPr>
            <a:xfrm>
              <a:off x="499188" y="2671614"/>
              <a:ext cx="259820" cy="1590156"/>
            </a:xfrm>
            <a:prstGeom prst="rect">
              <a:avLst/>
            </a:prstGeom>
          </p:spPr>
          <p:txBody>
            <a:bodyPr vert="vert270" wrap="square" lIns="0" tIns="5715" rIns="0" bIns="0" rtlCol="0" anchor="ctr">
              <a:spAutoFit/>
            </a:bodyPr>
            <a:lstStyle/>
            <a:p>
              <a:pPr marL="12700" algn="ctr" eaLnBrk="1" fontAlgn="auto" hangingPunct="1">
                <a:spcBef>
                  <a:spcPts val="45"/>
                </a:spcBef>
                <a:spcAft>
                  <a:spcPts val="0"/>
                </a:spcAft>
              </a:pPr>
              <a:r>
                <a:rPr lang="en-US" altLang="zh-CN" sz="1200" b="1" dirty="0">
                  <a:solidFill>
                    <a:prstClr val="black"/>
                  </a:solidFill>
                  <a:latin typeface="微软雅黑"/>
                  <a:ea typeface="微软雅黑"/>
                  <a:cs typeface="+mn-ea"/>
                  <a:sym typeface="+mn-lt"/>
                </a:rPr>
                <a:t>PFS</a:t>
              </a:r>
              <a:r>
                <a:rPr lang="zh-CN" altLang="en-US" sz="1200" b="1" dirty="0">
                  <a:solidFill>
                    <a:prstClr val="black"/>
                  </a:solidFill>
                  <a:latin typeface="微软雅黑"/>
                  <a:ea typeface="微软雅黑"/>
                  <a:cs typeface="+mn-ea"/>
                  <a:sym typeface="+mn-lt"/>
                </a:rPr>
                <a:t>率</a:t>
              </a:r>
              <a:endParaRPr sz="1200" b="1" dirty="0">
                <a:solidFill>
                  <a:prstClr val="black"/>
                </a:solidFill>
                <a:latin typeface="微软雅黑"/>
                <a:ea typeface="微软雅黑"/>
                <a:cs typeface="+mn-ea"/>
                <a:sym typeface="+mn-lt"/>
              </a:endParaRPr>
            </a:p>
          </p:txBody>
        </p:sp>
        <p:sp>
          <p:nvSpPr>
            <p:cNvPr id="24" name="矩形 23"/>
            <p:cNvSpPr/>
            <p:nvPr/>
          </p:nvSpPr>
          <p:spPr>
            <a:xfrm>
              <a:off x="1335330" y="4571752"/>
              <a:ext cx="417102" cy="276999"/>
            </a:xfrm>
            <a:prstGeom prst="rect">
              <a:avLst/>
            </a:prstGeom>
          </p:spPr>
          <p:txBody>
            <a:bodyPr wrap="none" anchor="ctr">
              <a:spAutoFit/>
            </a:bodyPr>
            <a:lstStyle/>
            <a:p>
              <a:pPr algn="ctr" eaLnBrk="1" fontAlgn="auto" hangingPunct="1">
                <a:spcBef>
                  <a:spcPts val="0"/>
                </a:spcBef>
                <a:spcAft>
                  <a:spcPts val="0"/>
                </a:spcAft>
              </a:pPr>
              <a:r>
                <a:rPr lang="en-US" altLang="zh-CN" sz="1200" b="1" dirty="0">
                  <a:solidFill>
                    <a:srgbClr val="108638"/>
                  </a:solidFill>
                  <a:latin typeface="微软雅黑"/>
                  <a:ea typeface="微软雅黑"/>
                  <a:cs typeface="+mn-ea"/>
                  <a:sym typeface="+mn-lt"/>
                </a:rPr>
                <a:t>6.4</a:t>
              </a:r>
              <a:endParaRPr lang="zh-CN" altLang="en-US" sz="1200" b="1" dirty="0">
                <a:solidFill>
                  <a:srgbClr val="108638"/>
                </a:solidFill>
                <a:latin typeface="微软雅黑"/>
                <a:ea typeface="微软雅黑"/>
                <a:cs typeface="+mn-ea"/>
                <a:sym typeface="+mn-lt"/>
              </a:endParaRPr>
            </a:p>
          </p:txBody>
        </p:sp>
        <p:sp>
          <p:nvSpPr>
            <p:cNvPr id="25" name="矩形 24"/>
            <p:cNvSpPr/>
            <p:nvPr/>
          </p:nvSpPr>
          <p:spPr>
            <a:xfrm>
              <a:off x="1731692" y="4571752"/>
              <a:ext cx="429926" cy="276999"/>
            </a:xfrm>
            <a:prstGeom prst="rect">
              <a:avLst/>
            </a:prstGeom>
          </p:spPr>
          <p:txBody>
            <a:bodyPr wrap="none" anchor="ctr">
              <a:spAutoFit/>
            </a:bodyPr>
            <a:lstStyle/>
            <a:p>
              <a:pPr marL="12700" algn="ctr" eaLnBrk="1" fontAlgn="auto" hangingPunct="1">
                <a:spcBef>
                  <a:spcPts val="0"/>
                </a:spcBef>
                <a:spcAft>
                  <a:spcPts val="0"/>
                </a:spcAft>
              </a:pPr>
              <a:r>
                <a:rPr lang="en-US" altLang="zh-CN" sz="1200" b="1" dirty="0">
                  <a:solidFill>
                    <a:prstClr val="white">
                      <a:lumMod val="50000"/>
                    </a:prstClr>
                  </a:solidFill>
                  <a:latin typeface="微软雅黑"/>
                  <a:ea typeface="微软雅黑"/>
                  <a:cs typeface="+mn-ea"/>
                  <a:sym typeface="+mn-lt"/>
                </a:rPr>
                <a:t>6.7</a:t>
              </a:r>
              <a:endParaRPr lang="zh-CN" altLang="en-US" sz="1200" b="1" dirty="0">
                <a:solidFill>
                  <a:prstClr val="white">
                    <a:lumMod val="50000"/>
                  </a:prstClr>
                </a:solidFill>
                <a:latin typeface="微软雅黑"/>
                <a:ea typeface="微软雅黑"/>
                <a:cs typeface="+mn-ea"/>
                <a:sym typeface="+mn-lt"/>
              </a:endParaRPr>
            </a:p>
          </p:txBody>
        </p:sp>
        <p:sp>
          <p:nvSpPr>
            <p:cNvPr id="198" name="矩形 197"/>
            <p:cNvSpPr/>
            <p:nvPr/>
          </p:nvSpPr>
          <p:spPr>
            <a:xfrm>
              <a:off x="2480257" y="5121551"/>
              <a:ext cx="325344" cy="276999"/>
            </a:xfrm>
            <a:prstGeom prst="rect">
              <a:avLst/>
            </a:prstGeom>
          </p:spPr>
          <p:txBody>
            <a:bodyPr wrap="none">
              <a:spAutoFit/>
            </a:bodyPr>
            <a:lstStyle/>
            <a:p>
              <a:pPr eaLnBrk="1" fontAlgn="auto" hangingPunct="1">
                <a:spcBef>
                  <a:spcPts val="0"/>
                </a:spcBef>
                <a:spcAft>
                  <a:spcPts val="0"/>
                </a:spcAft>
              </a:pPr>
              <a:r>
                <a:rPr lang="zh-CN" altLang="en-US" sz="1200" b="1" dirty="0">
                  <a:solidFill>
                    <a:prstClr val="black"/>
                  </a:solidFill>
                  <a:latin typeface="微软雅黑"/>
                  <a:ea typeface="微软雅黑"/>
                  <a:cs typeface="+mn-ea"/>
                  <a:sym typeface="+mn-lt"/>
                </a:rPr>
                <a:t>月</a:t>
              </a:r>
              <a:endParaRPr lang="en-US" altLang="zh-CN" sz="1200" b="1" dirty="0">
                <a:solidFill>
                  <a:prstClr val="black"/>
                </a:solidFill>
                <a:latin typeface="微软雅黑"/>
                <a:ea typeface="微软雅黑"/>
                <a:cs typeface="+mn-ea"/>
                <a:sym typeface="+mn-lt"/>
              </a:endParaRPr>
            </a:p>
          </p:txBody>
        </p:sp>
        <p:sp>
          <p:nvSpPr>
            <p:cNvPr id="34" name="object 96"/>
            <p:cNvSpPr txBox="1"/>
            <p:nvPr/>
          </p:nvSpPr>
          <p:spPr>
            <a:xfrm>
              <a:off x="3211370" y="2476081"/>
              <a:ext cx="1194892" cy="138499"/>
            </a:xfrm>
            <a:prstGeom prst="rect">
              <a:avLst/>
            </a:prstGeom>
          </p:spPr>
          <p:txBody>
            <a:bodyPr vert="horz" wrap="square" lIns="0" tIns="0" rIns="0" bIns="0" rtlCol="0">
              <a:spAutoFit/>
            </a:bodyPr>
            <a:lstStyle/>
            <a:p>
              <a:pPr eaLnBrk="1" fontAlgn="auto" hangingPunct="1">
                <a:spcBef>
                  <a:spcPts val="0"/>
                </a:spcBef>
                <a:spcAft>
                  <a:spcPts val="0"/>
                </a:spcAft>
              </a:pPr>
              <a:r>
                <a:rPr lang="zh-CN" altLang="en-US" sz="900" dirty="0">
                  <a:solidFill>
                    <a:prstClr val="black"/>
                  </a:solidFill>
                  <a:latin typeface="微软雅黑"/>
                  <a:ea typeface="微软雅黑"/>
                  <a:cs typeface="+mn-ea"/>
                  <a:sym typeface="+mn-lt"/>
                </a:rPr>
                <a:t>前</a:t>
              </a:r>
              <a:r>
                <a:rPr lang="en-US" altLang="zh-CN" sz="900" dirty="0">
                  <a:solidFill>
                    <a:prstClr val="black"/>
                  </a:solidFill>
                  <a:latin typeface="微软雅黑"/>
                  <a:ea typeface="微软雅黑"/>
                  <a:cs typeface="+mn-ea"/>
                  <a:sym typeface="+mn-lt"/>
                </a:rPr>
                <a:t>4</a:t>
              </a:r>
              <a:r>
                <a:rPr lang="zh-CN" altLang="en-US" sz="900" dirty="0">
                  <a:solidFill>
                    <a:prstClr val="black"/>
                  </a:solidFill>
                  <a:latin typeface="微软雅黑"/>
                  <a:ea typeface="微软雅黑"/>
                  <a:cs typeface="+mn-ea"/>
                  <a:sym typeface="+mn-lt"/>
                </a:rPr>
                <a:t>个周期均未减量</a:t>
              </a:r>
              <a:r>
                <a:rPr lang="en-US" altLang="zh-CN" sz="900" baseline="30000" dirty="0">
                  <a:solidFill>
                    <a:prstClr val="black"/>
                  </a:solidFill>
                  <a:latin typeface="微软雅黑"/>
                  <a:ea typeface="微软雅黑"/>
                  <a:cs typeface="+mn-ea"/>
                  <a:sym typeface="+mn-lt"/>
                </a:rPr>
                <a:t>b</a:t>
              </a:r>
              <a:endParaRPr lang="zh-CN" altLang="en-US" sz="900" baseline="30000" dirty="0">
                <a:solidFill>
                  <a:prstClr val="black"/>
                </a:solidFill>
                <a:latin typeface="微软雅黑"/>
                <a:ea typeface="微软雅黑"/>
                <a:cs typeface="+mn-ea"/>
                <a:sym typeface="+mn-lt"/>
              </a:endParaRPr>
            </a:p>
          </p:txBody>
        </p:sp>
        <p:sp>
          <p:nvSpPr>
            <p:cNvPr id="37" name="object 99"/>
            <p:cNvSpPr txBox="1"/>
            <p:nvPr/>
          </p:nvSpPr>
          <p:spPr>
            <a:xfrm>
              <a:off x="3208412" y="2265250"/>
              <a:ext cx="1429747" cy="138499"/>
            </a:xfrm>
            <a:prstGeom prst="rect">
              <a:avLst/>
            </a:prstGeom>
          </p:spPr>
          <p:txBody>
            <a:bodyPr vert="horz" wrap="square" lIns="0" tIns="0" rIns="0" bIns="0" rtlCol="0">
              <a:spAutoFit/>
            </a:bodyPr>
            <a:lstStyle/>
            <a:p>
              <a:pPr marL="12700" eaLnBrk="1" fontAlgn="auto" hangingPunct="1">
                <a:spcBef>
                  <a:spcPts val="0"/>
                </a:spcBef>
                <a:spcAft>
                  <a:spcPts val="0"/>
                </a:spcAft>
                <a:tabLst>
                  <a:tab pos="179070" algn="l"/>
                </a:tabLst>
              </a:pPr>
              <a:r>
                <a:rPr lang="zh-CN" altLang="en-US" sz="900" dirty="0">
                  <a:solidFill>
                    <a:prstClr val="black"/>
                  </a:solidFill>
                  <a:latin typeface="微软雅黑"/>
                  <a:ea typeface="微软雅黑"/>
                  <a:cs typeface="+mn-ea"/>
                  <a:sym typeface="+mn-lt"/>
                </a:rPr>
                <a:t>第</a:t>
              </a:r>
              <a:r>
                <a:rPr lang="en-US" altLang="zh-CN" sz="900" dirty="0">
                  <a:solidFill>
                    <a:prstClr val="black"/>
                  </a:solidFill>
                  <a:latin typeface="微软雅黑"/>
                  <a:ea typeface="微软雅黑"/>
                  <a:cs typeface="+mn-ea"/>
                  <a:sym typeface="+mn-lt"/>
                </a:rPr>
                <a:t>2</a:t>
              </a:r>
              <a:r>
                <a:rPr lang="zh-CN" altLang="en-US" sz="900" dirty="0">
                  <a:solidFill>
                    <a:prstClr val="black"/>
                  </a:solidFill>
                  <a:latin typeface="微软雅黑"/>
                  <a:ea typeface="微软雅黑"/>
                  <a:cs typeface="+mn-ea"/>
                  <a:sym typeface="+mn-lt"/>
                </a:rPr>
                <a:t>周期开始减量</a:t>
              </a:r>
              <a:r>
                <a:rPr lang="en-US" altLang="zh-CN" sz="900" baseline="30000" dirty="0">
                  <a:solidFill>
                    <a:prstClr val="black"/>
                  </a:solidFill>
                  <a:latin typeface="微软雅黑"/>
                  <a:ea typeface="微软雅黑"/>
                  <a:cs typeface="+mn-ea"/>
                  <a:sym typeface="+mn-lt"/>
                </a:rPr>
                <a:t>a</a:t>
              </a:r>
              <a:endParaRPr sz="900" baseline="30000" dirty="0">
                <a:solidFill>
                  <a:prstClr val="black"/>
                </a:solidFill>
                <a:latin typeface="微软雅黑"/>
                <a:ea typeface="微软雅黑"/>
                <a:cs typeface="+mn-ea"/>
                <a:sym typeface="+mn-lt"/>
              </a:endParaRPr>
            </a:p>
          </p:txBody>
        </p:sp>
        <p:sp>
          <p:nvSpPr>
            <p:cNvPr id="85" name="矩形 84"/>
            <p:cNvSpPr/>
            <p:nvPr/>
          </p:nvSpPr>
          <p:spPr>
            <a:xfrm>
              <a:off x="5486886" y="1465496"/>
              <a:ext cx="3005951" cy="323165"/>
            </a:xfrm>
            <a:prstGeom prst="rect">
              <a:avLst/>
            </a:prstGeom>
          </p:spPr>
          <p:txBody>
            <a:bodyPr wrap="none">
              <a:spAutoFit/>
            </a:bodyPr>
            <a:lstStyle/>
            <a:p>
              <a:pPr algn="ctr"/>
              <a:r>
                <a:rPr lang="zh-CN" altLang="en-US" sz="1500" b="1" dirty="0">
                  <a:solidFill>
                    <a:prstClr val="black"/>
                  </a:solidFill>
                  <a:latin typeface="微软雅黑"/>
                  <a:ea typeface="微软雅黑"/>
                  <a:cs typeface="+mn-ea"/>
                  <a:sym typeface="+mn-lt"/>
                </a:rPr>
                <a:t>减量 </a:t>
              </a:r>
              <a:r>
                <a:rPr lang="en-US" altLang="zh-CN" sz="1500" b="1" dirty="0">
                  <a:solidFill>
                    <a:prstClr val="black"/>
                  </a:solidFill>
                  <a:latin typeface="微软雅黑"/>
                  <a:ea typeface="微软雅黑"/>
                  <a:cs typeface="+mn-ea"/>
                  <a:sym typeface="+mn-lt"/>
                </a:rPr>
                <a:t>vs. </a:t>
              </a:r>
              <a:r>
                <a:rPr lang="zh-CN" altLang="en-US" sz="1500" b="1" dirty="0">
                  <a:solidFill>
                    <a:prstClr val="black"/>
                  </a:solidFill>
                  <a:latin typeface="微软雅黑"/>
                  <a:ea typeface="微软雅黑"/>
                  <a:cs typeface="+mn-ea"/>
                  <a:sym typeface="+mn-lt"/>
                </a:rPr>
                <a:t>未减量的患者， </a:t>
              </a:r>
              <a:r>
                <a:rPr lang="en-US" altLang="zh-CN" sz="1500" b="1" dirty="0">
                  <a:solidFill>
                    <a:prstClr val="black"/>
                  </a:solidFill>
                  <a:latin typeface="微软雅黑"/>
                  <a:ea typeface="微软雅黑"/>
                  <a:cs typeface="+mn-ea"/>
                  <a:sym typeface="+mn-lt"/>
                </a:rPr>
                <a:t>OS</a:t>
              </a:r>
              <a:r>
                <a:rPr lang="zh-CN" altLang="en-US" sz="1500" b="1" dirty="0">
                  <a:solidFill>
                    <a:prstClr val="black"/>
                  </a:solidFill>
                  <a:latin typeface="微软雅黑"/>
                  <a:ea typeface="微软雅黑"/>
                  <a:cs typeface="+mn-ea"/>
                  <a:sym typeface="+mn-lt"/>
                </a:rPr>
                <a:t>相当</a:t>
              </a:r>
            </a:p>
          </p:txBody>
        </p:sp>
        <p:sp>
          <p:nvSpPr>
            <p:cNvPr id="40" name="object 102"/>
            <p:cNvSpPr txBox="1"/>
            <p:nvPr/>
          </p:nvSpPr>
          <p:spPr>
            <a:xfrm>
              <a:off x="4837982" y="2640883"/>
              <a:ext cx="259820" cy="1587997"/>
            </a:xfrm>
            <a:prstGeom prst="rect">
              <a:avLst/>
            </a:prstGeom>
          </p:spPr>
          <p:txBody>
            <a:bodyPr vert="vert270" wrap="square" lIns="0" tIns="5715" rIns="0" bIns="0" rtlCol="0" anchor="ctr">
              <a:spAutoFit/>
            </a:bodyPr>
            <a:lstStyle/>
            <a:p>
              <a:pPr marL="12700" algn="ctr" eaLnBrk="1" fontAlgn="auto" hangingPunct="1">
                <a:spcBef>
                  <a:spcPts val="45"/>
                </a:spcBef>
                <a:spcAft>
                  <a:spcPts val="0"/>
                </a:spcAft>
              </a:pPr>
              <a:r>
                <a:rPr lang="en-US" altLang="zh-CN" sz="1200" b="1" dirty="0">
                  <a:solidFill>
                    <a:prstClr val="black"/>
                  </a:solidFill>
                  <a:latin typeface="微软雅黑"/>
                  <a:ea typeface="微软雅黑"/>
                  <a:cs typeface="+mn-ea"/>
                  <a:sym typeface="+mn-lt"/>
                </a:rPr>
                <a:t>OS</a:t>
              </a:r>
              <a:r>
                <a:rPr lang="zh-CN" altLang="en-US" sz="1200" b="1" dirty="0">
                  <a:solidFill>
                    <a:prstClr val="black"/>
                  </a:solidFill>
                  <a:latin typeface="微软雅黑"/>
                  <a:ea typeface="微软雅黑"/>
                  <a:cs typeface="+mn-ea"/>
                  <a:sym typeface="+mn-lt"/>
                </a:rPr>
                <a:t>率</a:t>
              </a:r>
              <a:endParaRPr sz="1200" b="1" dirty="0">
                <a:solidFill>
                  <a:prstClr val="black"/>
                </a:solidFill>
                <a:latin typeface="微软雅黑"/>
                <a:ea typeface="微软雅黑"/>
                <a:cs typeface="+mn-ea"/>
                <a:sym typeface="+mn-lt"/>
              </a:endParaRPr>
            </a:p>
          </p:txBody>
        </p:sp>
        <p:grpSp>
          <p:nvGrpSpPr>
            <p:cNvPr id="235" name="组合 234"/>
            <p:cNvGrpSpPr/>
            <p:nvPr/>
          </p:nvGrpSpPr>
          <p:grpSpPr>
            <a:xfrm>
              <a:off x="5030728" y="1920103"/>
              <a:ext cx="280732" cy="3056915"/>
              <a:chOff x="5030728" y="2240686"/>
              <a:chExt cx="280732" cy="3056915"/>
            </a:xfrm>
          </p:grpSpPr>
          <p:sp>
            <p:nvSpPr>
              <p:cNvPr id="96" name="object 79"/>
              <p:cNvSpPr txBox="1"/>
              <p:nvPr/>
            </p:nvSpPr>
            <p:spPr>
              <a:xfrm>
                <a:off x="5030728" y="2240686"/>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1.0</a:t>
                </a:r>
              </a:p>
            </p:txBody>
          </p:sp>
          <p:sp>
            <p:nvSpPr>
              <p:cNvPr id="101" name="object 80"/>
              <p:cNvSpPr txBox="1"/>
              <p:nvPr/>
            </p:nvSpPr>
            <p:spPr>
              <a:xfrm>
                <a:off x="5030728" y="2799299"/>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0.8</a:t>
                </a:r>
              </a:p>
            </p:txBody>
          </p:sp>
          <p:sp>
            <p:nvSpPr>
              <p:cNvPr id="102" name="object 81"/>
              <p:cNvSpPr txBox="1"/>
              <p:nvPr/>
            </p:nvSpPr>
            <p:spPr>
              <a:xfrm>
                <a:off x="5030728" y="3357912"/>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0.6</a:t>
                </a:r>
                <a:endParaRPr sz="1000">
                  <a:solidFill>
                    <a:prstClr val="black"/>
                  </a:solidFill>
                  <a:latin typeface="微软雅黑"/>
                  <a:ea typeface="微软雅黑"/>
                  <a:cs typeface="+mn-ea"/>
                  <a:sym typeface="+mn-lt"/>
                </a:endParaRPr>
              </a:p>
            </p:txBody>
          </p:sp>
          <p:sp>
            <p:nvSpPr>
              <p:cNvPr id="103" name="object 82"/>
              <p:cNvSpPr txBox="1"/>
              <p:nvPr/>
            </p:nvSpPr>
            <p:spPr>
              <a:xfrm>
                <a:off x="5030728" y="3916525"/>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0.4</a:t>
                </a:r>
                <a:endParaRPr sz="1000">
                  <a:solidFill>
                    <a:prstClr val="black"/>
                  </a:solidFill>
                  <a:latin typeface="微软雅黑"/>
                  <a:ea typeface="微软雅黑"/>
                  <a:cs typeface="+mn-ea"/>
                  <a:sym typeface="+mn-lt"/>
                </a:endParaRPr>
              </a:p>
            </p:txBody>
          </p:sp>
          <p:sp>
            <p:nvSpPr>
              <p:cNvPr id="104" name="object 83"/>
              <p:cNvSpPr txBox="1"/>
              <p:nvPr/>
            </p:nvSpPr>
            <p:spPr>
              <a:xfrm>
                <a:off x="5030728" y="4475138"/>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0.2</a:t>
                </a:r>
              </a:p>
            </p:txBody>
          </p:sp>
          <p:sp>
            <p:nvSpPr>
              <p:cNvPr id="105" name="object 84"/>
              <p:cNvSpPr txBox="1"/>
              <p:nvPr/>
            </p:nvSpPr>
            <p:spPr>
              <a:xfrm>
                <a:off x="5030728" y="5033752"/>
                <a:ext cx="280732" cy="263849"/>
              </a:xfrm>
              <a:prstGeom prst="rect">
                <a:avLst/>
              </a:prstGeom>
            </p:spPr>
            <p:txBody>
              <a:bodyPr vert="horz" wrap="square" lIns="0" tIns="0" rIns="0" bIns="0" rtlCol="0" anchor="ctr">
                <a:noAutofit/>
              </a:bodyPr>
              <a:lstStyle/>
              <a:p>
                <a:pPr marL="12700" algn="r" eaLnBrk="1" fontAlgn="auto" hangingPunct="1">
                  <a:spcBef>
                    <a:spcPts val="0"/>
                  </a:spcBef>
                  <a:spcAft>
                    <a:spcPts val="0"/>
                  </a:spcAft>
                </a:pPr>
                <a:r>
                  <a:rPr sz="1000" dirty="0">
                    <a:solidFill>
                      <a:prstClr val="black"/>
                    </a:solidFill>
                    <a:latin typeface="微软雅黑"/>
                    <a:ea typeface="微软雅黑"/>
                    <a:cs typeface="+mn-ea"/>
                    <a:sym typeface="+mn-lt"/>
                  </a:rPr>
                  <a:t>0.0</a:t>
                </a:r>
              </a:p>
            </p:txBody>
          </p:sp>
        </p:grpSp>
        <p:grpSp>
          <p:nvGrpSpPr>
            <p:cNvPr id="230" name="组合 229"/>
            <p:cNvGrpSpPr/>
            <p:nvPr/>
          </p:nvGrpSpPr>
          <p:grpSpPr>
            <a:xfrm>
              <a:off x="5270800" y="4893980"/>
              <a:ext cx="3416176" cy="216000"/>
              <a:chOff x="5209569" y="5220209"/>
              <a:chExt cx="3554886" cy="216000"/>
            </a:xfrm>
          </p:grpSpPr>
          <p:sp>
            <p:nvSpPr>
              <p:cNvPr id="107" name="object 88"/>
              <p:cNvSpPr txBox="1"/>
              <p:nvPr/>
            </p:nvSpPr>
            <p:spPr>
              <a:xfrm>
                <a:off x="7195623" y="5220209"/>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sz="1000" spc="-5" dirty="0">
                    <a:solidFill>
                      <a:prstClr val="black"/>
                    </a:solidFill>
                    <a:latin typeface="微软雅黑"/>
                    <a:ea typeface="微软雅黑"/>
                    <a:cs typeface="+mn-ea"/>
                    <a:sym typeface="+mn-lt"/>
                  </a:rPr>
                  <a:t>30</a:t>
                </a:r>
                <a:endParaRPr sz="1000" dirty="0">
                  <a:solidFill>
                    <a:prstClr val="black"/>
                  </a:solidFill>
                  <a:latin typeface="微软雅黑"/>
                  <a:ea typeface="微软雅黑"/>
                  <a:cs typeface="+mn-ea"/>
                  <a:sym typeface="+mn-lt"/>
                </a:endParaRPr>
              </a:p>
            </p:txBody>
          </p:sp>
          <p:sp>
            <p:nvSpPr>
              <p:cNvPr id="108" name="矩形 107"/>
              <p:cNvSpPr/>
              <p:nvPr/>
            </p:nvSpPr>
            <p:spPr>
              <a:xfrm>
                <a:off x="5540578"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5</a:t>
                </a:r>
                <a:endParaRPr lang="zh-CN" altLang="en-US" sz="1000" dirty="0">
                  <a:solidFill>
                    <a:prstClr val="black"/>
                  </a:solidFill>
                  <a:latin typeface="微软雅黑"/>
                  <a:ea typeface="微软雅黑"/>
                  <a:cs typeface="+mn-ea"/>
                  <a:sym typeface="+mn-lt"/>
                </a:endParaRPr>
              </a:p>
            </p:txBody>
          </p:sp>
          <p:sp>
            <p:nvSpPr>
              <p:cNvPr id="109" name="矩形 108"/>
              <p:cNvSpPr/>
              <p:nvPr/>
            </p:nvSpPr>
            <p:spPr>
              <a:xfrm>
                <a:off x="6533605"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20</a:t>
                </a:r>
                <a:endParaRPr lang="zh-CN" altLang="en-US" sz="1000" dirty="0">
                  <a:solidFill>
                    <a:prstClr val="black"/>
                  </a:solidFill>
                  <a:latin typeface="微软雅黑"/>
                  <a:ea typeface="微软雅黑"/>
                  <a:cs typeface="+mn-ea"/>
                  <a:sym typeface="+mn-lt"/>
                </a:endParaRPr>
              </a:p>
            </p:txBody>
          </p:sp>
          <p:sp>
            <p:nvSpPr>
              <p:cNvPr id="110" name="矩形 109"/>
              <p:cNvSpPr/>
              <p:nvPr/>
            </p:nvSpPr>
            <p:spPr>
              <a:xfrm>
                <a:off x="5871587"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10</a:t>
                </a:r>
                <a:endParaRPr lang="zh-CN" altLang="en-US" sz="1000" dirty="0">
                  <a:solidFill>
                    <a:prstClr val="black"/>
                  </a:solidFill>
                  <a:latin typeface="微软雅黑"/>
                  <a:ea typeface="微软雅黑"/>
                  <a:cs typeface="+mn-ea"/>
                  <a:sym typeface="+mn-lt"/>
                </a:endParaRPr>
              </a:p>
            </p:txBody>
          </p:sp>
          <p:sp>
            <p:nvSpPr>
              <p:cNvPr id="111" name="矩形 110"/>
              <p:cNvSpPr/>
              <p:nvPr/>
            </p:nvSpPr>
            <p:spPr>
              <a:xfrm>
                <a:off x="6202596"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15</a:t>
                </a:r>
                <a:endParaRPr lang="zh-CN" altLang="en-US" sz="1000" dirty="0">
                  <a:solidFill>
                    <a:prstClr val="black"/>
                  </a:solidFill>
                  <a:latin typeface="微软雅黑"/>
                  <a:ea typeface="微软雅黑"/>
                  <a:cs typeface="+mn-ea"/>
                  <a:sym typeface="+mn-lt"/>
                </a:endParaRPr>
              </a:p>
            </p:txBody>
          </p:sp>
          <p:sp>
            <p:nvSpPr>
              <p:cNvPr id="112" name="矩形 111"/>
              <p:cNvSpPr/>
              <p:nvPr/>
            </p:nvSpPr>
            <p:spPr>
              <a:xfrm>
                <a:off x="6864614"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25</a:t>
                </a:r>
                <a:endParaRPr lang="zh-CN" altLang="en-US" sz="1000" dirty="0">
                  <a:solidFill>
                    <a:prstClr val="black"/>
                  </a:solidFill>
                  <a:latin typeface="微软雅黑"/>
                  <a:ea typeface="微软雅黑"/>
                  <a:cs typeface="+mn-ea"/>
                  <a:sym typeface="+mn-lt"/>
                </a:endParaRPr>
              </a:p>
            </p:txBody>
          </p:sp>
          <p:sp>
            <p:nvSpPr>
              <p:cNvPr id="113" name="矩形 112"/>
              <p:cNvSpPr/>
              <p:nvPr/>
            </p:nvSpPr>
            <p:spPr>
              <a:xfrm>
                <a:off x="5209569" y="5220209"/>
                <a:ext cx="244800" cy="216000"/>
              </a:xfrm>
              <a:prstGeom prst="rect">
                <a:avLst/>
              </a:prstGeom>
            </p:spPr>
            <p:txBody>
              <a:bodyPr wrap="none" anchor="ctr">
                <a:noAutofit/>
              </a:bodyPr>
              <a:lstStyle/>
              <a:p>
                <a:pPr algn="ctr" eaLnBrk="1" fontAlgn="auto" hangingPunct="1">
                  <a:spcBef>
                    <a:spcPts val="0"/>
                  </a:spcBef>
                  <a:spcAft>
                    <a:spcPts val="0"/>
                  </a:spcAft>
                </a:pPr>
                <a:r>
                  <a:rPr lang="en-US" altLang="zh-CN" sz="1000" spc="-5" dirty="0">
                    <a:solidFill>
                      <a:prstClr val="black"/>
                    </a:solidFill>
                    <a:latin typeface="微软雅黑"/>
                    <a:ea typeface="微软雅黑"/>
                    <a:cs typeface="+mn-ea"/>
                    <a:sym typeface="+mn-lt"/>
                  </a:rPr>
                  <a:t>0</a:t>
                </a:r>
                <a:endParaRPr lang="zh-CN" altLang="en-US" sz="1000" dirty="0">
                  <a:solidFill>
                    <a:prstClr val="black"/>
                  </a:solidFill>
                  <a:latin typeface="微软雅黑"/>
                  <a:ea typeface="微软雅黑"/>
                  <a:cs typeface="+mn-ea"/>
                  <a:sym typeface="+mn-lt"/>
                </a:endParaRPr>
              </a:p>
            </p:txBody>
          </p:sp>
          <p:sp>
            <p:nvSpPr>
              <p:cNvPr id="114" name="object 88"/>
              <p:cNvSpPr txBox="1"/>
              <p:nvPr/>
            </p:nvSpPr>
            <p:spPr>
              <a:xfrm>
                <a:off x="7526632" y="5220209"/>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sz="1000" spc="-5" dirty="0">
                    <a:solidFill>
                      <a:prstClr val="black"/>
                    </a:solidFill>
                    <a:latin typeface="微软雅黑"/>
                    <a:ea typeface="微软雅黑"/>
                    <a:cs typeface="+mn-ea"/>
                    <a:sym typeface="+mn-lt"/>
                  </a:rPr>
                  <a:t>3</a:t>
                </a:r>
                <a:r>
                  <a:rPr lang="en-US" sz="1000" spc="-5" dirty="0">
                    <a:solidFill>
                      <a:prstClr val="black"/>
                    </a:solidFill>
                    <a:latin typeface="微软雅黑"/>
                    <a:ea typeface="微软雅黑"/>
                    <a:cs typeface="+mn-ea"/>
                    <a:sym typeface="+mn-lt"/>
                  </a:rPr>
                  <a:t>5</a:t>
                </a:r>
                <a:endParaRPr sz="1000" dirty="0">
                  <a:solidFill>
                    <a:prstClr val="black"/>
                  </a:solidFill>
                  <a:latin typeface="微软雅黑"/>
                  <a:ea typeface="微软雅黑"/>
                  <a:cs typeface="+mn-ea"/>
                  <a:sym typeface="+mn-lt"/>
                </a:endParaRPr>
              </a:p>
            </p:txBody>
          </p:sp>
          <p:sp>
            <p:nvSpPr>
              <p:cNvPr id="115" name="object 88"/>
              <p:cNvSpPr txBox="1"/>
              <p:nvPr/>
            </p:nvSpPr>
            <p:spPr>
              <a:xfrm>
                <a:off x="7857641" y="5220209"/>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lang="en-US" sz="1000" spc="-5" dirty="0">
                    <a:solidFill>
                      <a:prstClr val="black"/>
                    </a:solidFill>
                    <a:latin typeface="微软雅黑"/>
                    <a:ea typeface="微软雅黑"/>
                    <a:cs typeface="+mn-ea"/>
                    <a:sym typeface="+mn-lt"/>
                  </a:rPr>
                  <a:t>4</a:t>
                </a:r>
                <a:r>
                  <a:rPr sz="1000" spc="-5" dirty="0">
                    <a:solidFill>
                      <a:prstClr val="black"/>
                    </a:solidFill>
                    <a:latin typeface="微软雅黑"/>
                    <a:ea typeface="微软雅黑"/>
                    <a:cs typeface="+mn-ea"/>
                    <a:sym typeface="+mn-lt"/>
                  </a:rPr>
                  <a:t>0</a:t>
                </a:r>
                <a:endParaRPr sz="1000" dirty="0">
                  <a:solidFill>
                    <a:prstClr val="black"/>
                  </a:solidFill>
                  <a:latin typeface="微软雅黑"/>
                  <a:ea typeface="微软雅黑"/>
                  <a:cs typeface="+mn-ea"/>
                  <a:sym typeface="+mn-lt"/>
                </a:endParaRPr>
              </a:p>
            </p:txBody>
          </p:sp>
          <p:sp>
            <p:nvSpPr>
              <p:cNvPr id="116" name="object 88"/>
              <p:cNvSpPr txBox="1"/>
              <p:nvPr/>
            </p:nvSpPr>
            <p:spPr>
              <a:xfrm>
                <a:off x="8188650" y="5220209"/>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lang="en-US" sz="1000" spc="-5" dirty="0">
                    <a:solidFill>
                      <a:prstClr val="black"/>
                    </a:solidFill>
                    <a:latin typeface="微软雅黑"/>
                    <a:ea typeface="微软雅黑"/>
                    <a:cs typeface="+mn-ea"/>
                    <a:sym typeface="+mn-lt"/>
                  </a:rPr>
                  <a:t>45</a:t>
                </a:r>
                <a:endParaRPr sz="1000" dirty="0">
                  <a:solidFill>
                    <a:prstClr val="black"/>
                  </a:solidFill>
                  <a:latin typeface="微软雅黑"/>
                  <a:ea typeface="微软雅黑"/>
                  <a:cs typeface="+mn-ea"/>
                  <a:sym typeface="+mn-lt"/>
                </a:endParaRPr>
              </a:p>
            </p:txBody>
          </p:sp>
          <p:sp>
            <p:nvSpPr>
              <p:cNvPr id="117" name="object 88"/>
              <p:cNvSpPr txBox="1"/>
              <p:nvPr/>
            </p:nvSpPr>
            <p:spPr>
              <a:xfrm>
                <a:off x="8519655" y="5220209"/>
                <a:ext cx="244800" cy="216000"/>
              </a:xfrm>
              <a:prstGeom prst="rect">
                <a:avLst/>
              </a:prstGeom>
            </p:spPr>
            <p:txBody>
              <a:bodyPr vert="horz" wrap="square" lIns="0" tIns="0" rIns="0" bIns="0" rtlCol="0" anchor="ctr">
                <a:noAutofit/>
              </a:bodyPr>
              <a:lstStyle/>
              <a:p>
                <a:pPr marL="12700" algn="ctr" eaLnBrk="1" fontAlgn="auto" hangingPunct="1">
                  <a:spcBef>
                    <a:spcPts val="0"/>
                  </a:spcBef>
                  <a:spcAft>
                    <a:spcPts val="0"/>
                  </a:spcAft>
                </a:pPr>
                <a:r>
                  <a:rPr lang="en-US" sz="1000" spc="-5" dirty="0">
                    <a:solidFill>
                      <a:prstClr val="black"/>
                    </a:solidFill>
                    <a:latin typeface="微软雅黑"/>
                    <a:ea typeface="微软雅黑"/>
                    <a:cs typeface="+mn-ea"/>
                    <a:sym typeface="+mn-lt"/>
                  </a:rPr>
                  <a:t>50</a:t>
                </a:r>
                <a:endParaRPr sz="1000" dirty="0">
                  <a:solidFill>
                    <a:prstClr val="black"/>
                  </a:solidFill>
                  <a:latin typeface="微软雅黑"/>
                  <a:ea typeface="微软雅黑"/>
                  <a:cs typeface="+mn-ea"/>
                  <a:sym typeface="+mn-lt"/>
                </a:endParaRPr>
              </a:p>
            </p:txBody>
          </p:sp>
        </p:grpSp>
        <p:sp>
          <p:nvSpPr>
            <p:cNvPr id="119" name="矩形 118"/>
            <p:cNvSpPr/>
            <p:nvPr/>
          </p:nvSpPr>
          <p:spPr>
            <a:xfrm>
              <a:off x="5768452" y="4571752"/>
              <a:ext cx="511680" cy="276999"/>
            </a:xfrm>
            <a:prstGeom prst="rect">
              <a:avLst/>
            </a:prstGeom>
          </p:spPr>
          <p:txBody>
            <a:bodyPr wrap="none" anchor="ctr">
              <a:spAutoFit/>
            </a:bodyPr>
            <a:lstStyle/>
            <a:p>
              <a:pPr algn="ctr" eaLnBrk="1" fontAlgn="auto" hangingPunct="1">
                <a:spcBef>
                  <a:spcPts val="0"/>
                </a:spcBef>
                <a:spcAft>
                  <a:spcPts val="0"/>
                </a:spcAft>
              </a:pPr>
              <a:r>
                <a:rPr lang="en-US" altLang="zh-CN" sz="1200" b="1" dirty="0">
                  <a:solidFill>
                    <a:prstClr val="white">
                      <a:lumMod val="50000"/>
                    </a:prstClr>
                  </a:solidFill>
                  <a:latin typeface="微软雅黑"/>
                  <a:ea typeface="微软雅黑"/>
                  <a:cs typeface="+mn-ea"/>
                  <a:sym typeface="+mn-lt"/>
                </a:rPr>
                <a:t>13.1</a:t>
              </a:r>
              <a:endParaRPr lang="zh-CN" altLang="en-US" sz="1200" b="1" dirty="0">
                <a:solidFill>
                  <a:prstClr val="white">
                    <a:lumMod val="50000"/>
                  </a:prstClr>
                </a:solidFill>
                <a:latin typeface="微软雅黑"/>
                <a:ea typeface="微软雅黑"/>
                <a:cs typeface="+mn-ea"/>
                <a:sym typeface="+mn-lt"/>
              </a:endParaRPr>
            </a:p>
          </p:txBody>
        </p:sp>
        <p:sp>
          <p:nvSpPr>
            <p:cNvPr id="120" name="矩形 119"/>
            <p:cNvSpPr/>
            <p:nvPr/>
          </p:nvSpPr>
          <p:spPr>
            <a:xfrm>
              <a:off x="6412824" y="4571752"/>
              <a:ext cx="511680" cy="276999"/>
            </a:xfrm>
            <a:prstGeom prst="rect">
              <a:avLst/>
            </a:prstGeom>
          </p:spPr>
          <p:txBody>
            <a:bodyPr wrap="none" anchor="ctr">
              <a:spAutoFit/>
            </a:bodyPr>
            <a:lstStyle/>
            <a:p>
              <a:pPr algn="ctr" eaLnBrk="1" fontAlgn="auto" hangingPunct="1">
                <a:spcBef>
                  <a:spcPts val="0"/>
                </a:spcBef>
                <a:spcAft>
                  <a:spcPts val="0"/>
                </a:spcAft>
              </a:pPr>
              <a:r>
                <a:rPr lang="en-US" altLang="zh-CN" sz="1200" b="1" dirty="0">
                  <a:solidFill>
                    <a:srgbClr val="108638"/>
                  </a:solidFill>
                  <a:latin typeface="微软雅黑"/>
                  <a:ea typeface="微软雅黑"/>
                  <a:cs typeface="+mn-ea"/>
                  <a:sym typeface="+mn-lt"/>
                </a:rPr>
                <a:t>16.3</a:t>
              </a:r>
              <a:endParaRPr lang="zh-CN" altLang="en-US" sz="1200" b="1" dirty="0">
                <a:solidFill>
                  <a:srgbClr val="108638"/>
                </a:solidFill>
                <a:latin typeface="微软雅黑"/>
                <a:ea typeface="微软雅黑"/>
                <a:cs typeface="+mn-ea"/>
                <a:sym typeface="+mn-lt"/>
              </a:endParaRPr>
            </a:p>
          </p:txBody>
        </p:sp>
        <p:sp>
          <p:nvSpPr>
            <p:cNvPr id="197" name="矩形 196"/>
            <p:cNvSpPr/>
            <p:nvPr/>
          </p:nvSpPr>
          <p:spPr>
            <a:xfrm>
              <a:off x="6816216" y="5128235"/>
              <a:ext cx="325344" cy="276999"/>
            </a:xfrm>
            <a:prstGeom prst="rect">
              <a:avLst/>
            </a:prstGeom>
          </p:spPr>
          <p:txBody>
            <a:bodyPr wrap="none">
              <a:spAutoFit/>
            </a:bodyPr>
            <a:lstStyle/>
            <a:p>
              <a:pPr eaLnBrk="1" fontAlgn="auto" hangingPunct="1">
                <a:spcBef>
                  <a:spcPts val="0"/>
                </a:spcBef>
                <a:spcAft>
                  <a:spcPts val="0"/>
                </a:spcAft>
              </a:pPr>
              <a:r>
                <a:rPr lang="zh-CN" altLang="en-US" sz="1200" b="1" dirty="0">
                  <a:solidFill>
                    <a:prstClr val="black"/>
                  </a:solidFill>
                  <a:latin typeface="微软雅黑"/>
                  <a:ea typeface="微软雅黑"/>
                  <a:cs typeface="+mn-ea"/>
                  <a:sym typeface="+mn-lt"/>
                </a:rPr>
                <a:t>月</a:t>
              </a:r>
              <a:endParaRPr lang="en-US" altLang="zh-CN" sz="1200" b="1" dirty="0">
                <a:solidFill>
                  <a:prstClr val="black"/>
                </a:solidFill>
                <a:latin typeface="微软雅黑"/>
                <a:ea typeface="微软雅黑"/>
                <a:cs typeface="+mn-ea"/>
                <a:sym typeface="+mn-lt"/>
              </a:endParaRPr>
            </a:p>
          </p:txBody>
        </p:sp>
        <p:sp>
          <p:nvSpPr>
            <p:cNvPr id="266" name="object 96"/>
            <p:cNvSpPr txBox="1"/>
            <p:nvPr/>
          </p:nvSpPr>
          <p:spPr>
            <a:xfrm>
              <a:off x="7526868" y="2476081"/>
              <a:ext cx="1194892" cy="138499"/>
            </a:xfrm>
            <a:prstGeom prst="rect">
              <a:avLst/>
            </a:prstGeom>
          </p:spPr>
          <p:txBody>
            <a:bodyPr vert="horz" wrap="square" lIns="0" tIns="0" rIns="0" bIns="0" rtlCol="0">
              <a:spAutoFit/>
            </a:bodyPr>
            <a:lstStyle/>
            <a:p>
              <a:pPr eaLnBrk="1" fontAlgn="auto" hangingPunct="1">
                <a:spcBef>
                  <a:spcPts val="0"/>
                </a:spcBef>
                <a:spcAft>
                  <a:spcPts val="0"/>
                </a:spcAft>
              </a:pPr>
              <a:r>
                <a:rPr lang="zh-CN" altLang="en-US" sz="900" dirty="0">
                  <a:solidFill>
                    <a:prstClr val="black"/>
                  </a:solidFill>
                  <a:latin typeface="微软雅黑"/>
                  <a:ea typeface="微软雅黑"/>
                  <a:cs typeface="+mn-ea"/>
                  <a:sym typeface="+mn-lt"/>
                </a:rPr>
                <a:t>前</a:t>
              </a:r>
              <a:r>
                <a:rPr lang="en-US" altLang="zh-CN" sz="900" dirty="0">
                  <a:solidFill>
                    <a:prstClr val="black"/>
                  </a:solidFill>
                  <a:latin typeface="微软雅黑"/>
                  <a:ea typeface="微软雅黑"/>
                  <a:cs typeface="+mn-ea"/>
                  <a:sym typeface="+mn-lt"/>
                </a:rPr>
                <a:t>4</a:t>
              </a:r>
              <a:r>
                <a:rPr lang="zh-CN" altLang="en-US" sz="900" dirty="0">
                  <a:solidFill>
                    <a:prstClr val="black"/>
                  </a:solidFill>
                  <a:latin typeface="微软雅黑"/>
                  <a:ea typeface="微软雅黑"/>
                  <a:cs typeface="+mn-ea"/>
                  <a:sym typeface="+mn-lt"/>
                </a:rPr>
                <a:t>个周期均未减量</a:t>
              </a:r>
              <a:r>
                <a:rPr lang="en-US" altLang="zh-CN" sz="900" baseline="30000" dirty="0">
                  <a:solidFill>
                    <a:prstClr val="black"/>
                  </a:solidFill>
                  <a:latin typeface="微软雅黑"/>
                  <a:ea typeface="微软雅黑"/>
                  <a:cs typeface="+mn-ea"/>
                  <a:sym typeface="+mn-lt"/>
                </a:rPr>
                <a:t>b</a:t>
              </a:r>
              <a:endParaRPr lang="zh-CN" altLang="en-US" sz="900" baseline="30000" dirty="0">
                <a:solidFill>
                  <a:prstClr val="black"/>
                </a:solidFill>
                <a:latin typeface="微软雅黑"/>
                <a:ea typeface="微软雅黑"/>
                <a:cs typeface="+mn-ea"/>
                <a:sym typeface="+mn-lt"/>
              </a:endParaRPr>
            </a:p>
          </p:txBody>
        </p:sp>
        <p:sp>
          <p:nvSpPr>
            <p:cNvPr id="267" name="object 99"/>
            <p:cNvSpPr txBox="1"/>
            <p:nvPr/>
          </p:nvSpPr>
          <p:spPr>
            <a:xfrm>
              <a:off x="7523910" y="2265250"/>
              <a:ext cx="1429747" cy="138499"/>
            </a:xfrm>
            <a:prstGeom prst="rect">
              <a:avLst/>
            </a:prstGeom>
          </p:spPr>
          <p:txBody>
            <a:bodyPr vert="horz" wrap="square" lIns="0" tIns="0" rIns="0" bIns="0" rtlCol="0">
              <a:spAutoFit/>
            </a:bodyPr>
            <a:lstStyle/>
            <a:p>
              <a:pPr marL="12700" eaLnBrk="1" fontAlgn="auto" hangingPunct="1">
                <a:spcBef>
                  <a:spcPts val="0"/>
                </a:spcBef>
                <a:spcAft>
                  <a:spcPts val="0"/>
                </a:spcAft>
                <a:tabLst>
                  <a:tab pos="179070" algn="l"/>
                </a:tabLst>
              </a:pPr>
              <a:r>
                <a:rPr lang="zh-CN" altLang="en-US" sz="900" dirty="0">
                  <a:solidFill>
                    <a:prstClr val="black"/>
                  </a:solidFill>
                  <a:latin typeface="微软雅黑"/>
                  <a:ea typeface="微软雅黑"/>
                  <a:cs typeface="+mn-ea"/>
                  <a:sym typeface="+mn-lt"/>
                </a:rPr>
                <a:t>第</a:t>
              </a:r>
              <a:r>
                <a:rPr lang="en-US" altLang="zh-CN" sz="900" dirty="0">
                  <a:solidFill>
                    <a:prstClr val="black"/>
                  </a:solidFill>
                  <a:latin typeface="微软雅黑"/>
                  <a:ea typeface="微软雅黑"/>
                  <a:cs typeface="+mn-ea"/>
                  <a:sym typeface="+mn-lt"/>
                </a:rPr>
                <a:t>2</a:t>
              </a:r>
              <a:r>
                <a:rPr lang="zh-CN" altLang="en-US" sz="900" dirty="0">
                  <a:solidFill>
                    <a:prstClr val="black"/>
                  </a:solidFill>
                  <a:latin typeface="微软雅黑"/>
                  <a:ea typeface="微软雅黑"/>
                  <a:cs typeface="+mn-ea"/>
                  <a:sym typeface="+mn-lt"/>
                </a:rPr>
                <a:t>周期开始减量</a:t>
              </a:r>
              <a:r>
                <a:rPr lang="en-US" altLang="zh-CN" sz="900" baseline="30000" dirty="0">
                  <a:solidFill>
                    <a:prstClr val="black"/>
                  </a:solidFill>
                  <a:latin typeface="微软雅黑"/>
                  <a:ea typeface="微软雅黑"/>
                  <a:cs typeface="+mn-ea"/>
                  <a:sym typeface="+mn-lt"/>
                </a:rPr>
                <a:t>a</a:t>
              </a:r>
              <a:endParaRPr sz="900" baseline="30000" dirty="0">
                <a:solidFill>
                  <a:prstClr val="black"/>
                </a:solidFill>
                <a:latin typeface="微软雅黑"/>
                <a:ea typeface="微软雅黑"/>
                <a:cs typeface="+mn-ea"/>
                <a:sym typeface="+mn-lt"/>
              </a:endParaRPr>
            </a:p>
          </p:txBody>
        </p:sp>
        <p:sp>
          <p:nvSpPr>
            <p:cNvPr id="224" name="矩形 223"/>
            <p:cNvSpPr/>
            <p:nvPr/>
          </p:nvSpPr>
          <p:spPr>
            <a:xfrm>
              <a:off x="662395" y="5630227"/>
              <a:ext cx="4919067" cy="230832"/>
            </a:xfrm>
            <a:prstGeom prst="rect">
              <a:avLst/>
            </a:prstGeom>
          </p:spPr>
          <p:txBody>
            <a:bodyPr wrap="square">
              <a:spAutoFit/>
            </a:bodyPr>
            <a:lstStyle/>
            <a:p>
              <a:pPr eaLnBrk="1" fontAlgn="auto" hangingPunct="1">
                <a:spcBef>
                  <a:spcPts val="0"/>
                </a:spcBef>
                <a:spcAft>
                  <a:spcPts val="0"/>
                </a:spcAft>
              </a:pPr>
              <a:r>
                <a:rPr lang="en-US" altLang="zh-CN" sz="900" baseline="30000" dirty="0">
                  <a:solidFill>
                    <a:prstClr val="black"/>
                  </a:solidFill>
                  <a:latin typeface="微软雅黑"/>
                  <a:ea typeface="微软雅黑"/>
                  <a:cs typeface="+mn-ea"/>
                  <a:sym typeface="+mn-lt"/>
                </a:rPr>
                <a:t>a</a:t>
              </a:r>
              <a:r>
                <a:rPr lang="en-US" altLang="zh-CN" sz="900" dirty="0">
                  <a:solidFill>
                    <a:prstClr val="black"/>
                  </a:solidFill>
                  <a:latin typeface="微软雅黑"/>
                  <a:ea typeface="微软雅黑"/>
                  <a:cs typeface="+mn-ea"/>
                  <a:sym typeface="+mn-lt"/>
                </a:rPr>
                <a:t> </a:t>
              </a:r>
              <a:r>
                <a:rPr lang="zh-CN" altLang="en-US" sz="900" dirty="0">
                  <a:solidFill>
                    <a:prstClr val="black"/>
                  </a:solidFill>
                  <a:latin typeface="微软雅黑"/>
                  <a:ea typeface="微软雅黑"/>
                  <a:cs typeface="+mn-ea"/>
                  <a:sym typeface="+mn-lt"/>
                </a:rPr>
                <a:t>卡培他滨</a:t>
              </a:r>
              <a:r>
                <a:rPr lang="en-US" altLang="zh-CN" sz="900" dirty="0">
                  <a:solidFill>
                    <a:prstClr val="black"/>
                  </a:solidFill>
                  <a:latin typeface="微软雅黑"/>
                  <a:ea typeface="微软雅黑"/>
                  <a:cs typeface="+mn-ea"/>
                  <a:sym typeface="+mn-lt"/>
                </a:rPr>
                <a:t>950 mg/m</a:t>
              </a:r>
              <a:r>
                <a:rPr lang="en-US" altLang="zh-CN" sz="900" baseline="30000" dirty="0">
                  <a:solidFill>
                    <a:prstClr val="black"/>
                  </a:solidFill>
                  <a:latin typeface="微软雅黑"/>
                  <a:ea typeface="微软雅黑"/>
                  <a:cs typeface="+mn-ea"/>
                  <a:sym typeface="+mn-lt"/>
                </a:rPr>
                <a:t>2</a:t>
              </a:r>
              <a:r>
                <a:rPr lang="zh-CN" altLang="en-US" sz="900" dirty="0">
                  <a:solidFill>
                    <a:prstClr val="black"/>
                  </a:solidFill>
                  <a:latin typeface="微软雅黑"/>
                  <a:ea typeface="微软雅黑"/>
                  <a:cs typeface="+mn-ea"/>
                  <a:sym typeface="+mn-lt"/>
                </a:rPr>
                <a:t>，多西他赛</a:t>
              </a:r>
              <a:r>
                <a:rPr lang="en-US" altLang="zh-CN" sz="900" dirty="0">
                  <a:solidFill>
                    <a:prstClr val="black"/>
                  </a:solidFill>
                  <a:latin typeface="微软雅黑"/>
                  <a:ea typeface="微软雅黑"/>
                  <a:cs typeface="+mn-ea"/>
                  <a:sym typeface="+mn-lt"/>
                </a:rPr>
                <a:t>55 mg/m</a:t>
              </a:r>
              <a:r>
                <a:rPr lang="en-US" altLang="zh-CN" sz="900" baseline="30000" dirty="0">
                  <a:solidFill>
                    <a:prstClr val="black"/>
                  </a:solidFill>
                  <a:latin typeface="微软雅黑"/>
                  <a:ea typeface="微软雅黑"/>
                  <a:cs typeface="+mn-ea"/>
                  <a:sym typeface="+mn-lt"/>
                </a:rPr>
                <a:t>2</a:t>
              </a:r>
              <a:r>
                <a:rPr lang="zh-CN" altLang="en-US" sz="900" dirty="0">
                  <a:solidFill>
                    <a:prstClr val="black"/>
                  </a:solidFill>
                  <a:latin typeface="微软雅黑"/>
                  <a:ea typeface="微软雅黑"/>
                  <a:cs typeface="+mn-ea"/>
                  <a:sym typeface="+mn-lt"/>
                </a:rPr>
                <a:t>；</a:t>
              </a:r>
              <a:r>
                <a:rPr lang="en-US" altLang="zh-CN" sz="900" baseline="30000" dirty="0">
                  <a:solidFill>
                    <a:prstClr val="black"/>
                  </a:solidFill>
                  <a:latin typeface="微软雅黑"/>
                  <a:ea typeface="微软雅黑"/>
                  <a:cs typeface="+mn-ea"/>
                  <a:sym typeface="+mn-lt"/>
                </a:rPr>
                <a:t>b</a:t>
              </a:r>
              <a:r>
                <a:rPr lang="zh-CN" altLang="en-US" sz="900" dirty="0">
                  <a:solidFill>
                    <a:prstClr val="black"/>
                  </a:solidFill>
                  <a:latin typeface="微软雅黑"/>
                  <a:ea typeface="微软雅黑"/>
                  <a:cs typeface="+mn-ea"/>
                  <a:sym typeface="+mn-lt"/>
                </a:rPr>
                <a:t> 卡培他滨</a:t>
              </a:r>
              <a:r>
                <a:rPr lang="en-US" altLang="zh-CN" sz="900" dirty="0">
                  <a:solidFill>
                    <a:prstClr val="black"/>
                  </a:solidFill>
                  <a:latin typeface="微软雅黑"/>
                  <a:ea typeface="微软雅黑"/>
                  <a:cs typeface="+mn-ea"/>
                  <a:sym typeface="+mn-lt"/>
                </a:rPr>
                <a:t>1250 mg/m</a:t>
              </a:r>
              <a:r>
                <a:rPr lang="en-US" altLang="zh-CN" sz="900" baseline="30000" dirty="0">
                  <a:solidFill>
                    <a:prstClr val="black"/>
                  </a:solidFill>
                  <a:latin typeface="微软雅黑"/>
                  <a:ea typeface="微软雅黑"/>
                  <a:cs typeface="+mn-ea"/>
                  <a:sym typeface="+mn-lt"/>
                </a:rPr>
                <a:t>2</a:t>
              </a:r>
              <a:r>
                <a:rPr lang="zh-CN" altLang="en-US" sz="900" dirty="0">
                  <a:solidFill>
                    <a:prstClr val="black"/>
                  </a:solidFill>
                  <a:latin typeface="微软雅黑"/>
                  <a:ea typeface="微软雅黑"/>
                  <a:cs typeface="+mn-ea"/>
                  <a:sym typeface="+mn-lt"/>
                </a:rPr>
                <a:t>，多西他赛</a:t>
              </a:r>
              <a:r>
                <a:rPr lang="en-US" altLang="zh-CN" sz="900" dirty="0">
                  <a:solidFill>
                    <a:prstClr val="black"/>
                  </a:solidFill>
                  <a:latin typeface="微软雅黑"/>
                  <a:ea typeface="微软雅黑"/>
                  <a:cs typeface="+mn-ea"/>
                  <a:sym typeface="+mn-lt"/>
                </a:rPr>
                <a:t>75 mg/m</a:t>
              </a:r>
              <a:r>
                <a:rPr lang="en-US" altLang="zh-CN" sz="900" baseline="30000" dirty="0">
                  <a:solidFill>
                    <a:prstClr val="black"/>
                  </a:solidFill>
                  <a:latin typeface="微软雅黑"/>
                  <a:ea typeface="微软雅黑"/>
                  <a:cs typeface="+mn-ea"/>
                  <a:sym typeface="+mn-lt"/>
                </a:rPr>
                <a:t>2</a:t>
              </a:r>
              <a:endParaRPr lang="it-IT" altLang="zh-CN" sz="900" baseline="30000" dirty="0">
                <a:solidFill>
                  <a:prstClr val="black"/>
                </a:solidFill>
                <a:latin typeface="微软雅黑"/>
                <a:ea typeface="微软雅黑"/>
                <a:cs typeface="+mn-ea"/>
                <a:sym typeface="+mn-lt"/>
              </a:endParaRPr>
            </a:p>
          </p:txBody>
        </p:sp>
      </p:grpSp>
    </p:spTree>
    <p:extLst>
      <p:ext uri="{BB962C8B-B14F-4D97-AF65-F5344CB8AC3E}">
        <p14:creationId xmlns:p14="http://schemas.microsoft.com/office/powerpoint/2010/main" val="16348450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grpSp>
        <p:nvGrpSpPr>
          <p:cNvPr id="24" name="组合 23"/>
          <p:cNvGrpSpPr/>
          <p:nvPr/>
        </p:nvGrpSpPr>
        <p:grpSpPr>
          <a:xfrm>
            <a:off x="703577" y="1203877"/>
            <a:ext cx="7699915" cy="4999153"/>
            <a:chOff x="703577" y="1203877"/>
            <a:chExt cx="7699915" cy="4999153"/>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577" y="1203877"/>
              <a:ext cx="7699915" cy="4999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组合 21"/>
            <p:cNvGrpSpPr/>
            <p:nvPr/>
          </p:nvGrpSpPr>
          <p:grpSpPr>
            <a:xfrm>
              <a:off x="1141629" y="1443642"/>
              <a:ext cx="7004071" cy="4406201"/>
              <a:chOff x="1127115" y="1443642"/>
              <a:chExt cx="7004071" cy="4406201"/>
            </a:xfrm>
          </p:grpSpPr>
          <p:sp>
            <p:nvSpPr>
              <p:cNvPr id="33" name="文本框 18"/>
              <p:cNvSpPr txBox="1"/>
              <p:nvPr/>
            </p:nvSpPr>
            <p:spPr>
              <a:xfrm>
                <a:off x="1127115" y="2781155"/>
                <a:ext cx="6948000" cy="1052596"/>
              </a:xfrm>
              <a:prstGeom prst="rect">
                <a:avLst/>
              </a:prstGeom>
              <a:noFill/>
            </p:spPr>
            <p:txBody>
              <a:bodyPr wrap="square" rtlCol="0">
                <a:spAutoFit/>
              </a:bodyPr>
              <a:lstStyle/>
              <a:p>
                <a:pPr algn="just">
                  <a:lnSpc>
                    <a:spcPct val="130000"/>
                  </a:lnSpc>
                </a:pPr>
                <a:r>
                  <a:rPr lang="zh-CN" altLang="en-US" sz="1600" b="1" dirty="0">
                    <a:solidFill>
                      <a:prstClr val="black"/>
                    </a:solidFill>
                    <a:latin typeface="微软雅黑" panose="020B0503020204020204" pitchFamily="34" charset="-122"/>
                    <a:ea typeface="微软雅黑" panose="020B0503020204020204" pitchFamily="34" charset="-122"/>
                    <a:cs typeface="+mn-ea"/>
                    <a:sym typeface="+mn-lt"/>
                  </a:rPr>
                  <a:t>卡培他滨治疗</a:t>
                </a:r>
                <a:r>
                  <a:rPr lang="en-US" altLang="zh-CN" sz="1600" b="1" dirty="0" smtClean="0">
                    <a:solidFill>
                      <a:prstClr val="black"/>
                    </a:solidFill>
                    <a:latin typeface="微软雅黑" panose="020B0503020204020204" pitchFamily="34" charset="-122"/>
                    <a:ea typeface="微软雅黑" panose="020B0503020204020204" pitchFamily="34" charset="-122"/>
                    <a:cs typeface="+mn-ea"/>
                    <a:sym typeface="+mn-lt"/>
                  </a:rPr>
                  <a:t>CRC</a:t>
                </a:r>
                <a:r>
                  <a:rPr lang="zh-CN" altLang="en-US" sz="1600" b="1" dirty="0" smtClean="0">
                    <a:solidFill>
                      <a:prstClr val="black"/>
                    </a:solidFill>
                    <a:latin typeface="微软雅黑" panose="020B0503020204020204" pitchFamily="34" charset="-122"/>
                    <a:ea typeface="微软雅黑" panose="020B0503020204020204" pitchFamily="34" charset="-122"/>
                    <a:cs typeface="+mn-ea"/>
                    <a:sym typeface="+mn-lt"/>
                  </a:rPr>
                  <a:t>所致的</a:t>
                </a:r>
                <a:r>
                  <a:rPr lang="en-US" altLang="zh-CN" sz="1600" b="1" dirty="0">
                    <a:solidFill>
                      <a:prstClr val="black"/>
                    </a:solidFill>
                    <a:latin typeface="微软雅黑" panose="020B0503020204020204" pitchFamily="34" charset="-122"/>
                    <a:ea typeface="微软雅黑" panose="020B0503020204020204" pitchFamily="34" charset="-122"/>
                    <a:cs typeface="+mn-ea"/>
                    <a:sym typeface="+mn-lt"/>
                  </a:rPr>
                  <a:t>HFS</a:t>
                </a:r>
                <a:r>
                  <a:rPr lang="zh-CN" altLang="en-US" sz="1600" b="1" dirty="0">
                    <a:solidFill>
                      <a:prstClr val="black"/>
                    </a:solidFill>
                    <a:latin typeface="微软雅黑" panose="020B0503020204020204" pitchFamily="34" charset="-122"/>
                    <a:ea typeface="微软雅黑" panose="020B0503020204020204" pitchFamily="34" charset="-122"/>
                    <a:cs typeface="+mn-ea"/>
                    <a:sym typeface="+mn-lt"/>
                  </a:rPr>
                  <a:t>多为轻</a:t>
                </a:r>
                <a:r>
                  <a:rPr lang="en-US" altLang="zh-CN" sz="1600" b="1" dirty="0">
                    <a:solidFill>
                      <a:prstClr val="black"/>
                    </a:solidFill>
                    <a:latin typeface="微软雅黑" panose="020B0503020204020204" pitchFamily="34" charset="-122"/>
                    <a:ea typeface="微软雅黑" panose="020B0503020204020204" pitchFamily="34" charset="-122"/>
                    <a:cs typeface="+mn-ea"/>
                    <a:sym typeface="+mn-lt"/>
                  </a:rPr>
                  <a:t>-</a:t>
                </a:r>
                <a:r>
                  <a:rPr lang="zh-CN" altLang="en-US" sz="1600" b="1" dirty="0">
                    <a:solidFill>
                      <a:prstClr val="black"/>
                    </a:solidFill>
                    <a:latin typeface="微软雅黑" panose="020B0503020204020204" pitchFamily="34" charset="-122"/>
                    <a:ea typeface="微软雅黑" panose="020B0503020204020204" pitchFamily="34" charset="-122"/>
                    <a:cs typeface="+mn-ea"/>
                    <a:sym typeface="+mn-lt"/>
                  </a:rPr>
                  <a:t>中度</a:t>
                </a:r>
                <a:r>
                  <a:rPr lang="zh-CN" altLang="en-US" sz="1600" b="1" dirty="0" smtClean="0">
                    <a:solidFill>
                      <a:prstClr val="black"/>
                    </a:solidFill>
                    <a:latin typeface="微软雅黑" panose="020B0503020204020204" pitchFamily="34" charset="-122"/>
                    <a:ea typeface="微软雅黑" panose="020B0503020204020204" pitchFamily="34" charset="-122"/>
                    <a:cs typeface="+mn-ea"/>
                    <a:sym typeface="+mn-lt"/>
                  </a:rPr>
                  <a:t>，临床研究</a:t>
                </a:r>
                <a:r>
                  <a:rPr lang="zh-CN" altLang="en-US" sz="1600" b="1" kern="0" dirty="0" smtClean="0">
                    <a:solidFill>
                      <a:prstClr val="black"/>
                    </a:solidFill>
                    <a:latin typeface="微软雅黑" panose="020B0503020204020204" pitchFamily="34" charset="-122"/>
                    <a:ea typeface="微软雅黑" panose="020B0503020204020204" pitchFamily="34" charset="-122"/>
                  </a:rPr>
                  <a:t>证实：</a:t>
                </a:r>
                <a:r>
                  <a:rPr lang="zh-CN" altLang="en-US" sz="1600" b="1" kern="0" dirty="0">
                    <a:solidFill>
                      <a:prstClr val="black"/>
                    </a:solidFill>
                    <a:latin typeface="微软雅黑" panose="020B0503020204020204" pitchFamily="34" charset="-122"/>
                    <a:ea typeface="微软雅黑" panose="020B0503020204020204" pitchFamily="34" charset="-122"/>
                  </a:rPr>
                  <a:t>卡培他滨诱导的皮肤毒副作用是患者获得更</a:t>
                </a:r>
                <a:r>
                  <a:rPr lang="zh-CN" altLang="en-US" sz="1600" b="1" kern="0" dirty="0" smtClean="0">
                    <a:solidFill>
                      <a:prstClr val="black"/>
                    </a:solidFill>
                    <a:latin typeface="微软雅黑" panose="020B0503020204020204" pitchFamily="34" charset="-122"/>
                    <a:ea typeface="微软雅黑" panose="020B0503020204020204" pitchFamily="34" charset="-122"/>
                  </a:rPr>
                  <a:t>佳生存</a:t>
                </a:r>
                <a:r>
                  <a:rPr lang="zh-CN" altLang="en-US" sz="1600" b="1" kern="0" dirty="0">
                    <a:solidFill>
                      <a:prstClr val="black"/>
                    </a:solidFill>
                    <a:latin typeface="微软雅黑" panose="020B0503020204020204" pitchFamily="34" charset="-122"/>
                    <a:ea typeface="微软雅黑" panose="020B0503020204020204" pitchFamily="34" charset="-122"/>
                  </a:rPr>
                  <a:t>预后的预测因素，提示其对药物治疗的敏感度更佳</a:t>
                </a:r>
                <a:endParaRPr lang="zh-CN" altLang="en-US" sz="1600" b="1" dirty="0">
                  <a:solidFill>
                    <a:prstClr val="black"/>
                  </a:solidFill>
                  <a:latin typeface="微软雅黑" panose="020B0503020204020204" pitchFamily="34" charset="-122"/>
                  <a:ea typeface="微软雅黑" panose="020B0503020204020204" pitchFamily="34" charset="-122"/>
                </a:endParaRPr>
              </a:p>
            </p:txBody>
          </p:sp>
          <p:sp>
            <p:nvSpPr>
              <p:cNvPr id="34" name="文本框 20"/>
              <p:cNvSpPr txBox="1"/>
              <p:nvPr/>
            </p:nvSpPr>
            <p:spPr>
              <a:xfrm>
                <a:off x="1127115" y="4583342"/>
                <a:ext cx="7004071" cy="1266501"/>
              </a:xfrm>
              <a:prstGeom prst="rect">
                <a:avLst/>
              </a:prstGeom>
              <a:noFill/>
            </p:spPr>
            <p:txBody>
              <a:bodyPr wrap="square" rtlCol="0" anchor="ctr">
                <a:spAutoFit/>
              </a:bodyPr>
              <a:lstStyle/>
              <a:p>
                <a:pPr eaLnBrk="1" fontAlgn="auto" hangingPunct="1">
                  <a:lnSpc>
                    <a:spcPct val="110000"/>
                  </a:lnSpc>
                  <a:spcBef>
                    <a:spcPts val="500"/>
                  </a:spcBef>
                  <a:spcAft>
                    <a:spcPts val="0"/>
                  </a:spcAft>
                </a:pPr>
                <a:r>
                  <a:rPr lang="en-US" altLang="zh-CN" sz="1600" b="1" kern="0" dirty="0" smtClean="0">
                    <a:solidFill>
                      <a:prstClr val="black"/>
                    </a:solidFill>
                    <a:latin typeface="微软雅黑" panose="020B0503020204020204" pitchFamily="34" charset="-122"/>
                    <a:ea typeface="微软雅黑" panose="020B0503020204020204" pitchFamily="34" charset="-122"/>
                  </a:rPr>
                  <a:t>HFS</a:t>
                </a:r>
                <a:r>
                  <a:rPr lang="zh-CN" altLang="en-US" sz="1600" b="1" kern="0" dirty="0">
                    <a:solidFill>
                      <a:prstClr val="black"/>
                    </a:solidFill>
                    <a:latin typeface="微软雅黑" panose="020B0503020204020204" pitchFamily="34" charset="-122"/>
                    <a:ea typeface="微软雅黑" panose="020B0503020204020204" pitchFamily="34" charset="-122"/>
                  </a:rPr>
                  <a:t>的防治和处理建议</a:t>
                </a:r>
                <a:r>
                  <a:rPr lang="zh-CN" altLang="en-US" sz="1600" b="1" kern="0" dirty="0" smtClean="0">
                    <a:solidFill>
                      <a:prstClr val="black"/>
                    </a:solidFill>
                    <a:latin typeface="微软雅黑" panose="020B0503020204020204" pitchFamily="34" charset="-122"/>
                    <a:ea typeface="微软雅黑" panose="020B0503020204020204" pitchFamily="34" charset="-122"/>
                  </a:rPr>
                  <a:t>：</a:t>
                </a:r>
                <a:endParaRPr lang="en-US" altLang="zh-CN" sz="1600" b="1" kern="0" dirty="0" smtClean="0">
                  <a:solidFill>
                    <a:prstClr val="black"/>
                  </a:solidFill>
                  <a:latin typeface="微软雅黑" panose="020B0503020204020204" pitchFamily="34" charset="-122"/>
                  <a:ea typeface="微软雅黑" panose="020B0503020204020204" pitchFamily="34" charset="-122"/>
                </a:endParaRPr>
              </a:p>
              <a:p>
                <a:pPr marL="180000" indent="-180000">
                  <a:lnSpc>
                    <a:spcPct val="110000"/>
                  </a:lnSpc>
                  <a:spcBef>
                    <a:spcPts val="500"/>
                  </a:spcBef>
                  <a:spcAft>
                    <a:spcPts val="0"/>
                  </a:spcAft>
                  <a:buFont typeface="Arial" panose="020B0604020202020204" pitchFamily="34" charset="0"/>
                  <a:buChar char="•"/>
                </a:pPr>
                <a:r>
                  <a:rPr lang="zh-CN" altLang="en-US" sz="1400" dirty="0">
                    <a:solidFill>
                      <a:prstClr val="black"/>
                    </a:solidFill>
                    <a:latin typeface="微软雅黑" panose="020B0503020204020204" pitchFamily="34" charset="-122"/>
                    <a:ea typeface="微软雅黑" panose="020B0503020204020204" pitchFamily="34" charset="-122"/>
                  </a:rPr>
                  <a:t>须加强手和足部的常规自我护理，以预防或减轻</a:t>
                </a:r>
                <a:r>
                  <a:rPr lang="en-US" altLang="zh-CN" sz="1400" dirty="0">
                    <a:solidFill>
                      <a:prstClr val="black"/>
                    </a:solidFill>
                    <a:latin typeface="微软雅黑" panose="020B0503020204020204" pitchFamily="34" charset="-122"/>
                    <a:ea typeface="微软雅黑" panose="020B0503020204020204" pitchFamily="34" charset="-122"/>
                  </a:rPr>
                  <a:t>HFS</a:t>
                </a:r>
              </a:p>
              <a:p>
                <a:pPr marL="180000" indent="-180000">
                  <a:lnSpc>
                    <a:spcPct val="110000"/>
                  </a:lnSpc>
                  <a:spcBef>
                    <a:spcPts val="500"/>
                  </a:spcBef>
                  <a:spcAft>
                    <a:spcPts val="0"/>
                  </a:spcAft>
                  <a:buFont typeface="Arial" panose="020B0604020202020204" pitchFamily="34" charset="0"/>
                  <a:buChar char="•"/>
                </a:pPr>
                <a:r>
                  <a:rPr lang="zh-CN" altLang="en-US" sz="1400" dirty="0">
                    <a:solidFill>
                      <a:prstClr val="black"/>
                    </a:solidFill>
                    <a:latin typeface="微软雅黑" panose="020B0503020204020204" pitchFamily="34" charset="-122"/>
                    <a:ea typeface="微软雅黑" panose="020B0503020204020204" pitchFamily="34" charset="-122"/>
                  </a:rPr>
                  <a:t>可使用抗</a:t>
                </a:r>
                <a:r>
                  <a:rPr lang="en-US" altLang="zh-CN" sz="1400" dirty="0">
                    <a:solidFill>
                      <a:prstClr val="black"/>
                    </a:solidFill>
                    <a:latin typeface="微软雅黑" panose="020B0503020204020204" pitchFamily="34" charset="-122"/>
                    <a:ea typeface="微软雅黑" panose="020B0503020204020204" pitchFamily="34" charset="-122"/>
                  </a:rPr>
                  <a:t>COX-2</a:t>
                </a:r>
                <a:r>
                  <a:rPr lang="zh-CN" altLang="en-US" sz="1400" dirty="0">
                    <a:solidFill>
                      <a:prstClr val="black"/>
                    </a:solidFill>
                    <a:latin typeface="微软雅黑" panose="020B0503020204020204" pitchFamily="34" charset="-122"/>
                    <a:ea typeface="微软雅黑" panose="020B0503020204020204" pitchFamily="34" charset="-122"/>
                  </a:rPr>
                  <a:t>药物塞来昔</a:t>
                </a:r>
                <a:r>
                  <a:rPr lang="zh-CN" altLang="en-US" sz="1400" dirty="0" smtClean="0">
                    <a:solidFill>
                      <a:prstClr val="black"/>
                    </a:solidFill>
                    <a:latin typeface="微软雅黑" panose="020B0503020204020204" pitchFamily="34" charset="-122"/>
                    <a:ea typeface="微软雅黑" panose="020B0503020204020204" pitchFamily="34" charset="-122"/>
                  </a:rPr>
                  <a:t>布，</a:t>
                </a:r>
                <a:r>
                  <a:rPr lang="en-US" altLang="zh-CN" sz="1400" dirty="0" err="1"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Vit</a:t>
                </a:r>
                <a:r>
                  <a:rPr lang="zh-CN" altLang="en-US" sz="1400" dirty="0" smtClean="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B6</a:t>
                </a:r>
                <a:r>
                  <a:rPr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或</a:t>
                </a:r>
                <a:r>
                  <a:rPr lang="zh-CN" altLang="en-US"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加用维生素</a:t>
                </a:r>
                <a:r>
                  <a:rPr lang="en-US" altLang="zh-CN"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400" baseline="-25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和甲钴胺片</a:t>
                </a:r>
                <a:r>
                  <a:rPr lang="zh-CN" altLang="en-US" sz="1400" dirty="0" smtClean="0">
                    <a:solidFill>
                      <a:prstClr val="black"/>
                    </a:solidFill>
                    <a:latin typeface="微软雅黑" panose="020B0503020204020204" pitchFamily="34" charset="-122"/>
                    <a:ea typeface="微软雅黑" panose="020B0503020204020204" pitchFamily="34" charset="-122"/>
                  </a:rPr>
                  <a:t>等防治</a:t>
                </a:r>
                <a:r>
                  <a:rPr lang="en-US" altLang="zh-CN" sz="1400" dirty="0" smtClean="0">
                    <a:solidFill>
                      <a:prstClr val="black"/>
                    </a:solidFill>
                    <a:latin typeface="微软雅黑" panose="020B0503020204020204" pitchFamily="34" charset="-122"/>
                    <a:ea typeface="微软雅黑" panose="020B0503020204020204" pitchFamily="34" charset="-122"/>
                  </a:rPr>
                  <a:t>HFS</a:t>
                </a:r>
                <a:endParaRPr lang="en-US" altLang="zh-CN" sz="1400" dirty="0">
                  <a:solidFill>
                    <a:prstClr val="black"/>
                  </a:solidFill>
                  <a:latin typeface="微软雅黑" panose="020B0503020204020204" pitchFamily="34" charset="-122"/>
                  <a:ea typeface="微软雅黑" panose="020B0503020204020204" pitchFamily="34" charset="-122"/>
                </a:endParaRPr>
              </a:p>
              <a:p>
                <a:pPr marL="180000" indent="-180000">
                  <a:lnSpc>
                    <a:spcPct val="110000"/>
                  </a:lnSpc>
                  <a:spcBef>
                    <a:spcPts val="500"/>
                  </a:spcBef>
                  <a:spcAft>
                    <a:spcPts val="0"/>
                  </a:spcAft>
                  <a:buFont typeface="Arial" panose="020B0604020202020204" pitchFamily="34" charset="0"/>
                  <a:buChar char="•"/>
                </a:pPr>
                <a:r>
                  <a:rPr lang="zh-CN" altLang="en-US" sz="1400" kern="0" dirty="0" smtClean="0">
                    <a:solidFill>
                      <a:prstClr val="black"/>
                    </a:solidFill>
                    <a:latin typeface="微软雅黑" panose="020B0503020204020204" pitchFamily="34" charset="-122"/>
                    <a:ea typeface="微软雅黑" panose="020B0503020204020204" pitchFamily="34" charset="-122"/>
                  </a:rPr>
                  <a:t>对于常规护理和治疗控制效果欠佳的</a:t>
                </a:r>
                <a:r>
                  <a:rPr lang="en-US" altLang="zh-CN" sz="1400" kern="0" dirty="0" smtClean="0">
                    <a:solidFill>
                      <a:prstClr val="black"/>
                    </a:solidFill>
                    <a:latin typeface="微软雅黑" panose="020B0503020204020204" pitchFamily="34" charset="-122"/>
                    <a:ea typeface="微软雅黑" panose="020B0503020204020204" pitchFamily="34" charset="-122"/>
                  </a:rPr>
                  <a:t>HFS</a:t>
                </a:r>
                <a:r>
                  <a:rPr lang="zh-CN" altLang="en-US" sz="1400" kern="0" dirty="0" smtClean="0">
                    <a:solidFill>
                      <a:prstClr val="black"/>
                    </a:solidFill>
                    <a:latin typeface="微软雅黑" panose="020B0503020204020204" pitchFamily="34" charset="-122"/>
                    <a:ea typeface="微软雅黑" panose="020B0503020204020204" pitchFamily="34" charset="-122"/>
                  </a:rPr>
                  <a:t>患者，可按减量方案进行卡培他滨剂量调整</a:t>
                </a:r>
                <a:endParaRPr lang="zh-CN" altLang="en-US" sz="1400" dirty="0">
                  <a:solidFill>
                    <a:prstClr val="black"/>
                  </a:solidFill>
                  <a:latin typeface="微软雅黑" panose="020B0503020204020204" pitchFamily="34" charset="-122"/>
                  <a:ea typeface="微软雅黑" panose="020B0503020204020204" pitchFamily="34" charset="-122"/>
                </a:endParaRPr>
              </a:p>
            </p:txBody>
          </p:sp>
          <p:sp>
            <p:nvSpPr>
              <p:cNvPr id="35" name="矩形 34"/>
              <p:cNvSpPr/>
              <p:nvPr/>
            </p:nvSpPr>
            <p:spPr>
              <a:xfrm>
                <a:off x="1127115" y="1443642"/>
                <a:ext cx="6930000" cy="701346"/>
              </a:xfrm>
              <a:prstGeom prst="rect">
                <a:avLst/>
              </a:prstGeom>
            </p:spPr>
            <p:txBody>
              <a:bodyPr wrap="square">
                <a:spAutoFit/>
              </a:bodyPr>
              <a:lstStyle/>
              <a:p>
                <a:pPr algn="just">
                  <a:lnSpc>
                    <a:spcPct val="130000"/>
                  </a:lnSpc>
                </a:pPr>
                <a:r>
                  <a:rPr lang="en-US" altLang="zh-CN" sz="1600" b="1" dirty="0" smtClean="0">
                    <a:solidFill>
                      <a:prstClr val="black"/>
                    </a:solidFill>
                    <a:latin typeface="微软雅黑" panose="020B0503020204020204" pitchFamily="34" charset="-122"/>
                    <a:ea typeface="微软雅黑" panose="020B0503020204020204" pitchFamily="34" charset="-122"/>
                    <a:sym typeface="+mn-lt"/>
                  </a:rPr>
                  <a:t>HFS</a:t>
                </a:r>
                <a:r>
                  <a:rPr lang="zh-CN" altLang="en-US" sz="1600" b="1" dirty="0" smtClean="0">
                    <a:solidFill>
                      <a:prstClr val="black"/>
                    </a:solidFill>
                    <a:latin typeface="微软雅黑" panose="020B0503020204020204" pitchFamily="34" charset="-122"/>
                    <a:ea typeface="微软雅黑" panose="020B0503020204020204" pitchFamily="34" charset="-122"/>
                    <a:sym typeface="+mn-lt"/>
                  </a:rPr>
                  <a:t>是</a:t>
                </a:r>
                <a:r>
                  <a:rPr lang="zh-CN" altLang="zh-CN" sz="1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抗肿瘤药物导致的皮肤</a:t>
                </a:r>
                <a:r>
                  <a:rPr lang="zh-CN" altLang="zh-CN" sz="16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不良反应</a:t>
                </a:r>
                <a:r>
                  <a:rPr lang="zh-CN" altLang="en-US" sz="16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smtClean="0">
                    <a:solidFill>
                      <a:prstClr val="black"/>
                    </a:solidFill>
                    <a:latin typeface="微软雅黑" panose="020B0503020204020204" pitchFamily="34" charset="-122"/>
                    <a:ea typeface="微软雅黑" panose="020B0503020204020204" pitchFamily="34" charset="-122"/>
                    <a:sym typeface="+mn-lt"/>
                  </a:rPr>
                  <a:t>与多种</a:t>
                </a:r>
                <a:r>
                  <a:rPr lang="zh-CN" altLang="en-US" sz="1600" b="1" dirty="0">
                    <a:solidFill>
                      <a:prstClr val="black"/>
                    </a:solidFill>
                    <a:latin typeface="微软雅黑" panose="020B0503020204020204" pitchFamily="34" charset="-122"/>
                    <a:ea typeface="微软雅黑" panose="020B0503020204020204" pitchFamily="34" charset="-122"/>
                    <a:sym typeface="+mn-lt"/>
                  </a:rPr>
                  <a:t>风险因素相关，</a:t>
                </a:r>
                <a:r>
                  <a:rPr lang="zh-CN" altLang="en-US" sz="1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早期</a:t>
                </a:r>
                <a:r>
                  <a:rPr lang="zh-CN" altLang="en-US" sz="16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确诊</a:t>
                </a:r>
                <a:r>
                  <a:rPr lang="en-US" altLang="zh-CN" sz="1600" b="1" dirty="0" smtClean="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HFS</a:t>
                </a:r>
                <a:r>
                  <a:rPr lang="zh-CN" altLang="en-US" sz="1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并进行正确的分级至关重要</a:t>
                </a:r>
                <a:endParaRPr lang="zh-CN" altLang="en-US" sz="1600" b="1" dirty="0">
                  <a:solidFill>
                    <a:prstClr val="black"/>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47272950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251520" y="476672"/>
            <a:ext cx="7366000" cy="528637"/>
          </a:xfrm>
        </p:spPr>
        <p:txBody>
          <a:bodyPr/>
          <a:lstStyle/>
          <a:p>
            <a:pPr algn="l"/>
            <a:r>
              <a:rPr lang="zh-CN" altLang="en-US" sz="2800" b="1" dirty="0"/>
              <a:t>简明产品</a:t>
            </a:r>
            <a:r>
              <a:rPr lang="zh-CN" altLang="en-US" sz="2800" b="1" dirty="0" smtClean="0"/>
              <a:t>信息</a:t>
            </a:r>
            <a:r>
              <a:rPr lang="zh-CN" altLang="en-US" sz="1200" b="1" dirty="0" smtClean="0"/>
              <a:t>（更新于</a:t>
            </a:r>
            <a:r>
              <a:rPr lang="en-US" altLang="zh-CN" sz="1200" b="1" dirty="0" smtClean="0"/>
              <a:t>2019.6.13</a:t>
            </a:r>
            <a:r>
              <a:rPr lang="zh-CN" altLang="en-US" sz="1200" b="1" dirty="0" smtClean="0"/>
              <a:t>）</a:t>
            </a:r>
            <a:endParaRPr lang="zh-CN" altLang="en-US" sz="1200" b="0" dirty="0"/>
          </a:p>
        </p:txBody>
      </p:sp>
      <p:sp>
        <p:nvSpPr>
          <p:cNvPr id="4" name="矩形 3"/>
          <p:cNvSpPr/>
          <p:nvPr/>
        </p:nvSpPr>
        <p:spPr>
          <a:xfrm>
            <a:off x="251520" y="1412776"/>
            <a:ext cx="8712968" cy="83099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smtClean="0">
                <a:ln>
                  <a:noFill/>
                </a:ln>
                <a:solidFill>
                  <a:prstClr val="black"/>
                </a:solidFill>
                <a:effectLst/>
                <a:uLnTx/>
                <a:uFillTx/>
                <a:latin typeface="Arial"/>
                <a:ea typeface="微软雅黑"/>
                <a:cs typeface="+mn-cs"/>
              </a:rPr>
              <a:t>警告 ：</a:t>
            </a:r>
            <a:r>
              <a:rPr kumimoji="0" lang="zh-CN" altLang="en-US" sz="1150" b="0" i="0" u="none" strike="noStrike" kern="1200" cap="none" spc="0" normalizeH="0" baseline="0" noProof="0" dirty="0" smtClean="0">
                <a:ln>
                  <a:noFill/>
                </a:ln>
                <a:solidFill>
                  <a:prstClr val="black"/>
                </a:solidFill>
                <a:effectLst/>
                <a:uLnTx/>
                <a:uFillTx/>
                <a:latin typeface="Arial"/>
                <a:ea typeface="微软雅黑"/>
                <a:cs typeface="+mn-cs"/>
              </a:rPr>
              <a:t>对于同时服用卡培他滨和香豆素类衍生物抗凝药如华法令和苯丙香豆素的患者，应该频繁监测抗凝反应指标，如INR或凝血酶原时间，以调整抗凝剂的用量。在合并用药期间，曾有凝血参数改变和/或出血，包括死亡的报告。</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0" i="0" u="none" strike="noStrike" kern="1200" cap="none" spc="0" normalizeH="0" baseline="0" noProof="0" dirty="0" smtClean="0">
                <a:ln>
                  <a:noFill/>
                </a:ln>
                <a:solidFill>
                  <a:prstClr val="black"/>
                </a:solidFill>
                <a:effectLst/>
                <a:uLnTx/>
                <a:uFillTx/>
                <a:latin typeface="Arial"/>
                <a:ea typeface="微软雅黑"/>
                <a:cs typeface="+mn-cs"/>
              </a:rPr>
              <a:t>发生时间：在开始卡培他滨治疗后几天到几个月时间内，也可能在停止使用卡培他滨后1个月内观察到。</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0" i="0" u="none" strike="noStrike" kern="1200" cap="none" spc="0" normalizeH="0" baseline="0" noProof="0" dirty="0" smtClean="0">
                <a:ln>
                  <a:noFill/>
                </a:ln>
                <a:solidFill>
                  <a:prstClr val="black"/>
                </a:solidFill>
                <a:effectLst/>
                <a:uLnTx/>
                <a:uFillTx/>
                <a:latin typeface="Arial"/>
                <a:ea typeface="微软雅黑"/>
                <a:cs typeface="+mn-cs"/>
              </a:rPr>
              <a:t>易感因素：年龄&gt;60，诊断为癌症。</a:t>
            </a:r>
            <a:endParaRPr kumimoji="0" lang="en-US" altLang="zh-CN" sz="1150" b="0" i="0" u="none" strike="noStrike" kern="1200" cap="none" spc="0" normalizeH="0" baseline="0" noProof="0" dirty="0" smtClean="0">
              <a:ln>
                <a:noFill/>
              </a:ln>
              <a:solidFill>
                <a:prstClr val="black"/>
              </a:solidFill>
              <a:effectLst/>
              <a:uLnTx/>
              <a:uFillTx/>
              <a:latin typeface="Arial"/>
              <a:ea typeface="微软雅黑"/>
              <a:cs typeface="+mn-cs"/>
            </a:endParaRPr>
          </a:p>
        </p:txBody>
      </p:sp>
      <p:sp>
        <p:nvSpPr>
          <p:cNvPr id="5" name="矩形 4"/>
          <p:cNvSpPr/>
          <p:nvPr/>
        </p:nvSpPr>
        <p:spPr>
          <a:xfrm>
            <a:off x="251520" y="2348880"/>
            <a:ext cx="8712968" cy="419191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smtClean="0">
                <a:ln>
                  <a:noFill/>
                </a:ln>
                <a:solidFill>
                  <a:prstClr val="black"/>
                </a:solidFill>
                <a:effectLst/>
                <a:uLnTx/>
                <a:uFillTx/>
                <a:latin typeface="Arial"/>
                <a:ea typeface="微软雅黑"/>
                <a:cs typeface="+mn-cs"/>
              </a:rPr>
              <a:t>药品</a:t>
            </a: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名称：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通用名称：卡培他滨片        商品名称：希罗达</a:t>
            </a:r>
            <a:r>
              <a:rPr kumimoji="0" lang="zh-CN" altLang="en-US" sz="1200" b="0" i="0" u="none" strike="noStrike" kern="1200" cap="none" spc="0" normalizeH="0" baseline="30000" noProof="0" dirty="0">
                <a:ln>
                  <a:noFill/>
                </a:ln>
                <a:solidFill>
                  <a:prstClr val="black"/>
                </a:solidFill>
                <a:effectLst/>
                <a:uLnTx/>
                <a:uFillTx/>
                <a:latin typeface="Arial"/>
                <a:ea typeface="微软雅黑"/>
                <a:cs typeface="+mn-cs"/>
              </a:rPr>
              <a:t>®</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         英文名称：Capecitabine Tablets</a:t>
            </a:r>
            <a:endParaRPr kumimoji="0" lang="en-US" altLang="zh-CN"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适应症</a:t>
            </a:r>
            <a:r>
              <a:rPr kumimoji="0" lang="zh-CN" altLang="en-US" sz="1200" b="1" i="0" u="none" strike="noStrike" kern="1200" cap="none" spc="0" normalizeH="0" baseline="0" noProof="0" dirty="0" smtClean="0">
                <a:ln>
                  <a:noFill/>
                </a:ln>
                <a:solidFill>
                  <a:prstClr val="black"/>
                </a:solidFill>
                <a:effectLst/>
                <a:uLnTx/>
                <a:uFillTx/>
                <a:latin typeface="Arial"/>
                <a:ea typeface="微软雅黑"/>
                <a:cs typeface="+mn-cs"/>
              </a:rPr>
              <a:t>：</a:t>
            </a:r>
            <a:endParaRPr kumimoji="0" lang="en-US" altLang="zh-CN" sz="1200" b="1" i="0" u="none" strike="noStrike" kern="1200" cap="none" spc="0" normalizeH="0" baseline="0" noProof="0" dirty="0" smtClean="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smtClean="0">
                <a:ln>
                  <a:noFill/>
                </a:ln>
                <a:solidFill>
                  <a:prstClr val="black"/>
                </a:solidFill>
                <a:effectLst/>
                <a:uLnTx/>
                <a:uFillTx/>
                <a:latin typeface="Arial"/>
                <a:ea typeface="微软雅黑"/>
                <a:cs typeface="+mn-cs"/>
              </a:rPr>
              <a:t>结肠癌</a:t>
            </a: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辅助化疗</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：卡培他滨适用于</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Dukes’ C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期、原发肿瘤根治术后、适于接受氟嘧啶类药物单独治疗的结肠癌患者的单药辅助治疗。其治疗的无病生存期</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(DFS)</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和总生存期</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(OS)</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都不亚于</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5</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－氟尿嘧啶和甲酰四氢叶酸联合方案</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(5-FU/LV)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。已有试验数据表明卡培他滨和奥沙利铂联合化疗可较</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5-FU/LV</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改善无病生存期和总生存期。医师在开具处方使用卡培他滨单药对</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Dukes’ C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期结肠癌进行辅助治疗时，可参考以上研究结果。用于支持该适应症的数据来自国外临床</a:t>
            </a:r>
            <a:r>
              <a:rPr kumimoji="0" lang="zh-CN" altLang="en-US" sz="1200" b="0" i="0" u="none" strike="noStrike" kern="1200" cap="none" spc="0" normalizeH="0" baseline="0" noProof="0" dirty="0" smtClean="0">
                <a:ln>
                  <a:noFill/>
                </a:ln>
                <a:solidFill>
                  <a:prstClr val="black"/>
                </a:solidFill>
                <a:effectLst/>
                <a:uLnTx/>
                <a:uFillTx/>
                <a:latin typeface="Arial"/>
                <a:ea typeface="微软雅黑"/>
                <a:cs typeface="+mn-cs"/>
              </a:rPr>
              <a:t>研究。</a:t>
            </a:r>
            <a:endParaRPr kumimoji="0" lang="en-US" altLang="zh-CN"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结直肠癌：</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卡培他滨单药或与奥沙利铂联合</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(XELOX)</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适用于转移性结直肠癌的一线治疗。</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不良反应：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厌食、腹泻、呕吐、恶心、口腔炎、腹痛、手-足综合征、皮炎、疲劳、困倦等 </a:t>
            </a:r>
            <a:endParaRPr kumimoji="0" lang="en-US" altLang="zh-CN"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禁忌：  </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已知对卡培他滨或其</a:t>
            </a:r>
            <a:r>
              <a:rPr kumimoji="0" lang="zh-CN" altLang="en-US" sz="1200" b="0" i="0" u="none" strike="noStrike" kern="1200" cap="none" spc="0" normalizeH="0" baseline="0" noProof="0" dirty="0" smtClean="0">
                <a:ln>
                  <a:noFill/>
                </a:ln>
                <a:solidFill>
                  <a:prstClr val="black"/>
                </a:solidFill>
                <a:effectLst/>
                <a:uLnTx/>
                <a:uFillTx/>
                <a:latin typeface="Arial"/>
                <a:ea typeface="微软雅黑"/>
                <a:cs typeface="+mn-cs"/>
              </a:rPr>
              <a:t>任何辅料过敏</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者禁用。既往对氟嘧啶有严重、非预期的反应或已知对</a:t>
            </a:r>
            <a:r>
              <a:rPr kumimoji="0" lang="zh-CN" altLang="en-US" sz="1200" b="0" i="0" u="none" strike="noStrike" kern="1200" cap="none" spc="0" normalizeH="0" baseline="0" noProof="0" dirty="0" smtClean="0">
                <a:ln>
                  <a:noFill/>
                </a:ln>
                <a:solidFill>
                  <a:prstClr val="black"/>
                </a:solidFill>
                <a:effectLst/>
                <a:uLnTx/>
                <a:uFillTx/>
                <a:latin typeface="Arial"/>
                <a:ea typeface="微软雅黑"/>
                <a:cs typeface="+mn-cs"/>
              </a:rPr>
              <a:t>氟嘧啶</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过敏患者禁用卡培他滨。卡培他滨禁用于已知二氢嘧啶脱氢酶(DPD)活性完全缺乏的患者。卡培他滨不应与索立夫定或其类似物(如溴夫定)同时给药(见【药物相互作用】)。卡培他滨禁用于严重肾功能损伤患者(肌酐清除率低于30 mL/分)。联合化疗时，如存在任一联合药物相关的禁忌症，则应避免使用该药物。对顺铂的禁忌症同样适用于卡培他滨和顺铂联合治疗</a:t>
            </a:r>
            <a:r>
              <a:rPr kumimoji="0" lang="zh-CN" altLang="en-US" sz="1200" b="0" i="0" u="none" strike="noStrike" kern="1200" cap="none" spc="0" normalizeH="0" baseline="0" noProof="0" dirty="0" smtClean="0">
                <a:ln>
                  <a:noFill/>
                </a:ln>
                <a:solidFill>
                  <a:prstClr val="black"/>
                </a:solidFill>
                <a:effectLst/>
                <a:uLnTx/>
                <a:uFillTx/>
                <a:latin typeface="Arial"/>
                <a:ea typeface="微软雅黑"/>
                <a:cs typeface="+mn-cs"/>
              </a:rPr>
              <a:t>。</a:t>
            </a:r>
            <a:endParaRPr kumimoji="0" lang="en-US" altLang="zh-CN" sz="1200" b="0" i="0" u="none" strike="noStrike" kern="1200" cap="none" spc="0" normalizeH="0" baseline="0" noProof="0" dirty="0" smtClean="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公司名称：</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上海罗氏制药有限公司</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地址：</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上海市龙东大道1100</a:t>
            </a:r>
            <a:r>
              <a:rPr kumimoji="0" lang="zh-CN" altLang="en-US" sz="1200" b="0" i="0" u="none" strike="noStrike" kern="1200" cap="none" spc="0" normalizeH="0" baseline="0" noProof="0" dirty="0" smtClean="0">
                <a:ln>
                  <a:noFill/>
                </a:ln>
                <a:solidFill>
                  <a:prstClr val="black"/>
                </a:solidFill>
                <a:effectLst/>
                <a:uLnTx/>
                <a:uFillTx/>
                <a:latin typeface="Arial"/>
                <a:ea typeface="微软雅黑"/>
                <a:cs typeface="+mn-cs"/>
              </a:rPr>
              <a:t>号</a:t>
            </a:r>
            <a:endParaRPr kumimoji="0" lang="en-US" altLang="zh-CN" sz="1200" b="0" i="0" u="none" strike="noStrike" kern="1200" cap="none" spc="0" normalizeH="0" baseline="0" noProof="0" dirty="0" smtClean="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该产品完整的适应症、不良反应等信息详见产品说明书。</a:t>
            </a:r>
            <a:r>
              <a:rPr kumimoji="0" lang="en-US" altLang="zh-CN" sz="1200" b="0" i="0" u="none" strike="noStrike" kern="1200" cap="none" spc="0" normalizeH="0" baseline="0" noProof="0" dirty="0">
                <a:ln>
                  <a:noFill/>
                </a:ln>
                <a:solidFill>
                  <a:prstClr val="black"/>
                </a:solidFill>
                <a:effectLst/>
                <a:uLnTx/>
                <a:uFillTx/>
                <a:latin typeface="Arial"/>
                <a:ea typeface="微软雅黑"/>
                <a:cs typeface="+mn-cs"/>
              </a:rPr>
              <a:t> </a:t>
            </a:r>
            <a:endParaRPr kumimoji="0" lang="zh-CN" altLang="en-US" sz="1200" b="0" i="0" u="none" strike="noStrike" kern="1200" cap="none" spc="0" normalizeH="0" baseline="0" noProof="0" dirty="0">
              <a:ln>
                <a:noFill/>
              </a:ln>
              <a:solidFill>
                <a:prstClr val="black"/>
              </a:solidFill>
              <a:effectLst/>
              <a:uLnTx/>
              <a:uFillTx/>
              <a:latin typeface="Arial"/>
              <a:ea typeface="微软雅黑"/>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prstClr val="black"/>
                </a:solidFill>
                <a:effectLst/>
                <a:uLnTx/>
                <a:uFillTx/>
                <a:latin typeface="Arial"/>
                <a:ea typeface="微软雅黑"/>
                <a:cs typeface="+mn-cs"/>
              </a:rPr>
              <a:t>详细产品信息备索：</a:t>
            </a:r>
            <a:r>
              <a:rPr kumimoji="0" lang="zh-CN" altLang="en-US" sz="1200" b="0" i="0" u="none" strike="noStrike" kern="1200" cap="none" spc="0" normalizeH="0" baseline="0" noProof="0" dirty="0">
                <a:ln>
                  <a:noFill/>
                </a:ln>
                <a:solidFill>
                  <a:prstClr val="black"/>
                </a:solidFill>
                <a:effectLst/>
                <a:uLnTx/>
                <a:uFillTx/>
                <a:latin typeface="Arial"/>
                <a:ea typeface="微软雅黑"/>
                <a:cs typeface="+mn-cs"/>
              </a:rPr>
              <a:t>www.roche.com.cn</a:t>
            </a:r>
          </a:p>
        </p:txBody>
      </p:sp>
    </p:spTree>
    <p:extLst>
      <p:ext uri="{BB962C8B-B14F-4D97-AF65-F5344CB8AC3E}">
        <p14:creationId xmlns:p14="http://schemas.microsoft.com/office/powerpoint/2010/main" val="29428057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1891" y="2780928"/>
            <a:ext cx="9145891" cy="1152897"/>
          </a:xfrm>
          <a:prstGeom prst="rect">
            <a:avLst/>
          </a:prstGeom>
        </p:spPr>
        <p:txBody>
          <a:bodyPr anchor="ctr"/>
          <a:lstStyle>
            <a:lvl1pPr marL="342900" indent="-342900" algn="l" defTabSz="914400" rtl="0" eaLnBrk="1" latinLnBrk="0" hangingPunct="1">
              <a:spcBef>
                <a:spcPct val="20000"/>
              </a:spcBef>
              <a:buFont typeface="Arial" pitchFamily="34" charset="0"/>
              <a:buChar char="•"/>
              <a:defRPr sz="2400" kern="1200">
                <a:solidFill>
                  <a:schemeClr val="tx1"/>
                </a:solidFill>
                <a:latin typeface="Arial" pitchFamily="34" charset="0"/>
                <a:ea typeface="微软雅黑" pitchFamily="34" charset="-122"/>
                <a:cs typeface="Arial"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Arial" pitchFamily="34" charset="0"/>
                <a:ea typeface="微软雅黑" pitchFamily="34" charset="-122"/>
                <a:cs typeface="Arial"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Arial" pitchFamily="34" charset="0"/>
                <a:ea typeface="微软雅黑" pitchFamily="34" charset="-122"/>
                <a:cs typeface="Arial"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Arial" pitchFamily="34" charset="0"/>
                <a:ea typeface="微软雅黑" pitchFamily="34" charset="-122"/>
                <a:cs typeface="Arial"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Arial" pitchFamily="34" charset="0"/>
                <a:ea typeface="微软雅黑" pitchFamily="34" charset="-12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defRPr/>
            </a:pPr>
            <a:r>
              <a:rPr lang="en-US" sz="4400" b="1" i="1" dirty="0">
                <a:solidFill>
                  <a:srgbClr val="0082DA"/>
                </a:solidFill>
                <a:latin typeface="Minion" panose="02040503050201020203" pitchFamily="18" charset="0"/>
                <a:cs typeface="Times New Roman" panose="02020603050405020304" pitchFamily="18" charset="0"/>
              </a:rPr>
              <a:t>Doing now what patients need next</a:t>
            </a:r>
            <a:endParaRPr lang="en-US" sz="4400" b="1" dirty="0">
              <a:solidFill>
                <a:srgbClr val="0082DA"/>
              </a:solidFill>
              <a:latin typeface="Minion" panose="02040503050201020203" pitchFamily="18" charset="0"/>
              <a:cs typeface="Times New Roman" panose="02020603050405020304" pitchFamily="18" charset="0"/>
            </a:endParaRPr>
          </a:p>
        </p:txBody>
      </p:sp>
    </p:spTree>
    <p:extLst>
      <p:ext uri="{BB962C8B-B14F-4D97-AF65-F5344CB8AC3E}">
        <p14:creationId xmlns:p14="http://schemas.microsoft.com/office/powerpoint/2010/main" val="575755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VARPPTCOMPATIBLERD03" val="RXP"/>
  <p:tag name="VARPPTTYPE" val="RXP"/>
  <p:tag name="VARPPTSLIDEFORMAT" val="RXP"/>
  <p:tag name="VARPPTCOMPATIBLE4" val="RXP"/>
  <p:tag name="VARSAVEMESSAGETIMESTAMP" val="RXP2018/8/1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6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rfb0xngo">
      <a:majorFont>
        <a:latin typeface="Microsoft YaHei"/>
        <a:ea typeface="Microsoft YaHei"/>
        <a:cs typeface=""/>
      </a:majorFont>
      <a:minorFont>
        <a:latin typeface="Microsoft YaHei"/>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0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qfvdscv">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7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rfb0xngo">
      <a:majorFont>
        <a:latin typeface="Microsoft YaHei"/>
        <a:ea typeface="Microsoft YaHei"/>
        <a:cs typeface=""/>
      </a:majorFont>
      <a:minorFont>
        <a:latin typeface="Microsoft YaHei"/>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1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rfb0xngo">
      <a:majorFont>
        <a:latin typeface="Microsoft YaHei"/>
        <a:ea typeface="Microsoft YaHei"/>
        <a:cs typeface=""/>
      </a:majorFont>
      <a:minorFont>
        <a:latin typeface="Microsoft YaHei"/>
        <a:ea typeface="Microsoft YaHei"/>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19051</TotalTime>
  <Pages>0</Pages>
  <Words>5219</Words>
  <Characters>0</Characters>
  <Application>Microsoft Office PowerPoint</Application>
  <DocSecurity>0</DocSecurity>
  <PresentationFormat>全屏显示(4:3)</PresentationFormat>
  <Lines>0</Lines>
  <Paragraphs>634</Paragraphs>
  <Slides>35</Slides>
  <Notes>35</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1</vt:i4>
      </vt:variant>
      <vt:variant>
        <vt:lpstr>幻灯片标题</vt:lpstr>
      </vt:variant>
      <vt:variant>
        <vt:i4>35</vt:i4>
      </vt:variant>
    </vt:vector>
  </HeadingPairs>
  <TitlesOfParts>
    <vt:vector size="53" baseType="lpstr">
      <vt:lpstr>Arial Unicode MS</vt:lpstr>
      <vt:lpstr>MS Gothic</vt:lpstr>
      <vt:lpstr>等线</vt:lpstr>
      <vt:lpstr>华文楷体</vt:lpstr>
      <vt:lpstr>宋体</vt:lpstr>
      <vt:lpstr>微软雅黑 Light</vt:lpstr>
      <vt:lpstr>Arial</vt:lpstr>
      <vt:lpstr>Calibri</vt:lpstr>
      <vt:lpstr>Minion</vt:lpstr>
      <vt:lpstr>Times New Roman</vt:lpstr>
      <vt:lpstr>Wingdings</vt:lpstr>
      <vt:lpstr>Microsoft YaHei</vt:lpstr>
      <vt:lpstr>Microsoft YaHei</vt:lpstr>
      <vt:lpstr>36_Office 主题</vt:lpstr>
      <vt:lpstr>50_Office 主题</vt:lpstr>
      <vt:lpstr>37_Office 主题</vt:lpstr>
      <vt:lpstr>41_Office 主题</vt:lpstr>
      <vt:lpstr>think-cell 幻灯片</vt:lpstr>
      <vt:lpstr>CRC患者手-足综合征的管理</vt:lpstr>
      <vt:lpstr>目录</vt:lpstr>
      <vt:lpstr>各抗肿瘤药物导致的HFS发生率</vt:lpstr>
      <vt:lpstr>HFS临床表现及分级</vt:lpstr>
      <vt:lpstr>HFS分级案例分析（NCI CTCAE）</vt:lpstr>
      <vt:lpstr>发生HFS的风险因素</vt:lpstr>
      <vt:lpstr>HFS的早期症状</vt:lpstr>
      <vt:lpstr>鉴别诊断</vt:lpstr>
      <vt:lpstr>小结</vt:lpstr>
      <vt:lpstr>目录</vt:lpstr>
      <vt:lpstr>卡培他滨治疗CRC时的HFS多为轻-中度</vt:lpstr>
      <vt:lpstr>AIO KRK-0104研究： 卡培他滨治疗时，出现HFS的患者生存显著延长</vt:lpstr>
      <vt:lpstr>AIO KRK-0104研究： PFS及OS与卡培他滨所致的HFS呈正相关性</vt:lpstr>
      <vt:lpstr>直肠癌III期研究： 卡培他滨治疗时，出现HFS的患者疗效显著更佳</vt:lpstr>
      <vt:lpstr>汇总分析： 卡培他滨治疗出现HFS的患者的预后显著更佳</vt:lpstr>
      <vt:lpstr>小结</vt:lpstr>
      <vt:lpstr>目录</vt:lpstr>
      <vt:lpstr>HFS可能机制之1—— 药物通过汗腺分泌及毛细血管损伤引起HFS</vt:lpstr>
      <vt:lpstr>HFS的常规护理建议</vt:lpstr>
      <vt:lpstr>横断面调查： 常规护理可有效防治HFS</vt:lpstr>
      <vt:lpstr>尿素霜有效预防HFS的发生</vt:lpstr>
      <vt:lpstr>甘油甘草外涂可有效防治HFS</vt:lpstr>
      <vt:lpstr>同时采用多种防护措施，HFS发生率显著降低</vt:lpstr>
      <vt:lpstr>HFS可能机制之2—— 化疗中加入塞来昔布显著降低≥2级HFS发生率</vt:lpstr>
      <vt:lpstr>HFS可能机制之3—— Vit B1+甲钴胺片显著降低HFS发生率及严重程度</vt:lpstr>
      <vt:lpstr>HFS可能机制之4—— Vit B6显著延缓了卡培他滨剂量调整时间</vt:lpstr>
      <vt:lpstr>Vit B6显著增加化疗相关性HFS的症状改善比例</vt:lpstr>
      <vt:lpstr>卡培他滨治疗中，出现HFS时可进行剂量调整</vt:lpstr>
      <vt:lpstr>出现卡培他滨相关性HFS时的剂量调整方案</vt:lpstr>
      <vt:lpstr>多中心II期研究： 对HFS患者进行必要的卡培他滨减量，症状改善比例高</vt:lpstr>
      <vt:lpstr>国际性、多中心III期研究： 探讨卡培他滨/多西他赛减量方案对疗效的影响</vt:lpstr>
      <vt:lpstr>剂量调整未影响卡培他滨为基础的化疗疗效</vt:lpstr>
      <vt:lpstr>总结</vt:lpstr>
      <vt:lpstr>简明产品信息（更新于2019.6.13）</vt:lpstr>
      <vt:lpstr>PowerPoint 演示文稿</vt:lpstr>
    </vt:vector>
  </TitlesOfParts>
  <LinksUpToDate>false</LinksUpToDate>
  <CharactersWithSpaces>0</CharactersWithSpaces>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Shang, Xia {MACA~Shanghai}</dc:creator>
  <cp:lastModifiedBy>2012dnd.com</cp:lastModifiedBy>
  <cp:revision>2866</cp:revision>
  <cp:lastPrinted>1899-12-30T00:00:00Z</cp:lastPrinted>
  <dcterms:created xsi:type="dcterms:W3CDTF">2012-08-24T01:58:00Z</dcterms:created>
  <dcterms:modified xsi:type="dcterms:W3CDTF">2020-03-31T02:49:35Z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2052-6.6.0.2877</vt:lpwstr>
  </property>
</Properties>
</file>